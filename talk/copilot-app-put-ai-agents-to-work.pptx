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Derek Sivers wrote this in 2005. A great idea with no execution is worth little. Agents raise the execution side for everyone, not only for people who write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Kay said this in 1971. With agents, more people can invent: developers, project managers,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1683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FANNIE MAE AI SUMMIT</a:t>
            </a:r>
            <a:endParaRPr lang="en-US" sz="1100" dirty="0"/>
          </a:p>
        </p:txBody>
      </p:sp>
      <p:sp>
        <p:nvSpPr>
          <p:cNvPr id="5" name="Text 1"/>
          <p:cNvSpPr/>
          <p:nvPr/>
        </p:nvSpPr>
        <p:spPr>
          <a:xfrm>
            <a:off x="1015901" y="1422350"/>
            <a:ext cx="6736029" cy="638175"/>
          </a:xfrm>
          <a:prstGeom prst="rect">
            <a:avLst/>
          </a:prstGeom>
          <a:noFill/>
          <a:ln/>
        </p:spPr>
        <p:txBody>
          <a:bodyPr wrap="square" lIns="0" tIns="0" rIns="0" bIns="0" rtlCol="0" anchor="t"/>
          <a:lstStyle/>
          <a:p>
            <a:pPr algn="l" indent="0" marL="0">
              <a:buNone/>
            </a:pPr>
            <a:r>
              <a:rPr lang="en-US" sz="4400" b="1" dirty="0">
                <a:solidFill>
                  <a:srgbClr val="1F2328"/>
                </a:solidFill>
                <a:latin typeface="Arial" pitchFamily="34" charset="0"/>
                <a:ea typeface="Arial" pitchFamily="34" charset="-122"/>
                <a:cs typeface="Arial" pitchFamily="34" charset="-120"/>
              </a:rPr>
              <a:t>Put AI Agents to Work</a:t>
            </a:r>
            <a:endParaRPr lang="en-US" sz="4400" dirty="0"/>
          </a:p>
        </p:txBody>
      </p:sp>
      <p:sp>
        <p:nvSpPr>
          <p:cNvPr id="6" name="Text 2"/>
          <p:cNvSpPr/>
          <p:nvPr/>
        </p:nvSpPr>
        <p:spPr>
          <a:xfrm>
            <a:off x="1015901" y="22605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14600"/>
            <a:ext cx="5699659" cy="617041"/>
          </a:xfrm>
          <a:prstGeom prst="rect">
            <a:avLst/>
          </a:prstGeom>
          <a:noFill/>
          <a:ln/>
        </p:spPr>
        <p:txBody>
          <a:bodyPr wrap="square" lIns="0" tIns="0" rIns="0" bIns="0" rtlCol="0" anchor="t"/>
          <a:lstStyle/>
          <a:p>
            <a:pPr algn="l" indent="0" marL="0">
              <a:lnSpc>
                <a:spcPts val="2430"/>
              </a:lnSpc>
              <a:buNone/>
            </a:pPr>
            <a:r>
              <a:rPr lang="en-US" sz="1800" dirty="0">
                <a:solidFill>
                  <a:srgbClr val="59636E"/>
                </a:solidFill>
                <a:latin typeface="Arial" pitchFamily="34" charset="0"/>
                <a:ea typeface="Arial" pitchFamily="34" charset="-122"/>
                <a:cs typeface="Arial" pitchFamily="34" charset="-120"/>
              </a:rPr>
              <a:t>The GitHub Copilot app for developers, knowledge workers, and leaders</a:t>
            </a:r>
            <a:endParaRPr lang="en-US" sz="18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START WITH A QUESTION</a:t>
            </a:r>
            <a:endParaRPr lang="en-US" sz="950" dirty="0"/>
          </a:p>
        </p:txBody>
      </p:sp>
      <p:sp>
        <p:nvSpPr>
          <p:cNvPr id="7" name="Text 3"/>
          <p:cNvSpPr/>
          <p:nvPr/>
        </p:nvSpPr>
        <p:spPr>
          <a:xfrm>
            <a:off x="507950" y="787301"/>
            <a:ext cx="7254139"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How much of your day is real work?</a:t>
            </a:r>
            <a:endParaRPr lang="en-US" sz="4000" dirty="0"/>
          </a:p>
        </p:txBody>
      </p:sp>
      <p:sp>
        <p:nvSpPr>
          <p:cNvPr id="8" name="Text 4"/>
          <p:cNvSpPr/>
          <p:nvPr/>
        </p:nvSpPr>
        <p:spPr>
          <a:xfrm>
            <a:off x="507950" y="2717750"/>
            <a:ext cx="1295349"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9:00 AM</a:t>
            </a:r>
            <a:endParaRPr lang="en-US" sz="1000" dirty="0"/>
          </a:p>
        </p:txBody>
      </p:sp>
      <p:sp>
        <p:nvSpPr>
          <p:cNvPr id="9" name="Text 5"/>
          <p:cNvSpPr/>
          <p:nvPr/>
        </p:nvSpPr>
        <p:spPr>
          <a:xfrm>
            <a:off x="7340551" y="2717750"/>
            <a:ext cx="1295349" cy="142875"/>
          </a:xfrm>
          <a:prstGeom prst="rect">
            <a:avLst/>
          </a:prstGeom>
          <a:noFill/>
          <a:ln/>
        </p:spPr>
        <p:txBody>
          <a:bodyPr wrap="square" lIns="0" tIns="0" rIns="0" bIns="0" rtlCol="0" anchor="t"/>
          <a:lstStyle/>
          <a:p>
            <a:pPr algn="r" indent="0" marL="0">
              <a:buNone/>
            </a:pPr>
            <a:r>
              <a:rPr lang="en-US" sz="1000" dirty="0">
                <a:solidFill>
                  <a:srgbClr val="59636E"/>
                </a:solidFill>
                <a:latin typeface="Arial" pitchFamily="34" charset="0"/>
                <a:ea typeface="Arial" pitchFamily="34" charset="-122"/>
                <a:cs typeface="Arial" pitchFamily="34" charset="-120"/>
              </a:rPr>
              <a:t>5:00 PM</a:t>
            </a:r>
            <a:endParaRPr lang="en-US" sz="1000" dirty="0"/>
          </a:p>
        </p:txBody>
      </p:sp>
      <p:sp>
        <p:nvSpPr>
          <p:cNvPr id="10" name="Text 6"/>
          <p:cNvSpPr/>
          <p:nvPr/>
        </p:nvSpPr>
        <p:spPr>
          <a:xfrm>
            <a:off x="507950" y="2997101"/>
            <a:ext cx="2120801" cy="660350"/>
          </a:xfrm>
          <a:prstGeom prst="roundRect">
            <a:avLst>
              <a:gd name="adj" fmla="val 15386"/>
            </a:avLst>
          </a:prstGeom>
          <a:solidFill>
            <a:srgbClr val="1A7F37"/>
          </a:solidFill>
          <a:ln/>
        </p:spPr>
        <p:txBody>
          <a:bodyPr wrap="square" rtlCol="0" anchor="ctr"/>
          <a:lstStyle/>
          <a:p>
            <a:pPr indent="0" marL="0">
              <a:buNone/>
            </a:pPr>
            <a:endParaRPr lang="en-US" dirty="0"/>
          </a:p>
        </p:txBody>
      </p:sp>
      <p:sp>
        <p:nvSpPr>
          <p:cNvPr id="11" name="Text 7"/>
          <p:cNvSpPr/>
          <p:nvPr/>
        </p:nvSpPr>
        <p:spPr>
          <a:xfrm>
            <a:off x="634901" y="3238500"/>
            <a:ext cx="1943100" cy="171450"/>
          </a:xfrm>
          <a:prstGeom prst="rect">
            <a:avLst/>
          </a:prstGeom>
          <a:noFill/>
          <a:ln/>
        </p:spPr>
        <p:txBody>
          <a:bodyPr wrap="square" lIns="0" tIns="0" rIns="0" bIns="0" rtlCol="0" anchor="t"/>
          <a:lstStyle/>
          <a:p>
            <a:pPr algn="l" indent="0" marL="0">
              <a:buNone/>
            </a:pPr>
            <a:r>
              <a:rPr lang="en-US" sz="1150" b="1" dirty="0">
                <a:solidFill>
                  <a:srgbClr val="FFFFFF"/>
                </a:solidFill>
                <a:latin typeface="Arial" pitchFamily="34" charset="0"/>
                <a:ea typeface="Arial" pitchFamily="34" charset="-122"/>
                <a:cs typeface="Arial" pitchFamily="34" charset="-120"/>
              </a:rPr>
              <a:t>Real work</a:t>
            </a:r>
            <a:endParaRPr lang="en-US" sz="1150" dirty="0"/>
          </a:p>
        </p:txBody>
      </p:sp>
      <p:sp>
        <p:nvSpPr>
          <p:cNvPr id="12" name="Text 8"/>
          <p:cNvSpPr/>
          <p:nvPr/>
        </p:nvSpPr>
        <p:spPr>
          <a:xfrm>
            <a:off x="2667000" y="2997101"/>
            <a:ext cx="2374850" cy="660350"/>
          </a:xfrm>
          <a:prstGeom prst="roundRect">
            <a:avLst>
              <a:gd name="adj" fmla="val 7693"/>
            </a:avLst>
          </a:prstGeom>
          <a:solidFill>
            <a:srgbClr val="DDF4FF"/>
          </a:solidFill>
          <a:ln/>
        </p:spPr>
        <p:txBody>
          <a:bodyPr wrap="square" rtlCol="0" anchor="ctr"/>
          <a:lstStyle/>
          <a:p>
            <a:pPr indent="0" marL="0">
              <a:buNone/>
            </a:pPr>
            <a:endParaRPr lang="en-US" dirty="0"/>
          </a:p>
        </p:txBody>
      </p:sp>
      <p:sp>
        <p:nvSpPr>
          <p:cNvPr id="13" name="Text 9"/>
          <p:cNvSpPr/>
          <p:nvPr/>
        </p:nvSpPr>
        <p:spPr>
          <a:xfrm>
            <a:off x="2793950" y="3238500"/>
            <a:ext cx="220207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Hunting for information</a:t>
            </a:r>
            <a:endParaRPr lang="en-US" sz="1150" dirty="0"/>
          </a:p>
        </p:txBody>
      </p:sp>
      <p:sp>
        <p:nvSpPr>
          <p:cNvPr id="14" name="Text 10"/>
          <p:cNvSpPr/>
          <p:nvPr/>
        </p:nvSpPr>
        <p:spPr>
          <a:xfrm>
            <a:off x="5079950" y="2997101"/>
            <a:ext cx="1866900" cy="660350"/>
          </a:xfrm>
          <a:prstGeom prst="roundRect">
            <a:avLst>
              <a:gd name="adj" fmla="val 7693"/>
            </a:avLst>
          </a:prstGeom>
          <a:solidFill>
            <a:srgbClr val="FBEFFF"/>
          </a:solidFill>
          <a:ln/>
        </p:spPr>
        <p:txBody>
          <a:bodyPr wrap="square" rtlCol="0" anchor="ctr"/>
          <a:lstStyle/>
          <a:p>
            <a:pPr indent="0" marL="0">
              <a:buNone/>
            </a:pPr>
            <a:endParaRPr lang="en-US" dirty="0"/>
          </a:p>
        </p:txBody>
      </p:sp>
      <p:sp>
        <p:nvSpPr>
          <p:cNvPr id="15" name="Text 11"/>
          <p:cNvSpPr/>
          <p:nvPr/>
        </p:nvSpPr>
        <p:spPr>
          <a:xfrm>
            <a:off x="5206901" y="3238500"/>
            <a:ext cx="1683969"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Switching tools</a:t>
            </a:r>
            <a:endParaRPr lang="en-US" sz="1150" dirty="0"/>
          </a:p>
        </p:txBody>
      </p:sp>
      <p:sp>
        <p:nvSpPr>
          <p:cNvPr id="16" name="Text 12"/>
          <p:cNvSpPr/>
          <p:nvPr/>
        </p:nvSpPr>
        <p:spPr>
          <a:xfrm>
            <a:off x="6984950" y="2997101"/>
            <a:ext cx="1612850" cy="660350"/>
          </a:xfrm>
          <a:prstGeom prst="roundRect">
            <a:avLst>
              <a:gd name="adj" fmla="val 7693"/>
            </a:avLst>
          </a:prstGeom>
          <a:solidFill>
            <a:srgbClr val="FFF1E5"/>
          </a:solidFill>
          <a:ln/>
        </p:spPr>
        <p:txBody>
          <a:bodyPr wrap="square" rtlCol="0" anchor="ctr"/>
          <a:lstStyle/>
          <a:p>
            <a:pPr indent="0" marL="0">
              <a:buNone/>
            </a:pPr>
            <a:endParaRPr lang="en-US" dirty="0"/>
          </a:p>
        </p:txBody>
      </p:sp>
      <p:sp>
        <p:nvSpPr>
          <p:cNvPr id="17" name="Text 13"/>
          <p:cNvSpPr/>
          <p:nvPr/>
        </p:nvSpPr>
        <p:spPr>
          <a:xfrm>
            <a:off x="7111901" y="3238500"/>
            <a:ext cx="1424839"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Waiting on others</a:t>
            </a:r>
            <a:endParaRPr lang="en-US" sz="1150" dirty="0"/>
          </a:p>
        </p:txBody>
      </p:sp>
      <p:sp>
        <p:nvSpPr>
          <p:cNvPr id="18" name="Text 14"/>
          <p:cNvSpPr/>
          <p:nvPr/>
        </p:nvSpPr>
        <p:spPr>
          <a:xfrm>
            <a:off x="507950" y="3962400"/>
            <a:ext cx="8290509" cy="419100"/>
          </a:xfrm>
          <a:prstGeom prst="rect">
            <a:avLst/>
          </a:prstGeom>
          <a:noFill/>
          <a:ln/>
        </p:spPr>
        <p:txBody>
          <a:bodyPr wrap="square" lIns="0" tIns="0" rIns="0" bIns="0" rtlCol="0" anchor="t"/>
          <a:lstStyle/>
          <a:p>
            <a:pPr algn="l" indent="0" marL="0">
              <a:buNone/>
            </a:pPr>
            <a:r>
              <a:rPr lang="en-US" sz="1400" dirty="0">
                <a:solidFill>
                  <a:srgbClr val="59636E"/>
                </a:solidFill>
                <a:latin typeface="Arial" pitchFamily="34" charset="0"/>
                <a:ea typeface="Arial" pitchFamily="34" charset="-122"/>
                <a:cs typeface="Arial" pitchFamily="34" charset="-120"/>
              </a:rPr>
              <a:t>Developers, project managers, analysts, and leaders all know this bar. The green part is the part you were hired for.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CHALLENGE</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Every role has work that waits</a:t>
            </a:r>
            <a:endParaRPr lang="en-US" sz="2400" dirty="0"/>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Developers</a:t>
            </a:r>
            <a:endParaRPr lang="en-US" sz="1300" dirty="0"/>
          </a:p>
        </p:txBody>
      </p:sp>
      <p:sp>
        <p:nvSpPr>
          <p:cNvPr id="12" name="Text 7"/>
          <p:cNvSpPr/>
          <p:nvPr/>
        </p:nvSpPr>
        <p:spPr>
          <a:xfrm>
            <a:off x="7111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Bugs and missing tests wait in the backlog.</a:t>
            </a:r>
            <a:endParaRPr lang="en-US" sz="1150" dirty="0"/>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Project-8250DF.png">    </p:cNvPr>
          <p:cNvPicPr>
            <a:picLocks noChangeAspect="1"/>
          </p:cNvPicPr>
          <p:nvPr/>
        </p:nvPicPr>
        <p:blipFill>
          <a:blip r:embed="rId4"/>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Project managers</a:t>
            </a:r>
            <a:endParaRPr lang="en-US" sz="1300" dirty="0"/>
          </a:p>
        </p:txBody>
      </p:sp>
      <p:sp>
        <p:nvSpPr>
          <p:cNvPr id="17" name="Text 11"/>
          <p:cNvSpPr/>
          <p:nvPr/>
        </p:nvSpPr>
        <p:spPr>
          <a:xfrm>
            <a:off x="27685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Status reports get built by hand from email and meetings.</a:t>
            </a:r>
            <a:endParaRPr lang="en-US" sz="1150" dirty="0"/>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Table-1A7F37.png">    </p:cNvPr>
          <p:cNvPicPr>
            <a:picLocks noChangeAspect="1"/>
          </p:cNvPicPr>
          <p:nvPr/>
        </p:nvPicPr>
        <p:blipFill>
          <a:blip r:embed="rId5"/>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Business analysts</a:t>
            </a:r>
            <a:endParaRPr lang="en-US" sz="1300" dirty="0"/>
          </a:p>
        </p:txBody>
      </p:sp>
      <p:sp>
        <p:nvSpPr>
          <p:cNvPr id="22" name="Text 15"/>
          <p:cNvSpPr/>
          <p:nvPr/>
        </p:nvSpPr>
        <p:spPr>
          <a:xfrm>
            <a:off x="48259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Data moves between spreadsheets and systems by hand.</a:t>
            </a:r>
            <a:endParaRPr lang="en-US" sz="1150" dirty="0"/>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raph-BC4C00.png">    </p:cNvPr>
          <p:cNvPicPr>
            <a:picLocks noChangeAspect="1"/>
          </p:cNvPicPr>
          <p:nvPr/>
        </p:nvPicPr>
        <p:blipFill>
          <a:blip r:embed="rId6"/>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Leaders</a:t>
            </a:r>
            <a:endParaRPr lang="en-US" sz="1300" dirty="0"/>
          </a:p>
        </p:txBody>
      </p:sp>
      <p:sp>
        <p:nvSpPr>
          <p:cNvPr id="27" name="Text 19"/>
          <p:cNvSpPr/>
          <p:nvPr/>
        </p:nvSpPr>
        <p:spPr>
          <a:xfrm>
            <a:off x="68833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Decisions wait on all of it.</a:t>
            </a:r>
            <a:endParaRPr lang="en-US" sz="1150" dirty="0"/>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indent="0" marL="0">
              <a:buNone/>
            </a:pPr>
            <a:endParaRPr lang="en-US" dirty="0"/>
          </a:p>
        </p:txBody>
      </p:sp>
      <p:sp>
        <p:nvSpPr>
          <p:cNvPr id="29" name="Shape 21"/>
          <p:cNvSpPr/>
          <p:nvPr/>
        </p:nvSpPr>
        <p:spPr>
          <a:xfrm>
            <a:off x="536525" y="3936950"/>
            <a:ext cx="0" cy="660350"/>
          </a:xfrm>
          <a:prstGeom prst="line">
            <a:avLst/>
          </a:prstGeom>
          <a:noFill/>
          <a:ln w="57150">
            <a:solidFill>
              <a:srgbClr val="1F2328"/>
            </a:solidFill>
            <a:prstDash val="solid"/>
          </a:ln>
        </p:spPr>
      </p:sp>
      <p:sp>
        <p:nvSpPr>
          <p:cNvPr id="30" name="Text 22"/>
          <p:cNvSpPr/>
          <p:nvPr/>
        </p:nvSpPr>
        <p:spPr>
          <a:xfrm>
            <a:off x="787301" y="4152900"/>
            <a:ext cx="7772400" cy="209550"/>
          </a:xfrm>
          <a:prstGeom prst="rect">
            <a:avLst/>
          </a:prstGeom>
          <a:noFill/>
          <a:ln/>
        </p:spPr>
        <p:txBody>
          <a:bodyPr wrap="square" lIns="0" tIns="0" rIns="0" bIns="0" rtlCol="0" anchor="t"/>
          <a:lstStyle/>
          <a:p>
            <a:pPr algn="l" indent="0" marL="0">
              <a:buNone/>
            </a:pPr>
            <a:r>
              <a:rPr lang="en-US" sz="1400" dirty="0">
                <a:solidFill>
                  <a:srgbClr val="1F2328"/>
                </a:solidFill>
                <a:latin typeface="Arial" pitchFamily="34" charset="0"/>
                <a:ea typeface="Arial" pitchFamily="34" charset="-122"/>
                <a:cs typeface="Arial" pitchFamily="34" charset="-120"/>
              </a:rPr>
              <a:t>A chat assistant helps with the answers. </a:t>
            </a:r>
            <a:pPr algn="l" indent="0" marL="0">
              <a:buNone/>
            </a:pPr>
            <a:r>
              <a:rPr lang="en-US" sz="1400" b="1" dirty="0">
                <a:solidFill>
                  <a:srgbClr val="1F2328"/>
                </a:solidFill>
                <a:latin typeface="Arial" pitchFamily="34" charset="0"/>
                <a:ea typeface="Arial" pitchFamily="34" charset="-122"/>
                <a:cs typeface="Arial" pitchFamily="34" charset="-120"/>
              </a:rPr>
              <a:t>The work still lands on you.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IDEA</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Ideas need execution</a:t>
            </a:r>
            <a:endParaRPr lang="en-US" sz="2400" dirty="0"/>
          </a:p>
        </p:txBody>
      </p:sp>
      <p:sp>
        <p:nvSpPr>
          <p:cNvPr id="8" name="Text 4"/>
          <p:cNvSpPr/>
          <p:nvPr/>
        </p:nvSpPr>
        <p:spPr>
          <a:xfrm>
            <a:off x="762000" y="1498550"/>
            <a:ext cx="1905000" cy="1905000"/>
          </a:xfrm>
          <a:prstGeom prst="roundRect">
            <a:avLst>
              <a:gd name="adj" fmla="val 48000"/>
            </a:avLst>
          </a:prstGeom>
          <a:solidFill>
            <a:srgbClr val="FFF8C5"/>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LightBulb-9A6700.png">    </p:cNvPr>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algn="ctr" indent="0" marL="0">
              <a:buNone/>
            </a:pPr>
            <a:r>
              <a:rPr lang="en-US" sz="1500" b="1" dirty="0">
                <a:solidFill>
                  <a:srgbClr val="9A6700"/>
                </a:solidFill>
                <a:latin typeface="Arial" pitchFamily="34" charset="0"/>
                <a:ea typeface="Arial" pitchFamily="34" charset="-122"/>
                <a:cs typeface="Arial" pitchFamily="34" charset="-120"/>
              </a:rPr>
              <a:t>Your ideas</a:t>
            </a:r>
            <a:endParaRPr lang="en-US" sz="1500" dirty="0"/>
          </a:p>
        </p:txBody>
      </p:sp>
      <p:sp>
        <p:nvSpPr>
          <p:cNvPr id="11" name="Text 6"/>
          <p:cNvSpPr/>
          <p:nvPr/>
        </p:nvSpPr>
        <p:spPr>
          <a:xfrm>
            <a:off x="27227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Copilot-0969DA.png">    </p:cNvPr>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algn="ctr" indent="0" marL="0">
              <a:buNone/>
            </a:pPr>
            <a:r>
              <a:rPr lang="en-US" sz="1500" b="1" dirty="0">
                <a:solidFill>
                  <a:srgbClr val="0969DA"/>
                </a:solidFill>
                <a:latin typeface="Arial" pitchFamily="34" charset="0"/>
                <a:ea typeface="Arial" pitchFamily="34" charset="-122"/>
                <a:cs typeface="Arial" pitchFamily="34" charset="-120"/>
              </a:rPr>
              <a:t>Agents that do the work</a:t>
            </a:r>
            <a:endParaRPr lang="en-US" sz="1500" dirty="0"/>
          </a:p>
        </p:txBody>
      </p:sp>
      <p:sp>
        <p:nvSpPr>
          <p:cNvPr id="15" name="Text 9"/>
          <p:cNvSpPr/>
          <p:nvPr/>
        </p:nvSpPr>
        <p:spPr>
          <a:xfrm>
            <a:off x="55802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Rocket-1A7F37.png">    </p:cNvPr>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algn="ctr" indent="0" marL="0">
              <a:buNone/>
            </a:pPr>
            <a:r>
              <a:rPr lang="en-US" sz="1500" b="1" dirty="0">
                <a:solidFill>
                  <a:srgbClr val="1A7F37"/>
                </a:solidFill>
                <a:latin typeface="Arial" pitchFamily="34" charset="0"/>
                <a:ea typeface="Arial" pitchFamily="34" charset="-122"/>
                <a:cs typeface="Arial" pitchFamily="34" charset="-120"/>
              </a:rPr>
              <a:t>Impact</a:t>
            </a:r>
            <a:endParaRPr lang="en-US" sz="1500" dirty="0"/>
          </a:p>
        </p:txBody>
      </p:sp>
      <p:sp>
        <p:nvSpPr>
          <p:cNvPr id="19" name="Text 12"/>
          <p:cNvSpPr/>
          <p:nvPr/>
        </p:nvSpPr>
        <p:spPr>
          <a:xfrm>
            <a:off x="426671" y="3810000"/>
            <a:ext cx="8290509" cy="238125"/>
          </a:xfrm>
          <a:prstGeom prst="rect">
            <a:avLst/>
          </a:prstGeom>
          <a:noFill/>
          <a:ln/>
        </p:spPr>
        <p:txBody>
          <a:bodyPr wrap="square" lIns="0" tIns="0" rIns="0" bIns="0" rtlCol="0" anchor="t"/>
          <a:lstStyle/>
          <a:p>
            <a:pPr algn="ctr" indent="0" marL="0">
              <a:buNone/>
            </a:pPr>
            <a:r>
              <a:rPr lang="en-US" sz="1600" dirty="0">
                <a:solidFill>
                  <a:srgbClr val="1F2328"/>
                </a:solidFill>
                <a:latin typeface="Arial" pitchFamily="34" charset="0"/>
                <a:ea typeface="Arial" pitchFamily="34" charset="-122"/>
                <a:cs typeface="Arial" pitchFamily="34" charset="-120"/>
              </a:rPr>
              <a:t>You bring the idea and the judgment. Agents do the steps.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8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0969DA.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“Ideas are just a multiplier of execution.”</a:t>
            </a:r>
            <a:endParaRPr lang="en-US" sz="3400" dirty="0"/>
          </a:p>
        </p:txBody>
      </p:sp>
      <p:sp>
        <p:nvSpPr>
          <p:cNvPr id="9" name="Text 4"/>
          <p:cNvSpPr/>
          <p:nvPr/>
        </p:nvSpPr>
        <p:spPr>
          <a:xfrm>
            <a:off x="888950" y="3403550"/>
            <a:ext cx="609600" cy="50750"/>
          </a:xfrm>
          <a:prstGeom prst="rect">
            <a:avLst/>
          </a:prstGeom>
          <a:solidFill>
            <a:srgbClr val="0969DA"/>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Derek Sivers</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Entrepreneur and author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GITHUB COPILOT APP</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desktop workspace for many agents</a:t>
            </a:r>
            <a:endParaRPr lang="en-US" sz="2400" dirty="0"/>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Tasklist-0969DA.png">    </p:cNvPr>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Hand off a task</a:t>
            </a:r>
            <a:endParaRPr lang="en-US" sz="1500" dirty="0"/>
          </a:p>
        </p:txBody>
      </p:sp>
      <p:sp>
        <p:nvSpPr>
          <p:cNvPr id="11" name="Text 6"/>
          <p:cNvSpPr/>
          <p:nvPr/>
        </p:nvSpPr>
        <p:spPr>
          <a:xfrm>
            <a:off x="1244501" y="194310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Describe the outcome you want.</a:t>
            </a:r>
            <a:endParaRPr lang="en-US" sz="1150" dirty="0"/>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Stack-8250DF.png">    </p:cNvPr>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Run several at once</a:t>
            </a:r>
            <a:endParaRPr lang="en-US" sz="1500" dirty="0"/>
          </a:p>
        </p:txBody>
      </p:sp>
      <p:sp>
        <p:nvSpPr>
          <p:cNvPr id="15" name="Text 9"/>
          <p:cNvSpPr/>
          <p:nvPr/>
        </p:nvSpPr>
        <p:spPr>
          <a:xfrm>
            <a:off x="1244501" y="290825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Each agent has its own session.</a:t>
            </a:r>
            <a:endParaRPr lang="en-US" sz="1150" dirty="0"/>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Eye-1A7F37.png">    </p:cNvPr>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the results</a:t>
            </a:r>
            <a:endParaRPr lang="en-US" sz="1500" dirty="0"/>
          </a:p>
        </p:txBody>
      </p:sp>
      <p:sp>
        <p:nvSpPr>
          <p:cNvPr id="19" name="Text 12"/>
          <p:cNvSpPr/>
          <p:nvPr/>
        </p:nvSpPr>
        <p:spPr>
          <a:xfrm>
            <a:off x="1244501" y="3873401"/>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Accept only what you trust.</a:t>
            </a:r>
            <a:endParaRPr lang="en-US" sz="1150" dirty="0"/>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sx="100000" sy="100000" kx="0" ky="0" algn="bl" rotWithShape="0" blurRad="171450" dist="57150" dir="5400000">
              <a:srgbClr val="1f2328">
                <a:alpha val="12000"/>
              </a:srgbClr>
            </a:outerShdw>
          </a:effectLst>
        </p:spPr>
        <p:txBody>
          <a:bodyPr wrap="square" rtlCol="0" anchor="ctr"/>
          <a:lstStyle/>
          <a:p>
            <a:pPr indent="0" marL="0">
              <a:buNone/>
            </a:pPr>
            <a:endParaRPr lang="en-US" dirty="0"/>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indent="0" marL="0">
              <a:buNone/>
            </a:pPr>
            <a:endParaRPr lang="en-US" dirty="0"/>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indent="0" marL="0">
              <a:buNone/>
            </a:pPr>
            <a:endParaRPr lang="en-US" dirty="0"/>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indent="0" marL="0">
              <a:buNone/>
            </a:pPr>
            <a:endParaRPr lang="en-US" dirty="0"/>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indent="0" marL="0">
              <a:buNone/>
            </a:pPr>
            <a:endParaRPr lang="en-US" dirty="0"/>
          </a:p>
        </p:txBody>
      </p:sp>
      <p:sp>
        <p:nvSpPr>
          <p:cNvPr id="25" name="Text 18"/>
          <p:cNvSpPr/>
          <p:nvPr/>
        </p:nvSpPr>
        <p:spPr>
          <a:xfrm>
            <a:off x="5079950" y="1587401"/>
            <a:ext cx="2590699" cy="114300"/>
          </a:xfrm>
          <a:prstGeom prst="rect">
            <a:avLst/>
          </a:prstGeom>
          <a:noFill/>
          <a:ln/>
        </p:spPr>
        <p:txBody>
          <a:bodyPr wrap="square" lIns="0" tIns="0" rIns="0" bIns="0" rtlCol="0" anchor="t"/>
          <a:lstStyle/>
          <a:p>
            <a:pPr algn="l" indent="0" marL="0">
              <a:buNone/>
            </a:pPr>
            <a:r>
              <a:rPr lang="en-US" sz="800" dirty="0">
                <a:solidFill>
                  <a:srgbClr val="59636E"/>
                </a:solidFill>
                <a:latin typeface="Arial" pitchFamily="34" charset="0"/>
                <a:ea typeface="Arial" pitchFamily="34" charset="-122"/>
                <a:cs typeface="Arial" pitchFamily="34" charset="-120"/>
              </a:rPr>
              <a:t>GitHub Copilot app</a:t>
            </a:r>
            <a:endParaRPr lang="en-US" sz="800" dirty="0"/>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indent="0" marL="0">
              <a:buNone/>
            </a:pPr>
            <a:endParaRPr lang="en-US" dirty="0"/>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indent="0" marL="0">
              <a:buNone/>
            </a:pPr>
            <a:endParaRPr lang="en-US" dirty="0"/>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29" name="Text 22"/>
          <p:cNvSpPr/>
          <p:nvPr/>
        </p:nvSpPr>
        <p:spPr>
          <a:xfrm>
            <a:off x="4737050" y="19812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Housing website</a:t>
            </a:r>
            <a:endParaRPr lang="en-US" sz="850" dirty="0"/>
          </a:p>
        </p:txBody>
      </p:sp>
      <p:sp>
        <p:nvSpPr>
          <p:cNvPr id="30" name="Text 23"/>
          <p:cNvSpPr/>
          <p:nvPr/>
        </p:nvSpPr>
        <p:spPr>
          <a:xfrm>
            <a:off x="4737050" y="21208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3" name="Text 26"/>
          <p:cNvSpPr/>
          <p:nvPr/>
        </p:nvSpPr>
        <p:spPr>
          <a:xfrm>
            <a:off x="4737050" y="241295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Excel analysis</a:t>
            </a:r>
            <a:endParaRPr lang="en-US" sz="850" dirty="0"/>
          </a:p>
        </p:txBody>
      </p:sp>
      <p:sp>
        <p:nvSpPr>
          <p:cNvPr id="34" name="Text 27"/>
          <p:cNvSpPr/>
          <p:nvPr/>
        </p:nvSpPr>
        <p:spPr>
          <a:xfrm>
            <a:off x="4737050" y="255270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7" name="Text 30"/>
          <p:cNvSpPr/>
          <p:nvPr/>
        </p:nvSpPr>
        <p:spPr>
          <a:xfrm>
            <a:off x="4737050" y="2844701"/>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PowerPoint briefing</a:t>
            </a:r>
            <a:endParaRPr lang="en-US" sz="850" dirty="0"/>
          </a:p>
        </p:txBody>
      </p:sp>
      <p:sp>
        <p:nvSpPr>
          <p:cNvPr id="38" name="Text 31"/>
          <p:cNvSpPr/>
          <p:nvPr/>
        </p:nvSpPr>
        <p:spPr>
          <a:xfrm>
            <a:off x="4737050" y="298445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indent="0" marL="0">
              <a:buNone/>
            </a:pPr>
            <a:endParaRPr lang="en-US" dirty="0"/>
          </a:p>
        </p:txBody>
      </p:sp>
      <p:sp>
        <p:nvSpPr>
          <p:cNvPr id="41" name="Text 34"/>
          <p:cNvSpPr/>
          <p:nvPr/>
        </p:nvSpPr>
        <p:spPr>
          <a:xfrm>
            <a:off x="4737050" y="32766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WorkIQ session brief</a:t>
            </a:r>
            <a:endParaRPr lang="en-US" sz="850" dirty="0"/>
          </a:p>
        </p:txBody>
      </p:sp>
      <p:sp>
        <p:nvSpPr>
          <p:cNvPr id="42" name="Text 35"/>
          <p:cNvSpPr/>
          <p:nvPr/>
        </p:nvSpPr>
        <p:spPr>
          <a:xfrm>
            <a:off x="4737050" y="34162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Done</a:t>
            </a:r>
            <a:endParaRPr lang="en-US" sz="750" dirty="0"/>
          </a:p>
        </p:txBody>
      </p:sp>
      <p:sp>
        <p:nvSpPr>
          <p:cNvPr id="43" name="Text 36"/>
          <p:cNvSpPr/>
          <p:nvPr/>
        </p:nvSpPr>
        <p:spPr>
          <a:xfrm>
            <a:off x="6121301" y="1955750"/>
            <a:ext cx="2461209" cy="142875"/>
          </a:xfrm>
          <a:prstGeom prst="rect">
            <a:avLst/>
          </a:prstGeom>
          <a:noFill/>
          <a:ln/>
        </p:spPr>
        <p:txBody>
          <a:bodyPr wrap="square" lIns="0" tIns="0" rIns="0" bIns="0" rtlCol="0" anchor="t"/>
          <a:lstStyle/>
          <a:p>
            <a:pPr algn="l" indent="0" marL="0">
              <a:buNone/>
            </a:pPr>
            <a:r>
              <a:rPr lang="en-US" sz="1000" b="1" dirty="0">
                <a:solidFill>
                  <a:srgbClr val="1F2328"/>
                </a:solidFill>
                <a:latin typeface="Arial" pitchFamily="34" charset="0"/>
                <a:ea typeface="Arial" pitchFamily="34" charset="-122"/>
                <a:cs typeface="Arial" pitchFamily="34" charset="-120"/>
              </a:rPr>
              <a:t>Housing website</a:t>
            </a:r>
            <a:endParaRPr lang="en-US" sz="1000" dirty="0"/>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indent="0" marL="0">
              <a:buNone/>
            </a:pPr>
            <a:endParaRPr lang="en-US" dirty="0"/>
          </a:p>
        </p:txBody>
      </p:sp>
      <p:sp>
        <p:nvSpPr>
          <p:cNvPr id="45" name="Text 38"/>
          <p:cNvSpPr/>
          <p:nvPr/>
        </p:nvSpPr>
        <p:spPr>
          <a:xfrm>
            <a:off x="6222950" y="2260550"/>
            <a:ext cx="2228037" cy="264021"/>
          </a:xfrm>
          <a:prstGeom prst="rect">
            <a:avLst/>
          </a:prstGeom>
          <a:noFill/>
          <a:ln/>
        </p:spPr>
        <p:txBody>
          <a:bodyPr wrap="square" lIns="0" tIns="0" rIns="0" bIns="0" rtlCol="0" anchor="t"/>
          <a:lstStyle/>
          <a:p>
            <a:pPr algn="l" indent="0" marL="0">
              <a:lnSpc>
                <a:spcPts val="1040"/>
              </a:lnSpc>
              <a:buNone/>
            </a:pPr>
            <a:r>
              <a:rPr lang="en-US" sz="800" dirty="0">
                <a:solidFill>
                  <a:srgbClr val="1F2328"/>
                </a:solidFill>
                <a:latin typeface="Arial" pitchFamily="34" charset="0"/>
                <a:ea typeface="Arial" pitchFamily="34" charset="-122"/>
                <a:cs typeface="Arial" pitchFamily="34" charset="-120"/>
              </a:rPr>
              <a:t>Plan approved. Tests pass. Build done. Deploying to Azure Static Web Apps.</a:t>
            </a:r>
            <a:endParaRPr lang="en-US" sz="800" dirty="0"/>
          </a:p>
        </p:txBody>
      </p:sp>
      <p:sp>
        <p:nvSpPr>
          <p:cNvPr id="46" name="Text 39"/>
          <p:cNvSpPr/>
          <p:nvPr/>
        </p:nvSpPr>
        <p:spPr>
          <a:xfrm>
            <a:off x="6121301" y="3174950"/>
            <a:ext cx="48131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7" name="Text 40"/>
          <p:cNvSpPr/>
          <p:nvPr/>
        </p:nvSpPr>
        <p:spPr>
          <a:xfrm>
            <a:off x="6116678" y="3225701"/>
            <a:ext cx="471505"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Plan</a:t>
            </a:r>
            <a:endParaRPr lang="en-US" sz="750" dirty="0"/>
          </a:p>
        </p:txBody>
      </p:sp>
      <p:sp>
        <p:nvSpPr>
          <p:cNvPr id="48" name="Text 41"/>
          <p:cNvSpPr/>
          <p:nvPr/>
        </p:nvSpPr>
        <p:spPr>
          <a:xfrm>
            <a:off x="665976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9" name="Text 42"/>
          <p:cNvSpPr/>
          <p:nvPr/>
        </p:nvSpPr>
        <p:spPr>
          <a:xfrm>
            <a:off x="665221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Autopilot</a:t>
            </a:r>
            <a:endParaRPr lang="en-US" sz="750" dirty="0"/>
          </a:p>
        </p:txBody>
      </p:sp>
      <p:sp>
        <p:nvSpPr>
          <p:cNvPr id="50" name="Text 43"/>
          <p:cNvSpPr/>
          <p:nvPr/>
        </p:nvSpPr>
        <p:spPr>
          <a:xfrm>
            <a:off x="749037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1" name="Text 44"/>
          <p:cNvSpPr/>
          <p:nvPr/>
        </p:nvSpPr>
        <p:spPr>
          <a:xfrm>
            <a:off x="748282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Worktrees</a:t>
            </a:r>
            <a:endParaRPr lang="en-US" sz="750" dirty="0"/>
          </a:p>
        </p:txBody>
      </p:sp>
      <p:sp>
        <p:nvSpPr>
          <p:cNvPr id="52" name="Text 45"/>
          <p:cNvSpPr/>
          <p:nvPr/>
        </p:nvSpPr>
        <p:spPr>
          <a:xfrm>
            <a:off x="6121301" y="3479750"/>
            <a:ext cx="112395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3" name="Text 46"/>
          <p:cNvSpPr/>
          <p:nvPr/>
        </p:nvSpPr>
        <p:spPr>
          <a:xfrm>
            <a:off x="6110252" y="3530501"/>
            <a:ext cx="1126998"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Browser preview</a:t>
            </a:r>
            <a:endParaRPr lang="en-US" sz="750" dirty="0"/>
          </a:p>
        </p:txBody>
      </p:sp>
      <p:sp>
        <p:nvSpPr>
          <p:cNvPr id="54" name="Text 47"/>
          <p:cNvSpPr/>
          <p:nvPr/>
        </p:nvSpPr>
        <p:spPr>
          <a:xfrm>
            <a:off x="7302401" y="3479750"/>
            <a:ext cx="106546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5" name="Text 48"/>
          <p:cNvSpPr/>
          <p:nvPr/>
        </p:nvSpPr>
        <p:spPr>
          <a:xfrm>
            <a:off x="7291937" y="3530501"/>
            <a:ext cx="1067339"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MCP and WorkIQ</a:t>
            </a:r>
            <a:endParaRPr lang="en-US" sz="750" dirty="0"/>
          </a:p>
        </p:txBody>
      </p:sp>
      <p:sp>
        <p:nvSpPr>
          <p:cNvPr id="56" name="Text 49"/>
          <p:cNvSpPr/>
          <p:nvPr/>
        </p:nvSpPr>
        <p:spPr>
          <a:xfrm>
            <a:off x="6121301" y="3784550"/>
            <a:ext cx="89014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7" name="Text 50"/>
          <p:cNvSpPr/>
          <p:nvPr/>
        </p:nvSpPr>
        <p:spPr>
          <a:xfrm>
            <a:off x="6112590" y="3835301"/>
            <a:ext cx="888513"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Automations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TODAY’S STORY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dataset. Four roles. Four agents.</a:t>
            </a:r>
            <a:endParaRPr lang="en-US" sz="2400" dirty="0"/>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indent="0" marL="0">
              <a:buNone/>
            </a:pPr>
            <a:endParaRPr lang="en-US" dirty="0"/>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Database-0969DA.png">    </p:cNvPr>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Public housing data</a:t>
            </a:r>
            <a:endParaRPr lang="en-US" sz="1600" dirty="0"/>
          </a:p>
        </p:txBody>
      </p:sp>
      <p:sp>
        <p:nvSpPr>
          <p:cNvPr id="12" name="Text 7"/>
          <p:cNvSpPr/>
          <p:nvPr/>
        </p:nvSpPr>
        <p:spPr>
          <a:xfrm>
            <a:off x="736550" y="27939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FHFA House Price Index</a:t>
            </a:r>
            <a:endParaRPr lang="en-US" sz="1100" dirty="0"/>
          </a:p>
        </p:txBody>
      </p:sp>
      <p:sp>
        <p:nvSpPr>
          <p:cNvPr id="13" name="Text 8"/>
          <p:cNvSpPr/>
          <p:nvPr/>
        </p:nvSpPr>
        <p:spPr>
          <a:xfrm>
            <a:off x="736550" y="30225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CFPB HMDA mortgage data</a:t>
            </a:r>
            <a:endParaRPr lang="en-US" sz="1100" dirty="0"/>
          </a:p>
        </p:txBody>
      </p:sp>
      <p:sp>
        <p:nvSpPr>
          <p:cNvPr id="14" name="Text 9"/>
          <p:cNvSpPr/>
          <p:nvPr/>
        </p:nvSpPr>
        <p:spPr>
          <a:xfrm>
            <a:off x="736550" y="3378101"/>
            <a:ext cx="2331720" cy="342602"/>
          </a:xfrm>
          <a:prstGeom prst="rect">
            <a:avLst/>
          </a:prstGeom>
          <a:noFill/>
          <a:ln/>
        </p:spPr>
        <p:txBody>
          <a:bodyPr wrap="square" lIns="0" tIns="0" rIns="0" bIns="0" rtlCol="0" anchor="t"/>
          <a:lstStyle/>
          <a:p>
            <a:pPr algn="l" indent="0" marL="0">
              <a:lnSpc>
                <a:spcPts val="1350"/>
              </a:lnSpc>
              <a:buNone/>
            </a:pPr>
            <a:r>
              <a:rPr lang="en-US" sz="1000" dirty="0">
                <a:solidFill>
                  <a:srgbClr val="59636E"/>
                </a:solidFill>
                <a:latin typeface="Arial" pitchFamily="34" charset="0"/>
                <a:ea typeface="Arial" pitchFamily="34" charset="-122"/>
                <a:cs typeface="Arial" pitchFamily="34" charset="-120"/>
              </a:rPr>
              <a:t>50 states and DC, 100 metros, 1991 to 2026</a:t>
            </a:r>
            <a:endParaRPr lang="en-US" sz="1000" dirty="0"/>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indent="0" marL="0">
              <a:buNone/>
            </a:pPr>
            <a:endParaRPr lang="en-US" dirty="0"/>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indent="0" marL="0">
              <a:buNone/>
            </a:pPr>
            <a:endParaRPr lang="en-US" dirty="0"/>
          </a:p>
        </p:txBody>
      </p:sp>
      <p:pic>
        <p:nvPicPr>
          <p:cNvPr id="18" name="Image 3" descr="/Users/danwahlin/.copilot/session-state/e7427b9a-9d65-4aa2-953c-14cedea46cbc/files/talkdeck/assets/icons/GoBrowser-0969DA.png">    </p:cNvPr>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Interactive website</a:t>
            </a:r>
            <a:endParaRPr lang="en-US" sz="1250" dirty="0"/>
          </a:p>
        </p:txBody>
      </p:sp>
      <p:sp>
        <p:nvSpPr>
          <p:cNvPr id="20" name="Text 14"/>
          <p:cNvSpPr/>
          <p:nvPr/>
        </p:nvSpPr>
        <p:spPr>
          <a:xfrm>
            <a:off x="39877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indent="0" marL="0">
              <a:buNone/>
            </a:pPr>
            <a:endParaRPr lang="en-US" dirty="0"/>
          </a:p>
        </p:txBody>
      </p:sp>
      <p:pic>
        <p:nvPicPr>
          <p:cNvPr id="23" name="Image 4" descr="/Users/danwahlin/.copilot/session-state/e7427b9a-9d65-4aa2-953c-14cedea46cbc/files/talkdeck/assets/icons/GoTable-1A7F37.png">    </p:cNvPr>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Excel workbook</a:t>
            </a:r>
            <a:endParaRPr lang="en-US" sz="1250" dirty="0"/>
          </a:p>
        </p:txBody>
      </p:sp>
      <p:sp>
        <p:nvSpPr>
          <p:cNvPr id="25" name="Text 18"/>
          <p:cNvSpPr/>
          <p:nvPr/>
        </p:nvSpPr>
        <p:spPr>
          <a:xfrm>
            <a:off x="64261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Executive briefing</a:t>
            </a:r>
            <a:endParaRPr lang="en-US" sz="1250" dirty="0"/>
          </a:p>
        </p:txBody>
      </p:sp>
      <p:sp>
        <p:nvSpPr>
          <p:cNvPr id="30" name="Text 22"/>
          <p:cNvSpPr/>
          <p:nvPr/>
        </p:nvSpPr>
        <p:spPr>
          <a:xfrm>
            <a:off x="39877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indent="0" marL="0">
              <a:buNone/>
            </a:pPr>
            <a:endParaRPr lang="en-US" dirty="0"/>
          </a:p>
        </p:txBody>
      </p:sp>
      <p:pic>
        <p:nvPicPr>
          <p:cNvPr id="33" name="Image 6" descr="/Users/danwahlin/.copilot/session-state/e7427b9a-9d65-4aa2-953c-14cedea46cbc/files/talkdeck/assets/icons/GoMail-8250DF.png">    </p:cNvPr>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Microsoft 365 brief</a:t>
            </a:r>
            <a:endParaRPr lang="en-US" sz="1250" dirty="0"/>
          </a:p>
        </p:txBody>
      </p:sp>
      <p:sp>
        <p:nvSpPr>
          <p:cNvPr id="35" name="Text 26"/>
          <p:cNvSpPr/>
          <p:nvPr/>
        </p:nvSpPr>
        <p:spPr>
          <a:xfrm>
            <a:off x="64261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HOW YOU WORK WITH AGENTS</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Plan first. Then hand it off.</a:t>
            </a:r>
            <a:endParaRPr lang="en-US" sz="2400" dirty="0"/>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mmentDiscussion-0969DA.png">    </p:cNvPr>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Prompt</a:t>
            </a:r>
            <a:endParaRPr lang="en-US" sz="1500" dirty="0"/>
          </a:p>
        </p:txBody>
      </p:sp>
      <p:sp>
        <p:nvSpPr>
          <p:cNvPr id="12" name="Text 7"/>
          <p:cNvSpPr/>
          <p:nvPr/>
        </p:nvSpPr>
        <p:spPr>
          <a:xfrm>
            <a:off x="685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Describe the outcome you want.</a:t>
            </a:r>
            <a:endParaRPr lang="en-US" sz="1050" dirty="0"/>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Checklist-8250DF.png">    </p:cNvPr>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7" name="Text 11"/>
          <p:cNvSpPr/>
          <p:nvPr/>
        </p:nvSpPr>
        <p:spPr>
          <a:xfrm>
            <a:off x="2336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Read the plan and approve it.</a:t>
            </a:r>
            <a:endParaRPr lang="en-US" sz="1050" dirty="0"/>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19" name="Text 13"/>
          <p:cNvSpPr/>
          <p:nvPr/>
        </p:nvSpPr>
        <p:spPr>
          <a:xfrm>
            <a:off x="2327861"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Zap-BC4C00.png">    </p:cNvPr>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Autopilot</a:t>
            </a:r>
            <a:endParaRPr lang="en-US" sz="1500" dirty="0"/>
          </a:p>
        </p:txBody>
      </p:sp>
      <p:sp>
        <p:nvSpPr>
          <p:cNvPr id="24" name="Text 17"/>
          <p:cNvSpPr/>
          <p:nvPr/>
        </p:nvSpPr>
        <p:spPr>
          <a:xfrm>
            <a:off x="3987701"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Agents work at the same time.</a:t>
            </a:r>
            <a:endParaRPr lang="en-US" sz="1050" dirty="0"/>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indent="0" marL="0">
              <a:buNone/>
            </a:pPr>
            <a:endParaRPr lang="en-US" dirty="0"/>
          </a:p>
        </p:txBody>
      </p:sp>
      <p:pic>
        <p:nvPicPr>
          <p:cNvPr id="27" name="Image 5" descr="/Users/danwahlin/.copilot/session-state/e7427b9a-9d65-4aa2-953c-14cedea46cbc/files/talkdeck/assets/icons/GoEye-1A7F37.png">    </p:cNvPr>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9" name="Text 21"/>
          <p:cNvSpPr/>
          <p:nvPr/>
        </p:nvSpPr>
        <p:spPr>
          <a:xfrm>
            <a:off x="5638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Check diffs, previews, and files.</a:t>
            </a:r>
            <a:endParaRPr lang="en-US" sz="1050" dirty="0"/>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31" name="Text 23"/>
          <p:cNvSpPr/>
          <p:nvPr/>
        </p:nvSpPr>
        <p:spPr>
          <a:xfrm>
            <a:off x="5629910"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34" name="Image 6" descr="/Users/danwahlin/.copilot/session-state/e7427b9a-9d65-4aa2-953c-14cedea46cbc/files/talkdeck/assets/icons/GoRocket-0969DA.png">    </p:cNvPr>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36" name="Text 27"/>
          <p:cNvSpPr/>
          <p:nvPr/>
        </p:nvSpPr>
        <p:spPr>
          <a:xfrm>
            <a:off x="7289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Merge, share, or deploy.</a:t>
            </a:r>
            <a:endParaRPr lang="en-US" sz="1050" dirty="0"/>
          </a:p>
        </p:txBody>
      </p:sp>
      <p:sp>
        <p:nvSpPr>
          <p:cNvPr id="37" name="Text 28"/>
          <p:cNvSpPr/>
          <p:nvPr/>
        </p:nvSpPr>
        <p:spPr>
          <a:xfrm>
            <a:off x="507950" y="4089350"/>
            <a:ext cx="8290509" cy="200025"/>
          </a:xfrm>
          <a:prstGeom prst="rect">
            <a:avLst/>
          </a:prstGeom>
          <a:noFill/>
          <a:ln/>
        </p:spPr>
        <p:txBody>
          <a:bodyPr wrap="square" lIns="0" tIns="0" rIns="0" bIns="0" rtlCol="0" anchor="t"/>
          <a:lstStyle/>
          <a:p>
            <a:pPr algn="l" indent="0" marL="0">
              <a:buNone/>
            </a:pPr>
            <a:r>
              <a:rPr lang="en-US" sz="1350" dirty="0">
                <a:solidFill>
                  <a:srgbClr val="1F2328"/>
                </a:solidFill>
                <a:latin typeface="Arial" pitchFamily="34" charset="0"/>
                <a:ea typeface="Arial" pitchFamily="34" charset="-122"/>
                <a:cs typeface="Arial" pitchFamily="34" charset="-120"/>
              </a:rPr>
              <a:t>Use </a:t>
            </a:r>
            <a:pPr algn="l" indent="0" marL="0">
              <a:buNone/>
            </a:pPr>
            <a:r>
              <a:rPr lang="en-US" sz="1350" b="1" dirty="0">
                <a:solidFill>
                  <a:srgbClr val="1F2328"/>
                </a:solidFill>
                <a:latin typeface="Arial" pitchFamily="34" charset="0"/>
                <a:ea typeface="Arial" pitchFamily="34" charset="-122"/>
                <a:cs typeface="Arial" pitchFamily="34" charset="-120"/>
              </a:rPr>
              <a:t>Plan</a:t>
            </a:r>
            <a:pPr algn="l" indent="0" marL="0">
              <a:buNone/>
            </a:pPr>
            <a:r>
              <a:rPr lang="en-US" sz="1350" dirty="0">
                <a:solidFill>
                  <a:srgbClr val="1F2328"/>
                </a:solidFill>
                <a:latin typeface="Arial" pitchFamily="34" charset="0"/>
                <a:ea typeface="Arial" pitchFamily="34" charset="-122"/>
                <a:cs typeface="Arial" pitchFamily="34" charset="-120"/>
              </a:rPr>
              <a:t> when the task is big or new. Use </a:t>
            </a:r>
            <a:pPr algn="l" indent="0" marL="0">
              <a:buNone/>
            </a:pPr>
            <a:r>
              <a:rPr lang="en-US" sz="1350" b="1" dirty="0">
                <a:solidFill>
                  <a:srgbClr val="1F2328"/>
                </a:solidFill>
                <a:latin typeface="Arial" pitchFamily="34" charset="0"/>
                <a:ea typeface="Arial" pitchFamily="34" charset="-122"/>
                <a:cs typeface="Arial" pitchFamily="34" charset="-120"/>
              </a:rPr>
              <a:t>Autopilot</a:t>
            </a:r>
            <a:pPr algn="l" indent="0" marL="0">
              <a:buNone/>
            </a:pPr>
            <a:r>
              <a:rPr lang="en-US" sz="1350" dirty="0">
                <a:solidFill>
                  <a:srgbClr val="1F2328"/>
                </a:solidFill>
                <a:latin typeface="Arial" pitchFamily="34" charset="0"/>
                <a:ea typeface="Arial" pitchFamily="34" charset="-122"/>
                <a:cs typeface="Arial" pitchFamily="34" charset="-120"/>
              </a:rPr>
              <a:t> when the task is clear.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BF3"/>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LIVE DEMO</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algn="r" indent="0" marL="0">
              <a:buNone/>
            </a:pPr>
            <a:r>
              <a:rPr lang="en-US" sz="20000" b="1" dirty="0">
                <a:solidFill>
                  <a:srgbClr val="8CE7A5"/>
                </a:solidFill>
                <a:latin typeface="Arial" pitchFamily="34" charset="0"/>
                <a:ea typeface="Arial" pitchFamily="34" charset="-122"/>
                <a:cs typeface="Arial" pitchFamily="34" charset="-120"/>
              </a:rPr>
              <a:t>4</a:t>
            </a:r>
            <a:endParaRPr lang="en-US" sz="20000" dirty="0"/>
          </a:p>
        </p:txBody>
      </p:sp>
      <p:sp>
        <p:nvSpPr>
          <p:cNvPr id="8" name="Text 4"/>
          <p:cNvSpPr/>
          <p:nvPr/>
        </p:nvSpPr>
        <p:spPr>
          <a:xfrm>
            <a:off x="711101" y="1498550"/>
            <a:ext cx="5440680" cy="171450"/>
          </a:xfrm>
          <a:prstGeom prst="rect">
            <a:avLst/>
          </a:prstGeom>
          <a:noFill/>
          <a:ln/>
        </p:spPr>
        <p:txBody>
          <a:bodyPr wrap="square" lIns="0" tIns="0" rIns="0" bIns="0" rtlCol="0" anchor="t"/>
          <a:lstStyle/>
          <a:p>
            <a:pPr algn="l" indent="0" marL="0">
              <a:buNone/>
            </a:pPr>
            <a:r>
              <a:rPr lang="en-US" sz="1200" b="1" dirty="0">
                <a:solidFill>
                  <a:srgbClr val="1A7F37"/>
                </a:solidFill>
                <a:latin typeface="Arial" pitchFamily="34" charset="0"/>
                <a:ea typeface="Arial" pitchFamily="34" charset="-122"/>
                <a:cs typeface="Arial" pitchFamily="34" charset="-120"/>
              </a:rPr>
              <a:t>LIVE DEMO</a:t>
            </a:r>
            <a:endParaRPr lang="en-US" sz="1200" dirty="0"/>
          </a:p>
        </p:txBody>
      </p:sp>
      <p:sp>
        <p:nvSpPr>
          <p:cNvPr id="9" name="Text 5"/>
          <p:cNvSpPr/>
          <p:nvPr/>
        </p:nvSpPr>
        <p:spPr>
          <a:xfrm>
            <a:off x="711101" y="1777901"/>
            <a:ext cx="5440680"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Four agents. Starting now.</a:t>
            </a:r>
            <a:endParaRPr lang="en-US" sz="4000" dirty="0"/>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indent="0" marL="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algn="l" indent="0" marL="0">
              <a:lnSpc>
                <a:spcPts val="2160"/>
              </a:lnSpc>
              <a:buNone/>
            </a:pPr>
            <a:r>
              <a:rPr lang="en-US" sz="1600" dirty="0">
                <a:solidFill>
                  <a:srgbClr val="59636E"/>
                </a:solidFill>
                <a:latin typeface="Arial" pitchFamily="34" charset="0"/>
                <a:ea typeface="Arial" pitchFamily="34" charset="-122"/>
                <a:cs typeface="Arial" pitchFamily="34" charset="-120"/>
              </a:rPr>
              <a:t>Watch the sidebar. Each session is a separate agent that works on its own branch.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results/website.png">    </p:cNvPr>
          <p:cNvPicPr>
            <a:picLocks noChangeAspect="1"/>
          </p:cNvPicPr>
          <p:nvPr/>
        </p:nvPicPr>
        <p:blipFill>
          <a:blip r:embed="rId3"/>
          <a:stretch>
            <a:fillRect/>
          </a:stretch>
        </p:blipFill>
        <p:spPr>
          <a:xfrm>
            <a:off x="609600" y="1473101"/>
            <a:ext cx="2438400" cy="1371600"/>
          </a:xfrm>
          <a:prstGeom prst="rect">
            <a:avLst/>
          </a:prstGeom>
        </p:spPr>
      </p:pic>
      <p:sp>
        <p:nvSpPr>
          <p:cNvPr id="10" name="Text 5"/>
          <p:cNvSpPr/>
          <p:nvPr/>
        </p:nvSpPr>
        <p:spPr>
          <a:xfrm>
            <a:off x="3200400" y="1650950"/>
            <a:ext cx="50750" cy="507950"/>
          </a:xfrm>
          <a:prstGeom prst="rect">
            <a:avLst/>
          </a:prstGeom>
          <a:solidFill>
            <a:srgbClr val="0969DA"/>
          </a:solidFill>
          <a:ln/>
        </p:spPr>
        <p:txBody>
          <a:bodyPr wrap="square" rtlCol="0" anchor="ctr"/>
          <a:lstStyle/>
          <a:p>
            <a:pPr indent="0" marL="0">
              <a:buNone/>
            </a:pPr>
            <a:endParaRPr lang="en-US" dirty="0"/>
          </a:p>
        </p:txBody>
      </p:sp>
      <p:sp>
        <p:nvSpPr>
          <p:cNvPr id="11" name="Text 6"/>
          <p:cNvSpPr/>
          <p:nvPr/>
        </p:nvSpPr>
        <p:spPr>
          <a:xfrm>
            <a:off x="33273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203195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4" name="Image 3" descr="/Users/danwahlin/.copilot/session-state/e7427b9a-9d65-4aa2-953c-14cedea46cbc/files/talkdeck/assets/results/excel.png">    </p:cNvPr>
          <p:cNvPicPr>
            <a:picLocks noChangeAspect="1"/>
          </p:cNvPicPr>
          <p:nvPr/>
        </p:nvPicPr>
        <p:blipFill>
          <a:blip r:embed="rId4"/>
          <a:stretch>
            <a:fillRect/>
          </a:stretch>
        </p:blipFill>
        <p:spPr>
          <a:xfrm>
            <a:off x="4724400" y="1473101"/>
            <a:ext cx="2438400" cy="1371600"/>
          </a:xfrm>
          <a:prstGeom prst="rect">
            <a:avLst/>
          </a:prstGeom>
        </p:spPr>
      </p:pic>
      <p:sp>
        <p:nvSpPr>
          <p:cNvPr id="15" name="Text 9"/>
          <p:cNvSpPr/>
          <p:nvPr/>
        </p:nvSpPr>
        <p:spPr>
          <a:xfrm>
            <a:off x="7315200" y="1650950"/>
            <a:ext cx="50750" cy="507950"/>
          </a:xfrm>
          <a:prstGeom prst="rect">
            <a:avLst/>
          </a:prstGeom>
          <a:solidFill>
            <a:srgbClr val="1A7F37"/>
          </a:solidFill>
          <a:ln/>
        </p:spPr>
        <p:txBody>
          <a:bodyPr wrap="square" rtlCol="0" anchor="ctr"/>
          <a:lstStyle/>
          <a:p>
            <a:pPr indent="0" marL="0">
              <a:buNone/>
            </a:pPr>
            <a:endParaRPr lang="en-US" dirty="0"/>
          </a:p>
        </p:txBody>
      </p:sp>
      <p:sp>
        <p:nvSpPr>
          <p:cNvPr id="16" name="Text 10"/>
          <p:cNvSpPr/>
          <p:nvPr/>
        </p:nvSpPr>
        <p:spPr>
          <a:xfrm>
            <a:off x="74421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203195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9" name="Image 4" descr="/Users/danwahlin/.copilot/session-state/e7427b9a-9d65-4aa2-953c-14cedea46cbc/files/talkdeck/assets/results/briefing.png">    </p:cNvPr>
          <p:cNvPicPr>
            <a:picLocks noChangeAspect="1"/>
          </p:cNvPicPr>
          <p:nvPr/>
        </p:nvPicPr>
        <p:blipFill>
          <a:blip r:embed="rId5"/>
          <a:stretch>
            <a:fillRect/>
          </a:stretch>
        </p:blipFill>
        <p:spPr>
          <a:xfrm>
            <a:off x="609600" y="3251150"/>
            <a:ext cx="2438400" cy="1371600"/>
          </a:xfrm>
          <a:prstGeom prst="rect">
            <a:avLst/>
          </a:prstGeom>
        </p:spPr>
      </p:pic>
      <p:sp>
        <p:nvSpPr>
          <p:cNvPr id="20" name="Text 13"/>
          <p:cNvSpPr/>
          <p:nvPr/>
        </p:nvSpPr>
        <p:spPr>
          <a:xfrm>
            <a:off x="3200400" y="3429000"/>
            <a:ext cx="50750" cy="507950"/>
          </a:xfrm>
          <a:prstGeom prst="rect">
            <a:avLst/>
          </a:prstGeom>
          <a:solidFill>
            <a:srgbClr val="BC4C00"/>
          </a:solidFill>
          <a:ln/>
        </p:spPr>
        <p:txBody>
          <a:bodyPr wrap="square" rtlCol="0" anchor="ctr"/>
          <a:lstStyle/>
          <a:p>
            <a:pPr indent="0" marL="0">
              <a:buNone/>
            </a:pPr>
            <a:endParaRPr lang="en-US" dirty="0"/>
          </a:p>
        </p:txBody>
      </p:sp>
      <p:sp>
        <p:nvSpPr>
          <p:cNvPr id="21" name="Text 14"/>
          <p:cNvSpPr/>
          <p:nvPr/>
        </p:nvSpPr>
        <p:spPr>
          <a:xfrm>
            <a:off x="3327350" y="3403550"/>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81000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24" name="Image 5" descr="/Users/danwahlin/.copilot/session-state/e7427b9a-9d65-4aa2-953c-14cedea46cbc/files/talkdeck/assets/results/brief.png">    </p:cNvPr>
          <p:cNvPicPr>
            <a:picLocks noChangeAspect="1"/>
          </p:cNvPicPr>
          <p:nvPr/>
        </p:nvPicPr>
        <p:blipFill>
          <a:blip r:embed="rId6"/>
          <a:stretch>
            <a:fillRect/>
          </a:stretch>
        </p:blipFill>
        <p:spPr>
          <a:xfrm>
            <a:off x="4724400" y="3251150"/>
            <a:ext cx="2438400" cy="1371600"/>
          </a:xfrm>
          <a:prstGeom prst="rect">
            <a:avLst/>
          </a:prstGeom>
        </p:spPr>
      </p:pic>
      <p:sp>
        <p:nvSpPr>
          <p:cNvPr id="25" name="Text 17"/>
          <p:cNvSpPr/>
          <p:nvPr/>
        </p:nvSpPr>
        <p:spPr>
          <a:xfrm>
            <a:off x="7315200" y="3429000"/>
            <a:ext cx="50750" cy="507950"/>
          </a:xfrm>
          <a:prstGeom prst="rect">
            <a:avLst/>
          </a:prstGeom>
          <a:solidFill>
            <a:srgbClr val="8250DF"/>
          </a:solidFill>
          <a:ln/>
        </p:spPr>
        <p:txBody>
          <a:bodyPr wrap="square" rtlCol="0" anchor="ctr"/>
          <a:lstStyle/>
          <a:p>
            <a:pPr indent="0" marL="0">
              <a:buNone/>
            </a:pPr>
            <a:endParaRPr lang="en-US" dirty="0"/>
          </a:p>
        </p:txBody>
      </p:sp>
      <p:sp>
        <p:nvSpPr>
          <p:cNvPr id="26" name="Text 18"/>
          <p:cNvSpPr/>
          <p:nvPr/>
        </p:nvSpPr>
        <p:spPr>
          <a:xfrm>
            <a:off x="7442150" y="3403550"/>
            <a:ext cx="111394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81000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TRUST AND CONTROL</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You stay in control</a:t>
            </a:r>
            <a:endParaRPr lang="en-US" sz="24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hecklist-8250DF.png">    </p:cNvPr>
          <p:cNvPicPr>
            <a:picLocks noChangeAspect="1"/>
          </p:cNvPicPr>
          <p:nvPr/>
        </p:nvPicPr>
        <p:blipFill>
          <a:blip r:embed="rId3"/>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 before work</a:t>
            </a:r>
            <a:endParaRPr lang="en-US" sz="15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Read the plan before the agent changes anything.</a:t>
            </a:r>
            <a:endParaRPr lang="en-US" sz="11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GitBranch-0969DA.png">    </p:cNvPr>
          <p:cNvPicPr>
            <a:picLocks noChangeAspect="1"/>
          </p:cNvPicPr>
          <p:nvPr/>
        </p:nvPicPr>
        <p:blipFill>
          <a:blip r:embed="rId4"/>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Isolated worktrees</a:t>
            </a:r>
            <a:endParaRPr lang="en-US" sz="15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Each agent works on its own branch, so agents do not collide.</a:t>
            </a:r>
            <a:endParaRPr lang="en-US" sz="11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ShieldCheck-BC4C00.png">    </p:cNvPr>
          <p:cNvPicPr>
            <a:picLocks noChangeAspect="1"/>
          </p:cNvPicPr>
          <p:nvPr/>
        </p:nvPicPr>
        <p:blipFill>
          <a:blip r:embed="rId5"/>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Tool permissions</a:t>
            </a:r>
            <a:endParaRPr lang="en-US" sz="15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Choose when the agent must ask before it runs a tool.</a:t>
            </a:r>
            <a:endParaRPr lang="en-US" sz="11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itPullRequest-1A7F37.png">    </p:cNvPr>
          <p:cNvPicPr>
            <a:picLocks noChangeAspect="1"/>
          </p:cNvPicPr>
          <p:nvPr/>
        </p:nvPicPr>
        <p:blipFill>
          <a:blip r:embed="rId6"/>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before you accept</a:t>
            </a:r>
            <a:endParaRPr lang="en-US" sz="15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Check diffs, previews, and files. Then merge.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8250DF.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“The best way to predict the future is to invent it.”</a:t>
            </a:r>
            <a:endParaRPr lang="en-US" sz="3400" dirty="0"/>
          </a:p>
        </p:txBody>
      </p:sp>
      <p:sp>
        <p:nvSpPr>
          <p:cNvPr id="9" name="Text 4"/>
          <p:cNvSpPr/>
          <p:nvPr/>
        </p:nvSpPr>
        <p:spPr>
          <a:xfrm>
            <a:off x="888950" y="3403550"/>
            <a:ext cx="609600" cy="50750"/>
          </a:xfrm>
          <a:prstGeom prst="rect">
            <a:avLst/>
          </a:prstGeom>
          <a:solidFill>
            <a:srgbClr val="8250DF"/>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Alan Kay</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Computer scientist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1A7F37"/>
                </a:solidFill>
                <a:latin typeface="Arial" pitchFamily="34" charset="0"/>
                <a:ea typeface="Arial" pitchFamily="34" charset="-122"/>
                <a:cs typeface="Arial" pitchFamily="34" charset="-120"/>
              </a:rPr>
              <a:t>START TODAY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Hand off one task this week</a:t>
            </a:r>
            <a:endParaRPr lang="en-US" sz="2400" dirty="0"/>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Developers</a:t>
            </a:r>
            <a:endParaRPr lang="en-US" sz="1250" dirty="0"/>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3" name="Text 8"/>
          <p:cNvSpPr/>
          <p:nvPr/>
        </p:nvSpPr>
        <p:spPr>
          <a:xfrm>
            <a:off x="7620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Fix the bug in issue 42 and add a test.</a:t>
            </a:r>
            <a:endParaRPr lang="en-US" sz="1000" dirty="0"/>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indent="0" marL="0">
              <a:buNone/>
            </a:pPr>
            <a:endParaRPr lang="en-US" dirty="0"/>
          </a:p>
        </p:txBody>
      </p:sp>
      <p:pic>
        <p:nvPicPr>
          <p:cNvPr id="16" name="Image 3" descr="/Users/danwahlin/.copilot/session-state/e7427b9a-9d65-4aa2-953c-14cedea46cbc/files/talkdeck/assets/icons/GoProject-8250DF.png">    </p:cNvPr>
          <p:cNvPicPr>
            <a:picLocks noChangeAspect="1"/>
          </p:cNvPicPr>
          <p:nvPr/>
        </p:nvPicPr>
        <p:blipFill>
          <a:blip r:embed="rId4"/>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Project managers</a:t>
            </a:r>
            <a:endParaRPr lang="en-US" sz="1250" dirty="0"/>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9" name="Text 13"/>
          <p:cNvSpPr/>
          <p:nvPr/>
        </p:nvSpPr>
        <p:spPr>
          <a:xfrm>
            <a:off x="2819400" y="2578001"/>
            <a:ext cx="1450797" cy="659606"/>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status brief from this week’s project email.</a:t>
            </a:r>
            <a:endParaRPr lang="en-US" sz="1000" dirty="0"/>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Table-1A7F37.png">    </p:cNvPr>
          <p:cNvPicPr>
            <a:picLocks noChangeAspect="1"/>
          </p:cNvPicPr>
          <p:nvPr/>
        </p:nvPicPr>
        <p:blipFill>
          <a:blip r:embed="rId5"/>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Business analysts</a:t>
            </a:r>
            <a:endParaRPr lang="en-US" sz="1250" dirty="0"/>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25" name="Text 18"/>
          <p:cNvSpPr/>
          <p:nvPr/>
        </p:nvSpPr>
        <p:spPr>
          <a:xfrm>
            <a:off x="48768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Turn this CSV into a workbook with a PivotTable.</a:t>
            </a:r>
            <a:endParaRPr lang="en-US" sz="1000" dirty="0"/>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Leaders</a:t>
            </a:r>
            <a:endParaRPr lang="en-US" sz="1250" dirty="0"/>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31" name="Text 23"/>
          <p:cNvSpPr/>
          <p:nvPr/>
        </p:nvSpPr>
        <p:spPr>
          <a:xfrm>
            <a:off x="69342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one-page briefing on this topic.</a:t>
            </a:r>
            <a:endParaRPr lang="en-US" sz="1000" dirty="0"/>
          </a:p>
        </p:txBody>
      </p:sp>
      <p:pic>
        <p:nvPicPr>
          <p:cNvPr id="32" name="Image 6" descr="/Users/danwahlin/.copilot/session-state/e7427b9a-9d65-4aa2-953c-14cedea46cbc/files/talkdeck/assets/qr-course.png">    </p:cNvPr>
          <p:cNvPicPr>
            <a:picLocks noChangeAspect="1"/>
          </p:cNvPicPr>
          <p:nvPr/>
        </p:nvPicPr>
        <p:blipFill>
          <a:blip r:embed="rId7"/>
          <a:stretch>
            <a:fillRect/>
          </a:stretch>
        </p:blipFill>
        <p:spPr>
          <a:xfrm>
            <a:off x="507950" y="3784550"/>
            <a:ext cx="914400" cy="914400"/>
          </a:xfrm>
          <a:prstGeom prst="rect">
            <a:avLst/>
          </a:prstGeom>
        </p:spPr>
      </p:pic>
      <p:sp>
        <p:nvSpPr>
          <p:cNvPr id="33" name="Text 24"/>
          <p:cNvSpPr/>
          <p:nvPr/>
        </p:nvSpPr>
        <p:spPr>
          <a:xfrm>
            <a:off x="1600200" y="3936950"/>
            <a:ext cx="647689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Free course: GitHub Copilot app for beginners</a:t>
            </a:r>
            <a:endParaRPr lang="en-US" sz="1300" dirty="0"/>
          </a:p>
        </p:txBody>
      </p:sp>
      <p:sp>
        <p:nvSpPr>
          <p:cNvPr id="34" name="Text 25"/>
          <p:cNvSpPr/>
          <p:nvPr/>
        </p:nvSpPr>
        <p:spPr>
          <a:xfrm>
            <a:off x="1600200" y="4216301"/>
            <a:ext cx="6476899" cy="171450"/>
          </a:xfrm>
          <a:prstGeom prst="rect">
            <a:avLst/>
          </a:prstGeom>
          <a:noFill/>
          <a:ln/>
        </p:spPr>
        <p:txBody>
          <a:bodyPr wrap="square" lIns="0" tIns="0" rIns="0" bIns="0" rtlCol="0" anchor="t"/>
          <a:lstStyle/>
          <a:p>
            <a:pPr algn="l" indent="0" marL="0">
              <a:buNone/>
            </a:pPr>
            <a:r>
              <a:rPr lang="en-US" sz="1200" dirty="0">
                <a:solidFill>
                  <a:srgbClr val="0969DA"/>
                </a:solidFill>
                <a:latin typeface="Arial" pitchFamily="34" charset="0"/>
                <a:ea typeface="Arial" pitchFamily="34" charset="-122"/>
                <a:cs typeface="Arial" pitchFamily="34" charset="-120"/>
              </a:rPr>
              <a:t>github.com/github/copilot-app-for-beginners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3969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THANK YOU</a:t>
            </a:r>
            <a:endParaRPr lang="en-US" sz="1100" dirty="0"/>
          </a:p>
        </p:txBody>
      </p:sp>
      <p:sp>
        <p:nvSpPr>
          <p:cNvPr id="5" name="Text 1"/>
          <p:cNvSpPr/>
          <p:nvPr/>
        </p:nvSpPr>
        <p:spPr>
          <a:xfrm>
            <a:off x="1015901" y="1650950"/>
            <a:ext cx="6217920" cy="704850"/>
          </a:xfrm>
          <a:prstGeom prst="rect">
            <a:avLst/>
          </a:prstGeom>
          <a:noFill/>
          <a:ln/>
        </p:spPr>
        <p:txBody>
          <a:bodyPr wrap="square" lIns="0" tIns="0" rIns="0" bIns="0" rtlCol="0" anchor="t"/>
          <a:lstStyle/>
          <a:p>
            <a:pPr algn="l" indent="0" marL="0">
              <a:buNone/>
            </a:pPr>
            <a:r>
              <a:rPr lang="en-US" sz="4800" b="1" dirty="0">
                <a:solidFill>
                  <a:srgbClr val="1F2328"/>
                </a:solidFill>
                <a:latin typeface="Arial" pitchFamily="34" charset="0"/>
                <a:ea typeface="Arial" pitchFamily="34" charset="-122"/>
                <a:cs typeface="Arial" pitchFamily="34" charset="-120"/>
              </a:rPr>
              <a:t>Questions?</a:t>
            </a:r>
            <a:endParaRPr lang="en-US" sz="4800" dirty="0"/>
          </a:p>
        </p:txBody>
      </p:sp>
      <p:sp>
        <p:nvSpPr>
          <p:cNvPr id="6" name="Text 2"/>
          <p:cNvSpPr/>
          <p:nvPr/>
        </p:nvSpPr>
        <p:spPr>
          <a:xfrm>
            <a:off x="1015901" y="25653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19400"/>
            <a:ext cx="5440680" cy="257175"/>
          </a:xfrm>
          <a:prstGeom prst="rect">
            <a:avLst/>
          </a:prstGeom>
          <a:noFill/>
          <a:ln/>
        </p:spPr>
        <p:txBody>
          <a:bodyPr wrap="square" lIns="0" tIns="0" rIns="0" bIns="0" rtlCol="0" anchor="t"/>
          <a:lstStyle/>
          <a:p>
            <a:pPr algn="l" indent="0" marL="0">
              <a:buNone/>
            </a:pPr>
            <a:r>
              <a:rPr lang="en-US" sz="1700" dirty="0">
                <a:solidFill>
                  <a:srgbClr val="59636E"/>
                </a:solidFill>
                <a:latin typeface="Arial" pitchFamily="34" charset="0"/>
                <a:ea typeface="Arial" pitchFamily="34" charset="-122"/>
                <a:cs typeface="Arial" pitchFamily="34" charset="-120"/>
              </a:rPr>
              <a:t>Bring an idea. Put an agent to work on it.</a:t>
            </a:r>
            <a:endParaRPr lang="en-US" sz="17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cp:revision>
  <dcterms:created xsi:type="dcterms:W3CDTF">2026-10-17T07:41:52Z</dcterms:created>
  <dcterms:modified xsi:type="dcterms:W3CDTF">2026-10-17T07:41:52Z</dcterms:modified>
</cp:coreProperties>
</file>