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73" r:id="rId4"/>
    <p:sldId id="274" r:id="rId5"/>
    <p:sldId id="259" r:id="rId6"/>
    <p:sldId id="261" r:id="rId7"/>
    <p:sldId id="262" r:id="rId8"/>
    <p:sldId id="263" r:id="rId9"/>
    <p:sldId id="264" r:id="rId10"/>
    <p:sldId id="265" r:id="rId11"/>
    <p:sldId id="267" r:id="rId12"/>
    <p:sldId id="266" r:id="rId13"/>
    <p:sldId id="268" r:id="rId14"/>
    <p:sldId id="270" r:id="rId15"/>
    <p:sldId id="271" r:id="rId16"/>
    <p:sldId id="272"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1E5"/>
    <a:srgbClr val="FBEFFF"/>
    <a:srgbClr val="DDF4FF"/>
    <a:srgbClr val="DAFBE1"/>
    <a:srgbClr val="73B38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571"/>
    <p:restoredTop sz="94610"/>
  </p:normalViewPr>
  <p:slideViewPr>
    <p:cSldViewPr snapToGrid="0" snapToObjects="1">
      <p:cViewPr varScale="1">
        <p:scale>
          <a:sx n="150" d="100"/>
          <a:sy n="150" d="100"/>
        </p:scale>
        <p:origin x="176" y="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502874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is about one idea: you can hand real work to AI agents, run several at once, and stay in control of the result. You will see it for developers, project managers, business analysts, and leaders.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how much of your day is real work, and how much is hunting for information and switching between tools? Get a show of hands. The bar is not data. It is the feeling most of us have.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Here's a question a leader might ask on any Monday: what's happening in the U.S. housing market? Answering it well takes several roles. A developer builds a dashboard. An analyst builds a workbook. A project manager pulls together a briefing. The leader waits for all of it. Each person does the steps by hand, one after another, so a simple question takes days. That's the exact question we'll answer in the demo.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Most of us already use a chat assistant. It's great for answers, but you still do every step: copy the code, run it, fix it, paste the numbers into a slide. An agent is different. You describe the outcome you want, and it does the steps: it plans, writes, runs, tests, and fixes. You can run several at the same time. You stay in charge: you review the result and decide what to keep. That's the shift: from asking to delegating.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this room has more ideas than time. AI agents change the execution side of the equation. You stay the owner of the idea and the judgment.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GitHub Copilot app is a desktop workspace for agents. Each session is an agent with its own branch and context. You can plan first, hand work to Autopilot, preview results in the app, connect to tools such as WorkIQ through MCP, and schedule automations.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conductor does not play every instrument. The conductor sets the direction, keeps the sections together, and listens for problems. That is your job in the Copilot app. The agents play the parts.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today's orchestra. Each section is a session with its own agent and its own branch. The website, the Excel workbook, the PowerPoint briefing, and the WorkIQ brief all play at the same time. The automation keeps the beat every Monday. You stand in the middle: you plan, you review, and you approve.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story for the demo. One public dataset: the FHFA House Price Index and CFPB HMDA mortgage data. Four people need four different outputs. I will start four agents at the same time, one for each output.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is simple. Describe the outcome. For bigger work, read the plan first. Then switch to Autopilot. When the agent is done, you review the diff, the preview, or the file before you accept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what the four agents built while we talked: a deployed website, an analyst workbook with a PivotTable, an executive briefing with native charts, and a session brief from Microsoft 365. Each one took one prompt.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app. Start the website session in Plan mode first, then start the Excel, PowerPoint, and WorkIQ sessions in Autopilot.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do the steps, but you own the result. Plan mode shows you the approach first. Worktrees keep agents apart. Tool permissions control what runs without asking. And nothing is accepted until you review it.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one task this week and hand it to an agent. Each role has a first prompt you can use right away. The free course walks through the app step by step.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8FFA4-C097-7A3F-2C17-DA5E26E092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1177E0-C8AE-B9B5-508E-8CBCE04958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756B1-EC3B-28BF-EE09-1FBFC7792A0F}"/>
              </a:ext>
            </a:extLst>
          </p:cNvPr>
          <p:cNvSpPr>
            <a:spLocks noGrp="1"/>
          </p:cNvSpPr>
          <p:nvPr>
            <p:ph type="body" idx="1"/>
          </p:nvPr>
        </p:nvSpPr>
        <p:spPr/>
        <p:txBody>
          <a:bodyPr/>
          <a:lstStyle/>
          <a:p>
            <a:r>
              <a:rPr lang="en-US" dirty="0"/>
              <a:t>Thank you. Take questions.</a:t>
            </a:r>
          </a:p>
        </p:txBody>
      </p:sp>
      <p:sp>
        <p:nvSpPr>
          <p:cNvPr id="4" name="Slide Number Placeholder 3">
            <a:extLst>
              <a:ext uri="{FF2B5EF4-FFF2-40B4-BE49-F238E27FC236}">
                <a16:creationId xmlns:a16="http://schemas.microsoft.com/office/drawing/2014/main" id="{08970E57-0AB8-4625-79DF-B6185EC806CD}"/>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9589613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5.png"/><Relationship Id="rId7" Type="http://schemas.openxmlformats.org/officeDocument/2006/relationships/image" Target="../media/image19.png"/><Relationship Id="rId12"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24.png"/><Relationship Id="rId7"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25.png"/><Relationship Id="rId9"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image" Target="../media/image3.png"/></Relationships>
</file>

<file path=ppt/slides/_rels/slide1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5.png"/><Relationship Id="rId7"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5.png"/><Relationship Id="rId7" Type="http://schemas.openxmlformats.org/officeDocument/2006/relationships/image" Target="../media/image3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28.png"/></Relationships>
</file>

<file path=ppt/slides/_rels/slide1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png"/><Relationship Id="rId9" Type="http://schemas.openxmlformats.org/officeDocument/2006/relationships/image" Target="../media/image39.png"/></Relationships>
</file>

<file path=ppt/slides/_rels/slide1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2.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4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1015901" y="622101"/>
            <a:ext cx="6217920" cy="152400"/>
          </a:xfrm>
          <a:prstGeom prst="rect">
            <a:avLst/>
          </a:prstGeom>
          <a:noFill/>
          <a:ln/>
        </p:spPr>
        <p:txBody>
          <a:bodyPr wrap="square" lIns="0" tIns="0" rIns="0" bIns="0" rtlCol="0" anchor="t"/>
          <a:lstStyle/>
          <a:p>
            <a:pPr marL="0" indent="0" algn="l">
              <a:buNone/>
            </a:pPr>
            <a:r>
              <a:rPr lang="en-US" sz="1600" b="1" dirty="0">
                <a:solidFill>
                  <a:srgbClr val="1A7F37"/>
                </a:solidFill>
                <a:latin typeface="Calibri" panose="020F0502020204030204" pitchFamily="34" charset="0"/>
                <a:ea typeface="Arial" pitchFamily="34" charset="-122"/>
                <a:cs typeface="Calibri" panose="020F0502020204030204" pitchFamily="34" charset="0"/>
              </a:rPr>
              <a:t>GITHUB COPILOT APP</a:t>
            </a:r>
            <a:endParaRPr lang="en-US" sz="1600" dirty="0">
              <a:latin typeface="Calibri" panose="020F0502020204030204" pitchFamily="34" charset="0"/>
              <a:cs typeface="Calibri" panose="020F0502020204030204" pitchFamily="34" charset="0"/>
            </a:endParaRPr>
          </a:p>
        </p:txBody>
      </p:sp>
      <p:sp>
        <p:nvSpPr>
          <p:cNvPr id="5" name="Text 1"/>
          <p:cNvSpPr/>
          <p:nvPr/>
        </p:nvSpPr>
        <p:spPr>
          <a:xfrm>
            <a:off x="1015901" y="1538448"/>
            <a:ext cx="6736029" cy="638175"/>
          </a:xfrm>
          <a:prstGeom prst="rect">
            <a:avLst/>
          </a:prstGeom>
          <a:noFill/>
          <a:ln/>
        </p:spPr>
        <p:txBody>
          <a:bodyPr wrap="square" lIns="0" tIns="0" rIns="0" bIns="0" rtlCol="0" anchor="t"/>
          <a:lstStyle/>
          <a:p>
            <a:pPr marL="0" indent="0" algn="l">
              <a:buNone/>
            </a:pPr>
            <a:r>
              <a:rPr lang="en-US" sz="4400" b="1" dirty="0">
                <a:solidFill>
                  <a:srgbClr val="1F2328"/>
                </a:solidFill>
                <a:latin typeface="Calibri" panose="020F0502020204030204" pitchFamily="34" charset="0"/>
                <a:ea typeface="Arial" pitchFamily="34" charset="-122"/>
                <a:cs typeface="Calibri" panose="020F0502020204030204" pitchFamily="34" charset="0"/>
              </a:rPr>
              <a:t>Put AI Agents to Work </a:t>
            </a:r>
            <a:br>
              <a:rPr lang="en-US" sz="4400" b="1" dirty="0">
                <a:solidFill>
                  <a:srgbClr val="1F2328"/>
                </a:solidFill>
                <a:latin typeface="Calibri" panose="020F0502020204030204" pitchFamily="34" charset="0"/>
                <a:ea typeface="Arial" pitchFamily="34" charset="-122"/>
                <a:cs typeface="Calibri" panose="020F0502020204030204" pitchFamily="34" charset="0"/>
              </a:rPr>
            </a:br>
            <a:r>
              <a:rPr lang="en-US" sz="4000" b="1" dirty="0">
                <a:solidFill>
                  <a:srgbClr val="1F2328"/>
                </a:solidFill>
                <a:latin typeface="Calibri" panose="020F0502020204030204" pitchFamily="34" charset="0"/>
                <a:ea typeface="Arial" pitchFamily="34" charset="-122"/>
                <a:cs typeface="Calibri" panose="020F0502020204030204" pitchFamily="34" charset="0"/>
              </a:rPr>
              <a:t>for Developers, Knowledge Workers, and Leaders</a:t>
            </a:r>
            <a:endParaRPr lang="en-US" sz="4400" dirty="0">
              <a:latin typeface="Calibri" panose="020F0502020204030204" pitchFamily="34" charset="0"/>
              <a:cs typeface="Calibri" panose="020F0502020204030204" pitchFamily="34" charset="0"/>
            </a:endParaRPr>
          </a:p>
        </p:txBody>
      </p:sp>
      <p:pic>
        <p:nvPicPr>
          <p:cNvPr id="8" name="Image 2" descr="/Users/danwahlin/.copilot/session-state/e7427b9a-9d65-4aa2-953c-14cedea46cbc/files/talkdeck/assets/mark-blue.png"/>
          <p:cNvPicPr>
            <a:picLocks noChangeAspect="1"/>
          </p:cNvPicPr>
          <p:nvPr/>
        </p:nvPicPr>
        <p:blipFill>
          <a:blip r:embed="rId4"/>
          <a:stretch>
            <a:fillRect/>
          </a:stretch>
        </p:blipFill>
        <p:spPr>
          <a:xfrm>
            <a:off x="1015901" y="4204271"/>
            <a:ext cx="203150" cy="203150"/>
          </a:xfrm>
          <a:prstGeom prst="rect">
            <a:avLst/>
          </a:prstGeom>
        </p:spPr>
      </p:pic>
      <p:sp>
        <p:nvSpPr>
          <p:cNvPr id="9" name="Text 4"/>
          <p:cNvSpPr/>
          <p:nvPr/>
        </p:nvSpPr>
        <p:spPr>
          <a:xfrm>
            <a:off x="1308050" y="4216921"/>
            <a:ext cx="3886200" cy="190500"/>
          </a:xfrm>
          <a:prstGeom prst="rect">
            <a:avLst/>
          </a:prstGeom>
          <a:noFill/>
          <a:ln/>
        </p:spPr>
        <p:txBody>
          <a:bodyPr wrap="square" lIns="0" tIns="0" rIns="0" bIns="0" rtlCol="0" anchor="t"/>
          <a:lstStyle/>
          <a:p>
            <a:pPr marL="0" indent="0" algn="l">
              <a:buNone/>
            </a:pPr>
            <a:r>
              <a:rPr lang="en-US" sz="1250" b="1" dirty="0">
                <a:solidFill>
                  <a:srgbClr val="0969DA"/>
                </a:solidFill>
                <a:latin typeface="Calibri" panose="020F0502020204030204" pitchFamily="34" charset="0"/>
                <a:ea typeface="Arial" pitchFamily="34" charset="-122"/>
                <a:cs typeface="Calibri" panose="020F0502020204030204" pitchFamily="34" charset="0"/>
              </a:rPr>
              <a:t>Dan Wahlin · Microsoft</a:t>
            </a:r>
            <a:endParaRPr lang="en-US" sz="1250" dirty="0">
              <a:latin typeface="Calibri" panose="020F0502020204030204" pitchFamily="34" charset="0"/>
              <a:cs typeface="Calibri" panose="020F0502020204030204" pitchFamily="34" charset="0"/>
            </a:endParaRPr>
          </a:p>
        </p:txBody>
      </p:sp>
      <p:pic>
        <p:nvPicPr>
          <p:cNvPr id="10" name="Image 1" descr="/Users/danwahlin/.copilot/session-state/e7427b9a-9d65-4aa2-953c-14cedea46cbc/files/talkdeck/assets/mark-dark.png">
            <a:extLst>
              <a:ext uri="{FF2B5EF4-FFF2-40B4-BE49-F238E27FC236}">
                <a16:creationId xmlns:a16="http://schemas.microsoft.com/office/drawing/2014/main" id="{F7FBA88A-9315-ACC2-51B5-98E825A60B00}"/>
              </a:ext>
            </a:extLst>
          </p:cNvPr>
          <p:cNvPicPr>
            <a:picLocks noChangeAspect="1"/>
          </p:cNvPicPr>
          <p:nvPr/>
        </p:nvPicPr>
        <p:blipFill>
          <a:blip r:embed="rId5"/>
          <a:stretch>
            <a:fillRect/>
          </a:stretch>
        </p:blipFill>
        <p:spPr>
          <a:xfrm>
            <a:off x="8610600" y="165050"/>
            <a:ext cx="304800" cy="304800"/>
          </a:xfrm>
          <a:prstGeom prst="rect">
            <a:avLst/>
          </a:prstGeom>
        </p:spPr>
      </p:pic>
      <p:pic>
        <p:nvPicPr>
          <p:cNvPr id="11" name="Picture 10">
            <a:extLst>
              <a:ext uri="{FF2B5EF4-FFF2-40B4-BE49-F238E27FC236}">
                <a16:creationId xmlns:a16="http://schemas.microsoft.com/office/drawing/2014/main" id="{64D95826-98EA-1B50-6818-442402F84F11}"/>
              </a:ext>
            </a:extLst>
          </p:cNvPr>
          <p:cNvPicPr>
            <a:picLocks noChangeAspect="1"/>
          </p:cNvPicPr>
          <p:nvPr/>
        </p:nvPicPr>
        <p:blipFill>
          <a:blip r:embed="rId6"/>
          <a:srcRect/>
          <a:stretch/>
        </p:blipFill>
        <p:spPr>
          <a:xfrm>
            <a:off x="8039100" y="4013150"/>
            <a:ext cx="863600" cy="863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19" name="Image 0" descr="/Users/danwahlin/.copilot/session-state/e7427b9a-9d65-4aa2-953c-14cedea46cbc/files/talkdeck/assets/corner.png">
            <a:extLst>
              <a:ext uri="{FF2B5EF4-FFF2-40B4-BE49-F238E27FC236}">
                <a16:creationId xmlns:a16="http://schemas.microsoft.com/office/drawing/2014/main" id="{9C247D26-6A8B-3131-65F2-172DF7EAB95A}"/>
              </a:ext>
            </a:extLst>
          </p:cNvPr>
          <p:cNvPicPr>
            <a:picLocks noChangeAspect="1"/>
          </p:cNvPicPr>
          <p:nvPr/>
        </p:nvPicPr>
        <p:blipFill>
          <a:blip r:embed="rId3"/>
          <a:stretch>
            <a:fillRect/>
          </a:stretch>
        </p:blipFill>
        <p:spPr>
          <a:xfrm>
            <a:off x="5393683" y="-1"/>
            <a:ext cx="3750168" cy="1755725"/>
          </a:xfrm>
          <a:prstGeom prst="rect">
            <a:avLst/>
          </a:prstGeom>
        </p:spPr>
      </p:pic>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7" name="Text 3"/>
          <p:cNvSpPr/>
          <p:nvPr/>
        </p:nvSpPr>
        <p:spPr>
          <a:xfrm>
            <a:off x="507950" y="593527"/>
            <a:ext cx="7254139" cy="1168003"/>
          </a:xfrm>
          <a:prstGeom prst="rect">
            <a:avLst/>
          </a:prstGeom>
          <a:noFill/>
          <a:ln/>
        </p:spPr>
        <p:txBody>
          <a:bodyPr wrap="square" lIns="0" tIns="0" rIns="0" bIns="0" rtlCol="0" anchor="t"/>
          <a:lstStyle/>
          <a:p>
            <a:pPr marL="0" indent="0" algn="l">
              <a:lnSpc>
                <a:spcPts val="4600"/>
              </a:lnSpc>
              <a:buNone/>
            </a:pPr>
            <a:r>
              <a:rPr lang="en-US" sz="4400" b="1" dirty="0">
                <a:solidFill>
                  <a:srgbClr val="1F2328"/>
                </a:solidFill>
                <a:latin typeface="Calibri" panose="020F0502020204030204" pitchFamily="34" charset="0"/>
                <a:ea typeface="Arial" pitchFamily="34" charset="-122"/>
                <a:cs typeface="Calibri" panose="020F0502020204030204" pitchFamily="34" charset="0"/>
              </a:rPr>
              <a:t>How much of your day is </a:t>
            </a:r>
            <a:br>
              <a:rPr lang="en-US" sz="4400" b="1" dirty="0">
                <a:solidFill>
                  <a:srgbClr val="1F2328"/>
                </a:solidFill>
                <a:latin typeface="Calibri" panose="020F0502020204030204" pitchFamily="34" charset="0"/>
                <a:ea typeface="Arial" pitchFamily="34" charset="-122"/>
                <a:cs typeface="Calibri" panose="020F0502020204030204" pitchFamily="34" charset="0"/>
              </a:rPr>
            </a:br>
            <a:r>
              <a:rPr lang="en-US" sz="4400" b="1" dirty="0">
                <a:solidFill>
                  <a:srgbClr val="1F2328"/>
                </a:solidFill>
                <a:latin typeface="Calibri" panose="020F0502020204030204" pitchFamily="34" charset="0"/>
                <a:ea typeface="Arial" pitchFamily="34" charset="-122"/>
                <a:cs typeface="Calibri" panose="020F0502020204030204" pitchFamily="34" charset="0"/>
              </a:rPr>
              <a:t>“real work”?</a:t>
            </a:r>
            <a:endParaRPr lang="en-US" sz="4400" dirty="0">
              <a:latin typeface="Calibri" panose="020F0502020204030204" pitchFamily="34" charset="0"/>
              <a:cs typeface="Calibri" panose="020F0502020204030204" pitchFamily="34" charset="0"/>
            </a:endParaRPr>
          </a:p>
        </p:txBody>
      </p:sp>
      <p:sp>
        <p:nvSpPr>
          <p:cNvPr id="8" name="Text 4"/>
          <p:cNvSpPr/>
          <p:nvPr/>
        </p:nvSpPr>
        <p:spPr>
          <a:xfrm>
            <a:off x="507950" y="2717750"/>
            <a:ext cx="1295349" cy="142875"/>
          </a:xfrm>
          <a:prstGeom prst="rect">
            <a:avLst/>
          </a:prstGeom>
          <a:noFill/>
          <a:ln/>
        </p:spPr>
        <p:txBody>
          <a:bodyPr wrap="square" lIns="0" tIns="0" rIns="0" bIns="0" rtlCol="0" anchor="t"/>
          <a:lstStyle/>
          <a:p>
            <a:pPr marL="0" indent="0" algn="l">
              <a:buNone/>
            </a:pPr>
            <a:r>
              <a:rPr lang="en-US" sz="1400" b="1" dirty="0">
                <a:solidFill>
                  <a:srgbClr val="59636E"/>
                </a:solidFill>
                <a:latin typeface="Calibri" panose="020F0502020204030204" pitchFamily="34" charset="0"/>
                <a:ea typeface="Arial" pitchFamily="34" charset="-122"/>
                <a:cs typeface="Calibri" panose="020F0502020204030204" pitchFamily="34" charset="0"/>
              </a:rPr>
              <a:t>9:00 AM</a:t>
            </a:r>
            <a:endParaRPr lang="en-US" sz="1400" b="1" dirty="0">
              <a:latin typeface="Calibri" panose="020F0502020204030204" pitchFamily="34" charset="0"/>
              <a:cs typeface="Calibri" panose="020F0502020204030204" pitchFamily="34" charset="0"/>
            </a:endParaRPr>
          </a:p>
        </p:txBody>
      </p:sp>
      <p:sp>
        <p:nvSpPr>
          <p:cNvPr id="9" name="Text 5"/>
          <p:cNvSpPr/>
          <p:nvPr/>
        </p:nvSpPr>
        <p:spPr>
          <a:xfrm>
            <a:off x="7340551" y="2717750"/>
            <a:ext cx="1295349" cy="142875"/>
          </a:xfrm>
          <a:prstGeom prst="rect">
            <a:avLst/>
          </a:prstGeom>
          <a:noFill/>
          <a:ln/>
        </p:spPr>
        <p:txBody>
          <a:bodyPr wrap="square" lIns="0" tIns="0" rIns="0" bIns="0" rtlCol="0" anchor="t"/>
          <a:lstStyle/>
          <a:p>
            <a:pPr marL="0" indent="0" algn="r">
              <a:buNone/>
            </a:pPr>
            <a:r>
              <a:rPr lang="en-US" sz="1400" b="1" dirty="0">
                <a:solidFill>
                  <a:srgbClr val="59636E"/>
                </a:solidFill>
                <a:latin typeface="Calibri" panose="020F0502020204030204" pitchFamily="34" charset="0"/>
                <a:ea typeface="Arial" pitchFamily="34" charset="-122"/>
                <a:cs typeface="Calibri" panose="020F0502020204030204" pitchFamily="34" charset="0"/>
              </a:rPr>
              <a:t>5:00 PM</a:t>
            </a:r>
            <a:endParaRPr lang="en-US" sz="1400" b="1" dirty="0">
              <a:latin typeface="Calibri" panose="020F0502020204030204" pitchFamily="34" charset="0"/>
              <a:cs typeface="Calibri" panose="020F0502020204030204" pitchFamily="34" charset="0"/>
            </a:endParaRPr>
          </a:p>
        </p:txBody>
      </p:sp>
      <p:sp>
        <p:nvSpPr>
          <p:cNvPr id="10" name="Text 6"/>
          <p:cNvSpPr/>
          <p:nvPr/>
        </p:nvSpPr>
        <p:spPr>
          <a:xfrm>
            <a:off x="507950" y="3156495"/>
            <a:ext cx="2120801" cy="660350"/>
          </a:xfrm>
          <a:prstGeom prst="roundRect">
            <a:avLst>
              <a:gd name="adj" fmla="val 15386"/>
            </a:avLst>
          </a:prstGeom>
          <a:solidFill>
            <a:srgbClr val="DAFBE1"/>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1" name="Text 7"/>
          <p:cNvSpPr/>
          <p:nvPr/>
        </p:nvSpPr>
        <p:spPr>
          <a:xfrm>
            <a:off x="634901" y="3397894"/>
            <a:ext cx="1943100" cy="171450"/>
          </a:xfrm>
          <a:prstGeom prst="rect">
            <a:avLst/>
          </a:prstGeom>
          <a:noFill/>
          <a:ln/>
        </p:spPr>
        <p:txBody>
          <a:bodyPr wrap="square" lIns="0" tIns="0" rIns="0" bIns="0" rtlCol="0" anchor="t"/>
          <a:lstStyle/>
          <a:p>
            <a:pPr marL="0" indent="0" algn="l">
              <a:buNone/>
            </a:pPr>
            <a:r>
              <a:rPr lang="en-US" sz="1400" b="1" dirty="0">
                <a:latin typeface="Calibri" panose="020F0502020204030204" pitchFamily="34" charset="0"/>
                <a:ea typeface="Arial" pitchFamily="34" charset="-122"/>
                <a:cs typeface="Calibri" panose="020F0502020204030204" pitchFamily="34" charset="0"/>
              </a:rPr>
              <a:t>Real work</a:t>
            </a:r>
            <a:endParaRPr lang="en-US" sz="1400" dirty="0">
              <a:latin typeface="Calibri" panose="020F0502020204030204" pitchFamily="34" charset="0"/>
              <a:cs typeface="Calibri" panose="020F0502020204030204" pitchFamily="34" charset="0"/>
            </a:endParaRPr>
          </a:p>
        </p:txBody>
      </p:sp>
      <p:sp>
        <p:nvSpPr>
          <p:cNvPr id="12" name="Text 8"/>
          <p:cNvSpPr/>
          <p:nvPr/>
        </p:nvSpPr>
        <p:spPr>
          <a:xfrm>
            <a:off x="2667000" y="3156495"/>
            <a:ext cx="2374850" cy="660350"/>
          </a:xfrm>
          <a:prstGeom prst="roundRect">
            <a:avLst>
              <a:gd name="adj" fmla="val 7693"/>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3" name="Text 9"/>
          <p:cNvSpPr/>
          <p:nvPr/>
        </p:nvSpPr>
        <p:spPr>
          <a:xfrm>
            <a:off x="2793950" y="3397894"/>
            <a:ext cx="2202079" cy="171450"/>
          </a:xfrm>
          <a:prstGeom prst="rect">
            <a:avLst/>
          </a:prstGeom>
          <a:noFill/>
          <a:ln/>
        </p:spPr>
        <p:txBody>
          <a:bodyPr wrap="square" lIns="0" tIns="0" rIns="0" bIns="0" rtlCol="0" anchor="t"/>
          <a:lstStyle/>
          <a:p>
            <a:pPr marL="0" indent="0" algn="l">
              <a:buNone/>
            </a:pPr>
            <a:r>
              <a:rPr lang="en-US" sz="1400" b="1" dirty="0">
                <a:solidFill>
                  <a:sysClr val="windowText" lastClr="000000"/>
                </a:solidFill>
                <a:latin typeface="Calibri" panose="020F0502020204030204" pitchFamily="34" charset="0"/>
                <a:ea typeface="Arial" pitchFamily="34" charset="-122"/>
                <a:cs typeface="Calibri" panose="020F0502020204030204" pitchFamily="34" charset="0"/>
              </a:rPr>
              <a:t>Hunting for information</a:t>
            </a:r>
            <a:endParaRPr lang="en-US" sz="1400" dirty="0">
              <a:solidFill>
                <a:sysClr val="windowText" lastClr="000000"/>
              </a:solidFill>
              <a:latin typeface="Calibri" panose="020F0502020204030204" pitchFamily="34" charset="0"/>
              <a:cs typeface="Calibri" panose="020F0502020204030204" pitchFamily="34" charset="0"/>
            </a:endParaRPr>
          </a:p>
        </p:txBody>
      </p:sp>
      <p:sp>
        <p:nvSpPr>
          <p:cNvPr id="14" name="Text 10"/>
          <p:cNvSpPr/>
          <p:nvPr/>
        </p:nvSpPr>
        <p:spPr>
          <a:xfrm>
            <a:off x="5079950" y="3156495"/>
            <a:ext cx="1866900" cy="660350"/>
          </a:xfrm>
          <a:prstGeom prst="roundRect">
            <a:avLst>
              <a:gd name="adj" fmla="val 7693"/>
            </a:avLst>
          </a:prstGeom>
          <a:solidFill>
            <a:srgbClr val="FBE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5" name="Text 11"/>
          <p:cNvSpPr/>
          <p:nvPr/>
        </p:nvSpPr>
        <p:spPr>
          <a:xfrm>
            <a:off x="5206901" y="3397894"/>
            <a:ext cx="1683969" cy="171450"/>
          </a:xfrm>
          <a:prstGeom prst="rect">
            <a:avLst/>
          </a:prstGeom>
          <a:noFill/>
          <a:ln/>
        </p:spPr>
        <p:txBody>
          <a:bodyPr wrap="square" lIns="0" tIns="0" rIns="0" bIns="0" rtlCol="0" anchor="t"/>
          <a:lstStyle/>
          <a:p>
            <a:pPr marL="0" indent="0" algn="l">
              <a:buNone/>
            </a:pPr>
            <a:r>
              <a:rPr lang="en-US" sz="1400" b="1" dirty="0">
                <a:solidFill>
                  <a:sysClr val="windowText" lastClr="000000"/>
                </a:solidFill>
                <a:latin typeface="Calibri" panose="020F0502020204030204" pitchFamily="34" charset="0"/>
                <a:ea typeface="Arial" pitchFamily="34" charset="-122"/>
                <a:cs typeface="Calibri" panose="020F0502020204030204" pitchFamily="34" charset="0"/>
              </a:rPr>
              <a:t>Switching tools</a:t>
            </a:r>
            <a:endParaRPr lang="en-US" sz="1400" dirty="0">
              <a:solidFill>
                <a:sysClr val="windowText" lastClr="000000"/>
              </a:solidFill>
              <a:latin typeface="Calibri" panose="020F0502020204030204" pitchFamily="34" charset="0"/>
              <a:cs typeface="Calibri" panose="020F0502020204030204" pitchFamily="34" charset="0"/>
            </a:endParaRPr>
          </a:p>
        </p:txBody>
      </p:sp>
      <p:sp>
        <p:nvSpPr>
          <p:cNvPr id="16" name="Text 12"/>
          <p:cNvSpPr/>
          <p:nvPr/>
        </p:nvSpPr>
        <p:spPr>
          <a:xfrm>
            <a:off x="6984950" y="3156495"/>
            <a:ext cx="1612850" cy="660350"/>
          </a:xfrm>
          <a:prstGeom prst="roundRect">
            <a:avLst>
              <a:gd name="adj" fmla="val 7693"/>
            </a:avLst>
          </a:prstGeom>
          <a:solidFill>
            <a:srgbClr val="FFF1E5"/>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7" name="Text 13"/>
          <p:cNvSpPr/>
          <p:nvPr/>
        </p:nvSpPr>
        <p:spPr>
          <a:xfrm>
            <a:off x="7111901" y="3397894"/>
            <a:ext cx="1424839" cy="171450"/>
          </a:xfrm>
          <a:prstGeom prst="rect">
            <a:avLst/>
          </a:prstGeom>
          <a:noFill/>
          <a:ln/>
        </p:spPr>
        <p:txBody>
          <a:bodyPr wrap="square" lIns="0" tIns="0" rIns="0" bIns="0" rtlCol="0" anchor="t"/>
          <a:lstStyle/>
          <a:p>
            <a:pPr marL="0" indent="0" algn="l">
              <a:buNone/>
            </a:pPr>
            <a:r>
              <a:rPr lang="en-US" sz="1400" b="1" dirty="0">
                <a:solidFill>
                  <a:sysClr val="windowText" lastClr="000000"/>
                </a:solidFill>
                <a:latin typeface="Calibri" panose="020F0502020204030204" pitchFamily="34" charset="0"/>
                <a:ea typeface="Arial" pitchFamily="34" charset="-122"/>
                <a:cs typeface="Calibri" panose="020F0502020204030204" pitchFamily="34" charset="0"/>
              </a:rPr>
              <a:t>Waiting on others</a:t>
            </a:r>
            <a:endParaRPr lang="en-US" sz="1400" dirty="0">
              <a:solidFill>
                <a:sysClr val="windowText" lastClr="000000"/>
              </a:solidFill>
              <a:latin typeface="Calibri" panose="020F0502020204030204" pitchFamily="34" charset="0"/>
              <a:cs typeface="Calibri" panose="020F050202020403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7" presetClass="entr" presetSubtype="8"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ppt_x</p:attrName>
                                        </p:attrNameLst>
                                      </p:cBhvr>
                                      <p:tavLst>
                                        <p:tav tm="0">
                                          <p:val>
                                            <p:strVal val="#ppt_x-#ppt_w/2"/>
                                          </p:val>
                                        </p:tav>
                                        <p:tav tm="100000">
                                          <p:val>
                                            <p:strVal val="#ppt_x"/>
                                          </p:val>
                                        </p:tav>
                                      </p:tavLst>
                                    </p:anim>
                                    <p:anim calcmode="lin" valueType="num">
                                      <p:cBhvr>
                                        <p:cTn id="8" dur="500" fill="hold"/>
                                        <p:tgtEl>
                                          <p:spTgt spid="10"/>
                                        </p:tgtEl>
                                        <p:attrNameLst>
                                          <p:attrName>ppt_y</p:attrName>
                                        </p:attrNameLst>
                                      </p:cBhvr>
                                      <p:tavLst>
                                        <p:tav tm="0">
                                          <p:val>
                                            <p:strVal val="#ppt_y"/>
                                          </p:val>
                                        </p:tav>
                                        <p:tav tm="100000">
                                          <p:val>
                                            <p:strVal val="#ppt_y"/>
                                          </p:val>
                                        </p:tav>
                                      </p:tavLst>
                                    </p:anim>
                                    <p:anim calcmode="lin" valueType="num">
                                      <p:cBhvr>
                                        <p:cTn id="9" dur="500" fill="hold"/>
                                        <p:tgtEl>
                                          <p:spTgt spid="10"/>
                                        </p:tgtEl>
                                        <p:attrNameLst>
                                          <p:attrName>ppt_w</p:attrName>
                                        </p:attrNameLst>
                                      </p:cBhvr>
                                      <p:tavLst>
                                        <p:tav tm="0">
                                          <p:val>
                                            <p:fltVal val="0"/>
                                          </p:val>
                                        </p:tav>
                                        <p:tav tm="100000">
                                          <p:val>
                                            <p:strVal val="#ppt_w"/>
                                          </p:val>
                                        </p:tav>
                                      </p:tavLst>
                                    </p:anim>
                                    <p:anim calcmode="lin" valueType="num">
                                      <p:cBhvr>
                                        <p:cTn id="10" dur="500" fill="hold"/>
                                        <p:tgtEl>
                                          <p:spTgt spid="10"/>
                                        </p:tgtEl>
                                        <p:attrNameLst>
                                          <p:attrName>ppt_h</p:attrName>
                                        </p:attrNameLst>
                                      </p:cBhvr>
                                      <p:tavLst>
                                        <p:tav tm="0">
                                          <p:val>
                                            <p:strVal val="#ppt_h"/>
                                          </p:val>
                                        </p:tav>
                                        <p:tav tm="100000">
                                          <p:val>
                                            <p:strVal val="#ppt_h"/>
                                          </p:val>
                                        </p:tav>
                                      </p:tavLst>
                                    </p:anim>
                                  </p:childTnLst>
                                </p:cTn>
                              </p:par>
                              <p:par>
                                <p:cTn id="11" presetID="17" presetClass="entr" presetSubtype="8"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p:cTn id="13" dur="500" fill="hold"/>
                                        <p:tgtEl>
                                          <p:spTgt spid="11"/>
                                        </p:tgtEl>
                                        <p:attrNameLst>
                                          <p:attrName>ppt_x</p:attrName>
                                        </p:attrNameLst>
                                      </p:cBhvr>
                                      <p:tavLst>
                                        <p:tav tm="0">
                                          <p:val>
                                            <p:strVal val="#ppt_x-#ppt_w/2"/>
                                          </p:val>
                                        </p:tav>
                                        <p:tav tm="100000">
                                          <p:val>
                                            <p:strVal val="#ppt_x"/>
                                          </p:val>
                                        </p:tav>
                                      </p:tavLst>
                                    </p:anim>
                                    <p:anim calcmode="lin" valueType="num">
                                      <p:cBhvr>
                                        <p:cTn id="14" dur="500" fill="hold"/>
                                        <p:tgtEl>
                                          <p:spTgt spid="11"/>
                                        </p:tgtEl>
                                        <p:attrNameLst>
                                          <p:attrName>ppt_y</p:attrName>
                                        </p:attrNameLst>
                                      </p:cBhvr>
                                      <p:tavLst>
                                        <p:tav tm="0">
                                          <p:val>
                                            <p:strVal val="#ppt_y"/>
                                          </p:val>
                                        </p:tav>
                                        <p:tav tm="100000">
                                          <p:val>
                                            <p:strVal val="#ppt_y"/>
                                          </p:val>
                                        </p:tav>
                                      </p:tavLst>
                                    </p:anim>
                                    <p:anim calcmode="lin" valueType="num">
                                      <p:cBhvr>
                                        <p:cTn id="15" dur="500" fill="hold"/>
                                        <p:tgtEl>
                                          <p:spTgt spid="11"/>
                                        </p:tgtEl>
                                        <p:attrNameLst>
                                          <p:attrName>ppt_w</p:attrName>
                                        </p:attrNameLst>
                                      </p:cBhvr>
                                      <p:tavLst>
                                        <p:tav tm="0">
                                          <p:val>
                                            <p:fltVal val="0"/>
                                          </p:val>
                                        </p:tav>
                                        <p:tav tm="100000">
                                          <p:val>
                                            <p:strVal val="#ppt_w"/>
                                          </p:val>
                                        </p:tav>
                                      </p:tavLst>
                                    </p:anim>
                                    <p:anim calcmode="lin" valueType="num">
                                      <p:cBhvr>
                                        <p:cTn id="16" dur="500" fill="hold"/>
                                        <p:tgtEl>
                                          <p:spTgt spid="11"/>
                                        </p:tgtEl>
                                        <p:attrNameLst>
                                          <p:attrName>ppt_h</p:attrName>
                                        </p:attrNameLst>
                                      </p:cBhvr>
                                      <p:tavLst>
                                        <p:tav tm="0">
                                          <p:val>
                                            <p:strVal val="#ppt_h"/>
                                          </p:val>
                                        </p:tav>
                                        <p:tav tm="100000">
                                          <p:val>
                                            <p:strVal val="#ppt_h"/>
                                          </p:val>
                                        </p:tav>
                                      </p:tavLst>
                                    </p:anim>
                                  </p:childTnLst>
                                </p:cTn>
                              </p:par>
                            </p:childTnLst>
                          </p:cTn>
                        </p:par>
                      </p:childTnLst>
                    </p:cTn>
                  </p:par>
                  <p:par>
                    <p:cTn id="17" fill="hold">
                      <p:stCondLst>
                        <p:cond delay="indefinite"/>
                      </p:stCondLst>
                      <p:childTnLst>
                        <p:par>
                          <p:cTn id="18" fill="hold">
                            <p:stCondLst>
                              <p:cond delay="0"/>
                            </p:stCondLst>
                            <p:childTnLst>
                              <p:par>
                                <p:cTn id="19" presetID="17" presetClass="entr" presetSubtype="8"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 calcmode="lin" valueType="num">
                                      <p:cBhvr>
                                        <p:cTn id="21" dur="500" fill="hold"/>
                                        <p:tgtEl>
                                          <p:spTgt spid="12"/>
                                        </p:tgtEl>
                                        <p:attrNameLst>
                                          <p:attrName>ppt_x</p:attrName>
                                        </p:attrNameLst>
                                      </p:cBhvr>
                                      <p:tavLst>
                                        <p:tav tm="0">
                                          <p:val>
                                            <p:strVal val="#ppt_x-#ppt_w/2"/>
                                          </p:val>
                                        </p:tav>
                                        <p:tav tm="100000">
                                          <p:val>
                                            <p:strVal val="#ppt_x"/>
                                          </p:val>
                                        </p:tav>
                                      </p:tavLst>
                                    </p:anim>
                                    <p:anim calcmode="lin" valueType="num">
                                      <p:cBhvr>
                                        <p:cTn id="22" dur="500" fill="hold"/>
                                        <p:tgtEl>
                                          <p:spTgt spid="12"/>
                                        </p:tgtEl>
                                        <p:attrNameLst>
                                          <p:attrName>ppt_y</p:attrName>
                                        </p:attrNameLst>
                                      </p:cBhvr>
                                      <p:tavLst>
                                        <p:tav tm="0">
                                          <p:val>
                                            <p:strVal val="#ppt_y"/>
                                          </p:val>
                                        </p:tav>
                                        <p:tav tm="100000">
                                          <p:val>
                                            <p:strVal val="#ppt_y"/>
                                          </p:val>
                                        </p:tav>
                                      </p:tavLst>
                                    </p:anim>
                                    <p:anim calcmode="lin" valueType="num">
                                      <p:cBhvr>
                                        <p:cTn id="23" dur="500" fill="hold"/>
                                        <p:tgtEl>
                                          <p:spTgt spid="12"/>
                                        </p:tgtEl>
                                        <p:attrNameLst>
                                          <p:attrName>ppt_w</p:attrName>
                                        </p:attrNameLst>
                                      </p:cBhvr>
                                      <p:tavLst>
                                        <p:tav tm="0">
                                          <p:val>
                                            <p:fltVal val="0"/>
                                          </p:val>
                                        </p:tav>
                                        <p:tav tm="100000">
                                          <p:val>
                                            <p:strVal val="#ppt_w"/>
                                          </p:val>
                                        </p:tav>
                                      </p:tavLst>
                                    </p:anim>
                                    <p:anim calcmode="lin" valueType="num">
                                      <p:cBhvr>
                                        <p:cTn id="24" dur="500" fill="hold"/>
                                        <p:tgtEl>
                                          <p:spTgt spid="12"/>
                                        </p:tgtEl>
                                        <p:attrNameLst>
                                          <p:attrName>ppt_h</p:attrName>
                                        </p:attrNameLst>
                                      </p:cBhvr>
                                      <p:tavLst>
                                        <p:tav tm="0">
                                          <p:val>
                                            <p:strVal val="#ppt_h"/>
                                          </p:val>
                                        </p:tav>
                                        <p:tav tm="100000">
                                          <p:val>
                                            <p:strVal val="#ppt_h"/>
                                          </p:val>
                                        </p:tav>
                                      </p:tavLst>
                                    </p:anim>
                                  </p:childTnLst>
                                </p:cTn>
                              </p:par>
                              <p:par>
                                <p:cTn id="25" presetID="17"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p:cTn id="27" dur="500" fill="hold"/>
                                        <p:tgtEl>
                                          <p:spTgt spid="13"/>
                                        </p:tgtEl>
                                        <p:attrNameLst>
                                          <p:attrName>ppt_x</p:attrName>
                                        </p:attrNameLst>
                                      </p:cBhvr>
                                      <p:tavLst>
                                        <p:tav tm="0">
                                          <p:val>
                                            <p:strVal val="#ppt_x-#ppt_w/2"/>
                                          </p:val>
                                        </p:tav>
                                        <p:tav tm="100000">
                                          <p:val>
                                            <p:strVal val="#ppt_x"/>
                                          </p:val>
                                        </p:tav>
                                      </p:tavLst>
                                    </p:anim>
                                    <p:anim calcmode="lin" valueType="num">
                                      <p:cBhvr>
                                        <p:cTn id="28" dur="500" fill="hold"/>
                                        <p:tgtEl>
                                          <p:spTgt spid="13"/>
                                        </p:tgtEl>
                                        <p:attrNameLst>
                                          <p:attrName>ppt_y</p:attrName>
                                        </p:attrNameLst>
                                      </p:cBhvr>
                                      <p:tavLst>
                                        <p:tav tm="0">
                                          <p:val>
                                            <p:strVal val="#ppt_y"/>
                                          </p:val>
                                        </p:tav>
                                        <p:tav tm="100000">
                                          <p:val>
                                            <p:strVal val="#ppt_y"/>
                                          </p:val>
                                        </p:tav>
                                      </p:tavLst>
                                    </p:anim>
                                    <p:anim calcmode="lin" valueType="num">
                                      <p:cBhvr>
                                        <p:cTn id="29" dur="500" fill="hold"/>
                                        <p:tgtEl>
                                          <p:spTgt spid="13"/>
                                        </p:tgtEl>
                                        <p:attrNameLst>
                                          <p:attrName>ppt_w</p:attrName>
                                        </p:attrNameLst>
                                      </p:cBhvr>
                                      <p:tavLst>
                                        <p:tav tm="0">
                                          <p:val>
                                            <p:fltVal val="0"/>
                                          </p:val>
                                        </p:tav>
                                        <p:tav tm="100000">
                                          <p:val>
                                            <p:strVal val="#ppt_w"/>
                                          </p:val>
                                        </p:tav>
                                      </p:tavLst>
                                    </p:anim>
                                    <p:anim calcmode="lin" valueType="num">
                                      <p:cBhvr>
                                        <p:cTn id="30" dur="500" fill="hold"/>
                                        <p:tgtEl>
                                          <p:spTgt spid="13"/>
                                        </p:tgtEl>
                                        <p:attrNameLst>
                                          <p:attrName>ppt_h</p:attrName>
                                        </p:attrNameLst>
                                      </p:cBhvr>
                                      <p:tavLst>
                                        <p:tav tm="0">
                                          <p:val>
                                            <p:strVal val="#ppt_h"/>
                                          </p:val>
                                        </p:tav>
                                        <p:tav tm="100000">
                                          <p:val>
                                            <p:strVal val="#ppt_h"/>
                                          </p:val>
                                        </p:tav>
                                      </p:tavLst>
                                    </p:anim>
                                  </p:childTnLst>
                                </p:cTn>
                              </p:par>
                            </p:childTnLst>
                          </p:cTn>
                        </p:par>
                      </p:childTnLst>
                    </p:cTn>
                  </p:par>
                  <p:par>
                    <p:cTn id="31" fill="hold">
                      <p:stCondLst>
                        <p:cond delay="indefinite"/>
                      </p:stCondLst>
                      <p:childTnLst>
                        <p:par>
                          <p:cTn id="32" fill="hold">
                            <p:stCondLst>
                              <p:cond delay="0"/>
                            </p:stCondLst>
                            <p:childTnLst>
                              <p:par>
                                <p:cTn id="33" presetID="17" presetClass="entr" presetSubtype="8" fill="hold" grpId="0" nodeType="click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p:cTn id="35" dur="500" fill="hold"/>
                                        <p:tgtEl>
                                          <p:spTgt spid="14"/>
                                        </p:tgtEl>
                                        <p:attrNameLst>
                                          <p:attrName>ppt_x</p:attrName>
                                        </p:attrNameLst>
                                      </p:cBhvr>
                                      <p:tavLst>
                                        <p:tav tm="0">
                                          <p:val>
                                            <p:strVal val="#ppt_x-#ppt_w/2"/>
                                          </p:val>
                                        </p:tav>
                                        <p:tav tm="100000">
                                          <p:val>
                                            <p:strVal val="#ppt_x"/>
                                          </p:val>
                                        </p:tav>
                                      </p:tavLst>
                                    </p:anim>
                                    <p:anim calcmode="lin" valueType="num">
                                      <p:cBhvr>
                                        <p:cTn id="36" dur="500" fill="hold"/>
                                        <p:tgtEl>
                                          <p:spTgt spid="14"/>
                                        </p:tgtEl>
                                        <p:attrNameLst>
                                          <p:attrName>ppt_y</p:attrName>
                                        </p:attrNameLst>
                                      </p:cBhvr>
                                      <p:tavLst>
                                        <p:tav tm="0">
                                          <p:val>
                                            <p:strVal val="#ppt_y"/>
                                          </p:val>
                                        </p:tav>
                                        <p:tav tm="100000">
                                          <p:val>
                                            <p:strVal val="#ppt_y"/>
                                          </p:val>
                                        </p:tav>
                                      </p:tavLst>
                                    </p:anim>
                                    <p:anim calcmode="lin" valueType="num">
                                      <p:cBhvr>
                                        <p:cTn id="37" dur="500" fill="hold"/>
                                        <p:tgtEl>
                                          <p:spTgt spid="14"/>
                                        </p:tgtEl>
                                        <p:attrNameLst>
                                          <p:attrName>ppt_w</p:attrName>
                                        </p:attrNameLst>
                                      </p:cBhvr>
                                      <p:tavLst>
                                        <p:tav tm="0">
                                          <p:val>
                                            <p:fltVal val="0"/>
                                          </p:val>
                                        </p:tav>
                                        <p:tav tm="100000">
                                          <p:val>
                                            <p:strVal val="#ppt_w"/>
                                          </p:val>
                                        </p:tav>
                                      </p:tavLst>
                                    </p:anim>
                                    <p:anim calcmode="lin" valueType="num">
                                      <p:cBhvr>
                                        <p:cTn id="38" dur="500" fill="hold"/>
                                        <p:tgtEl>
                                          <p:spTgt spid="14"/>
                                        </p:tgtEl>
                                        <p:attrNameLst>
                                          <p:attrName>ppt_h</p:attrName>
                                        </p:attrNameLst>
                                      </p:cBhvr>
                                      <p:tavLst>
                                        <p:tav tm="0">
                                          <p:val>
                                            <p:strVal val="#ppt_h"/>
                                          </p:val>
                                        </p:tav>
                                        <p:tav tm="100000">
                                          <p:val>
                                            <p:strVal val="#ppt_h"/>
                                          </p:val>
                                        </p:tav>
                                      </p:tavLst>
                                    </p:anim>
                                  </p:childTnLst>
                                </p:cTn>
                              </p:par>
                              <p:par>
                                <p:cTn id="39" presetID="17" presetClass="entr" presetSubtype="8"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 calcmode="lin" valueType="num">
                                      <p:cBhvr>
                                        <p:cTn id="41" dur="500" fill="hold"/>
                                        <p:tgtEl>
                                          <p:spTgt spid="15"/>
                                        </p:tgtEl>
                                        <p:attrNameLst>
                                          <p:attrName>ppt_x</p:attrName>
                                        </p:attrNameLst>
                                      </p:cBhvr>
                                      <p:tavLst>
                                        <p:tav tm="0">
                                          <p:val>
                                            <p:strVal val="#ppt_x-#ppt_w/2"/>
                                          </p:val>
                                        </p:tav>
                                        <p:tav tm="100000">
                                          <p:val>
                                            <p:strVal val="#ppt_x"/>
                                          </p:val>
                                        </p:tav>
                                      </p:tavLst>
                                    </p:anim>
                                    <p:anim calcmode="lin" valueType="num">
                                      <p:cBhvr>
                                        <p:cTn id="42" dur="500" fill="hold"/>
                                        <p:tgtEl>
                                          <p:spTgt spid="15"/>
                                        </p:tgtEl>
                                        <p:attrNameLst>
                                          <p:attrName>ppt_y</p:attrName>
                                        </p:attrNameLst>
                                      </p:cBhvr>
                                      <p:tavLst>
                                        <p:tav tm="0">
                                          <p:val>
                                            <p:strVal val="#ppt_y"/>
                                          </p:val>
                                        </p:tav>
                                        <p:tav tm="100000">
                                          <p:val>
                                            <p:strVal val="#ppt_y"/>
                                          </p:val>
                                        </p:tav>
                                      </p:tavLst>
                                    </p:anim>
                                    <p:anim calcmode="lin" valueType="num">
                                      <p:cBhvr>
                                        <p:cTn id="43" dur="500" fill="hold"/>
                                        <p:tgtEl>
                                          <p:spTgt spid="15"/>
                                        </p:tgtEl>
                                        <p:attrNameLst>
                                          <p:attrName>ppt_w</p:attrName>
                                        </p:attrNameLst>
                                      </p:cBhvr>
                                      <p:tavLst>
                                        <p:tav tm="0">
                                          <p:val>
                                            <p:fltVal val="0"/>
                                          </p:val>
                                        </p:tav>
                                        <p:tav tm="100000">
                                          <p:val>
                                            <p:strVal val="#ppt_w"/>
                                          </p:val>
                                        </p:tav>
                                      </p:tavLst>
                                    </p:anim>
                                    <p:anim calcmode="lin" valueType="num">
                                      <p:cBhvr>
                                        <p:cTn id="44" dur="500" fill="hold"/>
                                        <p:tgtEl>
                                          <p:spTgt spid="15"/>
                                        </p:tgtEl>
                                        <p:attrNameLst>
                                          <p:attrName>ppt_h</p:attrName>
                                        </p:attrNameLst>
                                      </p:cBhvr>
                                      <p:tavLst>
                                        <p:tav tm="0">
                                          <p:val>
                                            <p:strVal val="#ppt_h"/>
                                          </p:val>
                                        </p:tav>
                                        <p:tav tm="100000">
                                          <p:val>
                                            <p:strVal val="#ppt_h"/>
                                          </p:val>
                                        </p:tav>
                                      </p:tavLst>
                                    </p:anim>
                                  </p:childTnLst>
                                </p:cTn>
                              </p:par>
                            </p:childTnLst>
                          </p:cTn>
                        </p:par>
                      </p:childTnLst>
                    </p:cTn>
                  </p:par>
                  <p:par>
                    <p:cTn id="45" fill="hold">
                      <p:stCondLst>
                        <p:cond delay="indefinite"/>
                      </p:stCondLst>
                      <p:childTnLst>
                        <p:par>
                          <p:cTn id="46" fill="hold">
                            <p:stCondLst>
                              <p:cond delay="0"/>
                            </p:stCondLst>
                            <p:childTnLst>
                              <p:par>
                                <p:cTn id="47" presetID="17" presetClass="entr" presetSubtype="8"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 calcmode="lin" valueType="num">
                                      <p:cBhvr>
                                        <p:cTn id="49" dur="500" fill="hold"/>
                                        <p:tgtEl>
                                          <p:spTgt spid="16"/>
                                        </p:tgtEl>
                                        <p:attrNameLst>
                                          <p:attrName>ppt_x</p:attrName>
                                        </p:attrNameLst>
                                      </p:cBhvr>
                                      <p:tavLst>
                                        <p:tav tm="0">
                                          <p:val>
                                            <p:strVal val="#ppt_x-#ppt_w/2"/>
                                          </p:val>
                                        </p:tav>
                                        <p:tav tm="100000">
                                          <p:val>
                                            <p:strVal val="#ppt_x"/>
                                          </p:val>
                                        </p:tav>
                                      </p:tavLst>
                                    </p:anim>
                                    <p:anim calcmode="lin" valueType="num">
                                      <p:cBhvr>
                                        <p:cTn id="50" dur="500" fill="hold"/>
                                        <p:tgtEl>
                                          <p:spTgt spid="16"/>
                                        </p:tgtEl>
                                        <p:attrNameLst>
                                          <p:attrName>ppt_y</p:attrName>
                                        </p:attrNameLst>
                                      </p:cBhvr>
                                      <p:tavLst>
                                        <p:tav tm="0">
                                          <p:val>
                                            <p:strVal val="#ppt_y"/>
                                          </p:val>
                                        </p:tav>
                                        <p:tav tm="100000">
                                          <p:val>
                                            <p:strVal val="#ppt_y"/>
                                          </p:val>
                                        </p:tav>
                                      </p:tavLst>
                                    </p:anim>
                                    <p:anim calcmode="lin" valueType="num">
                                      <p:cBhvr>
                                        <p:cTn id="51" dur="500" fill="hold"/>
                                        <p:tgtEl>
                                          <p:spTgt spid="16"/>
                                        </p:tgtEl>
                                        <p:attrNameLst>
                                          <p:attrName>ppt_w</p:attrName>
                                        </p:attrNameLst>
                                      </p:cBhvr>
                                      <p:tavLst>
                                        <p:tav tm="0">
                                          <p:val>
                                            <p:fltVal val="0"/>
                                          </p:val>
                                        </p:tav>
                                        <p:tav tm="100000">
                                          <p:val>
                                            <p:strVal val="#ppt_w"/>
                                          </p:val>
                                        </p:tav>
                                      </p:tavLst>
                                    </p:anim>
                                    <p:anim calcmode="lin" valueType="num">
                                      <p:cBhvr>
                                        <p:cTn id="52" dur="500" fill="hold"/>
                                        <p:tgtEl>
                                          <p:spTgt spid="16"/>
                                        </p:tgtEl>
                                        <p:attrNameLst>
                                          <p:attrName>ppt_h</p:attrName>
                                        </p:attrNameLst>
                                      </p:cBhvr>
                                      <p:tavLst>
                                        <p:tav tm="0">
                                          <p:val>
                                            <p:strVal val="#ppt_h"/>
                                          </p:val>
                                        </p:tav>
                                        <p:tav tm="100000">
                                          <p:val>
                                            <p:strVal val="#ppt_h"/>
                                          </p:val>
                                        </p:tav>
                                      </p:tavLst>
                                    </p:anim>
                                  </p:childTnLst>
                                </p:cTn>
                              </p:par>
                              <p:par>
                                <p:cTn id="53" presetID="17" presetClass="entr" presetSubtype="8"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 calcmode="lin" valueType="num">
                                      <p:cBhvr>
                                        <p:cTn id="55" dur="500" fill="hold"/>
                                        <p:tgtEl>
                                          <p:spTgt spid="17"/>
                                        </p:tgtEl>
                                        <p:attrNameLst>
                                          <p:attrName>ppt_x</p:attrName>
                                        </p:attrNameLst>
                                      </p:cBhvr>
                                      <p:tavLst>
                                        <p:tav tm="0">
                                          <p:val>
                                            <p:strVal val="#ppt_x-#ppt_w/2"/>
                                          </p:val>
                                        </p:tav>
                                        <p:tav tm="100000">
                                          <p:val>
                                            <p:strVal val="#ppt_x"/>
                                          </p:val>
                                        </p:tav>
                                      </p:tavLst>
                                    </p:anim>
                                    <p:anim calcmode="lin" valueType="num">
                                      <p:cBhvr>
                                        <p:cTn id="56" dur="500" fill="hold"/>
                                        <p:tgtEl>
                                          <p:spTgt spid="17"/>
                                        </p:tgtEl>
                                        <p:attrNameLst>
                                          <p:attrName>ppt_y</p:attrName>
                                        </p:attrNameLst>
                                      </p:cBhvr>
                                      <p:tavLst>
                                        <p:tav tm="0">
                                          <p:val>
                                            <p:strVal val="#ppt_y"/>
                                          </p:val>
                                        </p:tav>
                                        <p:tav tm="100000">
                                          <p:val>
                                            <p:strVal val="#ppt_y"/>
                                          </p:val>
                                        </p:tav>
                                      </p:tavLst>
                                    </p:anim>
                                    <p:anim calcmode="lin" valueType="num">
                                      <p:cBhvr>
                                        <p:cTn id="57" dur="500" fill="hold"/>
                                        <p:tgtEl>
                                          <p:spTgt spid="17"/>
                                        </p:tgtEl>
                                        <p:attrNameLst>
                                          <p:attrName>ppt_w</p:attrName>
                                        </p:attrNameLst>
                                      </p:cBhvr>
                                      <p:tavLst>
                                        <p:tav tm="0">
                                          <p:val>
                                            <p:fltVal val="0"/>
                                          </p:val>
                                        </p:tav>
                                        <p:tav tm="100000">
                                          <p:val>
                                            <p:strVal val="#ppt_w"/>
                                          </p:val>
                                        </p:tav>
                                      </p:tavLst>
                                    </p:anim>
                                    <p:anim calcmode="lin" valueType="num">
                                      <p:cBhvr>
                                        <p:cTn id="58" dur="500" fill="hold"/>
                                        <p:tgtEl>
                                          <p:spTgt spid="1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THE CHALLENGE</a:t>
            </a:r>
            <a:endParaRPr lang="en-US" sz="105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One question. Days of work.</a:t>
            </a:r>
            <a:endParaRPr lang="en-US" sz="3200" dirty="0">
              <a:latin typeface="Calibri" panose="020F0502020204030204" pitchFamily="34" charset="0"/>
              <a:cs typeface="Calibri" panose="020F0502020204030204" pitchFamily="34" charset="0"/>
            </a:endParaRPr>
          </a:p>
        </p:txBody>
      </p:sp>
      <p:pic>
        <p:nvPicPr>
          <p:cNvPr id="31" name="Image 0" descr="/Users/danwahlin/.copilot/session-state/e7427b9a-9d65-4aa2-953c-14cedea46cbc/files/talkdeck/assets/corner.png">
            <a:extLst>
              <a:ext uri="{FF2B5EF4-FFF2-40B4-BE49-F238E27FC236}">
                <a16:creationId xmlns:a16="http://schemas.microsoft.com/office/drawing/2014/main" id="{421EF669-6551-7E89-C6ED-D1D855FE9B98}"/>
              </a:ext>
            </a:extLst>
          </p:cNvPr>
          <p:cNvPicPr>
            <a:picLocks noChangeAspect="1"/>
          </p:cNvPicPr>
          <p:nvPr/>
        </p:nvPicPr>
        <p:blipFill>
          <a:blip r:embed="rId3"/>
          <a:stretch>
            <a:fillRect/>
          </a:stretch>
        </p:blipFill>
        <p:spPr>
          <a:xfrm>
            <a:off x="5393683" y="-1"/>
            <a:ext cx="3750168" cy="1755725"/>
          </a:xfrm>
          <a:prstGeom prst="rect">
            <a:avLst/>
          </a:prstGeom>
        </p:spPr>
      </p:pic>
      <p:pic>
        <p:nvPicPr>
          <p:cNvPr id="32" name="Image 1" descr="/Users/danwahlin/.copilot/session-state/e7427b9a-9d65-4aa2-953c-14cedea46cbc/files/talkdeck/assets/mark-dark.png">
            <a:extLst>
              <a:ext uri="{FF2B5EF4-FFF2-40B4-BE49-F238E27FC236}">
                <a16:creationId xmlns:a16="http://schemas.microsoft.com/office/drawing/2014/main" id="{14065878-3268-2EBE-951F-F559B97EDC5F}"/>
              </a:ext>
            </a:extLst>
          </p:cNvPr>
          <p:cNvPicPr>
            <a:picLocks noChangeAspect="1"/>
          </p:cNvPicPr>
          <p:nvPr/>
        </p:nvPicPr>
        <p:blipFill>
          <a:blip r:embed="rId4"/>
          <a:stretch>
            <a:fillRect/>
          </a:stretch>
        </p:blipFill>
        <p:spPr>
          <a:xfrm>
            <a:off x="8610600" y="165050"/>
            <a:ext cx="304800" cy="304800"/>
          </a:xfrm>
          <a:prstGeom prst="rect">
            <a:avLst/>
          </a:prstGeom>
        </p:spPr>
      </p:pic>
      <p:sp>
        <p:nvSpPr>
          <p:cNvPr id="33" name="Rounded Rectangle 32"/>
          <p:cNvSpPr/>
          <p:nvPr/>
        </p:nvSpPr>
        <p:spPr>
          <a:xfrm>
            <a:off x="508000" y="1270000"/>
            <a:ext cx="8102600" cy="558800"/>
          </a:xfrm>
          <a:prstGeom prst="roundRect">
            <a:avLst>
              <a:gd name="adj" fmla="val 20000"/>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08000" y="1270000"/>
            <a:ext cx="63500" cy="558800"/>
          </a:xfrm>
          <a:prstGeom prst="rect">
            <a:avLst/>
          </a:prstGeom>
          <a:solidFill>
            <a:srgbClr val="1F2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62000" y="1270000"/>
            <a:ext cx="7747000" cy="558800"/>
          </a:xfrm>
          <a:prstGeom prst="rect">
            <a:avLst/>
          </a:prstGeom>
          <a:noFill/>
        </p:spPr>
        <p:txBody>
          <a:bodyPr wrap="square" lIns="0" tIns="0" rIns="0" bIns="0" anchor="ctr">
            <a:spAutoFit/>
          </a:bodyPr>
          <a:lstStyle/>
          <a:p>
            <a:pPr algn="l"/>
            <a:r>
              <a:rPr sz="1700" b="0">
                <a:solidFill>
                  <a:srgbClr val="59636E"/>
                </a:solidFill>
                <a:latin typeface="Calibri"/>
              </a:rPr>
              <a:t>A leader asks: </a:t>
            </a:r>
            <a:r>
              <a:rPr sz="1700" b="1">
                <a:solidFill>
                  <a:srgbClr val="1F2328"/>
                </a:solidFill>
                <a:latin typeface="Calibri"/>
              </a:rPr>
              <a:t>“What’s happening in the U.S. housing market?”</a:t>
            </a:r>
          </a:p>
        </p:txBody>
      </p:sp>
      <p:sp>
        <p:nvSpPr>
          <p:cNvPr id="36" name="Rounded Rectangle 35"/>
          <p:cNvSpPr/>
          <p:nvPr/>
        </p:nvSpPr>
        <p:spPr>
          <a:xfrm>
            <a:off x="508000" y="2032000"/>
            <a:ext cx="1905000" cy="1676400"/>
          </a:xfrm>
          <a:prstGeom prst="roundRect">
            <a:avLst>
              <a:gd name="adj" fmla="val 6000"/>
            </a:avLst>
          </a:prstGeom>
          <a:solidFill>
            <a:srgbClr val="FFFFFF"/>
          </a:solidFill>
          <a:ln w="9525">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685800" y="2209800"/>
            <a:ext cx="431800" cy="431800"/>
          </a:xfrm>
          <a:prstGeom prst="roundRect">
            <a:avLst>
              <a:gd name="adj" fmla="val 50000"/>
            </a:avLst>
          </a:prstGeom>
          <a:solidFill>
            <a:srgbClr val="DD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Picture 37" descr="image.png"/>
          <p:cNvPicPr>
            <a:picLocks noChangeAspect="1"/>
          </p:cNvPicPr>
          <p:nvPr/>
        </p:nvPicPr>
        <p:blipFill>
          <a:blip r:embed="rId5"/>
          <a:stretch>
            <a:fillRect/>
          </a:stretch>
        </p:blipFill>
        <p:spPr>
          <a:xfrm>
            <a:off x="787400" y="2311400"/>
            <a:ext cx="228600" cy="228600"/>
          </a:xfrm>
          <a:prstGeom prst="rect">
            <a:avLst/>
          </a:prstGeom>
        </p:spPr>
      </p:pic>
      <p:sp>
        <p:nvSpPr>
          <p:cNvPr id="39" name="TextBox 38"/>
          <p:cNvSpPr txBox="1"/>
          <p:nvPr/>
        </p:nvSpPr>
        <p:spPr>
          <a:xfrm>
            <a:off x="685800" y="2743200"/>
            <a:ext cx="1600200" cy="228600"/>
          </a:xfrm>
          <a:prstGeom prst="rect">
            <a:avLst/>
          </a:prstGeom>
          <a:noFill/>
        </p:spPr>
        <p:txBody>
          <a:bodyPr wrap="square" lIns="0" tIns="0" rIns="0" bIns="0" anchor="t">
            <a:spAutoFit/>
          </a:bodyPr>
          <a:lstStyle/>
          <a:p>
            <a:pPr algn="l"/>
            <a:r>
              <a:rPr sz="1500" b="1">
                <a:solidFill>
                  <a:srgbClr val="1F2328"/>
                </a:solidFill>
                <a:latin typeface="Calibri"/>
              </a:rPr>
              <a:t>Developer</a:t>
            </a:r>
          </a:p>
        </p:txBody>
      </p:sp>
      <p:sp>
        <p:nvSpPr>
          <p:cNvPr id="40" name="TextBox 39"/>
          <p:cNvSpPr txBox="1"/>
          <p:nvPr/>
        </p:nvSpPr>
        <p:spPr>
          <a:xfrm>
            <a:off x="685800" y="2997200"/>
            <a:ext cx="1600200" cy="406400"/>
          </a:xfrm>
          <a:prstGeom prst="rect">
            <a:avLst/>
          </a:prstGeom>
          <a:noFill/>
        </p:spPr>
        <p:txBody>
          <a:bodyPr wrap="square" lIns="0" tIns="0" rIns="0" bIns="0" anchor="t">
            <a:spAutoFit/>
          </a:bodyPr>
          <a:lstStyle/>
          <a:p>
            <a:pPr algn="l"/>
            <a:r>
              <a:rPr sz="1250" b="0">
                <a:solidFill>
                  <a:srgbClr val="59636E"/>
                </a:solidFill>
                <a:latin typeface="Calibri"/>
              </a:rPr>
              <a:t>Builds a dashboard website</a:t>
            </a:r>
          </a:p>
        </p:txBody>
      </p:sp>
      <p:sp>
        <p:nvSpPr>
          <p:cNvPr id="41" name="TextBox 40"/>
          <p:cNvSpPr txBox="1"/>
          <p:nvPr/>
        </p:nvSpPr>
        <p:spPr>
          <a:xfrm>
            <a:off x="685800" y="3429000"/>
            <a:ext cx="1600200" cy="203200"/>
          </a:xfrm>
          <a:prstGeom prst="rect">
            <a:avLst/>
          </a:prstGeom>
          <a:noFill/>
        </p:spPr>
        <p:txBody>
          <a:bodyPr wrap="square" lIns="0" tIns="0" rIns="0" bIns="0" anchor="t">
            <a:spAutoFit/>
          </a:bodyPr>
          <a:lstStyle/>
          <a:p>
            <a:pPr algn="l"/>
            <a:r>
              <a:rPr sz="1300" b="1">
                <a:solidFill>
                  <a:srgbClr val="0969DA"/>
                </a:solidFill>
                <a:latin typeface="Calibri"/>
              </a:rPr>
              <a:t>2 to 3 days</a:t>
            </a:r>
          </a:p>
        </p:txBody>
      </p:sp>
      <p:sp>
        <p:nvSpPr>
          <p:cNvPr id="42" name="Rounded Rectangle 41"/>
          <p:cNvSpPr/>
          <p:nvPr/>
        </p:nvSpPr>
        <p:spPr>
          <a:xfrm>
            <a:off x="2565400" y="2032000"/>
            <a:ext cx="1905000" cy="1676400"/>
          </a:xfrm>
          <a:prstGeom prst="roundRect">
            <a:avLst>
              <a:gd name="adj" fmla="val 6000"/>
            </a:avLst>
          </a:prstGeom>
          <a:solidFill>
            <a:srgbClr val="FFFFFF"/>
          </a:solidFill>
          <a:ln w="9525">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2743200" y="2209800"/>
            <a:ext cx="431800" cy="431800"/>
          </a:xfrm>
          <a:prstGeom prst="roundRect">
            <a:avLst>
              <a:gd name="adj" fmla="val 50000"/>
            </a:avLst>
          </a:prstGeom>
          <a:solidFill>
            <a:srgbClr val="DAF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4" name="Picture 43" descr="image.png"/>
          <p:cNvPicPr>
            <a:picLocks noChangeAspect="1"/>
          </p:cNvPicPr>
          <p:nvPr/>
        </p:nvPicPr>
        <p:blipFill>
          <a:blip r:embed="rId6"/>
          <a:stretch>
            <a:fillRect/>
          </a:stretch>
        </p:blipFill>
        <p:spPr>
          <a:xfrm>
            <a:off x="2844800" y="2311400"/>
            <a:ext cx="228600" cy="228600"/>
          </a:xfrm>
          <a:prstGeom prst="rect">
            <a:avLst/>
          </a:prstGeom>
        </p:spPr>
      </p:pic>
      <p:sp>
        <p:nvSpPr>
          <p:cNvPr id="45" name="TextBox 44"/>
          <p:cNvSpPr txBox="1"/>
          <p:nvPr/>
        </p:nvSpPr>
        <p:spPr>
          <a:xfrm>
            <a:off x="2743200" y="2743200"/>
            <a:ext cx="1600200" cy="228600"/>
          </a:xfrm>
          <a:prstGeom prst="rect">
            <a:avLst/>
          </a:prstGeom>
          <a:noFill/>
        </p:spPr>
        <p:txBody>
          <a:bodyPr wrap="square" lIns="0" tIns="0" rIns="0" bIns="0" anchor="t">
            <a:spAutoFit/>
          </a:bodyPr>
          <a:lstStyle/>
          <a:p>
            <a:pPr algn="l"/>
            <a:r>
              <a:rPr sz="1500" b="1">
                <a:solidFill>
                  <a:srgbClr val="1F2328"/>
                </a:solidFill>
                <a:latin typeface="Calibri"/>
              </a:rPr>
              <a:t>Business analyst</a:t>
            </a:r>
          </a:p>
        </p:txBody>
      </p:sp>
      <p:sp>
        <p:nvSpPr>
          <p:cNvPr id="46" name="TextBox 45"/>
          <p:cNvSpPr txBox="1"/>
          <p:nvPr/>
        </p:nvSpPr>
        <p:spPr>
          <a:xfrm>
            <a:off x="2743200" y="2997200"/>
            <a:ext cx="1600200" cy="384721"/>
          </a:xfrm>
          <a:prstGeom prst="rect">
            <a:avLst/>
          </a:prstGeom>
          <a:noFill/>
        </p:spPr>
        <p:txBody>
          <a:bodyPr wrap="square" lIns="0" tIns="0" rIns="0" bIns="0" anchor="t">
            <a:spAutoFit/>
          </a:bodyPr>
          <a:lstStyle/>
          <a:p>
            <a:pPr algn="l"/>
            <a:r>
              <a:rPr sz="1250" b="0" dirty="0">
                <a:solidFill>
                  <a:srgbClr val="59636E"/>
                </a:solidFill>
                <a:latin typeface="Calibri"/>
              </a:rPr>
              <a:t>Builds a workbook with </a:t>
            </a:r>
            <a:r>
              <a:rPr lang="en-US" sz="1250" b="0" dirty="0">
                <a:solidFill>
                  <a:srgbClr val="59636E"/>
                </a:solidFill>
                <a:latin typeface="Calibri"/>
              </a:rPr>
              <a:t>multiple</a:t>
            </a:r>
            <a:r>
              <a:rPr sz="1250" b="0" dirty="0">
                <a:solidFill>
                  <a:srgbClr val="59636E"/>
                </a:solidFill>
                <a:latin typeface="Calibri"/>
              </a:rPr>
              <a:t> Pivot</a:t>
            </a:r>
            <a:r>
              <a:rPr lang="en-US" sz="1250" b="0" dirty="0">
                <a:solidFill>
                  <a:srgbClr val="59636E"/>
                </a:solidFill>
                <a:latin typeface="Calibri"/>
              </a:rPr>
              <a:t> </a:t>
            </a:r>
            <a:r>
              <a:rPr sz="1250" b="0" dirty="0">
                <a:solidFill>
                  <a:srgbClr val="59636E"/>
                </a:solidFill>
                <a:latin typeface="Calibri"/>
              </a:rPr>
              <a:t>Table</a:t>
            </a:r>
            <a:r>
              <a:rPr lang="en-US" sz="1250" b="0" dirty="0">
                <a:solidFill>
                  <a:srgbClr val="59636E"/>
                </a:solidFill>
                <a:latin typeface="Calibri"/>
              </a:rPr>
              <a:t>s</a:t>
            </a:r>
            <a:endParaRPr sz="1250" b="0" dirty="0">
              <a:solidFill>
                <a:srgbClr val="59636E"/>
              </a:solidFill>
              <a:latin typeface="Calibri"/>
            </a:endParaRPr>
          </a:p>
        </p:txBody>
      </p:sp>
      <p:sp>
        <p:nvSpPr>
          <p:cNvPr id="47" name="TextBox 46"/>
          <p:cNvSpPr txBox="1"/>
          <p:nvPr/>
        </p:nvSpPr>
        <p:spPr>
          <a:xfrm>
            <a:off x="2743200" y="3429000"/>
            <a:ext cx="1600200" cy="203200"/>
          </a:xfrm>
          <a:prstGeom prst="rect">
            <a:avLst/>
          </a:prstGeom>
          <a:noFill/>
        </p:spPr>
        <p:txBody>
          <a:bodyPr wrap="square" lIns="0" tIns="0" rIns="0" bIns="0" anchor="t">
            <a:spAutoFit/>
          </a:bodyPr>
          <a:lstStyle/>
          <a:p>
            <a:pPr algn="l"/>
            <a:r>
              <a:rPr sz="1300" b="1">
                <a:solidFill>
                  <a:srgbClr val="1A7F37"/>
                </a:solidFill>
                <a:latin typeface="Calibri"/>
              </a:rPr>
              <a:t>1 to 2 days</a:t>
            </a:r>
          </a:p>
        </p:txBody>
      </p:sp>
      <p:sp>
        <p:nvSpPr>
          <p:cNvPr id="48" name="Rounded Rectangle 47"/>
          <p:cNvSpPr/>
          <p:nvPr/>
        </p:nvSpPr>
        <p:spPr>
          <a:xfrm>
            <a:off x="4622800" y="2032000"/>
            <a:ext cx="1905000" cy="1676400"/>
          </a:xfrm>
          <a:prstGeom prst="roundRect">
            <a:avLst>
              <a:gd name="adj" fmla="val 6000"/>
            </a:avLst>
          </a:prstGeom>
          <a:solidFill>
            <a:srgbClr val="FFFFFF"/>
          </a:solidFill>
          <a:ln w="9525">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p:cNvSpPr/>
          <p:nvPr/>
        </p:nvSpPr>
        <p:spPr>
          <a:xfrm>
            <a:off x="4800600" y="2209800"/>
            <a:ext cx="431800" cy="431800"/>
          </a:xfrm>
          <a:prstGeom prst="roundRect">
            <a:avLst>
              <a:gd name="adj" fmla="val 50000"/>
            </a:avLst>
          </a:prstGeom>
          <a:solidFill>
            <a:srgbClr val="FBE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0" name="Picture 49" descr="image.png"/>
          <p:cNvPicPr>
            <a:picLocks noChangeAspect="1"/>
          </p:cNvPicPr>
          <p:nvPr/>
        </p:nvPicPr>
        <p:blipFill>
          <a:blip r:embed="rId7"/>
          <a:stretch>
            <a:fillRect/>
          </a:stretch>
        </p:blipFill>
        <p:spPr>
          <a:xfrm>
            <a:off x="4902200" y="2311400"/>
            <a:ext cx="228600" cy="228600"/>
          </a:xfrm>
          <a:prstGeom prst="rect">
            <a:avLst/>
          </a:prstGeom>
        </p:spPr>
      </p:pic>
      <p:sp>
        <p:nvSpPr>
          <p:cNvPr id="51" name="TextBox 50"/>
          <p:cNvSpPr txBox="1"/>
          <p:nvPr/>
        </p:nvSpPr>
        <p:spPr>
          <a:xfrm>
            <a:off x="4800600" y="2743200"/>
            <a:ext cx="1600200" cy="228600"/>
          </a:xfrm>
          <a:prstGeom prst="rect">
            <a:avLst/>
          </a:prstGeom>
          <a:noFill/>
        </p:spPr>
        <p:txBody>
          <a:bodyPr wrap="square" lIns="0" tIns="0" rIns="0" bIns="0" anchor="t">
            <a:spAutoFit/>
          </a:bodyPr>
          <a:lstStyle/>
          <a:p>
            <a:pPr algn="l"/>
            <a:r>
              <a:rPr sz="1500" b="1">
                <a:solidFill>
                  <a:srgbClr val="1F2328"/>
                </a:solidFill>
                <a:latin typeface="Calibri"/>
              </a:rPr>
              <a:t>Project manager</a:t>
            </a:r>
          </a:p>
        </p:txBody>
      </p:sp>
      <p:sp>
        <p:nvSpPr>
          <p:cNvPr id="52" name="TextBox 51"/>
          <p:cNvSpPr txBox="1"/>
          <p:nvPr/>
        </p:nvSpPr>
        <p:spPr>
          <a:xfrm>
            <a:off x="4800600" y="2997200"/>
            <a:ext cx="1600200" cy="406400"/>
          </a:xfrm>
          <a:prstGeom prst="rect">
            <a:avLst/>
          </a:prstGeom>
          <a:noFill/>
        </p:spPr>
        <p:txBody>
          <a:bodyPr wrap="square" lIns="0" tIns="0" rIns="0" bIns="0" anchor="t">
            <a:spAutoFit/>
          </a:bodyPr>
          <a:lstStyle/>
          <a:p>
            <a:pPr algn="l"/>
            <a:r>
              <a:rPr sz="1250" b="0">
                <a:solidFill>
                  <a:srgbClr val="59636E"/>
                </a:solidFill>
                <a:latin typeface="Calibri"/>
              </a:rPr>
              <a:t>Builds a briefing deck and status</a:t>
            </a:r>
          </a:p>
        </p:txBody>
      </p:sp>
      <p:sp>
        <p:nvSpPr>
          <p:cNvPr id="53" name="TextBox 52"/>
          <p:cNvSpPr txBox="1"/>
          <p:nvPr/>
        </p:nvSpPr>
        <p:spPr>
          <a:xfrm>
            <a:off x="4800600" y="3429000"/>
            <a:ext cx="1600200" cy="203200"/>
          </a:xfrm>
          <a:prstGeom prst="rect">
            <a:avLst/>
          </a:prstGeom>
          <a:noFill/>
        </p:spPr>
        <p:txBody>
          <a:bodyPr wrap="square" lIns="0" tIns="0" rIns="0" bIns="0" anchor="t">
            <a:spAutoFit/>
          </a:bodyPr>
          <a:lstStyle/>
          <a:p>
            <a:pPr algn="l"/>
            <a:r>
              <a:rPr sz="1300" b="1">
                <a:solidFill>
                  <a:srgbClr val="8250DF"/>
                </a:solidFill>
                <a:latin typeface="Calibri"/>
              </a:rPr>
              <a:t>1 day</a:t>
            </a:r>
          </a:p>
        </p:txBody>
      </p:sp>
      <p:sp>
        <p:nvSpPr>
          <p:cNvPr id="54" name="Rounded Rectangle 53"/>
          <p:cNvSpPr/>
          <p:nvPr/>
        </p:nvSpPr>
        <p:spPr>
          <a:xfrm>
            <a:off x="6680200" y="2032000"/>
            <a:ext cx="1905000" cy="1676400"/>
          </a:xfrm>
          <a:prstGeom prst="roundRect">
            <a:avLst>
              <a:gd name="adj" fmla="val 6000"/>
            </a:avLst>
          </a:prstGeom>
          <a:solidFill>
            <a:srgbClr val="FFFFFF"/>
          </a:solidFill>
          <a:ln w="9525">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ounded Rectangle 54"/>
          <p:cNvSpPr/>
          <p:nvPr/>
        </p:nvSpPr>
        <p:spPr>
          <a:xfrm>
            <a:off x="6858000" y="2209800"/>
            <a:ext cx="431800" cy="431800"/>
          </a:xfrm>
          <a:prstGeom prst="roundRect">
            <a:avLst>
              <a:gd name="adj" fmla="val 50000"/>
            </a:avLst>
          </a:prstGeom>
          <a:solidFill>
            <a:srgbClr val="F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6" name="Picture 55" descr="image.png"/>
          <p:cNvPicPr>
            <a:picLocks noChangeAspect="1"/>
          </p:cNvPicPr>
          <p:nvPr/>
        </p:nvPicPr>
        <p:blipFill>
          <a:blip r:embed="rId8"/>
          <a:stretch>
            <a:fillRect/>
          </a:stretch>
        </p:blipFill>
        <p:spPr>
          <a:xfrm>
            <a:off x="6959600" y="2311400"/>
            <a:ext cx="228600" cy="228600"/>
          </a:xfrm>
          <a:prstGeom prst="rect">
            <a:avLst/>
          </a:prstGeom>
        </p:spPr>
      </p:pic>
      <p:sp>
        <p:nvSpPr>
          <p:cNvPr id="57" name="TextBox 56"/>
          <p:cNvSpPr txBox="1"/>
          <p:nvPr/>
        </p:nvSpPr>
        <p:spPr>
          <a:xfrm>
            <a:off x="6858000" y="2743200"/>
            <a:ext cx="1600200" cy="228600"/>
          </a:xfrm>
          <a:prstGeom prst="rect">
            <a:avLst/>
          </a:prstGeom>
          <a:noFill/>
        </p:spPr>
        <p:txBody>
          <a:bodyPr wrap="square" lIns="0" tIns="0" rIns="0" bIns="0" anchor="t">
            <a:spAutoFit/>
          </a:bodyPr>
          <a:lstStyle/>
          <a:p>
            <a:pPr algn="l"/>
            <a:r>
              <a:rPr sz="1500" b="1">
                <a:solidFill>
                  <a:srgbClr val="1F2328"/>
                </a:solidFill>
                <a:latin typeface="Calibri"/>
              </a:rPr>
              <a:t>Leader</a:t>
            </a:r>
          </a:p>
        </p:txBody>
      </p:sp>
      <p:sp>
        <p:nvSpPr>
          <p:cNvPr id="58" name="TextBox 57"/>
          <p:cNvSpPr txBox="1"/>
          <p:nvPr/>
        </p:nvSpPr>
        <p:spPr>
          <a:xfrm>
            <a:off x="6858000" y="2997200"/>
            <a:ext cx="1600200" cy="406400"/>
          </a:xfrm>
          <a:prstGeom prst="rect">
            <a:avLst/>
          </a:prstGeom>
          <a:noFill/>
        </p:spPr>
        <p:txBody>
          <a:bodyPr wrap="square" lIns="0" tIns="0" rIns="0" bIns="0" anchor="t">
            <a:spAutoFit/>
          </a:bodyPr>
          <a:lstStyle/>
          <a:p>
            <a:pPr algn="l"/>
            <a:r>
              <a:rPr sz="1250" b="0">
                <a:solidFill>
                  <a:srgbClr val="59636E"/>
                </a:solidFill>
                <a:latin typeface="Calibri"/>
              </a:rPr>
              <a:t>Waits for all of it</a:t>
            </a:r>
          </a:p>
        </p:txBody>
      </p:sp>
      <p:sp>
        <p:nvSpPr>
          <p:cNvPr id="59" name="TextBox 58"/>
          <p:cNvSpPr txBox="1"/>
          <p:nvPr/>
        </p:nvSpPr>
        <p:spPr>
          <a:xfrm>
            <a:off x="6858000" y="3429000"/>
            <a:ext cx="1600200" cy="203200"/>
          </a:xfrm>
          <a:prstGeom prst="rect">
            <a:avLst/>
          </a:prstGeom>
          <a:noFill/>
        </p:spPr>
        <p:txBody>
          <a:bodyPr wrap="square" lIns="0" tIns="0" rIns="0" bIns="0" anchor="t">
            <a:spAutoFit/>
          </a:bodyPr>
          <a:lstStyle/>
          <a:p>
            <a:pPr algn="l"/>
            <a:r>
              <a:rPr sz="1300" b="1">
                <a:solidFill>
                  <a:srgbClr val="BC4C00"/>
                </a:solidFill>
                <a:latin typeface="Calibri"/>
              </a:rPr>
              <a:t>to decide</a:t>
            </a:r>
          </a:p>
        </p:txBody>
      </p:sp>
      <p:sp>
        <p:nvSpPr>
          <p:cNvPr id="60" name="TextBox 59"/>
          <p:cNvSpPr txBox="1"/>
          <p:nvPr/>
        </p:nvSpPr>
        <p:spPr>
          <a:xfrm>
            <a:off x="508000" y="3962400"/>
            <a:ext cx="8102600" cy="508000"/>
          </a:xfrm>
          <a:prstGeom prst="rect">
            <a:avLst/>
          </a:prstGeom>
          <a:noFill/>
        </p:spPr>
        <p:txBody>
          <a:bodyPr wrap="square" lIns="0" tIns="0" rIns="0" bIns="0" anchor="t">
            <a:spAutoFit/>
          </a:bodyPr>
          <a:lstStyle/>
          <a:p>
            <a:pPr algn="ctr"/>
            <a:r>
              <a:rPr sz="1600" b="0" dirty="0">
                <a:solidFill>
                  <a:srgbClr val="1F2328"/>
                </a:solidFill>
                <a:latin typeface="Calibri"/>
              </a:rPr>
              <a:t>Every role does its part by hand, one step at a time. </a:t>
            </a:r>
            <a:r>
              <a:rPr sz="1600" b="1" dirty="0">
                <a:solidFill>
                  <a:srgbClr val="1F2328"/>
                </a:solidFill>
                <a:latin typeface="Calibri"/>
              </a:rPr>
              <a:t>The answer arrives days later.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500"/>
                                        <p:tgtEl>
                                          <p:spTgt spid="33"/>
                                        </p:tgtEl>
                                      </p:cBhvr>
                                    </p:animEffect>
                                    <p:anim calcmode="lin" valueType="num">
                                      <p:cBhvr>
                                        <p:cTn id="8" dur="500" fill="hold"/>
                                        <p:tgtEl>
                                          <p:spTgt spid="33"/>
                                        </p:tgtEl>
                                        <p:attrNameLst>
                                          <p:attrName>ppt_x</p:attrName>
                                        </p:attrNameLst>
                                      </p:cBhvr>
                                      <p:tavLst>
                                        <p:tav tm="0">
                                          <p:val>
                                            <p:strVal val="#ppt_x"/>
                                          </p:val>
                                        </p:tav>
                                        <p:tav tm="100000">
                                          <p:val>
                                            <p:strVal val="#ppt_x"/>
                                          </p:val>
                                        </p:tav>
                                      </p:tavLst>
                                    </p:anim>
                                    <p:anim calcmode="lin" valueType="num">
                                      <p:cBhvr>
                                        <p:cTn id="9" dur="500" fill="hold"/>
                                        <p:tgtEl>
                                          <p:spTgt spid="33"/>
                                        </p:tgtEl>
                                        <p:attrNameLst>
                                          <p:attrName>ppt_y</p:attrName>
                                        </p:attrNameLst>
                                      </p:cBhvr>
                                      <p:tavLst>
                                        <p:tav tm="0">
                                          <p:val>
                                            <p:strVal val="#ppt_y-.1"/>
                                          </p:val>
                                        </p:tav>
                                        <p:tav tm="100000">
                                          <p:val>
                                            <p:strVal val="#ppt_y"/>
                                          </p:val>
                                        </p:tav>
                                      </p:tavLst>
                                    </p:anim>
                                  </p:childTnLst>
                                </p:cTn>
                              </p:par>
                              <p:par>
                                <p:cTn id="10" presetID="47" presetClass="entr" presetSubtype="0" fill="hold" grpId="0" nodeType="with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p:tgtEl>
                                          <p:spTgt spid="34"/>
                                        </p:tgtEl>
                                      </p:cBhvr>
                                    </p:animEffect>
                                    <p:anim calcmode="lin" valueType="num">
                                      <p:cBhvr>
                                        <p:cTn id="13" dur="500" fill="hold"/>
                                        <p:tgtEl>
                                          <p:spTgt spid="34"/>
                                        </p:tgtEl>
                                        <p:attrNameLst>
                                          <p:attrName>ppt_x</p:attrName>
                                        </p:attrNameLst>
                                      </p:cBhvr>
                                      <p:tavLst>
                                        <p:tav tm="0">
                                          <p:val>
                                            <p:strVal val="#ppt_x"/>
                                          </p:val>
                                        </p:tav>
                                        <p:tav tm="100000">
                                          <p:val>
                                            <p:strVal val="#ppt_x"/>
                                          </p:val>
                                        </p:tav>
                                      </p:tavLst>
                                    </p:anim>
                                    <p:anim calcmode="lin" valueType="num">
                                      <p:cBhvr>
                                        <p:cTn id="14" dur="500" fill="hold"/>
                                        <p:tgtEl>
                                          <p:spTgt spid="34"/>
                                        </p:tgtEl>
                                        <p:attrNameLst>
                                          <p:attrName>ppt_y</p:attrName>
                                        </p:attrNameLst>
                                      </p:cBhvr>
                                      <p:tavLst>
                                        <p:tav tm="0">
                                          <p:val>
                                            <p:strVal val="#ppt_y-.1"/>
                                          </p:val>
                                        </p:tav>
                                        <p:tav tm="100000">
                                          <p:val>
                                            <p:strVal val="#ppt_y"/>
                                          </p:val>
                                        </p:tav>
                                      </p:tavLst>
                                    </p:anim>
                                  </p:childTnLst>
                                </p:cTn>
                              </p:par>
                              <p:par>
                                <p:cTn id="15" presetID="47"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500"/>
                                        <p:tgtEl>
                                          <p:spTgt spid="35"/>
                                        </p:tgtEl>
                                      </p:cBhvr>
                                    </p:animEffect>
                                    <p:anim calcmode="lin" valueType="num">
                                      <p:cBhvr>
                                        <p:cTn id="18" dur="500" fill="hold"/>
                                        <p:tgtEl>
                                          <p:spTgt spid="35"/>
                                        </p:tgtEl>
                                        <p:attrNameLst>
                                          <p:attrName>ppt_x</p:attrName>
                                        </p:attrNameLst>
                                      </p:cBhvr>
                                      <p:tavLst>
                                        <p:tav tm="0">
                                          <p:val>
                                            <p:strVal val="#ppt_x"/>
                                          </p:val>
                                        </p:tav>
                                        <p:tav tm="100000">
                                          <p:val>
                                            <p:strVal val="#ppt_x"/>
                                          </p:val>
                                        </p:tav>
                                      </p:tavLst>
                                    </p:anim>
                                    <p:anim calcmode="lin" valueType="num">
                                      <p:cBhvr>
                                        <p:cTn id="19"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36"/>
                                        </p:tgtEl>
                                        <p:attrNameLst>
                                          <p:attrName>style.visibility</p:attrName>
                                        </p:attrNameLst>
                                      </p:cBhvr>
                                      <p:to>
                                        <p:strVal val="visible"/>
                                      </p:to>
                                    </p:set>
                                    <p:animEffect transition="in" filter="fade">
                                      <p:cBhvr>
                                        <p:cTn id="24" dur="500"/>
                                        <p:tgtEl>
                                          <p:spTgt spid="36"/>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5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500"/>
                                        <p:tgtEl>
                                          <p:spTgt spid="3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500"/>
                                        <p:tgtEl>
                                          <p:spTgt spid="3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500"/>
                                        <p:tgtEl>
                                          <p:spTgt spid="4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5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500"/>
                                        <p:tgtEl>
                                          <p:spTgt spid="4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5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500"/>
                                        <p:tgtEl>
                                          <p:spTgt spid="4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500"/>
                                        <p:tgtEl>
                                          <p:spTgt spid="4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500"/>
                                        <p:tgtEl>
                                          <p:spTgt spid="4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47"/>
                                        </p:tgtEl>
                                        <p:attrNameLst>
                                          <p:attrName>style.visibility</p:attrName>
                                        </p:attrNameLst>
                                      </p:cBhvr>
                                      <p:to>
                                        <p:strVal val="visible"/>
                                      </p:to>
                                    </p:set>
                                    <p:animEffect transition="in" filter="fade">
                                      <p:cBhvr>
                                        <p:cTn id="59" dur="500"/>
                                        <p:tgtEl>
                                          <p:spTgt spid="4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500"/>
                                        <p:tgtEl>
                                          <p:spTgt spid="4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5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500"/>
                                        <p:tgtEl>
                                          <p:spTgt spid="5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500"/>
                                        <p:tgtEl>
                                          <p:spTgt spid="5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2"/>
                                        </p:tgtEl>
                                        <p:attrNameLst>
                                          <p:attrName>style.visibility</p:attrName>
                                        </p:attrNameLst>
                                      </p:cBhvr>
                                      <p:to>
                                        <p:strVal val="visible"/>
                                      </p:to>
                                    </p:set>
                                    <p:animEffect transition="in" filter="fade">
                                      <p:cBhvr>
                                        <p:cTn id="76" dur="500"/>
                                        <p:tgtEl>
                                          <p:spTgt spid="5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3"/>
                                        </p:tgtEl>
                                        <p:attrNameLst>
                                          <p:attrName>style.visibility</p:attrName>
                                        </p:attrNameLst>
                                      </p:cBhvr>
                                      <p:to>
                                        <p:strVal val="visible"/>
                                      </p:to>
                                    </p:set>
                                    <p:animEffect transition="in" filter="fade">
                                      <p:cBhvr>
                                        <p:cTn id="79" dur="500"/>
                                        <p:tgtEl>
                                          <p:spTgt spid="5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500"/>
                                        <p:tgtEl>
                                          <p:spTgt spid="5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5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500"/>
                                        <p:tgtEl>
                                          <p:spTgt spid="5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7"/>
                                        </p:tgtEl>
                                        <p:attrNameLst>
                                          <p:attrName>style.visibility</p:attrName>
                                        </p:attrNameLst>
                                      </p:cBhvr>
                                      <p:to>
                                        <p:strVal val="visible"/>
                                      </p:to>
                                    </p:set>
                                    <p:animEffect transition="in" filter="fade">
                                      <p:cBhvr>
                                        <p:cTn id="93" dur="500"/>
                                        <p:tgtEl>
                                          <p:spTgt spid="5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8"/>
                                        </p:tgtEl>
                                        <p:attrNameLst>
                                          <p:attrName>style.visibility</p:attrName>
                                        </p:attrNameLst>
                                      </p:cBhvr>
                                      <p:to>
                                        <p:strVal val="visible"/>
                                      </p:to>
                                    </p:set>
                                    <p:animEffect transition="in" filter="fade">
                                      <p:cBhvr>
                                        <p:cTn id="96" dur="500"/>
                                        <p:tgtEl>
                                          <p:spTgt spid="5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9"/>
                                        </p:tgtEl>
                                        <p:attrNameLst>
                                          <p:attrName>style.visibility</p:attrName>
                                        </p:attrNameLst>
                                      </p:cBhvr>
                                      <p:to>
                                        <p:strVal val="visible"/>
                                      </p:to>
                                    </p:set>
                                    <p:animEffect transition="in" filter="fade">
                                      <p:cBhvr>
                                        <p:cTn id="99" dur="500"/>
                                        <p:tgtEl>
                                          <p:spTgt spid="59"/>
                                        </p:tgtEl>
                                      </p:cBhvr>
                                    </p:animEffect>
                                  </p:childTnLst>
                                </p:cTn>
                              </p:par>
                            </p:childTnLst>
                          </p:cTn>
                        </p:par>
                      </p:childTnLst>
                    </p:cTn>
                  </p:par>
                  <p:par>
                    <p:cTn id="100" fill="hold">
                      <p:stCondLst>
                        <p:cond delay="indefinite"/>
                      </p:stCondLst>
                      <p:childTnLst>
                        <p:par>
                          <p:cTn id="101" fill="hold">
                            <p:stCondLst>
                              <p:cond delay="0"/>
                            </p:stCondLst>
                            <p:childTnLst>
                              <p:par>
                                <p:cTn id="102" presetID="2" presetClass="entr" presetSubtype="4" fill="hold" grpId="0" nodeType="clickEffect">
                                  <p:stCondLst>
                                    <p:cond delay="0"/>
                                  </p:stCondLst>
                                  <p:childTnLst>
                                    <p:set>
                                      <p:cBhvr>
                                        <p:cTn id="103" dur="1" fill="hold">
                                          <p:stCondLst>
                                            <p:cond delay="0"/>
                                          </p:stCondLst>
                                        </p:cTn>
                                        <p:tgtEl>
                                          <p:spTgt spid="60"/>
                                        </p:tgtEl>
                                        <p:attrNameLst>
                                          <p:attrName>style.visibility</p:attrName>
                                        </p:attrNameLst>
                                      </p:cBhvr>
                                      <p:to>
                                        <p:strVal val="visible"/>
                                      </p:to>
                                    </p:set>
                                    <p:anim calcmode="lin" valueType="num">
                                      <p:cBhvr additive="base">
                                        <p:cTn id="104" dur="500" fill="hold"/>
                                        <p:tgtEl>
                                          <p:spTgt spid="60"/>
                                        </p:tgtEl>
                                        <p:attrNameLst>
                                          <p:attrName>ppt_x</p:attrName>
                                        </p:attrNameLst>
                                      </p:cBhvr>
                                      <p:tavLst>
                                        <p:tav tm="0">
                                          <p:val>
                                            <p:strVal val="#ppt_x"/>
                                          </p:val>
                                        </p:tav>
                                        <p:tav tm="100000">
                                          <p:val>
                                            <p:strVal val="#ppt_x"/>
                                          </p:val>
                                        </p:tav>
                                      </p:tavLst>
                                    </p:anim>
                                    <p:anim calcmode="lin" valueType="num">
                                      <p:cBhvr additive="base">
                                        <p:cTn id="105" dur="500" fill="hold"/>
                                        <p:tgtEl>
                                          <p:spTgt spid="6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animBg="1"/>
      <p:bldP spid="35" grpId="0"/>
      <p:bldP spid="36" grpId="0" animBg="1"/>
      <p:bldP spid="37" grpId="0" animBg="1"/>
      <p:bldP spid="39" grpId="0"/>
      <p:bldP spid="40" grpId="0"/>
      <p:bldP spid="41" grpId="0"/>
      <p:bldP spid="42" grpId="0" animBg="1"/>
      <p:bldP spid="43" grpId="0" animBg="1"/>
      <p:bldP spid="45" grpId="0"/>
      <p:bldP spid="46" grpId="0"/>
      <p:bldP spid="47" grpId="0"/>
      <p:bldP spid="48" grpId="0" animBg="1"/>
      <p:bldP spid="49" grpId="0" animBg="1"/>
      <p:bldP spid="51" grpId="0"/>
      <p:bldP spid="52" grpId="0"/>
      <p:bldP spid="53" grpId="0"/>
      <p:bldP spid="54" grpId="0" animBg="1"/>
      <p:bldP spid="55" grpId="0" animBg="1"/>
      <p:bldP spid="57" grpId="0"/>
      <p:bldP spid="58" grpId="0"/>
      <p:bldP spid="59" grpId="0"/>
      <p:bldP spid="6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WHAT CHANGES</a:t>
            </a:r>
            <a:endParaRPr lang="en-US" sz="105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Chat answers. Agents do the work.</a:t>
            </a:r>
            <a:endParaRPr lang="en-US" sz="3200" dirty="0">
              <a:latin typeface="Calibri" panose="020F0502020204030204" pitchFamily="34" charset="0"/>
              <a:cs typeface="Calibri" panose="020F0502020204030204" pitchFamily="34" charset="0"/>
            </a:endParaRPr>
          </a:p>
        </p:txBody>
      </p:sp>
      <p:pic>
        <p:nvPicPr>
          <p:cNvPr id="31" name="Image 0" descr="/Users/danwahlin/.copilot/session-state/e7427b9a-9d65-4aa2-953c-14cedea46cbc/files/talkdeck/assets/corner.png">
            <a:extLst>
              <a:ext uri="{FF2B5EF4-FFF2-40B4-BE49-F238E27FC236}">
                <a16:creationId xmlns:a16="http://schemas.microsoft.com/office/drawing/2014/main" id="{421EF669-6551-7E89-C6ED-D1D855FE9B98}"/>
              </a:ext>
            </a:extLst>
          </p:cNvPr>
          <p:cNvPicPr>
            <a:picLocks noChangeAspect="1"/>
          </p:cNvPicPr>
          <p:nvPr/>
        </p:nvPicPr>
        <p:blipFill>
          <a:blip r:embed="rId3"/>
          <a:stretch>
            <a:fillRect/>
          </a:stretch>
        </p:blipFill>
        <p:spPr>
          <a:xfrm>
            <a:off x="5393683" y="-1"/>
            <a:ext cx="3750168" cy="1755725"/>
          </a:xfrm>
          <a:prstGeom prst="rect">
            <a:avLst/>
          </a:prstGeom>
        </p:spPr>
      </p:pic>
      <p:pic>
        <p:nvPicPr>
          <p:cNvPr id="32" name="Image 1" descr="/Users/danwahlin/.copilot/session-state/e7427b9a-9d65-4aa2-953c-14cedea46cbc/files/talkdeck/assets/mark-dark.png">
            <a:extLst>
              <a:ext uri="{FF2B5EF4-FFF2-40B4-BE49-F238E27FC236}">
                <a16:creationId xmlns:a16="http://schemas.microsoft.com/office/drawing/2014/main" id="{14065878-3268-2EBE-951F-F559B97EDC5F}"/>
              </a:ext>
            </a:extLst>
          </p:cNvPr>
          <p:cNvPicPr>
            <a:picLocks noChangeAspect="1"/>
          </p:cNvPicPr>
          <p:nvPr/>
        </p:nvPicPr>
        <p:blipFill>
          <a:blip r:embed="rId4"/>
          <a:stretch>
            <a:fillRect/>
          </a:stretch>
        </p:blipFill>
        <p:spPr>
          <a:xfrm>
            <a:off x="8610600" y="165050"/>
            <a:ext cx="304800" cy="304800"/>
          </a:xfrm>
          <a:prstGeom prst="rect">
            <a:avLst/>
          </a:prstGeom>
        </p:spPr>
      </p:pic>
      <p:grpSp>
        <p:nvGrpSpPr>
          <p:cNvPr id="2" name="Group 1">
            <a:extLst>
              <a:ext uri="{FF2B5EF4-FFF2-40B4-BE49-F238E27FC236}">
                <a16:creationId xmlns:a16="http://schemas.microsoft.com/office/drawing/2014/main" id="{EDDD2970-D63A-AC6A-BD7F-ADB96B5C0B8A}"/>
              </a:ext>
            </a:extLst>
          </p:cNvPr>
          <p:cNvGrpSpPr/>
          <p:nvPr/>
        </p:nvGrpSpPr>
        <p:grpSpPr>
          <a:xfrm>
            <a:off x="508000" y="1320800"/>
            <a:ext cx="3911600" cy="2997200"/>
            <a:chOff x="508000" y="1320800"/>
            <a:chExt cx="3911600" cy="2997200"/>
          </a:xfrm>
        </p:grpSpPr>
        <p:sp>
          <p:nvSpPr>
            <p:cNvPr id="33" name="Rounded Rectangle 32"/>
            <p:cNvSpPr/>
            <p:nvPr/>
          </p:nvSpPr>
          <p:spPr>
            <a:xfrm>
              <a:off x="508000" y="1320800"/>
              <a:ext cx="3911600" cy="2997200"/>
            </a:xfrm>
            <a:prstGeom prst="roundRect">
              <a:avLst>
                <a:gd name="adj" fmla="val 6000"/>
              </a:avLst>
            </a:prstGeom>
            <a:solidFill>
              <a:srgbClr val="FFFFFF"/>
            </a:solidFill>
            <a:ln w="9525">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08000" y="1320800"/>
              <a:ext cx="3911600" cy="177800"/>
            </a:xfrm>
            <a:prstGeom prst="rect">
              <a:avLst/>
            </a:prstGeom>
            <a:solidFill>
              <a:srgbClr val="596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62000" y="1549400"/>
              <a:ext cx="3429000" cy="254000"/>
            </a:xfrm>
            <a:prstGeom prst="rect">
              <a:avLst/>
            </a:prstGeom>
            <a:noFill/>
          </p:spPr>
          <p:txBody>
            <a:bodyPr wrap="square" lIns="0" tIns="0" rIns="0" bIns="0" anchor="t">
              <a:spAutoFit/>
            </a:bodyPr>
            <a:lstStyle/>
            <a:p>
              <a:pPr algn="l"/>
              <a:r>
                <a:rPr sz="1800" b="1">
                  <a:solidFill>
                    <a:srgbClr val="59636E"/>
                  </a:solidFill>
                  <a:latin typeface="Calibri"/>
                </a:rPr>
                <a:t>A chat assistant</a:t>
              </a:r>
            </a:p>
          </p:txBody>
        </p:sp>
        <p:sp>
          <p:nvSpPr>
            <p:cNvPr id="36" name="TextBox 35"/>
            <p:cNvSpPr txBox="1"/>
            <p:nvPr/>
          </p:nvSpPr>
          <p:spPr>
            <a:xfrm>
              <a:off x="762000" y="1854200"/>
              <a:ext cx="3429000" cy="203200"/>
            </a:xfrm>
            <a:prstGeom prst="rect">
              <a:avLst/>
            </a:prstGeom>
            <a:noFill/>
          </p:spPr>
          <p:txBody>
            <a:bodyPr wrap="square" lIns="0" tIns="0" rIns="0" bIns="0" anchor="t">
              <a:spAutoFit/>
            </a:bodyPr>
            <a:lstStyle/>
            <a:p>
              <a:pPr algn="l"/>
              <a:r>
                <a:rPr sz="1250" b="0">
                  <a:solidFill>
                    <a:srgbClr val="59636E"/>
                  </a:solidFill>
                  <a:latin typeface="Calibri"/>
                </a:rPr>
                <a:t>You ask. It answers.</a:t>
              </a:r>
            </a:p>
          </p:txBody>
        </p:sp>
        <p:sp>
          <p:nvSpPr>
            <p:cNvPr id="37" name="Rounded Rectangle 36"/>
            <p:cNvSpPr/>
            <p:nvPr/>
          </p:nvSpPr>
          <p:spPr>
            <a:xfrm>
              <a:off x="762000" y="2273300"/>
              <a:ext cx="101600" cy="101600"/>
            </a:xfrm>
            <a:prstGeom prst="roundRect">
              <a:avLst>
                <a:gd name="adj" fmla="val 50000"/>
              </a:avLst>
            </a:prstGeom>
            <a:solidFill>
              <a:srgbClr val="596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90600" y="2235200"/>
              <a:ext cx="3238500" cy="381000"/>
            </a:xfrm>
            <a:prstGeom prst="rect">
              <a:avLst/>
            </a:prstGeom>
            <a:noFill/>
          </p:spPr>
          <p:txBody>
            <a:bodyPr wrap="square" lIns="0" tIns="0" rIns="0" bIns="0" anchor="t">
              <a:spAutoFit/>
            </a:bodyPr>
            <a:lstStyle/>
            <a:p>
              <a:pPr algn="l"/>
              <a:r>
                <a:rPr sz="1350" b="1">
                  <a:solidFill>
                    <a:srgbClr val="1F2328"/>
                  </a:solidFill>
                  <a:latin typeface="Calibri"/>
                </a:rPr>
                <a:t>You </a:t>
              </a:r>
              <a:r>
                <a:rPr sz="1350" b="0">
                  <a:solidFill>
                    <a:srgbClr val="59636E"/>
                  </a:solidFill>
                  <a:latin typeface="Calibri"/>
                </a:rPr>
                <a:t>do every step: copy, paste, run, fix.</a:t>
              </a:r>
            </a:p>
          </p:txBody>
        </p:sp>
        <p:sp>
          <p:nvSpPr>
            <p:cNvPr id="39" name="Rounded Rectangle 38"/>
            <p:cNvSpPr/>
            <p:nvPr/>
          </p:nvSpPr>
          <p:spPr>
            <a:xfrm>
              <a:off x="762000" y="2705100"/>
              <a:ext cx="101600" cy="101600"/>
            </a:xfrm>
            <a:prstGeom prst="roundRect">
              <a:avLst>
                <a:gd name="adj" fmla="val 50000"/>
              </a:avLst>
            </a:prstGeom>
            <a:solidFill>
              <a:srgbClr val="596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990600" y="2667000"/>
              <a:ext cx="3238500" cy="381000"/>
            </a:xfrm>
            <a:prstGeom prst="rect">
              <a:avLst/>
            </a:prstGeom>
            <a:noFill/>
          </p:spPr>
          <p:txBody>
            <a:bodyPr wrap="square" lIns="0" tIns="0" rIns="0" bIns="0" anchor="t">
              <a:spAutoFit/>
            </a:bodyPr>
            <a:lstStyle/>
            <a:p>
              <a:pPr algn="l"/>
              <a:r>
                <a:rPr sz="1350" b="1">
                  <a:solidFill>
                    <a:srgbClr val="1F2328"/>
                  </a:solidFill>
                  <a:latin typeface="Calibri"/>
                </a:rPr>
                <a:t>One </a:t>
              </a:r>
              <a:r>
                <a:rPr sz="1350" b="0">
                  <a:solidFill>
                    <a:srgbClr val="59636E"/>
                  </a:solidFill>
                  <a:latin typeface="Calibri"/>
                </a:rPr>
                <a:t>conversation at a time.</a:t>
              </a:r>
            </a:p>
          </p:txBody>
        </p:sp>
        <p:sp>
          <p:nvSpPr>
            <p:cNvPr id="41" name="Rounded Rectangle 40"/>
            <p:cNvSpPr/>
            <p:nvPr/>
          </p:nvSpPr>
          <p:spPr>
            <a:xfrm>
              <a:off x="762000" y="3136900"/>
              <a:ext cx="101600" cy="101600"/>
            </a:xfrm>
            <a:prstGeom prst="roundRect">
              <a:avLst>
                <a:gd name="adj" fmla="val 50000"/>
              </a:avLst>
            </a:prstGeom>
            <a:solidFill>
              <a:srgbClr val="596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90600" y="3098800"/>
              <a:ext cx="3238500" cy="381000"/>
            </a:xfrm>
            <a:prstGeom prst="rect">
              <a:avLst/>
            </a:prstGeom>
            <a:noFill/>
          </p:spPr>
          <p:txBody>
            <a:bodyPr wrap="square" lIns="0" tIns="0" rIns="0" bIns="0" anchor="t">
              <a:spAutoFit/>
            </a:bodyPr>
            <a:lstStyle/>
            <a:p>
              <a:pPr algn="l"/>
              <a:r>
                <a:rPr sz="1350" b="1">
                  <a:solidFill>
                    <a:srgbClr val="1F2328"/>
                  </a:solidFill>
                  <a:latin typeface="Calibri"/>
                </a:rPr>
                <a:t>You </a:t>
              </a:r>
              <a:r>
                <a:rPr sz="1350" b="0">
                  <a:solidFill>
                    <a:srgbClr val="59636E"/>
                  </a:solidFill>
                  <a:latin typeface="Calibri"/>
                </a:rPr>
                <a:t>build the result yourself.</a:t>
              </a:r>
            </a:p>
          </p:txBody>
        </p:sp>
        <p:sp>
          <p:nvSpPr>
            <p:cNvPr id="43" name="Rounded Rectangle 42"/>
            <p:cNvSpPr/>
            <p:nvPr/>
          </p:nvSpPr>
          <p:spPr>
            <a:xfrm>
              <a:off x="762000" y="3708400"/>
              <a:ext cx="3403600" cy="431800"/>
            </a:xfrm>
            <a:prstGeom prst="roundRect">
              <a:avLst>
                <a:gd name="adj" fmla="val 25000"/>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14400" y="3708400"/>
              <a:ext cx="3175000" cy="431800"/>
            </a:xfrm>
            <a:prstGeom prst="rect">
              <a:avLst/>
            </a:prstGeom>
            <a:noFill/>
          </p:spPr>
          <p:txBody>
            <a:bodyPr wrap="square" lIns="0" tIns="0" rIns="0" bIns="0" anchor="ctr">
              <a:spAutoFit/>
            </a:bodyPr>
            <a:lstStyle/>
            <a:p>
              <a:pPr algn="l"/>
              <a:r>
                <a:rPr sz="1300" b="0">
                  <a:solidFill>
                    <a:srgbClr val="1F2328"/>
                  </a:solidFill>
                  <a:latin typeface="Calibri"/>
                </a:rPr>
                <a:t>Faster answers. </a:t>
              </a:r>
              <a:r>
                <a:rPr sz="1300" b="1">
                  <a:solidFill>
                    <a:srgbClr val="1F2328"/>
                  </a:solidFill>
                  <a:latin typeface="Calibri"/>
                </a:rPr>
                <a:t>The work is still yours.</a:t>
              </a:r>
            </a:p>
          </p:txBody>
        </p:sp>
      </p:grpSp>
      <p:grpSp>
        <p:nvGrpSpPr>
          <p:cNvPr id="3" name="Group 2">
            <a:extLst>
              <a:ext uri="{FF2B5EF4-FFF2-40B4-BE49-F238E27FC236}">
                <a16:creationId xmlns:a16="http://schemas.microsoft.com/office/drawing/2014/main" id="{C8A14868-8ECF-17B9-2883-36FD8EC9FB55}"/>
              </a:ext>
            </a:extLst>
          </p:cNvPr>
          <p:cNvGrpSpPr/>
          <p:nvPr/>
        </p:nvGrpSpPr>
        <p:grpSpPr>
          <a:xfrm>
            <a:off x="4699000" y="1320800"/>
            <a:ext cx="3911600" cy="2997200"/>
            <a:chOff x="4699000" y="1320800"/>
            <a:chExt cx="3911600" cy="2997200"/>
          </a:xfrm>
        </p:grpSpPr>
        <p:sp>
          <p:nvSpPr>
            <p:cNvPr id="45" name="Rounded Rectangle 44"/>
            <p:cNvSpPr/>
            <p:nvPr/>
          </p:nvSpPr>
          <p:spPr>
            <a:xfrm>
              <a:off x="4699000" y="1320800"/>
              <a:ext cx="3911600" cy="2997200"/>
            </a:xfrm>
            <a:prstGeom prst="roundRect">
              <a:avLst>
                <a:gd name="adj" fmla="val 6000"/>
              </a:avLst>
            </a:prstGeom>
            <a:solidFill>
              <a:srgbClr val="FFFFFF"/>
            </a:solidFill>
            <a:ln w="9525">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4699000" y="1320800"/>
              <a:ext cx="3911600" cy="177800"/>
            </a:xfrm>
            <a:prstGeom prst="rect">
              <a:avLst/>
            </a:prstGeom>
            <a:solidFill>
              <a:srgbClr val="096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953000" y="1549400"/>
              <a:ext cx="3429000" cy="254000"/>
            </a:xfrm>
            <a:prstGeom prst="rect">
              <a:avLst/>
            </a:prstGeom>
            <a:noFill/>
          </p:spPr>
          <p:txBody>
            <a:bodyPr wrap="square" lIns="0" tIns="0" rIns="0" bIns="0" anchor="t">
              <a:spAutoFit/>
            </a:bodyPr>
            <a:lstStyle/>
            <a:p>
              <a:pPr algn="l"/>
              <a:r>
                <a:rPr sz="1800" b="1">
                  <a:solidFill>
                    <a:srgbClr val="0969DA"/>
                  </a:solidFill>
                  <a:latin typeface="Calibri"/>
                </a:rPr>
                <a:t>An agent</a:t>
              </a:r>
            </a:p>
          </p:txBody>
        </p:sp>
        <p:sp>
          <p:nvSpPr>
            <p:cNvPr id="48" name="TextBox 47"/>
            <p:cNvSpPr txBox="1"/>
            <p:nvPr/>
          </p:nvSpPr>
          <p:spPr>
            <a:xfrm>
              <a:off x="4953000" y="1854200"/>
              <a:ext cx="3429000" cy="203200"/>
            </a:xfrm>
            <a:prstGeom prst="rect">
              <a:avLst/>
            </a:prstGeom>
            <a:noFill/>
          </p:spPr>
          <p:txBody>
            <a:bodyPr wrap="square" lIns="0" tIns="0" rIns="0" bIns="0" anchor="t">
              <a:spAutoFit/>
            </a:bodyPr>
            <a:lstStyle/>
            <a:p>
              <a:pPr algn="l"/>
              <a:r>
                <a:rPr sz="1250" b="0">
                  <a:solidFill>
                    <a:srgbClr val="59636E"/>
                  </a:solidFill>
                  <a:latin typeface="Calibri"/>
                </a:rPr>
                <a:t>You describe the outcome. It does the work.</a:t>
              </a:r>
            </a:p>
          </p:txBody>
        </p:sp>
        <p:sp>
          <p:nvSpPr>
            <p:cNvPr id="49" name="Rounded Rectangle 48"/>
            <p:cNvSpPr/>
            <p:nvPr/>
          </p:nvSpPr>
          <p:spPr>
            <a:xfrm>
              <a:off x="4953000" y="2273300"/>
              <a:ext cx="101600" cy="101600"/>
            </a:xfrm>
            <a:prstGeom prst="roundRect">
              <a:avLst>
                <a:gd name="adj" fmla="val 50000"/>
              </a:avLst>
            </a:prstGeom>
            <a:solidFill>
              <a:srgbClr val="096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5181600" y="2235200"/>
              <a:ext cx="3238500" cy="381000"/>
            </a:xfrm>
            <a:prstGeom prst="rect">
              <a:avLst/>
            </a:prstGeom>
            <a:noFill/>
          </p:spPr>
          <p:txBody>
            <a:bodyPr wrap="square" lIns="0" tIns="0" rIns="0" bIns="0" anchor="t">
              <a:spAutoFit/>
            </a:bodyPr>
            <a:lstStyle/>
            <a:p>
              <a:pPr algn="l"/>
              <a:r>
                <a:rPr sz="1350" b="1">
                  <a:solidFill>
                    <a:srgbClr val="1F2328"/>
                  </a:solidFill>
                  <a:latin typeface="Calibri"/>
                </a:rPr>
                <a:t>It </a:t>
              </a:r>
              <a:r>
                <a:rPr sz="1350" b="0">
                  <a:solidFill>
                    <a:srgbClr val="59636E"/>
                  </a:solidFill>
                  <a:latin typeface="Calibri"/>
                </a:rPr>
                <a:t>plans, writes, runs, tests, and fixes.</a:t>
              </a:r>
            </a:p>
          </p:txBody>
        </p:sp>
        <p:sp>
          <p:nvSpPr>
            <p:cNvPr id="51" name="Rounded Rectangle 50"/>
            <p:cNvSpPr/>
            <p:nvPr/>
          </p:nvSpPr>
          <p:spPr>
            <a:xfrm>
              <a:off x="4953000" y="2705100"/>
              <a:ext cx="101600" cy="101600"/>
            </a:xfrm>
            <a:prstGeom prst="roundRect">
              <a:avLst>
                <a:gd name="adj" fmla="val 50000"/>
              </a:avLst>
            </a:prstGeom>
            <a:solidFill>
              <a:srgbClr val="096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181600" y="2667000"/>
              <a:ext cx="3238500" cy="381000"/>
            </a:xfrm>
            <a:prstGeom prst="rect">
              <a:avLst/>
            </a:prstGeom>
            <a:noFill/>
          </p:spPr>
          <p:txBody>
            <a:bodyPr wrap="square" lIns="0" tIns="0" rIns="0" bIns="0" anchor="t">
              <a:spAutoFit/>
            </a:bodyPr>
            <a:lstStyle/>
            <a:p>
              <a:pPr algn="l"/>
              <a:r>
                <a:rPr sz="1350" b="1">
                  <a:solidFill>
                    <a:srgbClr val="1F2328"/>
                  </a:solidFill>
                  <a:latin typeface="Calibri"/>
                </a:rPr>
                <a:t>Several </a:t>
              </a:r>
              <a:r>
                <a:rPr sz="1350" b="0">
                  <a:solidFill>
                    <a:srgbClr val="59636E"/>
                  </a:solidFill>
                  <a:latin typeface="Calibri"/>
                </a:rPr>
                <a:t>agents work at the same time.</a:t>
              </a:r>
            </a:p>
          </p:txBody>
        </p:sp>
        <p:sp>
          <p:nvSpPr>
            <p:cNvPr id="53" name="Rounded Rectangle 52"/>
            <p:cNvSpPr/>
            <p:nvPr/>
          </p:nvSpPr>
          <p:spPr>
            <a:xfrm>
              <a:off x="4953000" y="3136900"/>
              <a:ext cx="101600" cy="101600"/>
            </a:xfrm>
            <a:prstGeom prst="roundRect">
              <a:avLst>
                <a:gd name="adj" fmla="val 50000"/>
              </a:avLst>
            </a:prstGeom>
            <a:solidFill>
              <a:srgbClr val="096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81600" y="3098800"/>
              <a:ext cx="3238500" cy="381000"/>
            </a:xfrm>
            <a:prstGeom prst="rect">
              <a:avLst/>
            </a:prstGeom>
            <a:noFill/>
          </p:spPr>
          <p:txBody>
            <a:bodyPr wrap="square" lIns="0" tIns="0" rIns="0" bIns="0" anchor="t">
              <a:spAutoFit/>
            </a:bodyPr>
            <a:lstStyle/>
            <a:p>
              <a:pPr algn="l"/>
              <a:r>
                <a:rPr sz="1350" b="1">
                  <a:solidFill>
                    <a:srgbClr val="1F2328"/>
                  </a:solidFill>
                  <a:latin typeface="Calibri"/>
                </a:rPr>
                <a:t>You </a:t>
              </a:r>
              <a:r>
                <a:rPr sz="1350" b="0">
                  <a:solidFill>
                    <a:srgbClr val="59636E"/>
                  </a:solidFill>
                  <a:latin typeface="Calibri"/>
                </a:rPr>
                <a:t>review the result and decide.</a:t>
              </a:r>
            </a:p>
          </p:txBody>
        </p:sp>
        <p:sp>
          <p:nvSpPr>
            <p:cNvPr id="55" name="Rounded Rectangle 54"/>
            <p:cNvSpPr/>
            <p:nvPr/>
          </p:nvSpPr>
          <p:spPr>
            <a:xfrm>
              <a:off x="4953000" y="3708400"/>
              <a:ext cx="3403600" cy="431800"/>
            </a:xfrm>
            <a:prstGeom prst="roundRect">
              <a:avLst>
                <a:gd name="adj" fmla="val 25000"/>
              </a:avLst>
            </a:prstGeom>
            <a:solidFill>
              <a:srgbClr val="DD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105400" y="3708400"/>
              <a:ext cx="3175000" cy="431800"/>
            </a:xfrm>
            <a:prstGeom prst="rect">
              <a:avLst/>
            </a:prstGeom>
            <a:noFill/>
          </p:spPr>
          <p:txBody>
            <a:bodyPr wrap="square" lIns="0" tIns="0" rIns="0" bIns="0" anchor="ctr">
              <a:spAutoFit/>
            </a:bodyPr>
            <a:lstStyle/>
            <a:p>
              <a:pPr algn="l"/>
              <a:r>
                <a:rPr sz="1300" b="0">
                  <a:solidFill>
                    <a:srgbClr val="1F2328"/>
                  </a:solidFill>
                  <a:latin typeface="Calibri"/>
                </a:rPr>
                <a:t>You keep the judgment. </a:t>
              </a:r>
              <a:r>
                <a:rPr sz="1300" b="1">
                  <a:solidFill>
                    <a:srgbClr val="1F2328"/>
                  </a:solidFill>
                  <a:latin typeface="Calibri"/>
                </a:rPr>
                <a:t>Agents do the steps.</a:t>
              </a:r>
            </a:p>
          </p:txBody>
        </p:sp>
      </p:grpSp>
      <p:sp>
        <p:nvSpPr>
          <p:cNvPr id="57" name="TextBox 56"/>
          <p:cNvSpPr txBox="1"/>
          <p:nvPr/>
        </p:nvSpPr>
        <p:spPr>
          <a:xfrm>
            <a:off x="508000" y="4470400"/>
            <a:ext cx="8102600" cy="254000"/>
          </a:xfrm>
          <a:prstGeom prst="rect">
            <a:avLst/>
          </a:prstGeom>
          <a:noFill/>
        </p:spPr>
        <p:txBody>
          <a:bodyPr wrap="square" lIns="0" tIns="0" rIns="0" bIns="0" anchor="t">
            <a:spAutoFit/>
          </a:bodyPr>
          <a:lstStyle/>
          <a:p>
            <a:pPr algn="ctr"/>
            <a:r>
              <a:rPr sz="1500" b="0" dirty="0">
                <a:solidFill>
                  <a:srgbClr val="59636E"/>
                </a:solidFill>
                <a:latin typeface="Calibri"/>
              </a:rPr>
              <a:t>Same people, same tools. </a:t>
            </a:r>
            <a:r>
              <a:rPr sz="1500" b="1" dirty="0">
                <a:solidFill>
                  <a:srgbClr val="1F2328"/>
                </a:solidFill>
                <a:latin typeface="Calibri"/>
              </a:rPr>
              <a:t>A different way to work.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 calcmode="lin" valueType="num">
                                      <p:cBhvr additive="base">
                                        <p:cTn id="17" dur="500" fill="hold"/>
                                        <p:tgtEl>
                                          <p:spTgt spid="57"/>
                                        </p:tgtEl>
                                        <p:attrNameLst>
                                          <p:attrName>ppt_x</p:attrName>
                                        </p:attrNameLst>
                                      </p:cBhvr>
                                      <p:tavLst>
                                        <p:tav tm="0">
                                          <p:val>
                                            <p:strVal val="#ppt_x"/>
                                          </p:val>
                                        </p:tav>
                                        <p:tav tm="100000">
                                          <p:val>
                                            <p:strVal val="#ppt_x"/>
                                          </p:val>
                                        </p:tav>
                                      </p:tavLst>
                                    </p:anim>
                                    <p:anim calcmode="lin" valueType="num">
                                      <p:cBhvr additive="base">
                                        <p:cTn id="18"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THE IDEA</a:t>
            </a:r>
            <a:endParaRPr lang="en-US" sz="105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Ideas need execution</a:t>
            </a:r>
            <a:endParaRPr lang="en-US" sz="3200" dirty="0">
              <a:latin typeface="Calibri" panose="020F0502020204030204" pitchFamily="34" charset="0"/>
              <a:cs typeface="Calibri" panose="020F0502020204030204" pitchFamily="34" charset="0"/>
            </a:endParaRPr>
          </a:p>
        </p:txBody>
      </p:sp>
      <p:sp>
        <p:nvSpPr>
          <p:cNvPr id="8" name="Text 4"/>
          <p:cNvSpPr/>
          <p:nvPr/>
        </p:nvSpPr>
        <p:spPr>
          <a:xfrm>
            <a:off x="762000" y="1498550"/>
            <a:ext cx="1905000" cy="1905000"/>
          </a:xfrm>
          <a:prstGeom prst="roundRect">
            <a:avLst>
              <a:gd name="adj" fmla="val 48000"/>
            </a:avLst>
          </a:prstGeom>
          <a:solidFill>
            <a:srgbClr val="FFF8C5"/>
          </a:solidFill>
          <a:ln>
            <a:no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9" name="Image 2" descr="/Users/danwahlin/.copilot/session-state/e7427b9a-9d65-4aa2-953c-14cedea46cbc/files/talkdeck/assets/icons/GoLightBulb-9A6700.png"/>
          <p:cNvPicPr>
            <a:picLocks noChangeAspect="1"/>
          </p:cNvPicPr>
          <p:nvPr/>
        </p:nvPicPr>
        <p:blipFill>
          <a:blip r:embed="rId3"/>
          <a:stretch>
            <a:fillRect/>
          </a:stretch>
        </p:blipFill>
        <p:spPr>
          <a:xfrm>
            <a:off x="1409700" y="1905000"/>
            <a:ext cx="609600" cy="609600"/>
          </a:xfrm>
          <a:prstGeom prst="rect">
            <a:avLst/>
          </a:prstGeom>
        </p:spPr>
      </p:pic>
      <p:sp>
        <p:nvSpPr>
          <p:cNvPr id="10" name="Text 5"/>
          <p:cNvSpPr/>
          <p:nvPr/>
        </p:nvSpPr>
        <p:spPr>
          <a:xfrm>
            <a:off x="742950" y="2589237"/>
            <a:ext cx="1943100" cy="219075"/>
          </a:xfrm>
          <a:prstGeom prst="rect">
            <a:avLst/>
          </a:prstGeom>
          <a:noFill/>
          <a:ln/>
        </p:spPr>
        <p:txBody>
          <a:bodyPr wrap="square" lIns="0" tIns="0" rIns="0" bIns="0" rtlCol="0" anchor="t"/>
          <a:lstStyle/>
          <a:p>
            <a:pPr marL="0" indent="0" algn="ctr">
              <a:buNone/>
            </a:pPr>
            <a:r>
              <a:rPr lang="en-US" b="1" dirty="0">
                <a:solidFill>
                  <a:srgbClr val="9A6700"/>
                </a:solidFill>
                <a:latin typeface="Calibri" panose="020F0502020204030204" pitchFamily="34" charset="0"/>
                <a:ea typeface="Arial" pitchFamily="34" charset="-122"/>
                <a:cs typeface="Calibri" panose="020F0502020204030204" pitchFamily="34" charset="0"/>
              </a:rPr>
              <a:t>Ideas</a:t>
            </a:r>
            <a:endParaRPr lang="en-US" dirty="0">
              <a:latin typeface="Calibri" panose="020F0502020204030204" pitchFamily="34" charset="0"/>
              <a:cs typeface="Calibri" panose="020F0502020204030204" pitchFamily="34" charset="0"/>
            </a:endParaRPr>
          </a:p>
        </p:txBody>
      </p:sp>
      <p:sp>
        <p:nvSpPr>
          <p:cNvPr id="11" name="Text 6"/>
          <p:cNvSpPr/>
          <p:nvPr/>
        </p:nvSpPr>
        <p:spPr>
          <a:xfrm>
            <a:off x="2722781" y="2133600"/>
            <a:ext cx="777240" cy="581025"/>
          </a:xfrm>
          <a:prstGeom prst="rect">
            <a:avLst/>
          </a:prstGeom>
          <a:noFill/>
          <a:ln/>
        </p:spPr>
        <p:txBody>
          <a:bodyPr wrap="square" lIns="0" tIns="0" rIns="0" bIns="0" rtlCol="0" anchor="t"/>
          <a:lstStyle/>
          <a:p>
            <a:pPr marL="0" indent="0" algn="ctr">
              <a:buNone/>
            </a:pPr>
            <a:r>
              <a:rPr lang="en-US" sz="4800" b="1" dirty="0">
                <a:solidFill>
                  <a:srgbClr val="59636E"/>
                </a:solidFill>
                <a:latin typeface="Calibri" panose="020F0502020204030204" pitchFamily="34" charset="0"/>
                <a:ea typeface="Arial" pitchFamily="34" charset="-122"/>
                <a:cs typeface="Calibri" panose="020F0502020204030204" pitchFamily="34" charset="0"/>
              </a:rPr>
              <a:t>×</a:t>
            </a:r>
            <a:endParaRPr lang="en-US" sz="4800" dirty="0">
              <a:latin typeface="Calibri" panose="020F0502020204030204" pitchFamily="34" charset="0"/>
              <a:cs typeface="Calibri" panose="020F0502020204030204" pitchFamily="34" charset="0"/>
            </a:endParaRPr>
          </a:p>
        </p:txBody>
      </p:sp>
      <p:sp>
        <p:nvSpPr>
          <p:cNvPr id="12" name="Text 7"/>
          <p:cNvSpPr/>
          <p:nvPr/>
        </p:nvSpPr>
        <p:spPr>
          <a:xfrm>
            <a:off x="3619500" y="1498550"/>
            <a:ext cx="1905000" cy="1905000"/>
          </a:xfrm>
          <a:prstGeom prst="roundRect">
            <a:avLst>
              <a:gd name="adj" fmla="val 48000"/>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3" name="Image 3" descr="/Users/danwahlin/.copilot/session-state/e7427b9a-9d65-4aa2-953c-14cedea46cbc/files/talkdeck/assets/icons/GoCopilot-0969DA.png"/>
          <p:cNvPicPr>
            <a:picLocks noChangeAspect="1"/>
          </p:cNvPicPr>
          <p:nvPr/>
        </p:nvPicPr>
        <p:blipFill>
          <a:blip r:embed="rId4"/>
          <a:stretch>
            <a:fillRect/>
          </a:stretch>
        </p:blipFill>
        <p:spPr>
          <a:xfrm>
            <a:off x="4267200" y="1905000"/>
            <a:ext cx="609600" cy="609600"/>
          </a:xfrm>
          <a:prstGeom prst="rect">
            <a:avLst/>
          </a:prstGeom>
        </p:spPr>
      </p:pic>
      <p:sp>
        <p:nvSpPr>
          <p:cNvPr id="14" name="Text 8"/>
          <p:cNvSpPr/>
          <p:nvPr/>
        </p:nvSpPr>
        <p:spPr>
          <a:xfrm>
            <a:off x="3600450" y="2589237"/>
            <a:ext cx="1943100" cy="438150"/>
          </a:xfrm>
          <a:prstGeom prst="rect">
            <a:avLst/>
          </a:prstGeom>
          <a:noFill/>
          <a:ln/>
        </p:spPr>
        <p:txBody>
          <a:bodyPr wrap="square" lIns="0" tIns="0" rIns="0" bIns="0" rtlCol="0" anchor="t"/>
          <a:lstStyle/>
          <a:p>
            <a:pPr marL="0" indent="0" algn="ctr">
              <a:buNone/>
            </a:pPr>
            <a:r>
              <a:rPr lang="en-US" b="1" dirty="0">
                <a:solidFill>
                  <a:srgbClr val="0969DA"/>
                </a:solidFill>
                <a:latin typeface="Calibri" panose="020F0502020204030204" pitchFamily="34" charset="0"/>
                <a:ea typeface="Arial" pitchFamily="34" charset="-122"/>
                <a:cs typeface="Calibri" panose="020F0502020204030204" pitchFamily="34" charset="0"/>
              </a:rPr>
              <a:t>Execution</a:t>
            </a:r>
            <a:endParaRPr lang="en-US" dirty="0">
              <a:latin typeface="Calibri" panose="020F0502020204030204" pitchFamily="34" charset="0"/>
              <a:cs typeface="Calibri" panose="020F0502020204030204" pitchFamily="34" charset="0"/>
            </a:endParaRPr>
          </a:p>
        </p:txBody>
      </p:sp>
      <p:sp>
        <p:nvSpPr>
          <p:cNvPr id="15" name="Text 9"/>
          <p:cNvSpPr/>
          <p:nvPr/>
        </p:nvSpPr>
        <p:spPr>
          <a:xfrm>
            <a:off x="5580281" y="2133600"/>
            <a:ext cx="777240" cy="581025"/>
          </a:xfrm>
          <a:prstGeom prst="rect">
            <a:avLst/>
          </a:prstGeom>
          <a:noFill/>
          <a:ln/>
        </p:spPr>
        <p:txBody>
          <a:bodyPr wrap="square" lIns="0" tIns="0" rIns="0" bIns="0" rtlCol="0" anchor="t"/>
          <a:lstStyle/>
          <a:p>
            <a:pPr marL="0" indent="0" algn="ctr">
              <a:buNone/>
            </a:pPr>
            <a:r>
              <a:rPr lang="en-US" sz="4800" b="1" dirty="0">
                <a:solidFill>
                  <a:srgbClr val="59636E"/>
                </a:solidFill>
                <a:latin typeface="Calibri" panose="020F0502020204030204" pitchFamily="34" charset="0"/>
                <a:ea typeface="Arial" pitchFamily="34" charset="-122"/>
                <a:cs typeface="Calibri" panose="020F0502020204030204" pitchFamily="34" charset="0"/>
              </a:rPr>
              <a:t>=</a:t>
            </a:r>
            <a:endParaRPr lang="en-US" sz="4800" dirty="0">
              <a:latin typeface="Calibri" panose="020F0502020204030204" pitchFamily="34" charset="0"/>
              <a:cs typeface="Calibri" panose="020F0502020204030204" pitchFamily="34" charset="0"/>
            </a:endParaRPr>
          </a:p>
        </p:txBody>
      </p:sp>
      <p:sp>
        <p:nvSpPr>
          <p:cNvPr id="16" name="Text 10"/>
          <p:cNvSpPr/>
          <p:nvPr/>
        </p:nvSpPr>
        <p:spPr>
          <a:xfrm>
            <a:off x="6477000" y="1498550"/>
            <a:ext cx="1905000" cy="1905000"/>
          </a:xfrm>
          <a:prstGeom prst="roundRect">
            <a:avLst>
              <a:gd name="adj" fmla="val 48000"/>
            </a:avLst>
          </a:prstGeom>
          <a:solidFill>
            <a:srgbClr val="DAFBE1"/>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7" name="Image 4" descr="/Users/danwahlin/.copilot/session-state/e7427b9a-9d65-4aa2-953c-14cedea46cbc/files/talkdeck/assets/icons/GoRocket-1A7F37.png"/>
          <p:cNvPicPr>
            <a:picLocks noChangeAspect="1"/>
          </p:cNvPicPr>
          <p:nvPr/>
        </p:nvPicPr>
        <p:blipFill>
          <a:blip r:embed="rId5"/>
          <a:stretch>
            <a:fillRect/>
          </a:stretch>
        </p:blipFill>
        <p:spPr>
          <a:xfrm>
            <a:off x="7124700" y="1905000"/>
            <a:ext cx="609600" cy="609600"/>
          </a:xfrm>
          <a:prstGeom prst="rect">
            <a:avLst/>
          </a:prstGeom>
        </p:spPr>
      </p:pic>
      <p:sp>
        <p:nvSpPr>
          <p:cNvPr id="18" name="Text 11"/>
          <p:cNvSpPr/>
          <p:nvPr/>
        </p:nvSpPr>
        <p:spPr>
          <a:xfrm>
            <a:off x="6457950" y="2589237"/>
            <a:ext cx="1943100" cy="219075"/>
          </a:xfrm>
          <a:prstGeom prst="rect">
            <a:avLst/>
          </a:prstGeom>
          <a:noFill/>
          <a:ln/>
        </p:spPr>
        <p:txBody>
          <a:bodyPr wrap="square" lIns="0" tIns="0" rIns="0" bIns="0" rtlCol="0" anchor="t"/>
          <a:lstStyle/>
          <a:p>
            <a:pPr marL="0" indent="0" algn="ctr">
              <a:buNone/>
            </a:pPr>
            <a:r>
              <a:rPr lang="en-US" b="1" dirty="0">
                <a:solidFill>
                  <a:srgbClr val="1A7F37"/>
                </a:solidFill>
                <a:latin typeface="Calibri" panose="020F0502020204030204" pitchFamily="34" charset="0"/>
                <a:ea typeface="Arial" pitchFamily="34" charset="-122"/>
                <a:cs typeface="Calibri" panose="020F0502020204030204" pitchFamily="34" charset="0"/>
              </a:rPr>
              <a:t>Impact</a:t>
            </a:r>
            <a:endParaRPr lang="en-US" dirty="0">
              <a:latin typeface="Calibri" panose="020F0502020204030204" pitchFamily="34" charset="0"/>
              <a:cs typeface="Calibri" panose="020F0502020204030204" pitchFamily="34" charset="0"/>
            </a:endParaRPr>
          </a:p>
        </p:txBody>
      </p:sp>
      <p:sp>
        <p:nvSpPr>
          <p:cNvPr id="19" name="Text 12"/>
          <p:cNvSpPr/>
          <p:nvPr/>
        </p:nvSpPr>
        <p:spPr>
          <a:xfrm>
            <a:off x="426671" y="3810000"/>
            <a:ext cx="8290509" cy="238125"/>
          </a:xfrm>
          <a:prstGeom prst="rect">
            <a:avLst/>
          </a:prstGeom>
          <a:noFill/>
          <a:ln/>
        </p:spPr>
        <p:txBody>
          <a:bodyPr wrap="square" lIns="0" tIns="0" rIns="0" bIns="0" rtlCol="0" anchor="t"/>
          <a:lstStyle/>
          <a:p>
            <a:pPr marL="0" indent="0" algn="ctr">
              <a:buNone/>
            </a:pPr>
            <a:r>
              <a:rPr lang="en-US" sz="2000" dirty="0">
                <a:solidFill>
                  <a:srgbClr val="1F2328"/>
                </a:solidFill>
                <a:latin typeface="Calibri" panose="020F0502020204030204" pitchFamily="34" charset="0"/>
                <a:ea typeface="Arial" pitchFamily="34" charset="-122"/>
                <a:cs typeface="Calibri" panose="020F0502020204030204" pitchFamily="34" charset="0"/>
              </a:rPr>
              <a:t>You bring the idea and the judgment. </a:t>
            </a:r>
            <a:br>
              <a:rPr lang="en-US" sz="2000" dirty="0">
                <a:solidFill>
                  <a:srgbClr val="1F2328"/>
                </a:solidFill>
                <a:latin typeface="Calibri" panose="020F0502020204030204" pitchFamily="34" charset="0"/>
                <a:ea typeface="Arial" pitchFamily="34" charset="-122"/>
                <a:cs typeface="Calibri" panose="020F0502020204030204" pitchFamily="34" charset="0"/>
              </a:rPr>
            </a:br>
            <a:r>
              <a:rPr lang="en-US" sz="2000" dirty="0">
                <a:solidFill>
                  <a:srgbClr val="1F2328"/>
                </a:solidFill>
                <a:latin typeface="Calibri" panose="020F0502020204030204" pitchFamily="34" charset="0"/>
                <a:ea typeface="Arial" pitchFamily="34" charset="-122"/>
                <a:cs typeface="Calibri" panose="020F0502020204030204" pitchFamily="34" charset="0"/>
              </a:rPr>
              <a:t>Agents execute on your behalf; you have final say.</a:t>
            </a:r>
            <a:endParaRPr lang="en-US" sz="2000" dirty="0">
              <a:latin typeface="Calibri" panose="020F0502020204030204" pitchFamily="34" charset="0"/>
              <a:cs typeface="Calibri" panose="020F0502020204030204" pitchFamily="34" charset="0"/>
            </a:endParaRPr>
          </a:p>
        </p:txBody>
      </p:sp>
      <p:pic>
        <p:nvPicPr>
          <p:cNvPr id="20" name="Image 0" descr="/Users/danwahlin/.copilot/session-state/e7427b9a-9d65-4aa2-953c-14cedea46cbc/files/talkdeck/assets/corner.png">
            <a:extLst>
              <a:ext uri="{FF2B5EF4-FFF2-40B4-BE49-F238E27FC236}">
                <a16:creationId xmlns:a16="http://schemas.microsoft.com/office/drawing/2014/main" id="{484B1240-70EC-D9DD-59F0-C4AA8677669B}"/>
              </a:ext>
            </a:extLst>
          </p:cNvPr>
          <p:cNvPicPr>
            <a:picLocks noChangeAspect="1"/>
          </p:cNvPicPr>
          <p:nvPr/>
        </p:nvPicPr>
        <p:blipFill>
          <a:blip r:embed="rId6"/>
          <a:stretch>
            <a:fillRect/>
          </a:stretch>
        </p:blipFill>
        <p:spPr>
          <a:xfrm>
            <a:off x="5393683" y="-1"/>
            <a:ext cx="3750168" cy="1755725"/>
          </a:xfrm>
          <a:prstGeom prst="rect">
            <a:avLst/>
          </a:prstGeom>
        </p:spPr>
      </p:pic>
      <p:pic>
        <p:nvPicPr>
          <p:cNvPr id="21" name="Image 1" descr="/Users/danwahlin/.copilot/session-state/e7427b9a-9d65-4aa2-953c-14cedea46cbc/files/talkdeck/assets/mark-dark.png">
            <a:extLst>
              <a:ext uri="{FF2B5EF4-FFF2-40B4-BE49-F238E27FC236}">
                <a16:creationId xmlns:a16="http://schemas.microsoft.com/office/drawing/2014/main" id="{17B0714C-93FC-90CF-392A-8A0F74146FF7}"/>
              </a:ext>
            </a:extLst>
          </p:cNvPr>
          <p:cNvPicPr>
            <a:picLocks noChangeAspect="1"/>
          </p:cNvPicPr>
          <p:nvPr/>
        </p:nvPicPr>
        <p:blipFill>
          <a:blip r:embed="rId7"/>
          <a:stretch>
            <a:fillRect/>
          </a:stretch>
        </p:blipFill>
        <p:spPr>
          <a:xfrm>
            <a:off x="8610600" y="165050"/>
            <a:ext cx="304800" cy="304800"/>
          </a:xfrm>
          <a:prstGeom prst="rect">
            <a:avLst/>
          </a:prstGeom>
        </p:spPr>
      </p:pic>
      <p:sp>
        <p:nvSpPr>
          <p:cNvPr id="2" name="Text 8">
            <a:extLst>
              <a:ext uri="{FF2B5EF4-FFF2-40B4-BE49-F238E27FC236}">
                <a16:creationId xmlns:a16="http://schemas.microsoft.com/office/drawing/2014/main" id="{C762B51F-085D-FAB5-CC64-9A1263E9ED92}"/>
              </a:ext>
            </a:extLst>
          </p:cNvPr>
          <p:cNvSpPr/>
          <p:nvPr/>
        </p:nvSpPr>
        <p:spPr>
          <a:xfrm>
            <a:off x="3637181" y="2902000"/>
            <a:ext cx="1943100" cy="438150"/>
          </a:xfrm>
          <a:prstGeom prst="rect">
            <a:avLst/>
          </a:prstGeom>
          <a:noFill/>
          <a:ln/>
        </p:spPr>
        <p:txBody>
          <a:bodyPr wrap="square" lIns="0" tIns="0" rIns="0" bIns="0" rtlCol="0" anchor="t"/>
          <a:lstStyle/>
          <a:p>
            <a:pPr marL="0" indent="0" algn="ctr">
              <a:buNone/>
            </a:pPr>
            <a:r>
              <a:rPr lang="en-US" sz="1200" b="1" dirty="0">
                <a:latin typeface="Calibri" panose="020F0502020204030204" pitchFamily="34" charset="0"/>
                <a:ea typeface="Arial" pitchFamily="34" charset="-122"/>
                <a:cs typeface="Calibri" panose="020F0502020204030204" pitchFamily="34" charset="0"/>
              </a:rPr>
              <a:t>Agents do the work</a:t>
            </a:r>
            <a:endParaRPr lang="en-US" sz="1200" dirty="0">
              <a:latin typeface="Calibri" panose="020F0502020204030204" pitchFamily="34" charset="0"/>
              <a:cs typeface="Calibri" panose="020F050202020403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p:cTn id="7" dur="600" fill="hold"/>
                                        <p:tgtEl>
                                          <p:spTgt spid="8"/>
                                        </p:tgtEl>
                                        <p:attrNameLst>
                                          <p:attrName>ppt_w</p:attrName>
                                        </p:attrNameLst>
                                      </p:cBhvr>
                                      <p:tavLst>
                                        <p:tav tm="0">
                                          <p:val>
                                            <p:fltVal val="0"/>
                                          </p:val>
                                        </p:tav>
                                        <p:tav tm="100000">
                                          <p:val>
                                            <p:strVal val="#ppt_w"/>
                                          </p:val>
                                        </p:tav>
                                      </p:tavLst>
                                    </p:anim>
                                    <p:anim calcmode="lin" valueType="num">
                                      <p:cBhvr>
                                        <p:cTn id="8" dur="600" fill="hold"/>
                                        <p:tgtEl>
                                          <p:spTgt spid="8"/>
                                        </p:tgtEl>
                                        <p:attrNameLst>
                                          <p:attrName>ppt_h</p:attrName>
                                        </p:attrNameLst>
                                      </p:cBhvr>
                                      <p:tavLst>
                                        <p:tav tm="0">
                                          <p:val>
                                            <p:fltVal val="0"/>
                                          </p:val>
                                        </p:tav>
                                        <p:tav tm="100000">
                                          <p:val>
                                            <p:strVal val="#ppt_h"/>
                                          </p:val>
                                        </p:tav>
                                      </p:tavLst>
                                    </p:anim>
                                    <p:animEffect transition="in" filter="fade">
                                      <p:cBhvr>
                                        <p:cTn id="9" dur="600"/>
                                        <p:tgtEl>
                                          <p:spTgt spid="8"/>
                                        </p:tgtEl>
                                      </p:cBhvr>
                                    </p:animEffect>
                                  </p:childTnLst>
                                </p:cTn>
                              </p:par>
                              <p:par>
                                <p:cTn id="10" presetID="53" presetClass="entr" presetSubtype="16" fill="hold" nodeType="with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600" fill="hold"/>
                                        <p:tgtEl>
                                          <p:spTgt spid="9"/>
                                        </p:tgtEl>
                                        <p:attrNameLst>
                                          <p:attrName>ppt_w</p:attrName>
                                        </p:attrNameLst>
                                      </p:cBhvr>
                                      <p:tavLst>
                                        <p:tav tm="0">
                                          <p:val>
                                            <p:fltVal val="0"/>
                                          </p:val>
                                        </p:tav>
                                        <p:tav tm="100000">
                                          <p:val>
                                            <p:strVal val="#ppt_w"/>
                                          </p:val>
                                        </p:tav>
                                      </p:tavLst>
                                    </p:anim>
                                    <p:anim calcmode="lin" valueType="num">
                                      <p:cBhvr>
                                        <p:cTn id="13" dur="600" fill="hold"/>
                                        <p:tgtEl>
                                          <p:spTgt spid="9"/>
                                        </p:tgtEl>
                                        <p:attrNameLst>
                                          <p:attrName>ppt_h</p:attrName>
                                        </p:attrNameLst>
                                      </p:cBhvr>
                                      <p:tavLst>
                                        <p:tav tm="0">
                                          <p:val>
                                            <p:fltVal val="0"/>
                                          </p:val>
                                        </p:tav>
                                        <p:tav tm="100000">
                                          <p:val>
                                            <p:strVal val="#ppt_h"/>
                                          </p:val>
                                        </p:tav>
                                      </p:tavLst>
                                    </p:anim>
                                    <p:animEffect transition="in" filter="fade">
                                      <p:cBhvr>
                                        <p:cTn id="14" dur="600"/>
                                        <p:tgtEl>
                                          <p:spTgt spid="9"/>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p:cTn id="17" dur="600" fill="hold"/>
                                        <p:tgtEl>
                                          <p:spTgt spid="10"/>
                                        </p:tgtEl>
                                        <p:attrNameLst>
                                          <p:attrName>ppt_w</p:attrName>
                                        </p:attrNameLst>
                                      </p:cBhvr>
                                      <p:tavLst>
                                        <p:tav tm="0">
                                          <p:val>
                                            <p:fltVal val="0"/>
                                          </p:val>
                                        </p:tav>
                                        <p:tav tm="100000">
                                          <p:val>
                                            <p:strVal val="#ppt_w"/>
                                          </p:val>
                                        </p:tav>
                                      </p:tavLst>
                                    </p:anim>
                                    <p:anim calcmode="lin" valueType="num">
                                      <p:cBhvr>
                                        <p:cTn id="18" dur="600" fill="hold"/>
                                        <p:tgtEl>
                                          <p:spTgt spid="10"/>
                                        </p:tgtEl>
                                        <p:attrNameLst>
                                          <p:attrName>ppt_h</p:attrName>
                                        </p:attrNameLst>
                                      </p:cBhvr>
                                      <p:tavLst>
                                        <p:tav tm="0">
                                          <p:val>
                                            <p:fltVal val="0"/>
                                          </p:val>
                                        </p:tav>
                                        <p:tav tm="100000">
                                          <p:val>
                                            <p:strVal val="#ppt_h"/>
                                          </p:val>
                                        </p:tav>
                                      </p:tavLst>
                                    </p:anim>
                                    <p:animEffect transition="in" filter="fade">
                                      <p:cBhvr>
                                        <p:cTn id="19" dur="6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11"/>
                                        </p:tgtEl>
                                        <p:attrNameLst>
                                          <p:attrName>style.visibility</p:attrName>
                                        </p:attrNameLst>
                                      </p:cBhvr>
                                      <p:to>
                                        <p:strVal val="visible"/>
                                      </p:to>
                                    </p:set>
                                    <p:anim calcmode="lin" valueType="num">
                                      <p:cBhvr>
                                        <p:cTn id="24" dur="600" fill="hold"/>
                                        <p:tgtEl>
                                          <p:spTgt spid="11"/>
                                        </p:tgtEl>
                                        <p:attrNameLst>
                                          <p:attrName>ppt_w</p:attrName>
                                        </p:attrNameLst>
                                      </p:cBhvr>
                                      <p:tavLst>
                                        <p:tav tm="0">
                                          <p:val>
                                            <p:fltVal val="0"/>
                                          </p:val>
                                        </p:tav>
                                        <p:tav tm="100000">
                                          <p:val>
                                            <p:strVal val="#ppt_w"/>
                                          </p:val>
                                        </p:tav>
                                      </p:tavLst>
                                    </p:anim>
                                    <p:anim calcmode="lin" valueType="num">
                                      <p:cBhvr>
                                        <p:cTn id="25" dur="600" fill="hold"/>
                                        <p:tgtEl>
                                          <p:spTgt spid="11"/>
                                        </p:tgtEl>
                                        <p:attrNameLst>
                                          <p:attrName>ppt_h</p:attrName>
                                        </p:attrNameLst>
                                      </p:cBhvr>
                                      <p:tavLst>
                                        <p:tav tm="0">
                                          <p:val>
                                            <p:fltVal val="0"/>
                                          </p:val>
                                        </p:tav>
                                        <p:tav tm="100000">
                                          <p:val>
                                            <p:strVal val="#ppt_h"/>
                                          </p:val>
                                        </p:tav>
                                      </p:tavLst>
                                    </p:anim>
                                    <p:animEffect transition="in" filter="fade">
                                      <p:cBhvr>
                                        <p:cTn id="26" dur="600"/>
                                        <p:tgtEl>
                                          <p:spTgt spid="11"/>
                                        </p:tgtEl>
                                      </p:cBhvr>
                                    </p:animEffect>
                                  </p:childTnLst>
                                </p:cTn>
                              </p:par>
                              <p:par>
                                <p:cTn id="27" presetID="53" presetClass="entr" presetSubtype="16" fill="hold" grpId="0" nodeType="withEffect">
                                  <p:stCondLst>
                                    <p:cond delay="150"/>
                                  </p:stCondLst>
                                  <p:childTnLst>
                                    <p:set>
                                      <p:cBhvr>
                                        <p:cTn id="28" dur="1" fill="hold">
                                          <p:stCondLst>
                                            <p:cond delay="0"/>
                                          </p:stCondLst>
                                        </p:cTn>
                                        <p:tgtEl>
                                          <p:spTgt spid="12"/>
                                        </p:tgtEl>
                                        <p:attrNameLst>
                                          <p:attrName>style.visibility</p:attrName>
                                        </p:attrNameLst>
                                      </p:cBhvr>
                                      <p:to>
                                        <p:strVal val="visible"/>
                                      </p:to>
                                    </p:set>
                                    <p:anim calcmode="lin" valueType="num">
                                      <p:cBhvr>
                                        <p:cTn id="29" dur="600" fill="hold"/>
                                        <p:tgtEl>
                                          <p:spTgt spid="12"/>
                                        </p:tgtEl>
                                        <p:attrNameLst>
                                          <p:attrName>ppt_w</p:attrName>
                                        </p:attrNameLst>
                                      </p:cBhvr>
                                      <p:tavLst>
                                        <p:tav tm="0">
                                          <p:val>
                                            <p:fltVal val="0"/>
                                          </p:val>
                                        </p:tav>
                                        <p:tav tm="100000">
                                          <p:val>
                                            <p:strVal val="#ppt_w"/>
                                          </p:val>
                                        </p:tav>
                                      </p:tavLst>
                                    </p:anim>
                                    <p:anim calcmode="lin" valueType="num">
                                      <p:cBhvr>
                                        <p:cTn id="30" dur="600" fill="hold"/>
                                        <p:tgtEl>
                                          <p:spTgt spid="12"/>
                                        </p:tgtEl>
                                        <p:attrNameLst>
                                          <p:attrName>ppt_h</p:attrName>
                                        </p:attrNameLst>
                                      </p:cBhvr>
                                      <p:tavLst>
                                        <p:tav tm="0">
                                          <p:val>
                                            <p:fltVal val="0"/>
                                          </p:val>
                                        </p:tav>
                                        <p:tav tm="100000">
                                          <p:val>
                                            <p:strVal val="#ppt_h"/>
                                          </p:val>
                                        </p:tav>
                                      </p:tavLst>
                                    </p:anim>
                                    <p:animEffect transition="in" filter="fade">
                                      <p:cBhvr>
                                        <p:cTn id="31" dur="600"/>
                                        <p:tgtEl>
                                          <p:spTgt spid="12"/>
                                        </p:tgtEl>
                                      </p:cBhvr>
                                    </p:animEffect>
                                  </p:childTnLst>
                                </p:cTn>
                              </p:par>
                              <p:par>
                                <p:cTn id="32" presetID="53" presetClass="entr" presetSubtype="16" fill="hold" nodeType="withEffect">
                                  <p:stCondLst>
                                    <p:cond delay="150"/>
                                  </p:stCondLst>
                                  <p:childTnLst>
                                    <p:set>
                                      <p:cBhvr>
                                        <p:cTn id="33" dur="1" fill="hold">
                                          <p:stCondLst>
                                            <p:cond delay="0"/>
                                          </p:stCondLst>
                                        </p:cTn>
                                        <p:tgtEl>
                                          <p:spTgt spid="13"/>
                                        </p:tgtEl>
                                        <p:attrNameLst>
                                          <p:attrName>style.visibility</p:attrName>
                                        </p:attrNameLst>
                                      </p:cBhvr>
                                      <p:to>
                                        <p:strVal val="visible"/>
                                      </p:to>
                                    </p:set>
                                    <p:anim calcmode="lin" valueType="num">
                                      <p:cBhvr>
                                        <p:cTn id="34" dur="600" fill="hold"/>
                                        <p:tgtEl>
                                          <p:spTgt spid="13"/>
                                        </p:tgtEl>
                                        <p:attrNameLst>
                                          <p:attrName>ppt_w</p:attrName>
                                        </p:attrNameLst>
                                      </p:cBhvr>
                                      <p:tavLst>
                                        <p:tav tm="0">
                                          <p:val>
                                            <p:fltVal val="0"/>
                                          </p:val>
                                        </p:tav>
                                        <p:tav tm="100000">
                                          <p:val>
                                            <p:strVal val="#ppt_w"/>
                                          </p:val>
                                        </p:tav>
                                      </p:tavLst>
                                    </p:anim>
                                    <p:anim calcmode="lin" valueType="num">
                                      <p:cBhvr>
                                        <p:cTn id="35" dur="600" fill="hold"/>
                                        <p:tgtEl>
                                          <p:spTgt spid="13"/>
                                        </p:tgtEl>
                                        <p:attrNameLst>
                                          <p:attrName>ppt_h</p:attrName>
                                        </p:attrNameLst>
                                      </p:cBhvr>
                                      <p:tavLst>
                                        <p:tav tm="0">
                                          <p:val>
                                            <p:fltVal val="0"/>
                                          </p:val>
                                        </p:tav>
                                        <p:tav tm="100000">
                                          <p:val>
                                            <p:strVal val="#ppt_h"/>
                                          </p:val>
                                        </p:tav>
                                      </p:tavLst>
                                    </p:anim>
                                    <p:animEffect transition="in" filter="fade">
                                      <p:cBhvr>
                                        <p:cTn id="36" dur="600"/>
                                        <p:tgtEl>
                                          <p:spTgt spid="13"/>
                                        </p:tgtEl>
                                      </p:cBhvr>
                                    </p:animEffect>
                                  </p:childTnLst>
                                </p:cTn>
                              </p:par>
                              <p:par>
                                <p:cTn id="37" presetID="53" presetClass="entr" presetSubtype="16" fill="hold" grpId="0" nodeType="withEffect">
                                  <p:stCondLst>
                                    <p:cond delay="150"/>
                                  </p:stCondLst>
                                  <p:childTnLst>
                                    <p:set>
                                      <p:cBhvr>
                                        <p:cTn id="38" dur="1" fill="hold">
                                          <p:stCondLst>
                                            <p:cond delay="0"/>
                                          </p:stCondLst>
                                        </p:cTn>
                                        <p:tgtEl>
                                          <p:spTgt spid="14"/>
                                        </p:tgtEl>
                                        <p:attrNameLst>
                                          <p:attrName>style.visibility</p:attrName>
                                        </p:attrNameLst>
                                      </p:cBhvr>
                                      <p:to>
                                        <p:strVal val="visible"/>
                                      </p:to>
                                    </p:set>
                                    <p:anim calcmode="lin" valueType="num">
                                      <p:cBhvr>
                                        <p:cTn id="39" dur="600" fill="hold"/>
                                        <p:tgtEl>
                                          <p:spTgt spid="14"/>
                                        </p:tgtEl>
                                        <p:attrNameLst>
                                          <p:attrName>ppt_w</p:attrName>
                                        </p:attrNameLst>
                                      </p:cBhvr>
                                      <p:tavLst>
                                        <p:tav tm="0">
                                          <p:val>
                                            <p:fltVal val="0"/>
                                          </p:val>
                                        </p:tav>
                                        <p:tav tm="100000">
                                          <p:val>
                                            <p:strVal val="#ppt_w"/>
                                          </p:val>
                                        </p:tav>
                                      </p:tavLst>
                                    </p:anim>
                                    <p:anim calcmode="lin" valueType="num">
                                      <p:cBhvr>
                                        <p:cTn id="40" dur="600" fill="hold"/>
                                        <p:tgtEl>
                                          <p:spTgt spid="14"/>
                                        </p:tgtEl>
                                        <p:attrNameLst>
                                          <p:attrName>ppt_h</p:attrName>
                                        </p:attrNameLst>
                                      </p:cBhvr>
                                      <p:tavLst>
                                        <p:tav tm="0">
                                          <p:val>
                                            <p:fltVal val="0"/>
                                          </p:val>
                                        </p:tav>
                                        <p:tav tm="100000">
                                          <p:val>
                                            <p:strVal val="#ppt_h"/>
                                          </p:val>
                                        </p:tav>
                                      </p:tavLst>
                                    </p:anim>
                                    <p:animEffect transition="in" filter="fade">
                                      <p:cBhvr>
                                        <p:cTn id="41" dur="600"/>
                                        <p:tgtEl>
                                          <p:spTgt spid="14"/>
                                        </p:tgtEl>
                                      </p:cBhvr>
                                    </p:animEffect>
                                  </p:childTnLst>
                                </p:cTn>
                              </p:par>
                            </p:childTnLst>
                          </p:cTn>
                        </p:par>
                        <p:par>
                          <p:cTn id="42" fill="hold">
                            <p:stCondLst>
                              <p:cond delay="750"/>
                            </p:stCondLst>
                            <p:childTnLst>
                              <p:par>
                                <p:cTn id="43" presetID="10" presetClass="entr" presetSubtype="0" fill="hold" grpId="1" nodeType="afterEffect">
                                  <p:stCondLst>
                                    <p:cond delay="0"/>
                                  </p:stCondLst>
                                  <p:childTnLst>
                                    <p:set>
                                      <p:cBhvr>
                                        <p:cTn id="44" dur="1" fill="hold">
                                          <p:stCondLst>
                                            <p:cond delay="0"/>
                                          </p:stCondLst>
                                        </p:cTn>
                                        <p:tgtEl>
                                          <p:spTgt spid="2"/>
                                        </p:tgtEl>
                                        <p:attrNameLst>
                                          <p:attrName>style.visibility</p:attrName>
                                        </p:attrNameLst>
                                      </p:cBhvr>
                                      <p:to>
                                        <p:strVal val="visible"/>
                                      </p:to>
                                    </p:set>
                                    <p:animEffect transition="in" filter="fade">
                                      <p:cBhvr>
                                        <p:cTn id="45" dur="3000"/>
                                        <p:tgtEl>
                                          <p:spTgt spid="2"/>
                                        </p:tgtEl>
                                      </p:cBhvr>
                                    </p:animEffect>
                                  </p:childTnLst>
                                </p:cTn>
                              </p:par>
                            </p:childTnLst>
                          </p:cTn>
                        </p:par>
                      </p:childTnLst>
                    </p:cTn>
                  </p:par>
                  <p:par>
                    <p:cTn id="46" fill="hold">
                      <p:stCondLst>
                        <p:cond delay="indefinite"/>
                      </p:stCondLst>
                      <p:childTnLst>
                        <p:par>
                          <p:cTn id="47" fill="hold">
                            <p:stCondLst>
                              <p:cond delay="0"/>
                            </p:stCondLst>
                            <p:childTnLst>
                              <p:par>
                                <p:cTn id="48" presetID="53" presetClass="entr" presetSubtype="16" fill="hold" grpId="0" nodeType="clickEffect">
                                  <p:stCondLst>
                                    <p:cond delay="0"/>
                                  </p:stCondLst>
                                  <p:childTnLst>
                                    <p:set>
                                      <p:cBhvr>
                                        <p:cTn id="49" dur="1" fill="hold">
                                          <p:stCondLst>
                                            <p:cond delay="0"/>
                                          </p:stCondLst>
                                        </p:cTn>
                                        <p:tgtEl>
                                          <p:spTgt spid="15"/>
                                        </p:tgtEl>
                                        <p:attrNameLst>
                                          <p:attrName>style.visibility</p:attrName>
                                        </p:attrNameLst>
                                      </p:cBhvr>
                                      <p:to>
                                        <p:strVal val="visible"/>
                                      </p:to>
                                    </p:set>
                                    <p:anim calcmode="lin" valueType="num">
                                      <p:cBhvr>
                                        <p:cTn id="50" dur="600" fill="hold"/>
                                        <p:tgtEl>
                                          <p:spTgt spid="15"/>
                                        </p:tgtEl>
                                        <p:attrNameLst>
                                          <p:attrName>ppt_w</p:attrName>
                                        </p:attrNameLst>
                                      </p:cBhvr>
                                      <p:tavLst>
                                        <p:tav tm="0">
                                          <p:val>
                                            <p:fltVal val="0"/>
                                          </p:val>
                                        </p:tav>
                                        <p:tav tm="100000">
                                          <p:val>
                                            <p:strVal val="#ppt_w"/>
                                          </p:val>
                                        </p:tav>
                                      </p:tavLst>
                                    </p:anim>
                                    <p:anim calcmode="lin" valueType="num">
                                      <p:cBhvr>
                                        <p:cTn id="51" dur="600" fill="hold"/>
                                        <p:tgtEl>
                                          <p:spTgt spid="15"/>
                                        </p:tgtEl>
                                        <p:attrNameLst>
                                          <p:attrName>ppt_h</p:attrName>
                                        </p:attrNameLst>
                                      </p:cBhvr>
                                      <p:tavLst>
                                        <p:tav tm="0">
                                          <p:val>
                                            <p:fltVal val="0"/>
                                          </p:val>
                                        </p:tav>
                                        <p:tav tm="100000">
                                          <p:val>
                                            <p:strVal val="#ppt_h"/>
                                          </p:val>
                                        </p:tav>
                                      </p:tavLst>
                                    </p:anim>
                                    <p:animEffect transition="in" filter="fade">
                                      <p:cBhvr>
                                        <p:cTn id="52" dur="600"/>
                                        <p:tgtEl>
                                          <p:spTgt spid="15"/>
                                        </p:tgtEl>
                                      </p:cBhvr>
                                    </p:animEffect>
                                  </p:childTnLst>
                                </p:cTn>
                              </p:par>
                              <p:par>
                                <p:cTn id="53" presetID="53" presetClass="entr" presetSubtype="16" fill="hold" grpId="0" nodeType="withEffect">
                                  <p:stCondLst>
                                    <p:cond delay="150"/>
                                  </p:stCondLst>
                                  <p:childTnLst>
                                    <p:set>
                                      <p:cBhvr>
                                        <p:cTn id="54" dur="1" fill="hold">
                                          <p:stCondLst>
                                            <p:cond delay="0"/>
                                          </p:stCondLst>
                                        </p:cTn>
                                        <p:tgtEl>
                                          <p:spTgt spid="16"/>
                                        </p:tgtEl>
                                        <p:attrNameLst>
                                          <p:attrName>style.visibility</p:attrName>
                                        </p:attrNameLst>
                                      </p:cBhvr>
                                      <p:to>
                                        <p:strVal val="visible"/>
                                      </p:to>
                                    </p:set>
                                    <p:anim calcmode="lin" valueType="num">
                                      <p:cBhvr>
                                        <p:cTn id="55" dur="600" fill="hold"/>
                                        <p:tgtEl>
                                          <p:spTgt spid="16"/>
                                        </p:tgtEl>
                                        <p:attrNameLst>
                                          <p:attrName>ppt_w</p:attrName>
                                        </p:attrNameLst>
                                      </p:cBhvr>
                                      <p:tavLst>
                                        <p:tav tm="0">
                                          <p:val>
                                            <p:fltVal val="0"/>
                                          </p:val>
                                        </p:tav>
                                        <p:tav tm="100000">
                                          <p:val>
                                            <p:strVal val="#ppt_w"/>
                                          </p:val>
                                        </p:tav>
                                      </p:tavLst>
                                    </p:anim>
                                    <p:anim calcmode="lin" valueType="num">
                                      <p:cBhvr>
                                        <p:cTn id="56" dur="600" fill="hold"/>
                                        <p:tgtEl>
                                          <p:spTgt spid="16"/>
                                        </p:tgtEl>
                                        <p:attrNameLst>
                                          <p:attrName>ppt_h</p:attrName>
                                        </p:attrNameLst>
                                      </p:cBhvr>
                                      <p:tavLst>
                                        <p:tav tm="0">
                                          <p:val>
                                            <p:fltVal val="0"/>
                                          </p:val>
                                        </p:tav>
                                        <p:tav tm="100000">
                                          <p:val>
                                            <p:strVal val="#ppt_h"/>
                                          </p:val>
                                        </p:tav>
                                      </p:tavLst>
                                    </p:anim>
                                    <p:animEffect transition="in" filter="fade">
                                      <p:cBhvr>
                                        <p:cTn id="57" dur="600"/>
                                        <p:tgtEl>
                                          <p:spTgt spid="16"/>
                                        </p:tgtEl>
                                      </p:cBhvr>
                                    </p:animEffect>
                                  </p:childTnLst>
                                </p:cTn>
                              </p:par>
                              <p:par>
                                <p:cTn id="58" presetID="53" presetClass="entr" presetSubtype="16" fill="hold" nodeType="withEffect">
                                  <p:stCondLst>
                                    <p:cond delay="150"/>
                                  </p:stCondLst>
                                  <p:childTnLst>
                                    <p:set>
                                      <p:cBhvr>
                                        <p:cTn id="59" dur="1" fill="hold">
                                          <p:stCondLst>
                                            <p:cond delay="0"/>
                                          </p:stCondLst>
                                        </p:cTn>
                                        <p:tgtEl>
                                          <p:spTgt spid="17"/>
                                        </p:tgtEl>
                                        <p:attrNameLst>
                                          <p:attrName>style.visibility</p:attrName>
                                        </p:attrNameLst>
                                      </p:cBhvr>
                                      <p:to>
                                        <p:strVal val="visible"/>
                                      </p:to>
                                    </p:set>
                                    <p:anim calcmode="lin" valueType="num">
                                      <p:cBhvr>
                                        <p:cTn id="60" dur="600" fill="hold"/>
                                        <p:tgtEl>
                                          <p:spTgt spid="17"/>
                                        </p:tgtEl>
                                        <p:attrNameLst>
                                          <p:attrName>ppt_w</p:attrName>
                                        </p:attrNameLst>
                                      </p:cBhvr>
                                      <p:tavLst>
                                        <p:tav tm="0">
                                          <p:val>
                                            <p:fltVal val="0"/>
                                          </p:val>
                                        </p:tav>
                                        <p:tav tm="100000">
                                          <p:val>
                                            <p:strVal val="#ppt_w"/>
                                          </p:val>
                                        </p:tav>
                                      </p:tavLst>
                                    </p:anim>
                                    <p:anim calcmode="lin" valueType="num">
                                      <p:cBhvr>
                                        <p:cTn id="61" dur="600" fill="hold"/>
                                        <p:tgtEl>
                                          <p:spTgt spid="17"/>
                                        </p:tgtEl>
                                        <p:attrNameLst>
                                          <p:attrName>ppt_h</p:attrName>
                                        </p:attrNameLst>
                                      </p:cBhvr>
                                      <p:tavLst>
                                        <p:tav tm="0">
                                          <p:val>
                                            <p:fltVal val="0"/>
                                          </p:val>
                                        </p:tav>
                                        <p:tav tm="100000">
                                          <p:val>
                                            <p:strVal val="#ppt_h"/>
                                          </p:val>
                                        </p:tav>
                                      </p:tavLst>
                                    </p:anim>
                                    <p:animEffect transition="in" filter="fade">
                                      <p:cBhvr>
                                        <p:cTn id="62" dur="600"/>
                                        <p:tgtEl>
                                          <p:spTgt spid="17"/>
                                        </p:tgtEl>
                                      </p:cBhvr>
                                    </p:animEffect>
                                  </p:childTnLst>
                                </p:cTn>
                              </p:par>
                              <p:par>
                                <p:cTn id="63" presetID="53" presetClass="entr" presetSubtype="16" fill="hold" grpId="0" nodeType="withEffect">
                                  <p:stCondLst>
                                    <p:cond delay="150"/>
                                  </p:stCondLst>
                                  <p:childTnLst>
                                    <p:set>
                                      <p:cBhvr>
                                        <p:cTn id="64" dur="1" fill="hold">
                                          <p:stCondLst>
                                            <p:cond delay="0"/>
                                          </p:stCondLst>
                                        </p:cTn>
                                        <p:tgtEl>
                                          <p:spTgt spid="18"/>
                                        </p:tgtEl>
                                        <p:attrNameLst>
                                          <p:attrName>style.visibility</p:attrName>
                                        </p:attrNameLst>
                                      </p:cBhvr>
                                      <p:to>
                                        <p:strVal val="visible"/>
                                      </p:to>
                                    </p:set>
                                    <p:anim calcmode="lin" valueType="num">
                                      <p:cBhvr>
                                        <p:cTn id="65" dur="600" fill="hold"/>
                                        <p:tgtEl>
                                          <p:spTgt spid="18"/>
                                        </p:tgtEl>
                                        <p:attrNameLst>
                                          <p:attrName>ppt_w</p:attrName>
                                        </p:attrNameLst>
                                      </p:cBhvr>
                                      <p:tavLst>
                                        <p:tav tm="0">
                                          <p:val>
                                            <p:fltVal val="0"/>
                                          </p:val>
                                        </p:tav>
                                        <p:tav tm="100000">
                                          <p:val>
                                            <p:strVal val="#ppt_w"/>
                                          </p:val>
                                        </p:tav>
                                      </p:tavLst>
                                    </p:anim>
                                    <p:anim calcmode="lin" valueType="num">
                                      <p:cBhvr>
                                        <p:cTn id="66" dur="600" fill="hold"/>
                                        <p:tgtEl>
                                          <p:spTgt spid="18"/>
                                        </p:tgtEl>
                                        <p:attrNameLst>
                                          <p:attrName>ppt_h</p:attrName>
                                        </p:attrNameLst>
                                      </p:cBhvr>
                                      <p:tavLst>
                                        <p:tav tm="0">
                                          <p:val>
                                            <p:fltVal val="0"/>
                                          </p:val>
                                        </p:tav>
                                        <p:tav tm="100000">
                                          <p:val>
                                            <p:strVal val="#ppt_h"/>
                                          </p:val>
                                        </p:tav>
                                      </p:tavLst>
                                    </p:anim>
                                    <p:animEffect transition="in" filter="fade">
                                      <p:cBhvr>
                                        <p:cTn id="67" dur="600"/>
                                        <p:tgtEl>
                                          <p:spTgt spid="18"/>
                                        </p:tgtEl>
                                      </p:cBhvr>
                                    </p:animEffect>
                                  </p:childTnLst>
                                </p:cTn>
                              </p:par>
                              <p:par>
                                <p:cTn id="68" presetID="42" presetClass="entr" presetSubtype="0" fill="hold" grpId="0" nodeType="withEffect">
                                  <p:stCondLst>
                                    <p:cond delay="90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700"/>
                                        <p:tgtEl>
                                          <p:spTgt spid="19"/>
                                        </p:tgtEl>
                                      </p:cBhvr>
                                    </p:animEffect>
                                    <p:anim calcmode="lin" valueType="num">
                                      <p:cBhvr>
                                        <p:cTn id="71" dur="700" fill="hold"/>
                                        <p:tgtEl>
                                          <p:spTgt spid="19"/>
                                        </p:tgtEl>
                                        <p:attrNameLst>
                                          <p:attrName>ppt_x</p:attrName>
                                        </p:attrNameLst>
                                      </p:cBhvr>
                                      <p:tavLst>
                                        <p:tav tm="0">
                                          <p:val>
                                            <p:strVal val="#ppt_x"/>
                                          </p:val>
                                        </p:tav>
                                        <p:tav tm="100000">
                                          <p:val>
                                            <p:strVal val="#ppt_x"/>
                                          </p:val>
                                        </p:tav>
                                      </p:tavLst>
                                    </p:anim>
                                    <p:anim calcmode="lin" valueType="num">
                                      <p:cBhvr>
                                        <p:cTn id="72" dur="7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4" grpId="0" animBg="1"/>
      <p:bldP spid="15" grpId="0" animBg="1"/>
      <p:bldP spid="16" grpId="0" animBg="1"/>
      <p:bldP spid="18" grpId="0" animBg="1"/>
      <p:bldP spid="19" grpId="0" animBg="1"/>
      <p:bldP spid="2"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GITHUB COPILOT APP</a:t>
            </a:r>
            <a:endParaRPr lang="en-US" sz="105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One desktop workspace for many agents</a:t>
            </a:r>
            <a:endParaRPr lang="en-US" sz="3200" dirty="0">
              <a:latin typeface="Calibri" panose="020F0502020204030204" pitchFamily="34" charset="0"/>
              <a:cs typeface="Calibri" panose="020F0502020204030204" pitchFamily="34" charset="0"/>
            </a:endParaRPr>
          </a:p>
        </p:txBody>
      </p:sp>
      <p:sp>
        <p:nvSpPr>
          <p:cNvPr id="8" name="Text 4"/>
          <p:cNvSpPr/>
          <p:nvPr/>
        </p:nvSpPr>
        <p:spPr>
          <a:xfrm>
            <a:off x="507950" y="1625501"/>
            <a:ext cx="558701" cy="558701"/>
          </a:xfrm>
          <a:prstGeom prst="roundRect">
            <a:avLst>
              <a:gd name="adj" fmla="val 22731"/>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9" name="Image 2" descr="/Users/danwahlin/.copilot/session-state/e7427b9a-9d65-4aa2-953c-14cedea46cbc/files/talkdeck/assets/icons/GoTasklist-0969DA.png"/>
          <p:cNvPicPr>
            <a:picLocks noChangeAspect="1"/>
          </p:cNvPicPr>
          <p:nvPr/>
        </p:nvPicPr>
        <p:blipFill>
          <a:blip r:embed="rId3"/>
          <a:stretch>
            <a:fillRect/>
          </a:stretch>
        </p:blipFill>
        <p:spPr>
          <a:xfrm>
            <a:off x="647700" y="1765250"/>
            <a:ext cx="279350" cy="279350"/>
          </a:xfrm>
          <a:prstGeom prst="rect">
            <a:avLst/>
          </a:prstGeom>
        </p:spPr>
      </p:pic>
      <p:sp>
        <p:nvSpPr>
          <p:cNvPr id="10" name="Text 5"/>
          <p:cNvSpPr/>
          <p:nvPr/>
        </p:nvSpPr>
        <p:spPr>
          <a:xfrm>
            <a:off x="1244501" y="1676400"/>
            <a:ext cx="2849829"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Hand off a task</a:t>
            </a:r>
            <a:endParaRPr lang="en-US" dirty="0">
              <a:latin typeface="Calibri" panose="020F0502020204030204" pitchFamily="34" charset="0"/>
              <a:cs typeface="Calibri" panose="020F0502020204030204" pitchFamily="34" charset="0"/>
            </a:endParaRPr>
          </a:p>
        </p:txBody>
      </p:sp>
      <p:sp>
        <p:nvSpPr>
          <p:cNvPr id="11" name="Text 6"/>
          <p:cNvSpPr/>
          <p:nvPr/>
        </p:nvSpPr>
        <p:spPr>
          <a:xfrm>
            <a:off x="1244501" y="1943100"/>
            <a:ext cx="2849829" cy="171450"/>
          </a:xfrm>
          <a:prstGeom prst="rect">
            <a:avLst/>
          </a:prstGeom>
          <a:noFill/>
          <a:ln/>
        </p:spPr>
        <p:txBody>
          <a:bodyPr wrap="square" lIns="0" tIns="0" rIns="0" bIns="0" rtlCol="0" anchor="t"/>
          <a:lstStyle/>
          <a:p>
            <a:pPr marL="0" indent="0" algn="l">
              <a:buNone/>
            </a:pPr>
            <a:r>
              <a:rPr lang="en-US" sz="1400" dirty="0">
                <a:solidFill>
                  <a:srgbClr val="59636E"/>
                </a:solidFill>
                <a:latin typeface="Calibri" panose="020F0502020204030204" pitchFamily="34" charset="0"/>
                <a:ea typeface="Arial" pitchFamily="34" charset="-122"/>
                <a:cs typeface="Calibri" panose="020F0502020204030204" pitchFamily="34" charset="0"/>
              </a:rPr>
              <a:t>Describe the outcome you want.</a:t>
            </a:r>
            <a:endParaRPr lang="en-US" sz="1400" dirty="0">
              <a:latin typeface="Calibri" panose="020F0502020204030204" pitchFamily="34" charset="0"/>
              <a:cs typeface="Calibri" panose="020F0502020204030204" pitchFamily="34" charset="0"/>
            </a:endParaRPr>
          </a:p>
        </p:txBody>
      </p:sp>
      <p:sp>
        <p:nvSpPr>
          <p:cNvPr id="12" name="Text 7"/>
          <p:cNvSpPr/>
          <p:nvPr/>
        </p:nvSpPr>
        <p:spPr>
          <a:xfrm>
            <a:off x="507950" y="2590800"/>
            <a:ext cx="558701" cy="558701"/>
          </a:xfrm>
          <a:prstGeom prst="roundRect">
            <a:avLst>
              <a:gd name="adj" fmla="val 22731"/>
            </a:avLst>
          </a:prstGeom>
          <a:solidFill>
            <a:srgbClr val="FBE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3" name="Image 3" descr="/Users/danwahlin/.copilot/session-state/e7427b9a-9d65-4aa2-953c-14cedea46cbc/files/talkdeck/assets/icons/GoStack-8250DF.png"/>
          <p:cNvPicPr>
            <a:picLocks noChangeAspect="1"/>
          </p:cNvPicPr>
          <p:nvPr/>
        </p:nvPicPr>
        <p:blipFill>
          <a:blip r:embed="rId4"/>
          <a:stretch>
            <a:fillRect/>
          </a:stretch>
        </p:blipFill>
        <p:spPr>
          <a:xfrm>
            <a:off x="647700" y="2730401"/>
            <a:ext cx="279350" cy="279350"/>
          </a:xfrm>
          <a:prstGeom prst="rect">
            <a:avLst/>
          </a:prstGeom>
        </p:spPr>
      </p:pic>
      <p:sp>
        <p:nvSpPr>
          <p:cNvPr id="14" name="Text 8"/>
          <p:cNvSpPr/>
          <p:nvPr/>
        </p:nvSpPr>
        <p:spPr>
          <a:xfrm>
            <a:off x="1244501" y="2641550"/>
            <a:ext cx="2849829"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Run several at once</a:t>
            </a:r>
            <a:endParaRPr lang="en-US" dirty="0">
              <a:latin typeface="Calibri" panose="020F0502020204030204" pitchFamily="34" charset="0"/>
              <a:cs typeface="Calibri" panose="020F0502020204030204" pitchFamily="34" charset="0"/>
            </a:endParaRPr>
          </a:p>
        </p:txBody>
      </p:sp>
      <p:sp>
        <p:nvSpPr>
          <p:cNvPr id="15" name="Text 9"/>
          <p:cNvSpPr/>
          <p:nvPr/>
        </p:nvSpPr>
        <p:spPr>
          <a:xfrm>
            <a:off x="1244501" y="2908250"/>
            <a:ext cx="2849829" cy="171450"/>
          </a:xfrm>
          <a:prstGeom prst="rect">
            <a:avLst/>
          </a:prstGeom>
          <a:noFill/>
          <a:ln/>
        </p:spPr>
        <p:txBody>
          <a:bodyPr wrap="square" lIns="0" tIns="0" rIns="0" bIns="0" rtlCol="0" anchor="t"/>
          <a:lstStyle/>
          <a:p>
            <a:pPr marL="0" indent="0" algn="l">
              <a:buNone/>
            </a:pPr>
            <a:r>
              <a:rPr lang="en-US" sz="1400" dirty="0">
                <a:solidFill>
                  <a:srgbClr val="59636E"/>
                </a:solidFill>
                <a:latin typeface="Calibri" panose="020F0502020204030204" pitchFamily="34" charset="0"/>
                <a:ea typeface="Arial" pitchFamily="34" charset="-122"/>
                <a:cs typeface="Calibri" panose="020F0502020204030204" pitchFamily="34" charset="0"/>
              </a:rPr>
              <a:t>Each agent has its own session.</a:t>
            </a:r>
            <a:endParaRPr lang="en-US" sz="1400" dirty="0">
              <a:latin typeface="Calibri" panose="020F0502020204030204" pitchFamily="34" charset="0"/>
              <a:cs typeface="Calibri" panose="020F0502020204030204" pitchFamily="34" charset="0"/>
            </a:endParaRPr>
          </a:p>
        </p:txBody>
      </p:sp>
      <p:sp>
        <p:nvSpPr>
          <p:cNvPr id="16" name="Text 10"/>
          <p:cNvSpPr/>
          <p:nvPr/>
        </p:nvSpPr>
        <p:spPr>
          <a:xfrm>
            <a:off x="507950" y="3555950"/>
            <a:ext cx="558701" cy="558701"/>
          </a:xfrm>
          <a:prstGeom prst="roundRect">
            <a:avLst>
              <a:gd name="adj" fmla="val 22731"/>
            </a:avLst>
          </a:prstGeom>
          <a:solidFill>
            <a:srgbClr val="DAFBE1"/>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7" name="Image 4" descr="/Users/danwahlin/.copilot/session-state/e7427b9a-9d65-4aa2-953c-14cedea46cbc/files/talkdeck/assets/icons/GoEye-1A7F37.png"/>
          <p:cNvPicPr>
            <a:picLocks noChangeAspect="1"/>
          </p:cNvPicPr>
          <p:nvPr/>
        </p:nvPicPr>
        <p:blipFill>
          <a:blip r:embed="rId5"/>
          <a:stretch>
            <a:fillRect/>
          </a:stretch>
        </p:blipFill>
        <p:spPr>
          <a:xfrm>
            <a:off x="647700" y="3695700"/>
            <a:ext cx="279350" cy="279350"/>
          </a:xfrm>
          <a:prstGeom prst="rect">
            <a:avLst/>
          </a:prstGeom>
        </p:spPr>
      </p:pic>
      <p:sp>
        <p:nvSpPr>
          <p:cNvPr id="18" name="Text 11"/>
          <p:cNvSpPr/>
          <p:nvPr/>
        </p:nvSpPr>
        <p:spPr>
          <a:xfrm>
            <a:off x="1244501" y="3606701"/>
            <a:ext cx="2849829"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Review the results</a:t>
            </a:r>
            <a:endParaRPr lang="en-US" dirty="0">
              <a:latin typeface="Calibri" panose="020F0502020204030204" pitchFamily="34" charset="0"/>
              <a:cs typeface="Calibri" panose="020F0502020204030204" pitchFamily="34" charset="0"/>
            </a:endParaRPr>
          </a:p>
        </p:txBody>
      </p:sp>
      <p:sp>
        <p:nvSpPr>
          <p:cNvPr id="19" name="Text 12"/>
          <p:cNvSpPr/>
          <p:nvPr/>
        </p:nvSpPr>
        <p:spPr>
          <a:xfrm>
            <a:off x="1244501" y="3873401"/>
            <a:ext cx="2849829" cy="171450"/>
          </a:xfrm>
          <a:prstGeom prst="rect">
            <a:avLst/>
          </a:prstGeom>
          <a:noFill/>
          <a:ln/>
        </p:spPr>
        <p:txBody>
          <a:bodyPr wrap="square" lIns="0" tIns="0" rIns="0" bIns="0" rtlCol="0" anchor="t"/>
          <a:lstStyle/>
          <a:p>
            <a:pPr marL="0" indent="0" algn="l">
              <a:buNone/>
            </a:pPr>
            <a:r>
              <a:rPr lang="en-US" sz="1400" dirty="0">
                <a:solidFill>
                  <a:srgbClr val="59636E"/>
                </a:solidFill>
                <a:latin typeface="Calibri" panose="020F0502020204030204" pitchFamily="34" charset="0"/>
                <a:ea typeface="Arial" pitchFamily="34" charset="-122"/>
                <a:cs typeface="Calibri" panose="020F0502020204030204" pitchFamily="34" charset="0"/>
              </a:rPr>
              <a:t>Accept only what you trust.</a:t>
            </a:r>
            <a:endParaRPr lang="en-US" sz="1400" dirty="0">
              <a:latin typeface="Calibri" panose="020F0502020204030204" pitchFamily="34" charset="0"/>
              <a:cs typeface="Calibri" panose="020F0502020204030204" pitchFamily="34" charset="0"/>
            </a:endParaRPr>
          </a:p>
        </p:txBody>
      </p:sp>
      <p:sp>
        <p:nvSpPr>
          <p:cNvPr id="20" name="Text 13"/>
          <p:cNvSpPr/>
          <p:nvPr/>
        </p:nvSpPr>
        <p:spPr>
          <a:xfrm>
            <a:off x="4317950" y="1498550"/>
            <a:ext cx="4337000" cy="3016151"/>
          </a:xfrm>
          <a:prstGeom prst="roundRect">
            <a:avLst>
              <a:gd name="adj" fmla="val 4211"/>
            </a:avLst>
          </a:prstGeom>
          <a:solidFill>
            <a:srgbClr val="FFFFFF"/>
          </a:solidFill>
          <a:ln w="9525">
            <a:solidFill>
              <a:srgbClr val="D0D7DE"/>
            </a:solidFill>
          </a:ln>
          <a:effectLst>
            <a:outerShdw blurRad="171450" dist="57150" dir="5400000" algn="bl" rotWithShape="0">
              <a:srgbClr val="1F2328">
                <a:alpha val="12000"/>
              </a:srgbClr>
            </a:outerShdw>
          </a:effectLst>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1" name="Text 14"/>
          <p:cNvSpPr/>
          <p:nvPr/>
        </p:nvSpPr>
        <p:spPr>
          <a:xfrm>
            <a:off x="4330601" y="1511201"/>
            <a:ext cx="4292501" cy="304800"/>
          </a:xfrm>
          <a:prstGeom prst="roundRect">
            <a:avLst>
              <a:gd name="adj" fmla="val 41667"/>
            </a:avLst>
          </a:prstGeom>
          <a:solidFill>
            <a:srgbClr val="F6F8FA"/>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2" name="Text 15"/>
          <p:cNvSpPr/>
          <p:nvPr/>
        </p:nvSpPr>
        <p:spPr>
          <a:xfrm>
            <a:off x="4470350" y="1612850"/>
            <a:ext cx="101501" cy="101501"/>
          </a:xfrm>
          <a:prstGeom prst="roundRect">
            <a:avLst>
              <a:gd name="adj" fmla="val 900878"/>
            </a:avLst>
          </a:prstGeom>
          <a:solidFill>
            <a:srgbClr val="FF5F57"/>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3" name="Text 16"/>
          <p:cNvSpPr/>
          <p:nvPr/>
        </p:nvSpPr>
        <p:spPr>
          <a:xfrm>
            <a:off x="4622750" y="1612850"/>
            <a:ext cx="101501" cy="101501"/>
          </a:xfrm>
          <a:prstGeom prst="roundRect">
            <a:avLst>
              <a:gd name="adj" fmla="val 900878"/>
            </a:avLst>
          </a:prstGeom>
          <a:solidFill>
            <a:srgbClr val="FEBC2E"/>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4" name="Text 17"/>
          <p:cNvSpPr/>
          <p:nvPr/>
        </p:nvSpPr>
        <p:spPr>
          <a:xfrm>
            <a:off x="4775150" y="1612850"/>
            <a:ext cx="101501" cy="101501"/>
          </a:xfrm>
          <a:prstGeom prst="roundRect">
            <a:avLst>
              <a:gd name="adj" fmla="val 900878"/>
            </a:avLst>
          </a:prstGeom>
          <a:solidFill>
            <a:srgbClr val="28C840"/>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5" name="Text 18"/>
          <p:cNvSpPr/>
          <p:nvPr/>
        </p:nvSpPr>
        <p:spPr>
          <a:xfrm>
            <a:off x="5079950" y="1587401"/>
            <a:ext cx="2590699" cy="11430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GitHub Copilot app</a:t>
            </a:r>
            <a:endParaRPr lang="en-US" sz="1000" dirty="0">
              <a:latin typeface="Calibri" panose="020F0502020204030204" pitchFamily="34" charset="0"/>
              <a:cs typeface="Calibri" panose="020F0502020204030204" pitchFamily="34" charset="0"/>
            </a:endParaRPr>
          </a:p>
        </p:txBody>
      </p:sp>
      <p:sp>
        <p:nvSpPr>
          <p:cNvPr id="26" name="Text 19"/>
          <p:cNvSpPr/>
          <p:nvPr/>
        </p:nvSpPr>
        <p:spPr>
          <a:xfrm>
            <a:off x="4394150" y="1854101"/>
            <a:ext cx="1625501" cy="2565350"/>
          </a:xfrm>
          <a:prstGeom prst="roundRect">
            <a:avLst>
              <a:gd name="adj" fmla="val 4688"/>
            </a:avLst>
          </a:prstGeom>
          <a:solidFill>
            <a:srgbClr val="F6F8FA"/>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7" name="Text 20"/>
          <p:cNvSpPr/>
          <p:nvPr/>
        </p:nvSpPr>
        <p:spPr>
          <a:xfrm>
            <a:off x="4470350" y="1930301"/>
            <a:ext cx="1498550" cy="355550"/>
          </a:xfrm>
          <a:prstGeom prst="roundRect">
            <a:avLst>
              <a:gd name="adj" fmla="val 17860"/>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8" name="Text 21"/>
          <p:cNvSpPr/>
          <p:nvPr/>
        </p:nvSpPr>
        <p:spPr>
          <a:xfrm>
            <a:off x="4572000" y="2070050"/>
            <a:ext cx="88850" cy="88850"/>
          </a:xfrm>
          <a:prstGeom prst="roundRect">
            <a:avLst>
              <a:gd name="adj" fmla="val 1029150"/>
            </a:avLst>
          </a:prstGeom>
          <a:solidFill>
            <a:srgbClr val="1A7F37"/>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9" name="Text 22"/>
          <p:cNvSpPr/>
          <p:nvPr/>
        </p:nvSpPr>
        <p:spPr>
          <a:xfrm>
            <a:off x="4737050" y="1981200"/>
            <a:ext cx="1230529" cy="114300"/>
          </a:xfrm>
          <a:prstGeom prst="rect">
            <a:avLst/>
          </a:prstGeom>
          <a:noFill/>
          <a:ln/>
        </p:spPr>
        <p:txBody>
          <a:bodyPr wrap="square" lIns="0" tIns="0" rIns="0" bIns="0" rtlCol="0" anchor="t"/>
          <a:lstStyle/>
          <a:p>
            <a:pPr marL="0" indent="0" algn="l">
              <a:buNone/>
            </a:pPr>
            <a:r>
              <a:rPr lang="en-US" sz="1000" b="1" dirty="0">
                <a:solidFill>
                  <a:srgbClr val="1F2328"/>
                </a:solidFill>
                <a:latin typeface="Calibri" panose="020F0502020204030204" pitchFamily="34" charset="0"/>
                <a:ea typeface="Arial" pitchFamily="34" charset="-122"/>
                <a:cs typeface="Calibri" panose="020F0502020204030204" pitchFamily="34" charset="0"/>
              </a:rPr>
              <a:t>Housing website</a:t>
            </a:r>
            <a:endParaRPr lang="en-US" sz="1000" dirty="0">
              <a:latin typeface="Calibri" panose="020F0502020204030204" pitchFamily="34" charset="0"/>
              <a:cs typeface="Calibri" panose="020F0502020204030204" pitchFamily="34" charset="0"/>
            </a:endParaRPr>
          </a:p>
        </p:txBody>
      </p:sp>
      <p:sp>
        <p:nvSpPr>
          <p:cNvPr id="30" name="Text 23"/>
          <p:cNvSpPr/>
          <p:nvPr/>
        </p:nvSpPr>
        <p:spPr>
          <a:xfrm>
            <a:off x="4737050" y="2120801"/>
            <a:ext cx="1230529" cy="104775"/>
          </a:xfrm>
          <a:prstGeom prst="rect">
            <a:avLst/>
          </a:prstGeom>
          <a:noFill/>
          <a:ln/>
        </p:spPr>
        <p:txBody>
          <a:bodyPr wrap="square" lIns="0" tIns="0" rIns="0" bIns="0" rtlCol="0" anchor="t"/>
          <a:lstStyle/>
          <a:p>
            <a:pPr marL="0" indent="0" algn="l">
              <a:buNone/>
            </a:pPr>
            <a:r>
              <a:rPr lang="en-US" sz="900" dirty="0">
                <a:solidFill>
                  <a:srgbClr val="59636E"/>
                </a:solidFill>
                <a:latin typeface="Calibri" panose="020F0502020204030204" pitchFamily="34" charset="0"/>
                <a:ea typeface="Arial" pitchFamily="34" charset="-122"/>
                <a:cs typeface="Calibri" panose="020F0502020204030204" pitchFamily="34" charset="0"/>
              </a:rPr>
              <a:t>Running</a:t>
            </a:r>
            <a:endParaRPr lang="en-US" sz="900" dirty="0">
              <a:latin typeface="Calibri" panose="020F0502020204030204" pitchFamily="34" charset="0"/>
              <a:cs typeface="Calibri" panose="020F0502020204030204" pitchFamily="34" charset="0"/>
            </a:endParaRPr>
          </a:p>
        </p:txBody>
      </p:sp>
      <p:sp>
        <p:nvSpPr>
          <p:cNvPr id="31" name="Text 24"/>
          <p:cNvSpPr/>
          <p:nvPr/>
        </p:nvSpPr>
        <p:spPr>
          <a:xfrm>
            <a:off x="4470350" y="2362200"/>
            <a:ext cx="1498550" cy="355550"/>
          </a:xfrm>
          <a:prstGeom prst="roundRect">
            <a:avLst>
              <a:gd name="adj" fmla="val 17860"/>
            </a:avLst>
          </a:prstGeom>
          <a:solidFill>
            <a:srgbClr val="FFF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32" name="Text 25"/>
          <p:cNvSpPr/>
          <p:nvPr/>
        </p:nvSpPr>
        <p:spPr>
          <a:xfrm>
            <a:off x="4572000" y="2501801"/>
            <a:ext cx="88850" cy="88850"/>
          </a:xfrm>
          <a:prstGeom prst="roundRect">
            <a:avLst>
              <a:gd name="adj" fmla="val 1029150"/>
            </a:avLst>
          </a:prstGeom>
          <a:solidFill>
            <a:srgbClr val="1A7F37"/>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33" name="Text 26"/>
          <p:cNvSpPr/>
          <p:nvPr/>
        </p:nvSpPr>
        <p:spPr>
          <a:xfrm>
            <a:off x="4737050" y="2412950"/>
            <a:ext cx="1230529" cy="114300"/>
          </a:xfrm>
          <a:prstGeom prst="rect">
            <a:avLst/>
          </a:prstGeom>
          <a:noFill/>
          <a:ln/>
        </p:spPr>
        <p:txBody>
          <a:bodyPr wrap="square" lIns="0" tIns="0" rIns="0" bIns="0" rtlCol="0" anchor="t"/>
          <a:lstStyle/>
          <a:p>
            <a:pPr marL="0" indent="0" algn="l">
              <a:buNone/>
            </a:pPr>
            <a:r>
              <a:rPr lang="en-US" sz="1000" b="1" dirty="0">
                <a:solidFill>
                  <a:srgbClr val="1F2328"/>
                </a:solidFill>
                <a:latin typeface="Calibri" panose="020F0502020204030204" pitchFamily="34" charset="0"/>
                <a:ea typeface="Arial" pitchFamily="34" charset="-122"/>
                <a:cs typeface="Calibri" panose="020F0502020204030204" pitchFamily="34" charset="0"/>
              </a:rPr>
              <a:t>Excel analysis</a:t>
            </a:r>
            <a:endParaRPr lang="en-US" sz="1000" dirty="0">
              <a:latin typeface="Calibri" panose="020F0502020204030204" pitchFamily="34" charset="0"/>
              <a:cs typeface="Calibri" panose="020F0502020204030204" pitchFamily="34" charset="0"/>
            </a:endParaRPr>
          </a:p>
        </p:txBody>
      </p:sp>
      <p:sp>
        <p:nvSpPr>
          <p:cNvPr id="34" name="Text 27"/>
          <p:cNvSpPr/>
          <p:nvPr/>
        </p:nvSpPr>
        <p:spPr>
          <a:xfrm>
            <a:off x="4737050" y="2552700"/>
            <a:ext cx="1230529" cy="104775"/>
          </a:xfrm>
          <a:prstGeom prst="rect">
            <a:avLst/>
          </a:prstGeom>
          <a:noFill/>
          <a:ln/>
        </p:spPr>
        <p:txBody>
          <a:bodyPr wrap="square" lIns="0" tIns="0" rIns="0" bIns="0" rtlCol="0" anchor="t"/>
          <a:lstStyle/>
          <a:p>
            <a:pPr marL="0" indent="0" algn="l">
              <a:buNone/>
            </a:pPr>
            <a:r>
              <a:rPr lang="en-US" sz="900" dirty="0">
                <a:solidFill>
                  <a:srgbClr val="59636E"/>
                </a:solidFill>
                <a:latin typeface="Calibri" panose="020F0502020204030204" pitchFamily="34" charset="0"/>
                <a:ea typeface="Arial" pitchFamily="34" charset="-122"/>
                <a:cs typeface="Calibri" panose="020F0502020204030204" pitchFamily="34" charset="0"/>
              </a:rPr>
              <a:t>Running</a:t>
            </a:r>
            <a:endParaRPr lang="en-US" sz="900" dirty="0">
              <a:latin typeface="Calibri" panose="020F0502020204030204" pitchFamily="34" charset="0"/>
              <a:cs typeface="Calibri" panose="020F0502020204030204" pitchFamily="34" charset="0"/>
            </a:endParaRPr>
          </a:p>
        </p:txBody>
      </p:sp>
      <p:sp>
        <p:nvSpPr>
          <p:cNvPr id="35" name="Text 28"/>
          <p:cNvSpPr/>
          <p:nvPr/>
        </p:nvSpPr>
        <p:spPr>
          <a:xfrm>
            <a:off x="4470350" y="2793950"/>
            <a:ext cx="1498550" cy="355550"/>
          </a:xfrm>
          <a:prstGeom prst="roundRect">
            <a:avLst>
              <a:gd name="adj" fmla="val 17860"/>
            </a:avLst>
          </a:prstGeom>
          <a:solidFill>
            <a:srgbClr val="FFF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36" name="Text 29"/>
          <p:cNvSpPr/>
          <p:nvPr/>
        </p:nvSpPr>
        <p:spPr>
          <a:xfrm>
            <a:off x="4572000" y="2933700"/>
            <a:ext cx="88850" cy="88850"/>
          </a:xfrm>
          <a:prstGeom prst="roundRect">
            <a:avLst>
              <a:gd name="adj" fmla="val 1029150"/>
            </a:avLst>
          </a:prstGeom>
          <a:solidFill>
            <a:srgbClr val="1A7F37"/>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37" name="Text 30"/>
          <p:cNvSpPr/>
          <p:nvPr/>
        </p:nvSpPr>
        <p:spPr>
          <a:xfrm>
            <a:off x="4737050" y="2844701"/>
            <a:ext cx="1230529" cy="114300"/>
          </a:xfrm>
          <a:prstGeom prst="rect">
            <a:avLst/>
          </a:prstGeom>
          <a:noFill/>
          <a:ln/>
        </p:spPr>
        <p:txBody>
          <a:bodyPr wrap="square" lIns="0" tIns="0" rIns="0" bIns="0" rtlCol="0" anchor="t"/>
          <a:lstStyle/>
          <a:p>
            <a:pPr marL="0" indent="0" algn="l">
              <a:buNone/>
            </a:pPr>
            <a:r>
              <a:rPr lang="en-US" sz="1000" b="1" dirty="0">
                <a:solidFill>
                  <a:srgbClr val="1F2328"/>
                </a:solidFill>
                <a:latin typeface="Calibri" panose="020F0502020204030204" pitchFamily="34" charset="0"/>
                <a:ea typeface="Arial" pitchFamily="34" charset="-122"/>
                <a:cs typeface="Calibri" panose="020F0502020204030204" pitchFamily="34" charset="0"/>
              </a:rPr>
              <a:t>PowerPoint briefing</a:t>
            </a:r>
            <a:endParaRPr lang="en-US" sz="1000" dirty="0">
              <a:latin typeface="Calibri" panose="020F0502020204030204" pitchFamily="34" charset="0"/>
              <a:cs typeface="Calibri" panose="020F0502020204030204" pitchFamily="34" charset="0"/>
            </a:endParaRPr>
          </a:p>
        </p:txBody>
      </p:sp>
      <p:sp>
        <p:nvSpPr>
          <p:cNvPr id="38" name="Text 31"/>
          <p:cNvSpPr/>
          <p:nvPr/>
        </p:nvSpPr>
        <p:spPr>
          <a:xfrm>
            <a:off x="4737050" y="2984450"/>
            <a:ext cx="1230529" cy="104775"/>
          </a:xfrm>
          <a:prstGeom prst="rect">
            <a:avLst/>
          </a:prstGeom>
          <a:noFill/>
          <a:ln/>
        </p:spPr>
        <p:txBody>
          <a:bodyPr wrap="square" lIns="0" tIns="0" rIns="0" bIns="0" rtlCol="0" anchor="t"/>
          <a:lstStyle/>
          <a:p>
            <a:pPr marL="0" indent="0" algn="l">
              <a:buNone/>
            </a:pPr>
            <a:r>
              <a:rPr lang="en-US" sz="900" dirty="0">
                <a:solidFill>
                  <a:srgbClr val="59636E"/>
                </a:solidFill>
                <a:latin typeface="Calibri" panose="020F0502020204030204" pitchFamily="34" charset="0"/>
                <a:ea typeface="Arial" pitchFamily="34" charset="-122"/>
                <a:cs typeface="Calibri" panose="020F0502020204030204" pitchFamily="34" charset="0"/>
              </a:rPr>
              <a:t>Running</a:t>
            </a:r>
            <a:endParaRPr lang="en-US" sz="900" dirty="0">
              <a:latin typeface="Calibri" panose="020F0502020204030204" pitchFamily="34" charset="0"/>
              <a:cs typeface="Calibri" panose="020F0502020204030204" pitchFamily="34" charset="0"/>
            </a:endParaRPr>
          </a:p>
        </p:txBody>
      </p:sp>
      <p:sp>
        <p:nvSpPr>
          <p:cNvPr id="39" name="Text 32"/>
          <p:cNvSpPr/>
          <p:nvPr/>
        </p:nvSpPr>
        <p:spPr>
          <a:xfrm>
            <a:off x="4470350" y="3225701"/>
            <a:ext cx="1498550" cy="355550"/>
          </a:xfrm>
          <a:prstGeom prst="roundRect">
            <a:avLst>
              <a:gd name="adj" fmla="val 17860"/>
            </a:avLst>
          </a:prstGeom>
          <a:solidFill>
            <a:srgbClr val="FFF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40" name="Text 33"/>
          <p:cNvSpPr/>
          <p:nvPr/>
        </p:nvSpPr>
        <p:spPr>
          <a:xfrm>
            <a:off x="4572000" y="3365450"/>
            <a:ext cx="88850" cy="88850"/>
          </a:xfrm>
          <a:prstGeom prst="roundRect">
            <a:avLst>
              <a:gd name="adj" fmla="val 1029150"/>
            </a:avLst>
          </a:prstGeom>
          <a:solidFill>
            <a:srgbClr val="0969DA"/>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41" name="Text 34"/>
          <p:cNvSpPr/>
          <p:nvPr/>
        </p:nvSpPr>
        <p:spPr>
          <a:xfrm>
            <a:off x="4737050" y="3276600"/>
            <a:ext cx="1230529" cy="114300"/>
          </a:xfrm>
          <a:prstGeom prst="rect">
            <a:avLst/>
          </a:prstGeom>
          <a:noFill/>
          <a:ln/>
        </p:spPr>
        <p:txBody>
          <a:bodyPr wrap="square" lIns="0" tIns="0" rIns="0" bIns="0" rtlCol="0" anchor="t"/>
          <a:lstStyle/>
          <a:p>
            <a:pPr marL="0" indent="0" algn="l">
              <a:buNone/>
            </a:pPr>
            <a:r>
              <a:rPr lang="en-US" sz="1000" b="1" dirty="0">
                <a:solidFill>
                  <a:srgbClr val="1F2328"/>
                </a:solidFill>
                <a:latin typeface="Calibri" panose="020F0502020204030204" pitchFamily="34" charset="0"/>
                <a:ea typeface="Arial" pitchFamily="34" charset="-122"/>
                <a:cs typeface="Calibri" panose="020F0502020204030204" pitchFamily="34" charset="0"/>
              </a:rPr>
              <a:t>WorkIQ session brief</a:t>
            </a:r>
            <a:endParaRPr lang="en-US" sz="1000" dirty="0">
              <a:latin typeface="Calibri" panose="020F0502020204030204" pitchFamily="34" charset="0"/>
              <a:cs typeface="Calibri" panose="020F0502020204030204" pitchFamily="34" charset="0"/>
            </a:endParaRPr>
          </a:p>
        </p:txBody>
      </p:sp>
      <p:sp>
        <p:nvSpPr>
          <p:cNvPr id="42" name="Text 35"/>
          <p:cNvSpPr/>
          <p:nvPr/>
        </p:nvSpPr>
        <p:spPr>
          <a:xfrm>
            <a:off x="4737050" y="3416201"/>
            <a:ext cx="1230529" cy="104775"/>
          </a:xfrm>
          <a:prstGeom prst="rect">
            <a:avLst/>
          </a:prstGeom>
          <a:noFill/>
          <a:ln/>
        </p:spPr>
        <p:txBody>
          <a:bodyPr wrap="square" lIns="0" tIns="0" rIns="0" bIns="0" rtlCol="0" anchor="t"/>
          <a:lstStyle/>
          <a:p>
            <a:pPr marL="0" indent="0" algn="l">
              <a:buNone/>
            </a:pPr>
            <a:r>
              <a:rPr lang="en-US" sz="900" dirty="0">
                <a:solidFill>
                  <a:srgbClr val="59636E"/>
                </a:solidFill>
                <a:latin typeface="Calibri" panose="020F0502020204030204" pitchFamily="34" charset="0"/>
                <a:ea typeface="Arial" pitchFamily="34" charset="-122"/>
                <a:cs typeface="Calibri" panose="020F0502020204030204" pitchFamily="34" charset="0"/>
              </a:rPr>
              <a:t>Done</a:t>
            </a:r>
            <a:endParaRPr lang="en-US" sz="900" dirty="0">
              <a:latin typeface="Calibri" panose="020F0502020204030204" pitchFamily="34" charset="0"/>
              <a:cs typeface="Calibri" panose="020F0502020204030204" pitchFamily="34" charset="0"/>
            </a:endParaRPr>
          </a:p>
        </p:txBody>
      </p:sp>
      <p:sp>
        <p:nvSpPr>
          <p:cNvPr id="43" name="Text 36"/>
          <p:cNvSpPr/>
          <p:nvPr/>
        </p:nvSpPr>
        <p:spPr>
          <a:xfrm>
            <a:off x="6121301" y="1955750"/>
            <a:ext cx="2461209" cy="142875"/>
          </a:xfrm>
          <a:prstGeom prst="rect">
            <a:avLst/>
          </a:prstGeom>
          <a:noFill/>
          <a:ln/>
        </p:spPr>
        <p:txBody>
          <a:bodyPr wrap="square" lIns="0" tIns="0" rIns="0" bIns="0" rtlCol="0" anchor="t"/>
          <a:lstStyle/>
          <a:p>
            <a:pPr marL="0" indent="0" algn="l">
              <a:buNone/>
            </a:pPr>
            <a:r>
              <a:rPr lang="en-US" sz="1100" b="1" dirty="0">
                <a:solidFill>
                  <a:srgbClr val="1F2328"/>
                </a:solidFill>
                <a:latin typeface="Calibri" panose="020F0502020204030204" pitchFamily="34" charset="0"/>
                <a:ea typeface="Arial" pitchFamily="34" charset="-122"/>
                <a:cs typeface="Calibri" panose="020F0502020204030204" pitchFamily="34" charset="0"/>
              </a:rPr>
              <a:t>Housing website</a:t>
            </a:r>
            <a:endParaRPr lang="en-US" sz="1100" dirty="0">
              <a:latin typeface="Calibri" panose="020F0502020204030204" pitchFamily="34" charset="0"/>
              <a:cs typeface="Calibri" panose="020F0502020204030204" pitchFamily="34" charset="0"/>
            </a:endParaRPr>
          </a:p>
        </p:txBody>
      </p:sp>
      <p:sp>
        <p:nvSpPr>
          <p:cNvPr id="44" name="Text 37"/>
          <p:cNvSpPr/>
          <p:nvPr/>
        </p:nvSpPr>
        <p:spPr>
          <a:xfrm>
            <a:off x="6121301" y="2184350"/>
            <a:ext cx="2362200" cy="812750"/>
          </a:xfrm>
          <a:prstGeom prst="roundRect">
            <a:avLst>
              <a:gd name="adj" fmla="val 9376"/>
            </a:avLst>
          </a:prstGeom>
          <a:solidFill>
            <a:srgbClr val="F1F8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45" name="Text 38"/>
          <p:cNvSpPr/>
          <p:nvPr/>
        </p:nvSpPr>
        <p:spPr>
          <a:xfrm>
            <a:off x="6222950" y="2260550"/>
            <a:ext cx="2228037" cy="264021"/>
          </a:xfrm>
          <a:prstGeom prst="rect">
            <a:avLst/>
          </a:prstGeom>
          <a:noFill/>
          <a:ln/>
        </p:spPr>
        <p:txBody>
          <a:bodyPr wrap="square" lIns="0" tIns="0" rIns="0" bIns="0" rtlCol="0" anchor="t"/>
          <a:lstStyle/>
          <a:p>
            <a:pPr marL="0" indent="0" algn="l">
              <a:lnSpc>
                <a:spcPts val="1040"/>
              </a:lnSpc>
              <a:buNone/>
            </a:pPr>
            <a:r>
              <a:rPr lang="en-US" sz="1000" dirty="0">
                <a:solidFill>
                  <a:srgbClr val="1F2328"/>
                </a:solidFill>
                <a:latin typeface="Calibri" panose="020F0502020204030204" pitchFamily="34" charset="0"/>
                <a:ea typeface="Arial" pitchFamily="34" charset="-122"/>
                <a:cs typeface="Calibri" panose="020F0502020204030204" pitchFamily="34" charset="0"/>
              </a:rPr>
              <a:t>Plan approved. Tests pass. Build done. Deploying to Azure Static Web Apps.</a:t>
            </a:r>
            <a:endParaRPr lang="en-US" sz="1000" dirty="0">
              <a:latin typeface="Calibri" panose="020F0502020204030204" pitchFamily="34" charset="0"/>
              <a:cs typeface="Calibri" panose="020F0502020204030204" pitchFamily="34" charset="0"/>
            </a:endParaRPr>
          </a:p>
        </p:txBody>
      </p:sp>
      <p:pic>
        <p:nvPicPr>
          <p:cNvPr id="58" name="Image 0" descr="/Users/danwahlin/.copilot/session-state/e7427b9a-9d65-4aa2-953c-14cedea46cbc/files/talkdeck/assets/corner.png">
            <a:extLst>
              <a:ext uri="{FF2B5EF4-FFF2-40B4-BE49-F238E27FC236}">
                <a16:creationId xmlns:a16="http://schemas.microsoft.com/office/drawing/2014/main" id="{242F554B-BA5D-D8CE-8A04-A293967AAB55}"/>
              </a:ext>
            </a:extLst>
          </p:cNvPr>
          <p:cNvPicPr>
            <a:picLocks noChangeAspect="1"/>
          </p:cNvPicPr>
          <p:nvPr/>
        </p:nvPicPr>
        <p:blipFill>
          <a:blip r:embed="rId6"/>
          <a:stretch>
            <a:fillRect/>
          </a:stretch>
        </p:blipFill>
        <p:spPr>
          <a:xfrm>
            <a:off x="5393683" y="-1"/>
            <a:ext cx="3750168" cy="1755725"/>
          </a:xfrm>
          <a:prstGeom prst="rect">
            <a:avLst/>
          </a:prstGeom>
        </p:spPr>
      </p:pic>
      <p:pic>
        <p:nvPicPr>
          <p:cNvPr id="59" name="Image 1" descr="/Users/danwahlin/.copilot/session-state/e7427b9a-9d65-4aa2-953c-14cedea46cbc/files/talkdeck/assets/mark-dark.png">
            <a:extLst>
              <a:ext uri="{FF2B5EF4-FFF2-40B4-BE49-F238E27FC236}">
                <a16:creationId xmlns:a16="http://schemas.microsoft.com/office/drawing/2014/main" id="{6B2EE542-5332-BBAD-7056-B5B4A5667902}"/>
              </a:ext>
            </a:extLst>
          </p:cNvPr>
          <p:cNvPicPr>
            <a:picLocks noChangeAspect="1"/>
          </p:cNvPicPr>
          <p:nvPr/>
        </p:nvPicPr>
        <p:blipFill>
          <a:blip r:embed="rId7"/>
          <a:stretch>
            <a:fillRect/>
          </a:stretch>
        </p:blipFill>
        <p:spPr>
          <a:xfrm>
            <a:off x="8610600" y="165050"/>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20"/>
                                        </p:tgtEl>
                                        <p:attrNameLst>
                                          <p:attrName>style.visibility</p:attrName>
                                        </p:attrNameLst>
                                      </p:cBhvr>
                                      <p:to>
                                        <p:strVal val="visible"/>
                                      </p:to>
                                    </p:set>
                                    <p:anim calcmode="lin" valueType="num">
                                      <p:cBhvr additive="base">
                                        <p:cTn id="49" dur="500" fill="hold"/>
                                        <p:tgtEl>
                                          <p:spTgt spid="20"/>
                                        </p:tgtEl>
                                        <p:attrNameLst>
                                          <p:attrName>ppt_x</p:attrName>
                                        </p:attrNameLst>
                                      </p:cBhvr>
                                      <p:tavLst>
                                        <p:tav tm="0">
                                          <p:val>
                                            <p:strVal val="1+#ppt_w/2"/>
                                          </p:val>
                                        </p:tav>
                                        <p:tav tm="100000">
                                          <p:val>
                                            <p:strVal val="#ppt_x"/>
                                          </p:val>
                                        </p:tav>
                                      </p:tavLst>
                                    </p:anim>
                                    <p:anim calcmode="lin" valueType="num">
                                      <p:cBhvr additive="base">
                                        <p:cTn id="50" dur="500" fill="hold"/>
                                        <p:tgtEl>
                                          <p:spTgt spid="20"/>
                                        </p:tgtEl>
                                        <p:attrNameLst>
                                          <p:attrName>ppt_y</p:attrName>
                                        </p:attrNameLst>
                                      </p:cBhvr>
                                      <p:tavLst>
                                        <p:tav tm="0">
                                          <p:val>
                                            <p:strVal val="#ppt_y"/>
                                          </p:val>
                                        </p:tav>
                                        <p:tav tm="100000">
                                          <p:val>
                                            <p:strVal val="#ppt_y"/>
                                          </p:val>
                                        </p:tav>
                                      </p:tavLst>
                                    </p:anim>
                                  </p:childTnLst>
                                </p:cTn>
                              </p:par>
                              <p:par>
                                <p:cTn id="51" presetID="2" presetClass="entr" presetSubtype="2"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 calcmode="lin" valueType="num">
                                      <p:cBhvr additive="base">
                                        <p:cTn id="53" dur="500" fill="hold"/>
                                        <p:tgtEl>
                                          <p:spTgt spid="21"/>
                                        </p:tgtEl>
                                        <p:attrNameLst>
                                          <p:attrName>ppt_x</p:attrName>
                                        </p:attrNameLst>
                                      </p:cBhvr>
                                      <p:tavLst>
                                        <p:tav tm="0">
                                          <p:val>
                                            <p:strVal val="1+#ppt_w/2"/>
                                          </p:val>
                                        </p:tav>
                                        <p:tav tm="100000">
                                          <p:val>
                                            <p:strVal val="#ppt_x"/>
                                          </p:val>
                                        </p:tav>
                                      </p:tavLst>
                                    </p:anim>
                                    <p:anim calcmode="lin" valueType="num">
                                      <p:cBhvr additive="base">
                                        <p:cTn id="54" dur="500" fill="hold"/>
                                        <p:tgtEl>
                                          <p:spTgt spid="21"/>
                                        </p:tgtEl>
                                        <p:attrNameLst>
                                          <p:attrName>ppt_y</p:attrName>
                                        </p:attrNameLst>
                                      </p:cBhvr>
                                      <p:tavLst>
                                        <p:tav tm="0">
                                          <p:val>
                                            <p:strVal val="#ppt_y"/>
                                          </p:val>
                                        </p:tav>
                                        <p:tav tm="100000">
                                          <p:val>
                                            <p:strVal val="#ppt_y"/>
                                          </p:val>
                                        </p:tav>
                                      </p:tavLst>
                                    </p:anim>
                                  </p:childTnLst>
                                </p:cTn>
                              </p:par>
                              <p:par>
                                <p:cTn id="55" presetID="2" presetClass="entr" presetSubtype="2" fill="hold" grpId="0" nodeType="withEffect">
                                  <p:stCondLst>
                                    <p:cond delay="0"/>
                                  </p:stCondLst>
                                  <p:childTnLst>
                                    <p:set>
                                      <p:cBhvr>
                                        <p:cTn id="56" dur="1" fill="hold">
                                          <p:stCondLst>
                                            <p:cond delay="0"/>
                                          </p:stCondLst>
                                        </p:cTn>
                                        <p:tgtEl>
                                          <p:spTgt spid="22"/>
                                        </p:tgtEl>
                                        <p:attrNameLst>
                                          <p:attrName>style.visibility</p:attrName>
                                        </p:attrNameLst>
                                      </p:cBhvr>
                                      <p:to>
                                        <p:strVal val="visible"/>
                                      </p:to>
                                    </p:set>
                                    <p:anim calcmode="lin" valueType="num">
                                      <p:cBhvr additive="base">
                                        <p:cTn id="57" dur="500" fill="hold"/>
                                        <p:tgtEl>
                                          <p:spTgt spid="22"/>
                                        </p:tgtEl>
                                        <p:attrNameLst>
                                          <p:attrName>ppt_x</p:attrName>
                                        </p:attrNameLst>
                                      </p:cBhvr>
                                      <p:tavLst>
                                        <p:tav tm="0">
                                          <p:val>
                                            <p:strVal val="1+#ppt_w/2"/>
                                          </p:val>
                                        </p:tav>
                                        <p:tav tm="100000">
                                          <p:val>
                                            <p:strVal val="#ppt_x"/>
                                          </p:val>
                                        </p:tav>
                                      </p:tavLst>
                                    </p:anim>
                                    <p:anim calcmode="lin" valueType="num">
                                      <p:cBhvr additive="base">
                                        <p:cTn id="58" dur="500" fill="hold"/>
                                        <p:tgtEl>
                                          <p:spTgt spid="22"/>
                                        </p:tgtEl>
                                        <p:attrNameLst>
                                          <p:attrName>ppt_y</p:attrName>
                                        </p:attrNameLst>
                                      </p:cBhvr>
                                      <p:tavLst>
                                        <p:tav tm="0">
                                          <p:val>
                                            <p:strVal val="#ppt_y"/>
                                          </p:val>
                                        </p:tav>
                                        <p:tav tm="100000">
                                          <p:val>
                                            <p:strVal val="#ppt_y"/>
                                          </p:val>
                                        </p:tav>
                                      </p:tavLst>
                                    </p:anim>
                                  </p:childTnLst>
                                </p:cTn>
                              </p:par>
                              <p:par>
                                <p:cTn id="59" presetID="2" presetClass="entr" presetSubtype="2"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 calcmode="lin" valueType="num">
                                      <p:cBhvr additive="base">
                                        <p:cTn id="61" dur="500" fill="hold"/>
                                        <p:tgtEl>
                                          <p:spTgt spid="23"/>
                                        </p:tgtEl>
                                        <p:attrNameLst>
                                          <p:attrName>ppt_x</p:attrName>
                                        </p:attrNameLst>
                                      </p:cBhvr>
                                      <p:tavLst>
                                        <p:tav tm="0">
                                          <p:val>
                                            <p:strVal val="1+#ppt_w/2"/>
                                          </p:val>
                                        </p:tav>
                                        <p:tav tm="100000">
                                          <p:val>
                                            <p:strVal val="#ppt_x"/>
                                          </p:val>
                                        </p:tav>
                                      </p:tavLst>
                                    </p:anim>
                                    <p:anim calcmode="lin" valueType="num">
                                      <p:cBhvr additive="base">
                                        <p:cTn id="62" dur="500" fill="hold"/>
                                        <p:tgtEl>
                                          <p:spTgt spid="23"/>
                                        </p:tgtEl>
                                        <p:attrNameLst>
                                          <p:attrName>ppt_y</p:attrName>
                                        </p:attrNameLst>
                                      </p:cBhvr>
                                      <p:tavLst>
                                        <p:tav tm="0">
                                          <p:val>
                                            <p:strVal val="#ppt_y"/>
                                          </p:val>
                                        </p:tav>
                                        <p:tav tm="100000">
                                          <p:val>
                                            <p:strVal val="#ppt_y"/>
                                          </p:val>
                                        </p:tav>
                                      </p:tavLst>
                                    </p:anim>
                                  </p:childTnLst>
                                </p:cTn>
                              </p:par>
                              <p:par>
                                <p:cTn id="63" presetID="2" presetClass="entr" presetSubtype="2" fill="hold" grpId="0" nodeType="withEffect">
                                  <p:stCondLst>
                                    <p:cond delay="0"/>
                                  </p:stCondLst>
                                  <p:childTnLst>
                                    <p:set>
                                      <p:cBhvr>
                                        <p:cTn id="64" dur="1" fill="hold">
                                          <p:stCondLst>
                                            <p:cond delay="0"/>
                                          </p:stCondLst>
                                        </p:cTn>
                                        <p:tgtEl>
                                          <p:spTgt spid="24"/>
                                        </p:tgtEl>
                                        <p:attrNameLst>
                                          <p:attrName>style.visibility</p:attrName>
                                        </p:attrNameLst>
                                      </p:cBhvr>
                                      <p:to>
                                        <p:strVal val="visible"/>
                                      </p:to>
                                    </p:set>
                                    <p:anim calcmode="lin" valueType="num">
                                      <p:cBhvr additive="base">
                                        <p:cTn id="65" dur="500" fill="hold"/>
                                        <p:tgtEl>
                                          <p:spTgt spid="24"/>
                                        </p:tgtEl>
                                        <p:attrNameLst>
                                          <p:attrName>ppt_x</p:attrName>
                                        </p:attrNameLst>
                                      </p:cBhvr>
                                      <p:tavLst>
                                        <p:tav tm="0">
                                          <p:val>
                                            <p:strVal val="1+#ppt_w/2"/>
                                          </p:val>
                                        </p:tav>
                                        <p:tav tm="100000">
                                          <p:val>
                                            <p:strVal val="#ppt_x"/>
                                          </p:val>
                                        </p:tav>
                                      </p:tavLst>
                                    </p:anim>
                                    <p:anim calcmode="lin" valueType="num">
                                      <p:cBhvr additive="base">
                                        <p:cTn id="66" dur="500" fill="hold"/>
                                        <p:tgtEl>
                                          <p:spTgt spid="24"/>
                                        </p:tgtEl>
                                        <p:attrNameLst>
                                          <p:attrName>ppt_y</p:attrName>
                                        </p:attrNameLst>
                                      </p:cBhvr>
                                      <p:tavLst>
                                        <p:tav tm="0">
                                          <p:val>
                                            <p:strVal val="#ppt_y"/>
                                          </p:val>
                                        </p:tav>
                                        <p:tav tm="100000">
                                          <p:val>
                                            <p:strVal val="#ppt_y"/>
                                          </p:val>
                                        </p:tav>
                                      </p:tavLst>
                                    </p:anim>
                                  </p:childTnLst>
                                </p:cTn>
                              </p:par>
                              <p:par>
                                <p:cTn id="67" presetID="2" presetClass="entr" presetSubtype="2" fill="hold" grpId="0" nodeType="withEffect">
                                  <p:stCondLst>
                                    <p:cond delay="0"/>
                                  </p:stCondLst>
                                  <p:childTnLst>
                                    <p:set>
                                      <p:cBhvr>
                                        <p:cTn id="68" dur="1" fill="hold">
                                          <p:stCondLst>
                                            <p:cond delay="0"/>
                                          </p:stCondLst>
                                        </p:cTn>
                                        <p:tgtEl>
                                          <p:spTgt spid="25"/>
                                        </p:tgtEl>
                                        <p:attrNameLst>
                                          <p:attrName>style.visibility</p:attrName>
                                        </p:attrNameLst>
                                      </p:cBhvr>
                                      <p:to>
                                        <p:strVal val="visible"/>
                                      </p:to>
                                    </p:set>
                                    <p:anim calcmode="lin" valueType="num">
                                      <p:cBhvr additive="base">
                                        <p:cTn id="69" dur="500" fill="hold"/>
                                        <p:tgtEl>
                                          <p:spTgt spid="25"/>
                                        </p:tgtEl>
                                        <p:attrNameLst>
                                          <p:attrName>ppt_x</p:attrName>
                                        </p:attrNameLst>
                                      </p:cBhvr>
                                      <p:tavLst>
                                        <p:tav tm="0">
                                          <p:val>
                                            <p:strVal val="1+#ppt_w/2"/>
                                          </p:val>
                                        </p:tav>
                                        <p:tav tm="100000">
                                          <p:val>
                                            <p:strVal val="#ppt_x"/>
                                          </p:val>
                                        </p:tav>
                                      </p:tavLst>
                                    </p:anim>
                                    <p:anim calcmode="lin" valueType="num">
                                      <p:cBhvr additive="base">
                                        <p:cTn id="70" dur="500" fill="hold"/>
                                        <p:tgtEl>
                                          <p:spTgt spid="25"/>
                                        </p:tgtEl>
                                        <p:attrNameLst>
                                          <p:attrName>ppt_y</p:attrName>
                                        </p:attrNameLst>
                                      </p:cBhvr>
                                      <p:tavLst>
                                        <p:tav tm="0">
                                          <p:val>
                                            <p:strVal val="#ppt_y"/>
                                          </p:val>
                                        </p:tav>
                                        <p:tav tm="100000">
                                          <p:val>
                                            <p:strVal val="#ppt_y"/>
                                          </p:val>
                                        </p:tav>
                                      </p:tavLst>
                                    </p:anim>
                                  </p:childTnLst>
                                </p:cTn>
                              </p:par>
                              <p:par>
                                <p:cTn id="71" presetID="2" presetClass="entr" presetSubtype="2"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 calcmode="lin" valueType="num">
                                      <p:cBhvr additive="base">
                                        <p:cTn id="73" dur="500" fill="hold"/>
                                        <p:tgtEl>
                                          <p:spTgt spid="26"/>
                                        </p:tgtEl>
                                        <p:attrNameLst>
                                          <p:attrName>ppt_x</p:attrName>
                                        </p:attrNameLst>
                                      </p:cBhvr>
                                      <p:tavLst>
                                        <p:tav tm="0">
                                          <p:val>
                                            <p:strVal val="1+#ppt_w/2"/>
                                          </p:val>
                                        </p:tav>
                                        <p:tav tm="100000">
                                          <p:val>
                                            <p:strVal val="#ppt_x"/>
                                          </p:val>
                                        </p:tav>
                                      </p:tavLst>
                                    </p:anim>
                                    <p:anim calcmode="lin" valueType="num">
                                      <p:cBhvr additive="base">
                                        <p:cTn id="74" dur="500" fill="hold"/>
                                        <p:tgtEl>
                                          <p:spTgt spid="26"/>
                                        </p:tgtEl>
                                        <p:attrNameLst>
                                          <p:attrName>ppt_y</p:attrName>
                                        </p:attrNameLst>
                                      </p:cBhvr>
                                      <p:tavLst>
                                        <p:tav tm="0">
                                          <p:val>
                                            <p:strVal val="#ppt_y"/>
                                          </p:val>
                                        </p:tav>
                                        <p:tav tm="100000">
                                          <p:val>
                                            <p:strVal val="#ppt_y"/>
                                          </p:val>
                                        </p:tav>
                                      </p:tavLst>
                                    </p:anim>
                                  </p:childTnLst>
                                </p:cTn>
                              </p:par>
                              <p:par>
                                <p:cTn id="75" presetID="2" presetClass="entr" presetSubtype="2" fill="hold" grpId="0" nodeType="withEffect">
                                  <p:stCondLst>
                                    <p:cond delay="0"/>
                                  </p:stCondLst>
                                  <p:childTnLst>
                                    <p:set>
                                      <p:cBhvr>
                                        <p:cTn id="76" dur="1" fill="hold">
                                          <p:stCondLst>
                                            <p:cond delay="0"/>
                                          </p:stCondLst>
                                        </p:cTn>
                                        <p:tgtEl>
                                          <p:spTgt spid="27"/>
                                        </p:tgtEl>
                                        <p:attrNameLst>
                                          <p:attrName>style.visibility</p:attrName>
                                        </p:attrNameLst>
                                      </p:cBhvr>
                                      <p:to>
                                        <p:strVal val="visible"/>
                                      </p:to>
                                    </p:set>
                                    <p:anim calcmode="lin" valueType="num">
                                      <p:cBhvr additive="base">
                                        <p:cTn id="77" dur="500" fill="hold"/>
                                        <p:tgtEl>
                                          <p:spTgt spid="27"/>
                                        </p:tgtEl>
                                        <p:attrNameLst>
                                          <p:attrName>ppt_x</p:attrName>
                                        </p:attrNameLst>
                                      </p:cBhvr>
                                      <p:tavLst>
                                        <p:tav tm="0">
                                          <p:val>
                                            <p:strVal val="1+#ppt_w/2"/>
                                          </p:val>
                                        </p:tav>
                                        <p:tav tm="100000">
                                          <p:val>
                                            <p:strVal val="#ppt_x"/>
                                          </p:val>
                                        </p:tav>
                                      </p:tavLst>
                                    </p:anim>
                                    <p:anim calcmode="lin" valueType="num">
                                      <p:cBhvr additive="base">
                                        <p:cTn id="78" dur="500" fill="hold"/>
                                        <p:tgtEl>
                                          <p:spTgt spid="27"/>
                                        </p:tgtEl>
                                        <p:attrNameLst>
                                          <p:attrName>ppt_y</p:attrName>
                                        </p:attrNameLst>
                                      </p:cBhvr>
                                      <p:tavLst>
                                        <p:tav tm="0">
                                          <p:val>
                                            <p:strVal val="#ppt_y"/>
                                          </p:val>
                                        </p:tav>
                                        <p:tav tm="100000">
                                          <p:val>
                                            <p:strVal val="#ppt_y"/>
                                          </p:val>
                                        </p:tav>
                                      </p:tavLst>
                                    </p:anim>
                                  </p:childTnLst>
                                </p:cTn>
                              </p:par>
                              <p:par>
                                <p:cTn id="79" presetID="2" presetClass="entr" presetSubtype="2"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 calcmode="lin" valueType="num">
                                      <p:cBhvr additive="base">
                                        <p:cTn id="81" dur="500" fill="hold"/>
                                        <p:tgtEl>
                                          <p:spTgt spid="28"/>
                                        </p:tgtEl>
                                        <p:attrNameLst>
                                          <p:attrName>ppt_x</p:attrName>
                                        </p:attrNameLst>
                                      </p:cBhvr>
                                      <p:tavLst>
                                        <p:tav tm="0">
                                          <p:val>
                                            <p:strVal val="1+#ppt_w/2"/>
                                          </p:val>
                                        </p:tav>
                                        <p:tav tm="100000">
                                          <p:val>
                                            <p:strVal val="#ppt_x"/>
                                          </p:val>
                                        </p:tav>
                                      </p:tavLst>
                                    </p:anim>
                                    <p:anim calcmode="lin" valueType="num">
                                      <p:cBhvr additive="base">
                                        <p:cTn id="82" dur="500" fill="hold"/>
                                        <p:tgtEl>
                                          <p:spTgt spid="28"/>
                                        </p:tgtEl>
                                        <p:attrNameLst>
                                          <p:attrName>ppt_y</p:attrName>
                                        </p:attrNameLst>
                                      </p:cBhvr>
                                      <p:tavLst>
                                        <p:tav tm="0">
                                          <p:val>
                                            <p:strVal val="#ppt_y"/>
                                          </p:val>
                                        </p:tav>
                                        <p:tav tm="100000">
                                          <p:val>
                                            <p:strVal val="#ppt_y"/>
                                          </p:val>
                                        </p:tav>
                                      </p:tavLst>
                                    </p:anim>
                                  </p:childTnLst>
                                </p:cTn>
                              </p:par>
                              <p:par>
                                <p:cTn id="83" presetID="2" presetClass="entr" presetSubtype="2" fill="hold" grpId="0" nodeType="withEffect">
                                  <p:stCondLst>
                                    <p:cond delay="0"/>
                                  </p:stCondLst>
                                  <p:childTnLst>
                                    <p:set>
                                      <p:cBhvr>
                                        <p:cTn id="84" dur="1" fill="hold">
                                          <p:stCondLst>
                                            <p:cond delay="0"/>
                                          </p:stCondLst>
                                        </p:cTn>
                                        <p:tgtEl>
                                          <p:spTgt spid="29"/>
                                        </p:tgtEl>
                                        <p:attrNameLst>
                                          <p:attrName>style.visibility</p:attrName>
                                        </p:attrNameLst>
                                      </p:cBhvr>
                                      <p:to>
                                        <p:strVal val="visible"/>
                                      </p:to>
                                    </p:set>
                                    <p:anim calcmode="lin" valueType="num">
                                      <p:cBhvr additive="base">
                                        <p:cTn id="85" dur="500" fill="hold"/>
                                        <p:tgtEl>
                                          <p:spTgt spid="29"/>
                                        </p:tgtEl>
                                        <p:attrNameLst>
                                          <p:attrName>ppt_x</p:attrName>
                                        </p:attrNameLst>
                                      </p:cBhvr>
                                      <p:tavLst>
                                        <p:tav tm="0">
                                          <p:val>
                                            <p:strVal val="1+#ppt_w/2"/>
                                          </p:val>
                                        </p:tav>
                                        <p:tav tm="100000">
                                          <p:val>
                                            <p:strVal val="#ppt_x"/>
                                          </p:val>
                                        </p:tav>
                                      </p:tavLst>
                                    </p:anim>
                                    <p:anim calcmode="lin" valueType="num">
                                      <p:cBhvr additive="base">
                                        <p:cTn id="86" dur="500" fill="hold"/>
                                        <p:tgtEl>
                                          <p:spTgt spid="29"/>
                                        </p:tgtEl>
                                        <p:attrNameLst>
                                          <p:attrName>ppt_y</p:attrName>
                                        </p:attrNameLst>
                                      </p:cBhvr>
                                      <p:tavLst>
                                        <p:tav tm="0">
                                          <p:val>
                                            <p:strVal val="#ppt_y"/>
                                          </p:val>
                                        </p:tav>
                                        <p:tav tm="100000">
                                          <p:val>
                                            <p:strVal val="#ppt_y"/>
                                          </p:val>
                                        </p:tav>
                                      </p:tavLst>
                                    </p:anim>
                                  </p:childTnLst>
                                </p:cTn>
                              </p:par>
                              <p:par>
                                <p:cTn id="87" presetID="2" presetClass="entr" presetSubtype="2"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 calcmode="lin" valueType="num">
                                      <p:cBhvr additive="base">
                                        <p:cTn id="89" dur="500" fill="hold"/>
                                        <p:tgtEl>
                                          <p:spTgt spid="30"/>
                                        </p:tgtEl>
                                        <p:attrNameLst>
                                          <p:attrName>ppt_x</p:attrName>
                                        </p:attrNameLst>
                                      </p:cBhvr>
                                      <p:tavLst>
                                        <p:tav tm="0">
                                          <p:val>
                                            <p:strVal val="1+#ppt_w/2"/>
                                          </p:val>
                                        </p:tav>
                                        <p:tav tm="100000">
                                          <p:val>
                                            <p:strVal val="#ppt_x"/>
                                          </p:val>
                                        </p:tav>
                                      </p:tavLst>
                                    </p:anim>
                                    <p:anim calcmode="lin" valueType="num">
                                      <p:cBhvr additive="base">
                                        <p:cTn id="90" dur="500" fill="hold"/>
                                        <p:tgtEl>
                                          <p:spTgt spid="30"/>
                                        </p:tgtEl>
                                        <p:attrNameLst>
                                          <p:attrName>ppt_y</p:attrName>
                                        </p:attrNameLst>
                                      </p:cBhvr>
                                      <p:tavLst>
                                        <p:tav tm="0">
                                          <p:val>
                                            <p:strVal val="#ppt_y"/>
                                          </p:val>
                                        </p:tav>
                                        <p:tav tm="100000">
                                          <p:val>
                                            <p:strVal val="#ppt_y"/>
                                          </p:val>
                                        </p:tav>
                                      </p:tavLst>
                                    </p:anim>
                                  </p:childTnLst>
                                </p:cTn>
                              </p:par>
                              <p:par>
                                <p:cTn id="91" presetID="2" presetClass="entr" presetSubtype="2" fill="hold" grpId="0" nodeType="withEffect">
                                  <p:stCondLst>
                                    <p:cond delay="0"/>
                                  </p:stCondLst>
                                  <p:childTnLst>
                                    <p:set>
                                      <p:cBhvr>
                                        <p:cTn id="92" dur="1" fill="hold">
                                          <p:stCondLst>
                                            <p:cond delay="0"/>
                                          </p:stCondLst>
                                        </p:cTn>
                                        <p:tgtEl>
                                          <p:spTgt spid="31"/>
                                        </p:tgtEl>
                                        <p:attrNameLst>
                                          <p:attrName>style.visibility</p:attrName>
                                        </p:attrNameLst>
                                      </p:cBhvr>
                                      <p:to>
                                        <p:strVal val="visible"/>
                                      </p:to>
                                    </p:set>
                                    <p:anim calcmode="lin" valueType="num">
                                      <p:cBhvr additive="base">
                                        <p:cTn id="93" dur="500" fill="hold"/>
                                        <p:tgtEl>
                                          <p:spTgt spid="31"/>
                                        </p:tgtEl>
                                        <p:attrNameLst>
                                          <p:attrName>ppt_x</p:attrName>
                                        </p:attrNameLst>
                                      </p:cBhvr>
                                      <p:tavLst>
                                        <p:tav tm="0">
                                          <p:val>
                                            <p:strVal val="1+#ppt_w/2"/>
                                          </p:val>
                                        </p:tav>
                                        <p:tav tm="100000">
                                          <p:val>
                                            <p:strVal val="#ppt_x"/>
                                          </p:val>
                                        </p:tav>
                                      </p:tavLst>
                                    </p:anim>
                                    <p:anim calcmode="lin" valueType="num">
                                      <p:cBhvr additive="base">
                                        <p:cTn id="94" dur="500" fill="hold"/>
                                        <p:tgtEl>
                                          <p:spTgt spid="31"/>
                                        </p:tgtEl>
                                        <p:attrNameLst>
                                          <p:attrName>ppt_y</p:attrName>
                                        </p:attrNameLst>
                                      </p:cBhvr>
                                      <p:tavLst>
                                        <p:tav tm="0">
                                          <p:val>
                                            <p:strVal val="#ppt_y"/>
                                          </p:val>
                                        </p:tav>
                                        <p:tav tm="100000">
                                          <p:val>
                                            <p:strVal val="#ppt_y"/>
                                          </p:val>
                                        </p:tav>
                                      </p:tavLst>
                                    </p:anim>
                                  </p:childTnLst>
                                </p:cTn>
                              </p:par>
                              <p:par>
                                <p:cTn id="95" presetID="2" presetClass="entr" presetSubtype="2" fill="hold" grpId="0" nodeType="withEffect">
                                  <p:stCondLst>
                                    <p:cond delay="0"/>
                                  </p:stCondLst>
                                  <p:childTnLst>
                                    <p:set>
                                      <p:cBhvr>
                                        <p:cTn id="96" dur="1" fill="hold">
                                          <p:stCondLst>
                                            <p:cond delay="0"/>
                                          </p:stCondLst>
                                        </p:cTn>
                                        <p:tgtEl>
                                          <p:spTgt spid="32"/>
                                        </p:tgtEl>
                                        <p:attrNameLst>
                                          <p:attrName>style.visibility</p:attrName>
                                        </p:attrNameLst>
                                      </p:cBhvr>
                                      <p:to>
                                        <p:strVal val="visible"/>
                                      </p:to>
                                    </p:set>
                                    <p:anim calcmode="lin" valueType="num">
                                      <p:cBhvr additive="base">
                                        <p:cTn id="97" dur="500" fill="hold"/>
                                        <p:tgtEl>
                                          <p:spTgt spid="32"/>
                                        </p:tgtEl>
                                        <p:attrNameLst>
                                          <p:attrName>ppt_x</p:attrName>
                                        </p:attrNameLst>
                                      </p:cBhvr>
                                      <p:tavLst>
                                        <p:tav tm="0">
                                          <p:val>
                                            <p:strVal val="1+#ppt_w/2"/>
                                          </p:val>
                                        </p:tav>
                                        <p:tav tm="100000">
                                          <p:val>
                                            <p:strVal val="#ppt_x"/>
                                          </p:val>
                                        </p:tav>
                                      </p:tavLst>
                                    </p:anim>
                                    <p:anim calcmode="lin" valueType="num">
                                      <p:cBhvr additive="base">
                                        <p:cTn id="98" dur="500" fill="hold"/>
                                        <p:tgtEl>
                                          <p:spTgt spid="32"/>
                                        </p:tgtEl>
                                        <p:attrNameLst>
                                          <p:attrName>ppt_y</p:attrName>
                                        </p:attrNameLst>
                                      </p:cBhvr>
                                      <p:tavLst>
                                        <p:tav tm="0">
                                          <p:val>
                                            <p:strVal val="#ppt_y"/>
                                          </p:val>
                                        </p:tav>
                                        <p:tav tm="100000">
                                          <p:val>
                                            <p:strVal val="#ppt_y"/>
                                          </p:val>
                                        </p:tav>
                                      </p:tavLst>
                                    </p:anim>
                                  </p:childTnLst>
                                </p:cTn>
                              </p:par>
                              <p:par>
                                <p:cTn id="99" presetID="2" presetClass="entr" presetSubtype="2"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 calcmode="lin" valueType="num">
                                      <p:cBhvr additive="base">
                                        <p:cTn id="101" dur="500" fill="hold"/>
                                        <p:tgtEl>
                                          <p:spTgt spid="33"/>
                                        </p:tgtEl>
                                        <p:attrNameLst>
                                          <p:attrName>ppt_x</p:attrName>
                                        </p:attrNameLst>
                                      </p:cBhvr>
                                      <p:tavLst>
                                        <p:tav tm="0">
                                          <p:val>
                                            <p:strVal val="1+#ppt_w/2"/>
                                          </p:val>
                                        </p:tav>
                                        <p:tav tm="100000">
                                          <p:val>
                                            <p:strVal val="#ppt_x"/>
                                          </p:val>
                                        </p:tav>
                                      </p:tavLst>
                                    </p:anim>
                                    <p:anim calcmode="lin" valueType="num">
                                      <p:cBhvr additive="base">
                                        <p:cTn id="102" dur="500" fill="hold"/>
                                        <p:tgtEl>
                                          <p:spTgt spid="33"/>
                                        </p:tgtEl>
                                        <p:attrNameLst>
                                          <p:attrName>ppt_y</p:attrName>
                                        </p:attrNameLst>
                                      </p:cBhvr>
                                      <p:tavLst>
                                        <p:tav tm="0">
                                          <p:val>
                                            <p:strVal val="#ppt_y"/>
                                          </p:val>
                                        </p:tav>
                                        <p:tav tm="100000">
                                          <p:val>
                                            <p:strVal val="#ppt_y"/>
                                          </p:val>
                                        </p:tav>
                                      </p:tavLst>
                                    </p:anim>
                                  </p:childTnLst>
                                </p:cTn>
                              </p:par>
                              <p:par>
                                <p:cTn id="103" presetID="2" presetClass="entr" presetSubtype="2" fill="hold" grpId="0" nodeType="withEffect">
                                  <p:stCondLst>
                                    <p:cond delay="0"/>
                                  </p:stCondLst>
                                  <p:childTnLst>
                                    <p:set>
                                      <p:cBhvr>
                                        <p:cTn id="104" dur="1" fill="hold">
                                          <p:stCondLst>
                                            <p:cond delay="0"/>
                                          </p:stCondLst>
                                        </p:cTn>
                                        <p:tgtEl>
                                          <p:spTgt spid="34"/>
                                        </p:tgtEl>
                                        <p:attrNameLst>
                                          <p:attrName>style.visibility</p:attrName>
                                        </p:attrNameLst>
                                      </p:cBhvr>
                                      <p:to>
                                        <p:strVal val="visible"/>
                                      </p:to>
                                    </p:set>
                                    <p:anim calcmode="lin" valueType="num">
                                      <p:cBhvr additive="base">
                                        <p:cTn id="105" dur="500" fill="hold"/>
                                        <p:tgtEl>
                                          <p:spTgt spid="34"/>
                                        </p:tgtEl>
                                        <p:attrNameLst>
                                          <p:attrName>ppt_x</p:attrName>
                                        </p:attrNameLst>
                                      </p:cBhvr>
                                      <p:tavLst>
                                        <p:tav tm="0">
                                          <p:val>
                                            <p:strVal val="1+#ppt_w/2"/>
                                          </p:val>
                                        </p:tav>
                                        <p:tav tm="100000">
                                          <p:val>
                                            <p:strVal val="#ppt_x"/>
                                          </p:val>
                                        </p:tav>
                                      </p:tavLst>
                                    </p:anim>
                                    <p:anim calcmode="lin" valueType="num">
                                      <p:cBhvr additive="base">
                                        <p:cTn id="106" dur="500" fill="hold"/>
                                        <p:tgtEl>
                                          <p:spTgt spid="34"/>
                                        </p:tgtEl>
                                        <p:attrNameLst>
                                          <p:attrName>ppt_y</p:attrName>
                                        </p:attrNameLst>
                                      </p:cBhvr>
                                      <p:tavLst>
                                        <p:tav tm="0">
                                          <p:val>
                                            <p:strVal val="#ppt_y"/>
                                          </p:val>
                                        </p:tav>
                                        <p:tav tm="100000">
                                          <p:val>
                                            <p:strVal val="#ppt_y"/>
                                          </p:val>
                                        </p:tav>
                                      </p:tavLst>
                                    </p:anim>
                                  </p:childTnLst>
                                </p:cTn>
                              </p:par>
                              <p:par>
                                <p:cTn id="107" presetID="2" presetClass="entr" presetSubtype="2" fill="hold" grpId="0" nodeType="withEffect">
                                  <p:stCondLst>
                                    <p:cond delay="0"/>
                                  </p:stCondLst>
                                  <p:childTnLst>
                                    <p:set>
                                      <p:cBhvr>
                                        <p:cTn id="108" dur="1" fill="hold">
                                          <p:stCondLst>
                                            <p:cond delay="0"/>
                                          </p:stCondLst>
                                        </p:cTn>
                                        <p:tgtEl>
                                          <p:spTgt spid="35"/>
                                        </p:tgtEl>
                                        <p:attrNameLst>
                                          <p:attrName>style.visibility</p:attrName>
                                        </p:attrNameLst>
                                      </p:cBhvr>
                                      <p:to>
                                        <p:strVal val="visible"/>
                                      </p:to>
                                    </p:set>
                                    <p:anim calcmode="lin" valueType="num">
                                      <p:cBhvr additive="base">
                                        <p:cTn id="109" dur="500" fill="hold"/>
                                        <p:tgtEl>
                                          <p:spTgt spid="35"/>
                                        </p:tgtEl>
                                        <p:attrNameLst>
                                          <p:attrName>ppt_x</p:attrName>
                                        </p:attrNameLst>
                                      </p:cBhvr>
                                      <p:tavLst>
                                        <p:tav tm="0">
                                          <p:val>
                                            <p:strVal val="1+#ppt_w/2"/>
                                          </p:val>
                                        </p:tav>
                                        <p:tav tm="100000">
                                          <p:val>
                                            <p:strVal val="#ppt_x"/>
                                          </p:val>
                                        </p:tav>
                                      </p:tavLst>
                                    </p:anim>
                                    <p:anim calcmode="lin" valueType="num">
                                      <p:cBhvr additive="base">
                                        <p:cTn id="110" dur="500" fill="hold"/>
                                        <p:tgtEl>
                                          <p:spTgt spid="35"/>
                                        </p:tgtEl>
                                        <p:attrNameLst>
                                          <p:attrName>ppt_y</p:attrName>
                                        </p:attrNameLst>
                                      </p:cBhvr>
                                      <p:tavLst>
                                        <p:tav tm="0">
                                          <p:val>
                                            <p:strVal val="#ppt_y"/>
                                          </p:val>
                                        </p:tav>
                                        <p:tav tm="100000">
                                          <p:val>
                                            <p:strVal val="#ppt_y"/>
                                          </p:val>
                                        </p:tav>
                                      </p:tavLst>
                                    </p:anim>
                                  </p:childTnLst>
                                </p:cTn>
                              </p:par>
                              <p:par>
                                <p:cTn id="111" presetID="2" presetClass="entr" presetSubtype="2"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anim calcmode="lin" valueType="num">
                                      <p:cBhvr additive="base">
                                        <p:cTn id="113" dur="500" fill="hold"/>
                                        <p:tgtEl>
                                          <p:spTgt spid="36"/>
                                        </p:tgtEl>
                                        <p:attrNameLst>
                                          <p:attrName>ppt_x</p:attrName>
                                        </p:attrNameLst>
                                      </p:cBhvr>
                                      <p:tavLst>
                                        <p:tav tm="0">
                                          <p:val>
                                            <p:strVal val="1+#ppt_w/2"/>
                                          </p:val>
                                        </p:tav>
                                        <p:tav tm="100000">
                                          <p:val>
                                            <p:strVal val="#ppt_x"/>
                                          </p:val>
                                        </p:tav>
                                      </p:tavLst>
                                    </p:anim>
                                    <p:anim calcmode="lin" valueType="num">
                                      <p:cBhvr additive="base">
                                        <p:cTn id="114" dur="500" fill="hold"/>
                                        <p:tgtEl>
                                          <p:spTgt spid="36"/>
                                        </p:tgtEl>
                                        <p:attrNameLst>
                                          <p:attrName>ppt_y</p:attrName>
                                        </p:attrNameLst>
                                      </p:cBhvr>
                                      <p:tavLst>
                                        <p:tav tm="0">
                                          <p:val>
                                            <p:strVal val="#ppt_y"/>
                                          </p:val>
                                        </p:tav>
                                        <p:tav tm="100000">
                                          <p:val>
                                            <p:strVal val="#ppt_y"/>
                                          </p:val>
                                        </p:tav>
                                      </p:tavLst>
                                    </p:anim>
                                  </p:childTnLst>
                                </p:cTn>
                              </p:par>
                              <p:par>
                                <p:cTn id="115" presetID="2" presetClass="entr" presetSubtype="2" fill="hold" grpId="0" nodeType="withEffect">
                                  <p:stCondLst>
                                    <p:cond delay="0"/>
                                  </p:stCondLst>
                                  <p:childTnLst>
                                    <p:set>
                                      <p:cBhvr>
                                        <p:cTn id="116" dur="1" fill="hold">
                                          <p:stCondLst>
                                            <p:cond delay="0"/>
                                          </p:stCondLst>
                                        </p:cTn>
                                        <p:tgtEl>
                                          <p:spTgt spid="37"/>
                                        </p:tgtEl>
                                        <p:attrNameLst>
                                          <p:attrName>style.visibility</p:attrName>
                                        </p:attrNameLst>
                                      </p:cBhvr>
                                      <p:to>
                                        <p:strVal val="visible"/>
                                      </p:to>
                                    </p:set>
                                    <p:anim calcmode="lin" valueType="num">
                                      <p:cBhvr additive="base">
                                        <p:cTn id="117" dur="500" fill="hold"/>
                                        <p:tgtEl>
                                          <p:spTgt spid="37"/>
                                        </p:tgtEl>
                                        <p:attrNameLst>
                                          <p:attrName>ppt_x</p:attrName>
                                        </p:attrNameLst>
                                      </p:cBhvr>
                                      <p:tavLst>
                                        <p:tav tm="0">
                                          <p:val>
                                            <p:strVal val="1+#ppt_w/2"/>
                                          </p:val>
                                        </p:tav>
                                        <p:tav tm="100000">
                                          <p:val>
                                            <p:strVal val="#ppt_x"/>
                                          </p:val>
                                        </p:tav>
                                      </p:tavLst>
                                    </p:anim>
                                    <p:anim calcmode="lin" valueType="num">
                                      <p:cBhvr additive="base">
                                        <p:cTn id="118" dur="500" fill="hold"/>
                                        <p:tgtEl>
                                          <p:spTgt spid="37"/>
                                        </p:tgtEl>
                                        <p:attrNameLst>
                                          <p:attrName>ppt_y</p:attrName>
                                        </p:attrNameLst>
                                      </p:cBhvr>
                                      <p:tavLst>
                                        <p:tav tm="0">
                                          <p:val>
                                            <p:strVal val="#ppt_y"/>
                                          </p:val>
                                        </p:tav>
                                        <p:tav tm="100000">
                                          <p:val>
                                            <p:strVal val="#ppt_y"/>
                                          </p:val>
                                        </p:tav>
                                      </p:tavLst>
                                    </p:anim>
                                  </p:childTnLst>
                                </p:cTn>
                              </p:par>
                              <p:par>
                                <p:cTn id="119" presetID="2" presetClass="entr" presetSubtype="2" fill="hold" grpId="0" nodeType="withEffect">
                                  <p:stCondLst>
                                    <p:cond delay="0"/>
                                  </p:stCondLst>
                                  <p:childTnLst>
                                    <p:set>
                                      <p:cBhvr>
                                        <p:cTn id="120" dur="1" fill="hold">
                                          <p:stCondLst>
                                            <p:cond delay="0"/>
                                          </p:stCondLst>
                                        </p:cTn>
                                        <p:tgtEl>
                                          <p:spTgt spid="38"/>
                                        </p:tgtEl>
                                        <p:attrNameLst>
                                          <p:attrName>style.visibility</p:attrName>
                                        </p:attrNameLst>
                                      </p:cBhvr>
                                      <p:to>
                                        <p:strVal val="visible"/>
                                      </p:to>
                                    </p:set>
                                    <p:anim calcmode="lin" valueType="num">
                                      <p:cBhvr additive="base">
                                        <p:cTn id="121" dur="500" fill="hold"/>
                                        <p:tgtEl>
                                          <p:spTgt spid="38"/>
                                        </p:tgtEl>
                                        <p:attrNameLst>
                                          <p:attrName>ppt_x</p:attrName>
                                        </p:attrNameLst>
                                      </p:cBhvr>
                                      <p:tavLst>
                                        <p:tav tm="0">
                                          <p:val>
                                            <p:strVal val="1+#ppt_w/2"/>
                                          </p:val>
                                        </p:tav>
                                        <p:tav tm="100000">
                                          <p:val>
                                            <p:strVal val="#ppt_x"/>
                                          </p:val>
                                        </p:tav>
                                      </p:tavLst>
                                    </p:anim>
                                    <p:anim calcmode="lin" valueType="num">
                                      <p:cBhvr additive="base">
                                        <p:cTn id="122" dur="500" fill="hold"/>
                                        <p:tgtEl>
                                          <p:spTgt spid="38"/>
                                        </p:tgtEl>
                                        <p:attrNameLst>
                                          <p:attrName>ppt_y</p:attrName>
                                        </p:attrNameLst>
                                      </p:cBhvr>
                                      <p:tavLst>
                                        <p:tav tm="0">
                                          <p:val>
                                            <p:strVal val="#ppt_y"/>
                                          </p:val>
                                        </p:tav>
                                        <p:tav tm="100000">
                                          <p:val>
                                            <p:strVal val="#ppt_y"/>
                                          </p:val>
                                        </p:tav>
                                      </p:tavLst>
                                    </p:anim>
                                  </p:childTnLst>
                                </p:cTn>
                              </p:par>
                              <p:par>
                                <p:cTn id="123" presetID="2" presetClass="entr" presetSubtype="2" fill="hold" grpId="0" nodeType="withEffect">
                                  <p:stCondLst>
                                    <p:cond delay="0"/>
                                  </p:stCondLst>
                                  <p:childTnLst>
                                    <p:set>
                                      <p:cBhvr>
                                        <p:cTn id="124" dur="1" fill="hold">
                                          <p:stCondLst>
                                            <p:cond delay="0"/>
                                          </p:stCondLst>
                                        </p:cTn>
                                        <p:tgtEl>
                                          <p:spTgt spid="39"/>
                                        </p:tgtEl>
                                        <p:attrNameLst>
                                          <p:attrName>style.visibility</p:attrName>
                                        </p:attrNameLst>
                                      </p:cBhvr>
                                      <p:to>
                                        <p:strVal val="visible"/>
                                      </p:to>
                                    </p:set>
                                    <p:anim calcmode="lin" valueType="num">
                                      <p:cBhvr additive="base">
                                        <p:cTn id="125" dur="500" fill="hold"/>
                                        <p:tgtEl>
                                          <p:spTgt spid="39"/>
                                        </p:tgtEl>
                                        <p:attrNameLst>
                                          <p:attrName>ppt_x</p:attrName>
                                        </p:attrNameLst>
                                      </p:cBhvr>
                                      <p:tavLst>
                                        <p:tav tm="0">
                                          <p:val>
                                            <p:strVal val="1+#ppt_w/2"/>
                                          </p:val>
                                        </p:tav>
                                        <p:tav tm="100000">
                                          <p:val>
                                            <p:strVal val="#ppt_x"/>
                                          </p:val>
                                        </p:tav>
                                      </p:tavLst>
                                    </p:anim>
                                    <p:anim calcmode="lin" valueType="num">
                                      <p:cBhvr additive="base">
                                        <p:cTn id="126" dur="500" fill="hold"/>
                                        <p:tgtEl>
                                          <p:spTgt spid="39"/>
                                        </p:tgtEl>
                                        <p:attrNameLst>
                                          <p:attrName>ppt_y</p:attrName>
                                        </p:attrNameLst>
                                      </p:cBhvr>
                                      <p:tavLst>
                                        <p:tav tm="0">
                                          <p:val>
                                            <p:strVal val="#ppt_y"/>
                                          </p:val>
                                        </p:tav>
                                        <p:tav tm="100000">
                                          <p:val>
                                            <p:strVal val="#ppt_y"/>
                                          </p:val>
                                        </p:tav>
                                      </p:tavLst>
                                    </p:anim>
                                  </p:childTnLst>
                                </p:cTn>
                              </p:par>
                              <p:par>
                                <p:cTn id="127" presetID="2" presetClass="entr" presetSubtype="2" fill="hold" grpId="0" nodeType="withEffect">
                                  <p:stCondLst>
                                    <p:cond delay="0"/>
                                  </p:stCondLst>
                                  <p:childTnLst>
                                    <p:set>
                                      <p:cBhvr>
                                        <p:cTn id="128" dur="1" fill="hold">
                                          <p:stCondLst>
                                            <p:cond delay="0"/>
                                          </p:stCondLst>
                                        </p:cTn>
                                        <p:tgtEl>
                                          <p:spTgt spid="40"/>
                                        </p:tgtEl>
                                        <p:attrNameLst>
                                          <p:attrName>style.visibility</p:attrName>
                                        </p:attrNameLst>
                                      </p:cBhvr>
                                      <p:to>
                                        <p:strVal val="visible"/>
                                      </p:to>
                                    </p:set>
                                    <p:anim calcmode="lin" valueType="num">
                                      <p:cBhvr additive="base">
                                        <p:cTn id="129" dur="500" fill="hold"/>
                                        <p:tgtEl>
                                          <p:spTgt spid="40"/>
                                        </p:tgtEl>
                                        <p:attrNameLst>
                                          <p:attrName>ppt_x</p:attrName>
                                        </p:attrNameLst>
                                      </p:cBhvr>
                                      <p:tavLst>
                                        <p:tav tm="0">
                                          <p:val>
                                            <p:strVal val="1+#ppt_w/2"/>
                                          </p:val>
                                        </p:tav>
                                        <p:tav tm="100000">
                                          <p:val>
                                            <p:strVal val="#ppt_x"/>
                                          </p:val>
                                        </p:tav>
                                      </p:tavLst>
                                    </p:anim>
                                    <p:anim calcmode="lin" valueType="num">
                                      <p:cBhvr additive="base">
                                        <p:cTn id="130" dur="500" fill="hold"/>
                                        <p:tgtEl>
                                          <p:spTgt spid="40"/>
                                        </p:tgtEl>
                                        <p:attrNameLst>
                                          <p:attrName>ppt_y</p:attrName>
                                        </p:attrNameLst>
                                      </p:cBhvr>
                                      <p:tavLst>
                                        <p:tav tm="0">
                                          <p:val>
                                            <p:strVal val="#ppt_y"/>
                                          </p:val>
                                        </p:tav>
                                        <p:tav tm="100000">
                                          <p:val>
                                            <p:strVal val="#ppt_y"/>
                                          </p:val>
                                        </p:tav>
                                      </p:tavLst>
                                    </p:anim>
                                  </p:childTnLst>
                                </p:cTn>
                              </p:par>
                              <p:par>
                                <p:cTn id="131" presetID="2" presetClass="entr" presetSubtype="2" fill="hold" grpId="0" nodeType="withEffect">
                                  <p:stCondLst>
                                    <p:cond delay="0"/>
                                  </p:stCondLst>
                                  <p:childTnLst>
                                    <p:set>
                                      <p:cBhvr>
                                        <p:cTn id="132" dur="1" fill="hold">
                                          <p:stCondLst>
                                            <p:cond delay="0"/>
                                          </p:stCondLst>
                                        </p:cTn>
                                        <p:tgtEl>
                                          <p:spTgt spid="41"/>
                                        </p:tgtEl>
                                        <p:attrNameLst>
                                          <p:attrName>style.visibility</p:attrName>
                                        </p:attrNameLst>
                                      </p:cBhvr>
                                      <p:to>
                                        <p:strVal val="visible"/>
                                      </p:to>
                                    </p:set>
                                    <p:anim calcmode="lin" valueType="num">
                                      <p:cBhvr additive="base">
                                        <p:cTn id="133" dur="500" fill="hold"/>
                                        <p:tgtEl>
                                          <p:spTgt spid="41"/>
                                        </p:tgtEl>
                                        <p:attrNameLst>
                                          <p:attrName>ppt_x</p:attrName>
                                        </p:attrNameLst>
                                      </p:cBhvr>
                                      <p:tavLst>
                                        <p:tav tm="0">
                                          <p:val>
                                            <p:strVal val="1+#ppt_w/2"/>
                                          </p:val>
                                        </p:tav>
                                        <p:tav tm="100000">
                                          <p:val>
                                            <p:strVal val="#ppt_x"/>
                                          </p:val>
                                        </p:tav>
                                      </p:tavLst>
                                    </p:anim>
                                    <p:anim calcmode="lin" valueType="num">
                                      <p:cBhvr additive="base">
                                        <p:cTn id="134" dur="500" fill="hold"/>
                                        <p:tgtEl>
                                          <p:spTgt spid="41"/>
                                        </p:tgtEl>
                                        <p:attrNameLst>
                                          <p:attrName>ppt_y</p:attrName>
                                        </p:attrNameLst>
                                      </p:cBhvr>
                                      <p:tavLst>
                                        <p:tav tm="0">
                                          <p:val>
                                            <p:strVal val="#ppt_y"/>
                                          </p:val>
                                        </p:tav>
                                        <p:tav tm="100000">
                                          <p:val>
                                            <p:strVal val="#ppt_y"/>
                                          </p:val>
                                        </p:tav>
                                      </p:tavLst>
                                    </p:anim>
                                  </p:childTnLst>
                                </p:cTn>
                              </p:par>
                              <p:par>
                                <p:cTn id="135" presetID="2" presetClass="entr" presetSubtype="2" fill="hold" grpId="0" nodeType="withEffect">
                                  <p:stCondLst>
                                    <p:cond delay="0"/>
                                  </p:stCondLst>
                                  <p:childTnLst>
                                    <p:set>
                                      <p:cBhvr>
                                        <p:cTn id="136" dur="1" fill="hold">
                                          <p:stCondLst>
                                            <p:cond delay="0"/>
                                          </p:stCondLst>
                                        </p:cTn>
                                        <p:tgtEl>
                                          <p:spTgt spid="42"/>
                                        </p:tgtEl>
                                        <p:attrNameLst>
                                          <p:attrName>style.visibility</p:attrName>
                                        </p:attrNameLst>
                                      </p:cBhvr>
                                      <p:to>
                                        <p:strVal val="visible"/>
                                      </p:to>
                                    </p:set>
                                    <p:anim calcmode="lin" valueType="num">
                                      <p:cBhvr additive="base">
                                        <p:cTn id="137" dur="500" fill="hold"/>
                                        <p:tgtEl>
                                          <p:spTgt spid="42"/>
                                        </p:tgtEl>
                                        <p:attrNameLst>
                                          <p:attrName>ppt_x</p:attrName>
                                        </p:attrNameLst>
                                      </p:cBhvr>
                                      <p:tavLst>
                                        <p:tav tm="0">
                                          <p:val>
                                            <p:strVal val="1+#ppt_w/2"/>
                                          </p:val>
                                        </p:tav>
                                        <p:tav tm="100000">
                                          <p:val>
                                            <p:strVal val="#ppt_x"/>
                                          </p:val>
                                        </p:tav>
                                      </p:tavLst>
                                    </p:anim>
                                    <p:anim calcmode="lin" valueType="num">
                                      <p:cBhvr additive="base">
                                        <p:cTn id="138" dur="500" fill="hold"/>
                                        <p:tgtEl>
                                          <p:spTgt spid="42"/>
                                        </p:tgtEl>
                                        <p:attrNameLst>
                                          <p:attrName>ppt_y</p:attrName>
                                        </p:attrNameLst>
                                      </p:cBhvr>
                                      <p:tavLst>
                                        <p:tav tm="0">
                                          <p:val>
                                            <p:strVal val="#ppt_y"/>
                                          </p:val>
                                        </p:tav>
                                        <p:tav tm="100000">
                                          <p:val>
                                            <p:strVal val="#ppt_y"/>
                                          </p:val>
                                        </p:tav>
                                      </p:tavLst>
                                    </p:anim>
                                  </p:childTnLst>
                                </p:cTn>
                              </p:par>
                              <p:par>
                                <p:cTn id="139" presetID="2" presetClass="entr" presetSubtype="2" fill="hold" grpId="0" nodeType="withEffect">
                                  <p:stCondLst>
                                    <p:cond delay="0"/>
                                  </p:stCondLst>
                                  <p:childTnLst>
                                    <p:set>
                                      <p:cBhvr>
                                        <p:cTn id="140" dur="1" fill="hold">
                                          <p:stCondLst>
                                            <p:cond delay="0"/>
                                          </p:stCondLst>
                                        </p:cTn>
                                        <p:tgtEl>
                                          <p:spTgt spid="43"/>
                                        </p:tgtEl>
                                        <p:attrNameLst>
                                          <p:attrName>style.visibility</p:attrName>
                                        </p:attrNameLst>
                                      </p:cBhvr>
                                      <p:to>
                                        <p:strVal val="visible"/>
                                      </p:to>
                                    </p:set>
                                    <p:anim calcmode="lin" valueType="num">
                                      <p:cBhvr additive="base">
                                        <p:cTn id="141" dur="500" fill="hold"/>
                                        <p:tgtEl>
                                          <p:spTgt spid="43"/>
                                        </p:tgtEl>
                                        <p:attrNameLst>
                                          <p:attrName>ppt_x</p:attrName>
                                        </p:attrNameLst>
                                      </p:cBhvr>
                                      <p:tavLst>
                                        <p:tav tm="0">
                                          <p:val>
                                            <p:strVal val="1+#ppt_w/2"/>
                                          </p:val>
                                        </p:tav>
                                        <p:tav tm="100000">
                                          <p:val>
                                            <p:strVal val="#ppt_x"/>
                                          </p:val>
                                        </p:tav>
                                      </p:tavLst>
                                    </p:anim>
                                    <p:anim calcmode="lin" valueType="num">
                                      <p:cBhvr additive="base">
                                        <p:cTn id="142" dur="500" fill="hold"/>
                                        <p:tgtEl>
                                          <p:spTgt spid="43"/>
                                        </p:tgtEl>
                                        <p:attrNameLst>
                                          <p:attrName>ppt_y</p:attrName>
                                        </p:attrNameLst>
                                      </p:cBhvr>
                                      <p:tavLst>
                                        <p:tav tm="0">
                                          <p:val>
                                            <p:strVal val="#ppt_y"/>
                                          </p:val>
                                        </p:tav>
                                        <p:tav tm="100000">
                                          <p:val>
                                            <p:strVal val="#ppt_y"/>
                                          </p:val>
                                        </p:tav>
                                      </p:tavLst>
                                    </p:anim>
                                  </p:childTnLst>
                                </p:cTn>
                              </p:par>
                              <p:par>
                                <p:cTn id="143" presetID="2" presetClass="entr" presetSubtype="2" fill="hold" grpId="0" nodeType="withEffect">
                                  <p:stCondLst>
                                    <p:cond delay="0"/>
                                  </p:stCondLst>
                                  <p:childTnLst>
                                    <p:set>
                                      <p:cBhvr>
                                        <p:cTn id="144" dur="1" fill="hold">
                                          <p:stCondLst>
                                            <p:cond delay="0"/>
                                          </p:stCondLst>
                                        </p:cTn>
                                        <p:tgtEl>
                                          <p:spTgt spid="44"/>
                                        </p:tgtEl>
                                        <p:attrNameLst>
                                          <p:attrName>style.visibility</p:attrName>
                                        </p:attrNameLst>
                                      </p:cBhvr>
                                      <p:to>
                                        <p:strVal val="visible"/>
                                      </p:to>
                                    </p:set>
                                    <p:anim calcmode="lin" valueType="num">
                                      <p:cBhvr additive="base">
                                        <p:cTn id="145" dur="500" fill="hold"/>
                                        <p:tgtEl>
                                          <p:spTgt spid="44"/>
                                        </p:tgtEl>
                                        <p:attrNameLst>
                                          <p:attrName>ppt_x</p:attrName>
                                        </p:attrNameLst>
                                      </p:cBhvr>
                                      <p:tavLst>
                                        <p:tav tm="0">
                                          <p:val>
                                            <p:strVal val="1+#ppt_w/2"/>
                                          </p:val>
                                        </p:tav>
                                        <p:tav tm="100000">
                                          <p:val>
                                            <p:strVal val="#ppt_x"/>
                                          </p:val>
                                        </p:tav>
                                      </p:tavLst>
                                    </p:anim>
                                    <p:anim calcmode="lin" valueType="num">
                                      <p:cBhvr additive="base">
                                        <p:cTn id="146" dur="500" fill="hold"/>
                                        <p:tgtEl>
                                          <p:spTgt spid="44"/>
                                        </p:tgtEl>
                                        <p:attrNameLst>
                                          <p:attrName>ppt_y</p:attrName>
                                        </p:attrNameLst>
                                      </p:cBhvr>
                                      <p:tavLst>
                                        <p:tav tm="0">
                                          <p:val>
                                            <p:strVal val="#ppt_y"/>
                                          </p:val>
                                        </p:tav>
                                        <p:tav tm="100000">
                                          <p:val>
                                            <p:strVal val="#ppt_y"/>
                                          </p:val>
                                        </p:tav>
                                      </p:tavLst>
                                    </p:anim>
                                  </p:childTnLst>
                                </p:cTn>
                              </p:par>
                              <p:par>
                                <p:cTn id="147" presetID="2" presetClass="entr" presetSubtype="2" fill="hold" grpId="0" nodeType="withEffect">
                                  <p:stCondLst>
                                    <p:cond delay="0"/>
                                  </p:stCondLst>
                                  <p:childTnLst>
                                    <p:set>
                                      <p:cBhvr>
                                        <p:cTn id="148" dur="1" fill="hold">
                                          <p:stCondLst>
                                            <p:cond delay="0"/>
                                          </p:stCondLst>
                                        </p:cTn>
                                        <p:tgtEl>
                                          <p:spTgt spid="45"/>
                                        </p:tgtEl>
                                        <p:attrNameLst>
                                          <p:attrName>style.visibility</p:attrName>
                                        </p:attrNameLst>
                                      </p:cBhvr>
                                      <p:to>
                                        <p:strVal val="visible"/>
                                      </p:to>
                                    </p:set>
                                    <p:anim calcmode="lin" valueType="num">
                                      <p:cBhvr additive="base">
                                        <p:cTn id="149" dur="500" fill="hold"/>
                                        <p:tgtEl>
                                          <p:spTgt spid="45"/>
                                        </p:tgtEl>
                                        <p:attrNameLst>
                                          <p:attrName>ppt_x</p:attrName>
                                        </p:attrNameLst>
                                      </p:cBhvr>
                                      <p:tavLst>
                                        <p:tav tm="0">
                                          <p:val>
                                            <p:strVal val="1+#ppt_w/2"/>
                                          </p:val>
                                        </p:tav>
                                        <p:tav tm="100000">
                                          <p:val>
                                            <p:strVal val="#ppt_x"/>
                                          </p:val>
                                        </p:tav>
                                      </p:tavLst>
                                    </p:anim>
                                    <p:anim calcmode="lin" valueType="num">
                                      <p:cBhvr additive="base">
                                        <p:cTn id="150" dur="500" fill="hold"/>
                                        <p:tgtEl>
                                          <p:spTgt spid="4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4" grpId="0" animBg="1"/>
      <p:bldP spid="15" grpId="0" animBg="1"/>
      <p:bldP spid="16"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9" name="Image 0" descr="/Users/danwahlin/.copilot/session-state/e7427b9a-9d65-4aa2-953c-14cedea46cbc/files/talkdeck/assets/corner.png">
            <a:extLst>
              <a:ext uri="{FF2B5EF4-FFF2-40B4-BE49-F238E27FC236}">
                <a16:creationId xmlns:a16="http://schemas.microsoft.com/office/drawing/2014/main" id="{F971C3BB-E374-5063-7BCC-9D43CB95FB09}"/>
              </a:ext>
            </a:extLst>
          </p:cNvPr>
          <p:cNvPicPr>
            <a:picLocks noChangeAspect="1"/>
          </p:cNvPicPr>
          <p:nvPr/>
        </p:nvPicPr>
        <p:blipFill>
          <a:blip r:embed="rId3"/>
          <a:stretch>
            <a:fillRect/>
          </a:stretch>
        </p:blipFill>
        <p:spPr>
          <a:xfrm>
            <a:off x="5393683" y="-1"/>
            <a:ext cx="3750168" cy="1755725"/>
          </a:xfrm>
          <a:prstGeom prst="rect">
            <a:avLst/>
          </a:prstGeom>
        </p:spPr>
      </p:pic>
      <p:pic>
        <p:nvPicPr>
          <p:cNvPr id="2" name="!!orchestra" descr="/Users/danwahlin/.copilot/session-state/e7427b9a-9d65-4aa2-953c-14cedea46cbc/files/talkdeck/assets/orchestra-base.png"/>
          <p:cNvPicPr>
            <a:picLocks noChangeAspect="1"/>
          </p:cNvPicPr>
          <p:nvPr/>
        </p:nvPicPr>
        <p:blipFill>
          <a:blip r:embed="rId4"/>
          <a:stretch>
            <a:fillRect/>
          </a:stretch>
        </p:blipFill>
        <p:spPr>
          <a:xfrm>
            <a:off x="939701" y="1111152"/>
            <a:ext cx="7251650" cy="4152900"/>
          </a:xfrm>
          <a:prstGeom prst="rect">
            <a:avLst/>
          </a:prstGeom>
        </p:spPr>
      </p:pic>
      <p:sp>
        <p:nvSpPr>
          <p:cNvPr id="7" name="!!eyebrow"/>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ORCHESTRATE YOUR WORK</a:t>
            </a:r>
            <a:endParaRPr lang="en-US" sz="1050" dirty="0">
              <a:latin typeface="Calibri" panose="020F0502020204030204" pitchFamily="34" charset="0"/>
              <a:cs typeface="Calibri" panose="020F0502020204030204" pitchFamily="34" charset="0"/>
            </a:endParaRPr>
          </a:p>
        </p:txBody>
      </p:sp>
      <p:sp>
        <p:nvSpPr>
          <p:cNvPr id="8" name="!!title"/>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You are the conductor</a:t>
            </a:r>
            <a:endParaRPr lang="en-US" sz="3200" dirty="0">
              <a:latin typeface="Calibri" panose="020F0502020204030204" pitchFamily="34" charset="0"/>
              <a:cs typeface="Calibri" panose="020F0502020204030204" pitchFamily="34" charset="0"/>
            </a:endParaRPr>
          </a:p>
        </p:txBody>
      </p:sp>
      <p:pic>
        <p:nvPicPr>
          <p:cNvPr id="10" name="Image 1" descr="/Users/danwahlin/.copilot/session-state/e7427b9a-9d65-4aa2-953c-14cedea46cbc/files/talkdeck/assets/mark-dark.png">
            <a:extLst>
              <a:ext uri="{FF2B5EF4-FFF2-40B4-BE49-F238E27FC236}">
                <a16:creationId xmlns:a16="http://schemas.microsoft.com/office/drawing/2014/main" id="{C1027D53-9FA1-7BD6-9149-F1DBAFC846B3}"/>
              </a:ext>
            </a:extLst>
          </p:cNvPr>
          <p:cNvPicPr>
            <a:picLocks noChangeAspect="1"/>
          </p:cNvPicPr>
          <p:nvPr/>
        </p:nvPicPr>
        <p:blipFill>
          <a:blip r:embed="rId5"/>
          <a:stretch>
            <a:fillRect/>
          </a:stretch>
        </p:blipFill>
        <p:spPr>
          <a:xfrm>
            <a:off x="8610600" y="165050"/>
            <a:ext cx="304800" cy="3048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46" name="Image 0" descr="/Users/danwahlin/.copilot/session-state/e7427b9a-9d65-4aa2-953c-14cedea46cbc/files/talkdeck/assets/corner.png">
            <a:extLst>
              <a:ext uri="{FF2B5EF4-FFF2-40B4-BE49-F238E27FC236}">
                <a16:creationId xmlns:a16="http://schemas.microsoft.com/office/drawing/2014/main" id="{C52B2272-CB44-B767-E13F-8E0C23095338}"/>
              </a:ext>
            </a:extLst>
          </p:cNvPr>
          <p:cNvPicPr>
            <a:picLocks noChangeAspect="1"/>
          </p:cNvPicPr>
          <p:nvPr/>
        </p:nvPicPr>
        <p:blipFill>
          <a:blip r:embed="rId3"/>
          <a:stretch>
            <a:fillRect/>
          </a:stretch>
        </p:blipFill>
        <p:spPr>
          <a:xfrm>
            <a:off x="5393683" y="-1"/>
            <a:ext cx="3750168" cy="1755725"/>
          </a:xfrm>
          <a:prstGeom prst="rect">
            <a:avLst/>
          </a:prstGeom>
        </p:spPr>
      </p:pic>
      <p:pic>
        <p:nvPicPr>
          <p:cNvPr id="2" name="!!orchestra" descr="/Users/danwahlin/.copilot/session-state/e7427b9a-9d65-4aa2-953c-14cedea46cbc/files/talkdeck/assets/orchestra-base.png"/>
          <p:cNvPicPr>
            <a:picLocks noChangeAspect="1"/>
          </p:cNvPicPr>
          <p:nvPr/>
        </p:nvPicPr>
        <p:blipFill>
          <a:blip r:embed="rId4"/>
          <a:stretch>
            <a:fillRect/>
          </a:stretch>
        </p:blipFill>
        <p:spPr>
          <a:xfrm>
            <a:off x="939701" y="1111152"/>
            <a:ext cx="7251650" cy="4152900"/>
          </a:xfrm>
          <a:prstGeom prst="rect">
            <a:avLst/>
          </a:prstGeom>
        </p:spPr>
      </p:pic>
      <p:pic>
        <p:nvPicPr>
          <p:cNvPr id="3" name="!!spotlight" descr="/Users/danwahlin/.copilot/session-state/e7427b9a-9d65-4aa2-953c-14cedea46cbc/files/talkdeck/assets/orchestra-overlay.png"/>
          <p:cNvPicPr>
            <a:picLocks noChangeAspect="1"/>
          </p:cNvPicPr>
          <p:nvPr/>
        </p:nvPicPr>
        <p:blipFill>
          <a:blip r:embed="rId5"/>
          <a:stretch>
            <a:fillRect/>
          </a:stretch>
        </p:blipFill>
        <p:spPr>
          <a:xfrm>
            <a:off x="939701" y="1111152"/>
            <a:ext cx="7251650" cy="4152900"/>
          </a:xfrm>
          <a:prstGeom prst="rect">
            <a:avLst/>
          </a:prstGeom>
        </p:spPr>
      </p:pic>
      <p:sp>
        <p:nvSpPr>
          <p:cNvPr id="4" name="Text 0"/>
          <p:cNvSpPr/>
          <p:nvPr/>
        </p:nvSpPr>
        <p:spPr>
          <a:xfrm>
            <a:off x="1145679" y="2193579"/>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5" name="Text 1"/>
          <p:cNvSpPr/>
          <p:nvPr/>
        </p:nvSpPr>
        <p:spPr>
          <a:xfrm>
            <a:off x="1145679" y="2193579"/>
            <a:ext cx="63401" cy="431750"/>
          </a:xfrm>
          <a:prstGeom prst="rect">
            <a:avLst/>
          </a:prstGeom>
          <a:solidFill>
            <a:srgbClr val="8250DF"/>
          </a:solidFill>
          <a:ln/>
        </p:spPr>
        <p:txBody>
          <a:bodyPr wrap="square" rtlCol="0" anchor="ctr"/>
          <a:lstStyle/>
          <a:p>
            <a:pPr marL="0" indent="0">
              <a:buNone/>
            </a:pPr>
            <a:endParaRPr lang="en-US" dirty="0"/>
          </a:p>
        </p:txBody>
      </p:sp>
      <p:sp>
        <p:nvSpPr>
          <p:cNvPr id="6" name="Text 2"/>
          <p:cNvSpPr/>
          <p:nvPr/>
        </p:nvSpPr>
        <p:spPr>
          <a:xfrm>
            <a:off x="1285429" y="2269779"/>
            <a:ext cx="279350" cy="279350"/>
          </a:xfrm>
          <a:prstGeom prst="roundRect">
            <a:avLst>
              <a:gd name="adj" fmla="val 22731"/>
            </a:avLst>
          </a:prstGeom>
          <a:solidFill>
            <a:srgbClr val="FBEFFF"/>
          </a:solidFill>
          <a:ln/>
        </p:spPr>
        <p:txBody>
          <a:bodyPr wrap="square" rtlCol="0" anchor="ctr"/>
          <a:lstStyle/>
          <a:p>
            <a:pPr marL="0" indent="0">
              <a:buNone/>
            </a:pPr>
            <a:endParaRPr lang="en-US" dirty="0"/>
          </a:p>
        </p:txBody>
      </p:sp>
      <p:pic>
        <p:nvPicPr>
          <p:cNvPr id="7" name="Image 2" descr="/Users/danwahlin/.copilot/session-state/e7427b9a-9d65-4aa2-953c-14cedea46cbc/files/talkdeck/assets/icons/PiMicrosoftOutlookLogo-8250DF.png"/>
          <p:cNvPicPr>
            <a:picLocks noChangeAspect="1"/>
          </p:cNvPicPr>
          <p:nvPr/>
        </p:nvPicPr>
        <p:blipFill>
          <a:blip r:embed="rId6"/>
          <a:stretch>
            <a:fillRect/>
          </a:stretch>
        </p:blipFill>
        <p:spPr>
          <a:xfrm>
            <a:off x="1336179" y="2320529"/>
            <a:ext cx="177701" cy="177701"/>
          </a:xfrm>
          <a:prstGeom prst="rect">
            <a:avLst/>
          </a:prstGeom>
        </p:spPr>
      </p:pic>
      <p:sp>
        <p:nvSpPr>
          <p:cNvPr id="8" name="Text 3"/>
          <p:cNvSpPr/>
          <p:nvPr/>
        </p:nvSpPr>
        <p:spPr>
          <a:xfrm>
            <a:off x="1653778" y="2256980"/>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WorkIQ session brief</a:t>
            </a:r>
            <a:endParaRPr lang="en-US" sz="950" dirty="0"/>
          </a:p>
        </p:txBody>
      </p:sp>
      <p:sp>
        <p:nvSpPr>
          <p:cNvPr id="9" name="Text 4"/>
          <p:cNvSpPr/>
          <p:nvPr/>
        </p:nvSpPr>
        <p:spPr>
          <a:xfrm>
            <a:off x="1653778" y="2422179"/>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Project managers</a:t>
            </a:r>
            <a:endParaRPr lang="en-US" sz="750" dirty="0"/>
          </a:p>
        </p:txBody>
      </p:sp>
      <p:sp>
        <p:nvSpPr>
          <p:cNvPr id="10" name="Text 5"/>
          <p:cNvSpPr/>
          <p:nvPr/>
        </p:nvSpPr>
        <p:spPr>
          <a:xfrm>
            <a:off x="5583734" y="2146252"/>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11" name="Text 6"/>
          <p:cNvSpPr/>
          <p:nvPr/>
        </p:nvSpPr>
        <p:spPr>
          <a:xfrm>
            <a:off x="5583734" y="2146252"/>
            <a:ext cx="63401" cy="431750"/>
          </a:xfrm>
          <a:prstGeom prst="rect">
            <a:avLst/>
          </a:prstGeom>
          <a:solidFill>
            <a:srgbClr val="BC4C00"/>
          </a:solidFill>
          <a:ln/>
        </p:spPr>
        <p:txBody>
          <a:bodyPr wrap="square" rtlCol="0" anchor="ctr"/>
          <a:lstStyle/>
          <a:p>
            <a:pPr marL="0" indent="0">
              <a:buNone/>
            </a:pPr>
            <a:endParaRPr lang="en-US" dirty="0"/>
          </a:p>
        </p:txBody>
      </p:sp>
      <p:sp>
        <p:nvSpPr>
          <p:cNvPr id="12" name="Text 7"/>
          <p:cNvSpPr/>
          <p:nvPr/>
        </p:nvSpPr>
        <p:spPr>
          <a:xfrm>
            <a:off x="5723334" y="2222452"/>
            <a:ext cx="279350" cy="279350"/>
          </a:xfrm>
          <a:prstGeom prst="roundRect">
            <a:avLst>
              <a:gd name="adj" fmla="val 22731"/>
            </a:avLst>
          </a:prstGeom>
          <a:solidFill>
            <a:srgbClr val="FFF1E5"/>
          </a:solidFill>
          <a:ln/>
        </p:spPr>
        <p:txBody>
          <a:bodyPr wrap="square" rtlCol="0" anchor="ctr"/>
          <a:lstStyle/>
          <a:p>
            <a:pPr marL="0" indent="0">
              <a:buNone/>
            </a:pPr>
            <a:endParaRPr lang="en-US" dirty="0"/>
          </a:p>
        </p:txBody>
      </p:sp>
      <p:pic>
        <p:nvPicPr>
          <p:cNvPr id="13" name="Image 3" descr="/Users/danwahlin/.copilot/session-state/e7427b9a-9d65-4aa2-953c-14cedea46cbc/files/talkdeck/assets/icons/PiMicrosoftPowerpointLogo-BC4C00.png"/>
          <p:cNvPicPr>
            <a:picLocks noChangeAspect="1"/>
          </p:cNvPicPr>
          <p:nvPr/>
        </p:nvPicPr>
        <p:blipFill>
          <a:blip r:embed="rId7"/>
          <a:stretch>
            <a:fillRect/>
          </a:stretch>
        </p:blipFill>
        <p:spPr>
          <a:xfrm>
            <a:off x="5774234" y="2273351"/>
            <a:ext cx="177701" cy="177701"/>
          </a:xfrm>
          <a:prstGeom prst="rect">
            <a:avLst/>
          </a:prstGeom>
        </p:spPr>
      </p:pic>
      <p:sp>
        <p:nvSpPr>
          <p:cNvPr id="14" name="Text 8"/>
          <p:cNvSpPr/>
          <p:nvPr/>
        </p:nvSpPr>
        <p:spPr>
          <a:xfrm>
            <a:off x="6091684" y="2209801"/>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PowerPoint briefing</a:t>
            </a:r>
            <a:endParaRPr lang="en-US" sz="950" dirty="0"/>
          </a:p>
        </p:txBody>
      </p:sp>
      <p:sp>
        <p:nvSpPr>
          <p:cNvPr id="15" name="Text 9"/>
          <p:cNvSpPr/>
          <p:nvPr/>
        </p:nvSpPr>
        <p:spPr>
          <a:xfrm>
            <a:off x="6091684" y="2374852"/>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Leaders</a:t>
            </a:r>
            <a:endParaRPr lang="en-US" sz="750" dirty="0"/>
          </a:p>
        </p:txBody>
      </p:sp>
      <p:sp>
        <p:nvSpPr>
          <p:cNvPr id="16" name="Text 10"/>
          <p:cNvSpPr/>
          <p:nvPr/>
        </p:nvSpPr>
        <p:spPr>
          <a:xfrm>
            <a:off x="3600748" y="2807346"/>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17" name="Text 11"/>
          <p:cNvSpPr/>
          <p:nvPr/>
        </p:nvSpPr>
        <p:spPr>
          <a:xfrm>
            <a:off x="3600748" y="2807346"/>
            <a:ext cx="63401" cy="431750"/>
          </a:xfrm>
          <a:prstGeom prst="rect">
            <a:avLst/>
          </a:prstGeom>
          <a:solidFill>
            <a:srgbClr val="0969DA"/>
          </a:solidFill>
          <a:ln/>
        </p:spPr>
        <p:txBody>
          <a:bodyPr wrap="square" rtlCol="0" anchor="ctr"/>
          <a:lstStyle/>
          <a:p>
            <a:pPr marL="0" indent="0">
              <a:buNone/>
            </a:pPr>
            <a:endParaRPr lang="en-US" dirty="0"/>
          </a:p>
        </p:txBody>
      </p:sp>
      <p:sp>
        <p:nvSpPr>
          <p:cNvPr id="18" name="Text 12"/>
          <p:cNvSpPr/>
          <p:nvPr/>
        </p:nvSpPr>
        <p:spPr>
          <a:xfrm>
            <a:off x="3740497" y="2883546"/>
            <a:ext cx="279350" cy="279350"/>
          </a:xfrm>
          <a:prstGeom prst="roundRect">
            <a:avLst>
              <a:gd name="adj" fmla="val 22731"/>
            </a:avLst>
          </a:prstGeom>
          <a:solidFill>
            <a:srgbClr val="DDF4FF"/>
          </a:solidFill>
          <a:ln/>
        </p:spPr>
        <p:txBody>
          <a:bodyPr wrap="square" rtlCol="0" anchor="ctr"/>
          <a:lstStyle/>
          <a:p>
            <a:pPr marL="0" indent="0">
              <a:buNone/>
            </a:pPr>
            <a:endParaRPr lang="en-US" dirty="0"/>
          </a:p>
        </p:txBody>
      </p:sp>
      <p:pic>
        <p:nvPicPr>
          <p:cNvPr id="19" name="Image 4" descr="/Users/danwahlin/.copilot/session-state/e7427b9a-9d65-4aa2-953c-14cedea46cbc/files/talkdeck/assets/icons/PiBrowser-0969DA.png"/>
          <p:cNvPicPr>
            <a:picLocks noChangeAspect="1"/>
          </p:cNvPicPr>
          <p:nvPr/>
        </p:nvPicPr>
        <p:blipFill>
          <a:blip r:embed="rId8"/>
          <a:stretch>
            <a:fillRect/>
          </a:stretch>
        </p:blipFill>
        <p:spPr>
          <a:xfrm>
            <a:off x="3791248" y="2934297"/>
            <a:ext cx="177701" cy="177701"/>
          </a:xfrm>
          <a:prstGeom prst="rect">
            <a:avLst/>
          </a:prstGeom>
        </p:spPr>
      </p:pic>
      <p:sp>
        <p:nvSpPr>
          <p:cNvPr id="20" name="Text 13"/>
          <p:cNvSpPr/>
          <p:nvPr/>
        </p:nvSpPr>
        <p:spPr>
          <a:xfrm>
            <a:off x="4108698" y="2870747"/>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Housing website</a:t>
            </a:r>
            <a:endParaRPr lang="en-US" sz="950" dirty="0"/>
          </a:p>
        </p:txBody>
      </p:sp>
      <p:sp>
        <p:nvSpPr>
          <p:cNvPr id="21" name="Text 14"/>
          <p:cNvSpPr/>
          <p:nvPr/>
        </p:nvSpPr>
        <p:spPr>
          <a:xfrm>
            <a:off x="4108698" y="3035946"/>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Developers and IT managers</a:t>
            </a:r>
            <a:endParaRPr lang="en-US" sz="750" dirty="0"/>
          </a:p>
        </p:txBody>
      </p:sp>
      <p:sp>
        <p:nvSpPr>
          <p:cNvPr id="22" name="Text 15"/>
          <p:cNvSpPr/>
          <p:nvPr/>
        </p:nvSpPr>
        <p:spPr>
          <a:xfrm>
            <a:off x="956816" y="4601320"/>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23" name="Text 16"/>
          <p:cNvSpPr/>
          <p:nvPr/>
        </p:nvSpPr>
        <p:spPr>
          <a:xfrm>
            <a:off x="956816" y="4601320"/>
            <a:ext cx="63401" cy="431750"/>
          </a:xfrm>
          <a:prstGeom prst="rect">
            <a:avLst/>
          </a:prstGeom>
          <a:solidFill>
            <a:srgbClr val="1A7F37"/>
          </a:solidFill>
          <a:ln/>
        </p:spPr>
        <p:txBody>
          <a:bodyPr wrap="square" rtlCol="0" anchor="ctr"/>
          <a:lstStyle/>
          <a:p>
            <a:pPr marL="0" indent="0">
              <a:buNone/>
            </a:pPr>
            <a:endParaRPr lang="en-US" dirty="0"/>
          </a:p>
        </p:txBody>
      </p:sp>
      <p:sp>
        <p:nvSpPr>
          <p:cNvPr id="24" name="Text 17"/>
          <p:cNvSpPr/>
          <p:nvPr/>
        </p:nvSpPr>
        <p:spPr>
          <a:xfrm>
            <a:off x="1096566" y="4677520"/>
            <a:ext cx="279350" cy="279350"/>
          </a:xfrm>
          <a:prstGeom prst="roundRect">
            <a:avLst>
              <a:gd name="adj" fmla="val 22731"/>
            </a:avLst>
          </a:prstGeom>
          <a:solidFill>
            <a:srgbClr val="DAFBE1"/>
          </a:solidFill>
          <a:ln/>
        </p:spPr>
        <p:txBody>
          <a:bodyPr wrap="square" rtlCol="0" anchor="ctr"/>
          <a:lstStyle/>
          <a:p>
            <a:pPr marL="0" indent="0">
              <a:buNone/>
            </a:pPr>
            <a:endParaRPr lang="en-US" dirty="0"/>
          </a:p>
        </p:txBody>
      </p:sp>
      <p:pic>
        <p:nvPicPr>
          <p:cNvPr id="25" name="Image 5" descr="/Users/danwahlin/.copilot/session-state/e7427b9a-9d65-4aa2-953c-14cedea46cbc/files/talkdeck/assets/icons/PiMicrosoftExcelLogo-1A7F37.png"/>
          <p:cNvPicPr>
            <a:picLocks noChangeAspect="1"/>
          </p:cNvPicPr>
          <p:nvPr/>
        </p:nvPicPr>
        <p:blipFill>
          <a:blip r:embed="rId9"/>
          <a:stretch>
            <a:fillRect/>
          </a:stretch>
        </p:blipFill>
        <p:spPr>
          <a:xfrm>
            <a:off x="1147316" y="4728271"/>
            <a:ext cx="177701" cy="177701"/>
          </a:xfrm>
          <a:prstGeom prst="rect">
            <a:avLst/>
          </a:prstGeom>
        </p:spPr>
      </p:pic>
      <p:sp>
        <p:nvSpPr>
          <p:cNvPr id="26" name="Text 18"/>
          <p:cNvSpPr/>
          <p:nvPr/>
        </p:nvSpPr>
        <p:spPr>
          <a:xfrm>
            <a:off x="1464915" y="4664870"/>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Excel workbook</a:t>
            </a:r>
            <a:endParaRPr lang="en-US" sz="950" dirty="0"/>
          </a:p>
        </p:txBody>
      </p:sp>
      <p:sp>
        <p:nvSpPr>
          <p:cNvPr id="27" name="Text 19"/>
          <p:cNvSpPr/>
          <p:nvPr/>
        </p:nvSpPr>
        <p:spPr>
          <a:xfrm>
            <a:off x="1464915" y="4829920"/>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Business analysts</a:t>
            </a:r>
            <a:endParaRPr lang="en-US" sz="750" dirty="0"/>
          </a:p>
        </p:txBody>
      </p:sp>
      <p:sp>
        <p:nvSpPr>
          <p:cNvPr id="28" name="Text 20"/>
          <p:cNvSpPr/>
          <p:nvPr/>
        </p:nvSpPr>
        <p:spPr>
          <a:xfrm>
            <a:off x="6339036" y="4601320"/>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29" name="Text 21"/>
          <p:cNvSpPr/>
          <p:nvPr/>
        </p:nvSpPr>
        <p:spPr>
          <a:xfrm>
            <a:off x="6339036" y="4601320"/>
            <a:ext cx="63401" cy="431750"/>
          </a:xfrm>
          <a:prstGeom prst="rect">
            <a:avLst/>
          </a:prstGeom>
          <a:solidFill>
            <a:srgbClr val="9A6700"/>
          </a:solidFill>
          <a:ln/>
        </p:spPr>
        <p:txBody>
          <a:bodyPr wrap="square" rtlCol="0" anchor="ctr"/>
          <a:lstStyle/>
          <a:p>
            <a:pPr marL="0" indent="0">
              <a:buNone/>
            </a:pPr>
            <a:endParaRPr lang="en-US" dirty="0"/>
          </a:p>
        </p:txBody>
      </p:sp>
      <p:sp>
        <p:nvSpPr>
          <p:cNvPr id="30" name="Text 22"/>
          <p:cNvSpPr/>
          <p:nvPr/>
        </p:nvSpPr>
        <p:spPr>
          <a:xfrm>
            <a:off x="6478786" y="4677520"/>
            <a:ext cx="279350" cy="279350"/>
          </a:xfrm>
          <a:prstGeom prst="roundRect">
            <a:avLst>
              <a:gd name="adj" fmla="val 22731"/>
            </a:avLst>
          </a:prstGeom>
          <a:solidFill>
            <a:srgbClr val="FFF8C5"/>
          </a:solidFill>
          <a:ln/>
        </p:spPr>
        <p:txBody>
          <a:bodyPr wrap="square" rtlCol="0" anchor="ctr"/>
          <a:lstStyle/>
          <a:p>
            <a:pPr marL="0" indent="0">
              <a:buNone/>
            </a:pPr>
            <a:endParaRPr lang="en-US" dirty="0"/>
          </a:p>
        </p:txBody>
      </p:sp>
      <p:pic>
        <p:nvPicPr>
          <p:cNvPr id="31" name="Image 6" descr="/Users/danwahlin/.copilot/session-state/e7427b9a-9d65-4aa2-953c-14cedea46cbc/files/talkdeck/assets/icons/PiClockClockwise-9A6700.png"/>
          <p:cNvPicPr>
            <a:picLocks noChangeAspect="1"/>
          </p:cNvPicPr>
          <p:nvPr/>
        </p:nvPicPr>
        <p:blipFill>
          <a:blip r:embed="rId10"/>
          <a:stretch>
            <a:fillRect/>
          </a:stretch>
        </p:blipFill>
        <p:spPr>
          <a:xfrm>
            <a:off x="6529536" y="4728271"/>
            <a:ext cx="177701" cy="177701"/>
          </a:xfrm>
          <a:prstGeom prst="rect">
            <a:avLst/>
          </a:prstGeom>
        </p:spPr>
      </p:pic>
      <p:sp>
        <p:nvSpPr>
          <p:cNvPr id="32" name="Text 23"/>
          <p:cNvSpPr/>
          <p:nvPr/>
        </p:nvSpPr>
        <p:spPr>
          <a:xfrm>
            <a:off x="6847136" y="4664870"/>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Weekly automation</a:t>
            </a:r>
            <a:endParaRPr lang="en-US" sz="950" dirty="0"/>
          </a:p>
        </p:txBody>
      </p:sp>
      <p:sp>
        <p:nvSpPr>
          <p:cNvPr id="33" name="Text 24"/>
          <p:cNvSpPr/>
          <p:nvPr/>
        </p:nvSpPr>
        <p:spPr>
          <a:xfrm>
            <a:off x="6847136" y="4829920"/>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Runs every Monday</a:t>
            </a:r>
            <a:endParaRPr lang="en-US" sz="750" dirty="0"/>
          </a:p>
        </p:txBody>
      </p:sp>
      <p:sp>
        <p:nvSpPr>
          <p:cNvPr id="34" name="Text 25"/>
          <p:cNvSpPr/>
          <p:nvPr/>
        </p:nvSpPr>
        <p:spPr>
          <a:xfrm>
            <a:off x="2776240" y="4483300"/>
            <a:ext cx="1473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35" name="Text 26"/>
          <p:cNvSpPr/>
          <p:nvPr/>
        </p:nvSpPr>
        <p:spPr>
          <a:xfrm>
            <a:off x="2776240" y="4483300"/>
            <a:ext cx="63401" cy="431750"/>
          </a:xfrm>
          <a:prstGeom prst="rect">
            <a:avLst/>
          </a:prstGeom>
          <a:solidFill>
            <a:srgbClr val="1F2328"/>
          </a:solidFill>
          <a:ln/>
        </p:spPr>
        <p:txBody>
          <a:bodyPr wrap="square" rtlCol="0" anchor="ctr"/>
          <a:lstStyle/>
          <a:p>
            <a:pPr marL="0" indent="0">
              <a:buNone/>
            </a:pPr>
            <a:endParaRPr lang="en-US" dirty="0"/>
          </a:p>
        </p:txBody>
      </p:sp>
      <p:sp>
        <p:nvSpPr>
          <p:cNvPr id="36" name="Text 27"/>
          <p:cNvSpPr/>
          <p:nvPr/>
        </p:nvSpPr>
        <p:spPr>
          <a:xfrm>
            <a:off x="2915841" y="4559500"/>
            <a:ext cx="279350" cy="279350"/>
          </a:xfrm>
          <a:prstGeom prst="roundRect">
            <a:avLst>
              <a:gd name="adj" fmla="val 22731"/>
            </a:avLst>
          </a:prstGeom>
          <a:solidFill>
            <a:srgbClr val="F6F8FA"/>
          </a:solidFill>
          <a:ln/>
        </p:spPr>
        <p:txBody>
          <a:bodyPr wrap="square" rtlCol="0" anchor="ctr"/>
          <a:lstStyle/>
          <a:p>
            <a:pPr marL="0" indent="0">
              <a:buNone/>
            </a:pPr>
            <a:endParaRPr lang="en-US" dirty="0"/>
          </a:p>
        </p:txBody>
      </p:sp>
      <p:pic>
        <p:nvPicPr>
          <p:cNvPr id="37" name="Image 7" descr="/Users/danwahlin/.copilot/session-state/e7427b9a-9d65-4aa2-953c-14cedea46cbc/files/talkdeck/assets/icons/PiUser-1F2328.png"/>
          <p:cNvPicPr>
            <a:picLocks noChangeAspect="1"/>
          </p:cNvPicPr>
          <p:nvPr/>
        </p:nvPicPr>
        <p:blipFill>
          <a:blip r:embed="rId11"/>
          <a:stretch>
            <a:fillRect/>
          </a:stretch>
        </p:blipFill>
        <p:spPr>
          <a:xfrm>
            <a:off x="2966740" y="4610250"/>
            <a:ext cx="177701" cy="177701"/>
          </a:xfrm>
          <a:prstGeom prst="rect">
            <a:avLst/>
          </a:prstGeom>
        </p:spPr>
      </p:pic>
      <p:sp>
        <p:nvSpPr>
          <p:cNvPr id="38" name="Text 28"/>
          <p:cNvSpPr/>
          <p:nvPr/>
        </p:nvSpPr>
        <p:spPr>
          <a:xfrm>
            <a:off x="3284190" y="4546849"/>
            <a:ext cx="93268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You</a:t>
            </a:r>
            <a:endParaRPr lang="en-US" sz="950" dirty="0"/>
          </a:p>
        </p:txBody>
      </p:sp>
      <p:sp>
        <p:nvSpPr>
          <p:cNvPr id="39" name="Text 29"/>
          <p:cNvSpPr/>
          <p:nvPr/>
        </p:nvSpPr>
        <p:spPr>
          <a:xfrm>
            <a:off x="3284190" y="4711900"/>
            <a:ext cx="93268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Plan, review, approve</a:t>
            </a:r>
            <a:endParaRPr lang="en-US" sz="750" dirty="0"/>
          </a:p>
        </p:txBody>
      </p:sp>
      <p:sp>
        <p:nvSpPr>
          <p:cNvPr id="44" name="!!eyebrow"/>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0969DA"/>
                </a:solidFill>
                <a:latin typeface="Calibri" panose="020F0502020204030204" pitchFamily="34" charset="0"/>
                <a:ea typeface="Arial" pitchFamily="34" charset="-122"/>
                <a:cs typeface="Calibri" panose="020F0502020204030204" pitchFamily="34" charset="0"/>
              </a:rPr>
              <a:t>TODAY’S ORCHESTRA</a:t>
            </a:r>
            <a:endParaRPr lang="en-US" sz="1000" dirty="0">
              <a:latin typeface="Calibri" panose="020F0502020204030204" pitchFamily="34" charset="0"/>
              <a:cs typeface="Calibri" panose="020F0502020204030204" pitchFamily="34" charset="0"/>
            </a:endParaRPr>
          </a:p>
        </p:txBody>
      </p:sp>
      <p:sp>
        <p:nvSpPr>
          <p:cNvPr id="45" name="!!title"/>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Calibri" panose="020F0502020204030204" pitchFamily="34" charset="0"/>
                <a:ea typeface="Arial" pitchFamily="34" charset="-122"/>
                <a:cs typeface="Calibri" panose="020F0502020204030204" pitchFamily="34" charset="0"/>
              </a:rPr>
              <a:t>Each session plays its own part</a:t>
            </a:r>
            <a:endParaRPr lang="en-US" sz="2800" dirty="0">
              <a:latin typeface="Calibri" panose="020F0502020204030204" pitchFamily="34" charset="0"/>
              <a:cs typeface="Calibri" panose="020F0502020204030204" pitchFamily="34" charset="0"/>
            </a:endParaRPr>
          </a:p>
        </p:txBody>
      </p:sp>
      <p:pic>
        <p:nvPicPr>
          <p:cNvPr id="47" name="Image 1" descr="/Users/danwahlin/.copilot/session-state/e7427b9a-9d65-4aa2-953c-14cedea46cbc/files/talkdeck/assets/mark-dark.png">
            <a:extLst>
              <a:ext uri="{FF2B5EF4-FFF2-40B4-BE49-F238E27FC236}">
                <a16:creationId xmlns:a16="http://schemas.microsoft.com/office/drawing/2014/main" id="{832FBFF3-A542-FBDA-2807-5FB963513684}"/>
              </a:ext>
            </a:extLst>
          </p:cNvPr>
          <p:cNvPicPr>
            <a:picLocks noChangeAspect="1"/>
          </p:cNvPicPr>
          <p:nvPr/>
        </p:nvPicPr>
        <p:blipFill>
          <a:blip r:embed="rId12"/>
          <a:stretch>
            <a:fillRect/>
          </a:stretch>
        </p:blipFill>
        <p:spPr>
          <a:xfrm>
            <a:off x="8610600" y="165050"/>
            <a:ext cx="304800" cy="3048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6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700"/>
                                        <p:tgtEl>
                                          <p:spTgt spid="34"/>
                                        </p:tgtEl>
                                      </p:cBhvr>
                                    </p:animEffect>
                                    <p:anim calcmode="lin" valueType="num">
                                      <p:cBhvr>
                                        <p:cTn id="8" dur="700" fill="hold"/>
                                        <p:tgtEl>
                                          <p:spTgt spid="34"/>
                                        </p:tgtEl>
                                        <p:attrNameLst>
                                          <p:attrName>ppt_x</p:attrName>
                                        </p:attrNameLst>
                                      </p:cBhvr>
                                      <p:tavLst>
                                        <p:tav tm="0">
                                          <p:val>
                                            <p:strVal val="#ppt_x"/>
                                          </p:val>
                                        </p:tav>
                                        <p:tav tm="100000">
                                          <p:val>
                                            <p:strVal val="#ppt_x"/>
                                          </p:val>
                                        </p:tav>
                                      </p:tavLst>
                                    </p:anim>
                                    <p:anim calcmode="lin" valueType="num">
                                      <p:cBhvr>
                                        <p:cTn id="9" dur="700" fill="hold"/>
                                        <p:tgtEl>
                                          <p:spTgt spid="34"/>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700"/>
                                        <p:tgtEl>
                                          <p:spTgt spid="35"/>
                                        </p:tgtEl>
                                      </p:cBhvr>
                                    </p:animEffect>
                                    <p:anim calcmode="lin" valueType="num">
                                      <p:cBhvr>
                                        <p:cTn id="13" dur="700" fill="hold"/>
                                        <p:tgtEl>
                                          <p:spTgt spid="35"/>
                                        </p:tgtEl>
                                        <p:attrNameLst>
                                          <p:attrName>ppt_x</p:attrName>
                                        </p:attrNameLst>
                                      </p:cBhvr>
                                      <p:tavLst>
                                        <p:tav tm="0">
                                          <p:val>
                                            <p:strVal val="#ppt_x"/>
                                          </p:val>
                                        </p:tav>
                                        <p:tav tm="100000">
                                          <p:val>
                                            <p:strVal val="#ppt_x"/>
                                          </p:val>
                                        </p:tav>
                                      </p:tavLst>
                                    </p:anim>
                                    <p:anim calcmode="lin" valueType="num">
                                      <p:cBhvr>
                                        <p:cTn id="14" dur="700" fill="hold"/>
                                        <p:tgtEl>
                                          <p:spTgt spid="35"/>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700"/>
                                        <p:tgtEl>
                                          <p:spTgt spid="36"/>
                                        </p:tgtEl>
                                      </p:cBhvr>
                                    </p:animEffect>
                                    <p:anim calcmode="lin" valueType="num">
                                      <p:cBhvr>
                                        <p:cTn id="18" dur="700" fill="hold"/>
                                        <p:tgtEl>
                                          <p:spTgt spid="36"/>
                                        </p:tgtEl>
                                        <p:attrNameLst>
                                          <p:attrName>ppt_x</p:attrName>
                                        </p:attrNameLst>
                                      </p:cBhvr>
                                      <p:tavLst>
                                        <p:tav tm="0">
                                          <p:val>
                                            <p:strVal val="#ppt_x"/>
                                          </p:val>
                                        </p:tav>
                                        <p:tav tm="100000">
                                          <p:val>
                                            <p:strVal val="#ppt_x"/>
                                          </p:val>
                                        </p:tav>
                                      </p:tavLst>
                                    </p:anim>
                                    <p:anim calcmode="lin" valueType="num">
                                      <p:cBhvr>
                                        <p:cTn id="19" dur="700" fill="hold"/>
                                        <p:tgtEl>
                                          <p:spTgt spid="36"/>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700"/>
                                        <p:tgtEl>
                                          <p:spTgt spid="37"/>
                                        </p:tgtEl>
                                      </p:cBhvr>
                                    </p:animEffect>
                                    <p:anim calcmode="lin" valueType="num">
                                      <p:cBhvr>
                                        <p:cTn id="23" dur="700" fill="hold"/>
                                        <p:tgtEl>
                                          <p:spTgt spid="37"/>
                                        </p:tgtEl>
                                        <p:attrNameLst>
                                          <p:attrName>ppt_x</p:attrName>
                                        </p:attrNameLst>
                                      </p:cBhvr>
                                      <p:tavLst>
                                        <p:tav tm="0">
                                          <p:val>
                                            <p:strVal val="#ppt_x"/>
                                          </p:val>
                                        </p:tav>
                                        <p:tav tm="100000">
                                          <p:val>
                                            <p:strVal val="#ppt_x"/>
                                          </p:val>
                                        </p:tav>
                                      </p:tavLst>
                                    </p:anim>
                                    <p:anim calcmode="lin" valueType="num">
                                      <p:cBhvr>
                                        <p:cTn id="24" dur="700" fill="hold"/>
                                        <p:tgtEl>
                                          <p:spTgt spid="3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700"/>
                                        <p:tgtEl>
                                          <p:spTgt spid="38"/>
                                        </p:tgtEl>
                                      </p:cBhvr>
                                    </p:animEffect>
                                    <p:anim calcmode="lin" valueType="num">
                                      <p:cBhvr>
                                        <p:cTn id="28" dur="700" fill="hold"/>
                                        <p:tgtEl>
                                          <p:spTgt spid="38"/>
                                        </p:tgtEl>
                                        <p:attrNameLst>
                                          <p:attrName>ppt_x</p:attrName>
                                        </p:attrNameLst>
                                      </p:cBhvr>
                                      <p:tavLst>
                                        <p:tav tm="0">
                                          <p:val>
                                            <p:strVal val="#ppt_x"/>
                                          </p:val>
                                        </p:tav>
                                        <p:tav tm="100000">
                                          <p:val>
                                            <p:strVal val="#ppt_x"/>
                                          </p:val>
                                        </p:tav>
                                      </p:tavLst>
                                    </p:anim>
                                    <p:anim calcmode="lin" valueType="num">
                                      <p:cBhvr>
                                        <p:cTn id="29" dur="700" fill="hold"/>
                                        <p:tgtEl>
                                          <p:spTgt spid="38"/>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700"/>
                                        <p:tgtEl>
                                          <p:spTgt spid="39"/>
                                        </p:tgtEl>
                                      </p:cBhvr>
                                    </p:animEffect>
                                    <p:anim calcmode="lin" valueType="num">
                                      <p:cBhvr>
                                        <p:cTn id="33" dur="700" fill="hold"/>
                                        <p:tgtEl>
                                          <p:spTgt spid="39"/>
                                        </p:tgtEl>
                                        <p:attrNameLst>
                                          <p:attrName>ppt_x</p:attrName>
                                        </p:attrNameLst>
                                      </p:cBhvr>
                                      <p:tavLst>
                                        <p:tav tm="0">
                                          <p:val>
                                            <p:strVal val="#ppt_x"/>
                                          </p:val>
                                        </p:tav>
                                        <p:tav tm="100000">
                                          <p:val>
                                            <p:strVal val="#ppt_x"/>
                                          </p:val>
                                        </p:tav>
                                      </p:tavLst>
                                    </p:anim>
                                    <p:anim calcmode="lin" valueType="num">
                                      <p:cBhvr>
                                        <p:cTn id="34" dur="700" fill="hold"/>
                                        <p:tgtEl>
                                          <p:spTgt spid="39"/>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00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700"/>
                                        <p:tgtEl>
                                          <p:spTgt spid="16"/>
                                        </p:tgtEl>
                                      </p:cBhvr>
                                    </p:animEffect>
                                    <p:anim calcmode="lin" valueType="num">
                                      <p:cBhvr>
                                        <p:cTn id="38" dur="700" fill="hold"/>
                                        <p:tgtEl>
                                          <p:spTgt spid="16"/>
                                        </p:tgtEl>
                                        <p:attrNameLst>
                                          <p:attrName>ppt_x</p:attrName>
                                        </p:attrNameLst>
                                      </p:cBhvr>
                                      <p:tavLst>
                                        <p:tav tm="0">
                                          <p:val>
                                            <p:strVal val="#ppt_x"/>
                                          </p:val>
                                        </p:tav>
                                        <p:tav tm="100000">
                                          <p:val>
                                            <p:strVal val="#ppt_x"/>
                                          </p:val>
                                        </p:tav>
                                      </p:tavLst>
                                    </p:anim>
                                    <p:anim calcmode="lin" valueType="num">
                                      <p:cBhvr>
                                        <p:cTn id="39" dur="700" fill="hold"/>
                                        <p:tgtEl>
                                          <p:spTgt spid="16"/>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00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700"/>
                                        <p:tgtEl>
                                          <p:spTgt spid="17"/>
                                        </p:tgtEl>
                                      </p:cBhvr>
                                    </p:animEffect>
                                    <p:anim calcmode="lin" valueType="num">
                                      <p:cBhvr>
                                        <p:cTn id="43" dur="700" fill="hold"/>
                                        <p:tgtEl>
                                          <p:spTgt spid="17"/>
                                        </p:tgtEl>
                                        <p:attrNameLst>
                                          <p:attrName>ppt_x</p:attrName>
                                        </p:attrNameLst>
                                      </p:cBhvr>
                                      <p:tavLst>
                                        <p:tav tm="0">
                                          <p:val>
                                            <p:strVal val="#ppt_x"/>
                                          </p:val>
                                        </p:tav>
                                        <p:tav tm="100000">
                                          <p:val>
                                            <p:strVal val="#ppt_x"/>
                                          </p:val>
                                        </p:tav>
                                      </p:tavLst>
                                    </p:anim>
                                    <p:anim calcmode="lin" valueType="num">
                                      <p:cBhvr>
                                        <p:cTn id="44" dur="700" fill="hold"/>
                                        <p:tgtEl>
                                          <p:spTgt spid="17"/>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00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700"/>
                                        <p:tgtEl>
                                          <p:spTgt spid="18"/>
                                        </p:tgtEl>
                                      </p:cBhvr>
                                    </p:animEffect>
                                    <p:anim calcmode="lin" valueType="num">
                                      <p:cBhvr>
                                        <p:cTn id="48" dur="700" fill="hold"/>
                                        <p:tgtEl>
                                          <p:spTgt spid="18"/>
                                        </p:tgtEl>
                                        <p:attrNameLst>
                                          <p:attrName>ppt_x</p:attrName>
                                        </p:attrNameLst>
                                      </p:cBhvr>
                                      <p:tavLst>
                                        <p:tav tm="0">
                                          <p:val>
                                            <p:strVal val="#ppt_x"/>
                                          </p:val>
                                        </p:tav>
                                        <p:tav tm="100000">
                                          <p:val>
                                            <p:strVal val="#ppt_x"/>
                                          </p:val>
                                        </p:tav>
                                      </p:tavLst>
                                    </p:anim>
                                    <p:anim calcmode="lin" valueType="num">
                                      <p:cBhvr>
                                        <p:cTn id="49" dur="700" fill="hold"/>
                                        <p:tgtEl>
                                          <p:spTgt spid="18"/>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200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700"/>
                                        <p:tgtEl>
                                          <p:spTgt spid="19"/>
                                        </p:tgtEl>
                                      </p:cBhvr>
                                    </p:animEffect>
                                    <p:anim calcmode="lin" valueType="num">
                                      <p:cBhvr>
                                        <p:cTn id="53" dur="700" fill="hold"/>
                                        <p:tgtEl>
                                          <p:spTgt spid="19"/>
                                        </p:tgtEl>
                                        <p:attrNameLst>
                                          <p:attrName>ppt_x</p:attrName>
                                        </p:attrNameLst>
                                      </p:cBhvr>
                                      <p:tavLst>
                                        <p:tav tm="0">
                                          <p:val>
                                            <p:strVal val="#ppt_x"/>
                                          </p:val>
                                        </p:tav>
                                        <p:tav tm="100000">
                                          <p:val>
                                            <p:strVal val="#ppt_x"/>
                                          </p:val>
                                        </p:tav>
                                      </p:tavLst>
                                    </p:anim>
                                    <p:anim calcmode="lin" valueType="num">
                                      <p:cBhvr>
                                        <p:cTn id="54" dur="700" fill="hold"/>
                                        <p:tgtEl>
                                          <p:spTgt spid="19"/>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20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700"/>
                                        <p:tgtEl>
                                          <p:spTgt spid="20"/>
                                        </p:tgtEl>
                                      </p:cBhvr>
                                    </p:animEffect>
                                    <p:anim calcmode="lin" valueType="num">
                                      <p:cBhvr>
                                        <p:cTn id="58" dur="700" fill="hold"/>
                                        <p:tgtEl>
                                          <p:spTgt spid="20"/>
                                        </p:tgtEl>
                                        <p:attrNameLst>
                                          <p:attrName>ppt_x</p:attrName>
                                        </p:attrNameLst>
                                      </p:cBhvr>
                                      <p:tavLst>
                                        <p:tav tm="0">
                                          <p:val>
                                            <p:strVal val="#ppt_x"/>
                                          </p:val>
                                        </p:tav>
                                        <p:tav tm="100000">
                                          <p:val>
                                            <p:strVal val="#ppt_x"/>
                                          </p:val>
                                        </p:tav>
                                      </p:tavLst>
                                    </p:anim>
                                    <p:anim calcmode="lin" valueType="num">
                                      <p:cBhvr>
                                        <p:cTn id="59" dur="700" fill="hold"/>
                                        <p:tgtEl>
                                          <p:spTgt spid="20"/>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200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700"/>
                                        <p:tgtEl>
                                          <p:spTgt spid="21"/>
                                        </p:tgtEl>
                                      </p:cBhvr>
                                    </p:animEffect>
                                    <p:anim calcmode="lin" valueType="num">
                                      <p:cBhvr>
                                        <p:cTn id="63" dur="700" fill="hold"/>
                                        <p:tgtEl>
                                          <p:spTgt spid="21"/>
                                        </p:tgtEl>
                                        <p:attrNameLst>
                                          <p:attrName>ppt_x</p:attrName>
                                        </p:attrNameLst>
                                      </p:cBhvr>
                                      <p:tavLst>
                                        <p:tav tm="0">
                                          <p:val>
                                            <p:strVal val="#ppt_x"/>
                                          </p:val>
                                        </p:tav>
                                        <p:tav tm="100000">
                                          <p:val>
                                            <p:strVal val="#ppt_x"/>
                                          </p:val>
                                        </p:tav>
                                      </p:tavLst>
                                    </p:anim>
                                    <p:anim calcmode="lin" valueType="num">
                                      <p:cBhvr>
                                        <p:cTn id="64" dur="700" fill="hold"/>
                                        <p:tgtEl>
                                          <p:spTgt spid="21"/>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00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p:cTn id="68" dur="700" fill="hold"/>
                                        <p:tgtEl>
                                          <p:spTgt spid="22"/>
                                        </p:tgtEl>
                                        <p:attrNameLst>
                                          <p:attrName>ppt_x</p:attrName>
                                        </p:attrNameLst>
                                      </p:cBhvr>
                                      <p:tavLst>
                                        <p:tav tm="0">
                                          <p:val>
                                            <p:strVal val="#ppt_x"/>
                                          </p:val>
                                        </p:tav>
                                        <p:tav tm="100000">
                                          <p:val>
                                            <p:strVal val="#ppt_x"/>
                                          </p:val>
                                        </p:tav>
                                      </p:tavLst>
                                    </p:anim>
                                    <p:anim calcmode="lin" valueType="num">
                                      <p:cBhvr>
                                        <p:cTn id="69" dur="700" fill="hold"/>
                                        <p:tgtEl>
                                          <p:spTgt spid="22"/>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00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700"/>
                                        <p:tgtEl>
                                          <p:spTgt spid="23"/>
                                        </p:tgtEl>
                                      </p:cBhvr>
                                    </p:animEffect>
                                    <p:anim calcmode="lin" valueType="num">
                                      <p:cBhvr>
                                        <p:cTn id="73" dur="700" fill="hold"/>
                                        <p:tgtEl>
                                          <p:spTgt spid="23"/>
                                        </p:tgtEl>
                                        <p:attrNameLst>
                                          <p:attrName>ppt_x</p:attrName>
                                        </p:attrNameLst>
                                      </p:cBhvr>
                                      <p:tavLst>
                                        <p:tav tm="0">
                                          <p:val>
                                            <p:strVal val="#ppt_x"/>
                                          </p:val>
                                        </p:tav>
                                        <p:tav tm="100000">
                                          <p:val>
                                            <p:strVal val="#ppt_x"/>
                                          </p:val>
                                        </p:tav>
                                      </p:tavLst>
                                    </p:anim>
                                    <p:anim calcmode="lin" valueType="num">
                                      <p:cBhvr>
                                        <p:cTn id="74" dur="700" fill="hold"/>
                                        <p:tgtEl>
                                          <p:spTgt spid="23"/>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00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700"/>
                                        <p:tgtEl>
                                          <p:spTgt spid="24"/>
                                        </p:tgtEl>
                                      </p:cBhvr>
                                    </p:animEffect>
                                    <p:anim calcmode="lin" valueType="num">
                                      <p:cBhvr>
                                        <p:cTn id="78" dur="700" fill="hold"/>
                                        <p:tgtEl>
                                          <p:spTgt spid="24"/>
                                        </p:tgtEl>
                                        <p:attrNameLst>
                                          <p:attrName>ppt_x</p:attrName>
                                        </p:attrNameLst>
                                      </p:cBhvr>
                                      <p:tavLst>
                                        <p:tav tm="0">
                                          <p:val>
                                            <p:strVal val="#ppt_x"/>
                                          </p:val>
                                        </p:tav>
                                        <p:tav tm="100000">
                                          <p:val>
                                            <p:strVal val="#ppt_x"/>
                                          </p:val>
                                        </p:tav>
                                      </p:tavLst>
                                    </p:anim>
                                    <p:anim calcmode="lin" valueType="num">
                                      <p:cBhvr>
                                        <p:cTn id="79" dur="700" fill="hold"/>
                                        <p:tgtEl>
                                          <p:spTgt spid="24"/>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400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700"/>
                                        <p:tgtEl>
                                          <p:spTgt spid="25"/>
                                        </p:tgtEl>
                                      </p:cBhvr>
                                    </p:animEffect>
                                    <p:anim calcmode="lin" valueType="num">
                                      <p:cBhvr>
                                        <p:cTn id="83" dur="700" fill="hold"/>
                                        <p:tgtEl>
                                          <p:spTgt spid="25"/>
                                        </p:tgtEl>
                                        <p:attrNameLst>
                                          <p:attrName>ppt_x</p:attrName>
                                        </p:attrNameLst>
                                      </p:cBhvr>
                                      <p:tavLst>
                                        <p:tav tm="0">
                                          <p:val>
                                            <p:strVal val="#ppt_x"/>
                                          </p:val>
                                        </p:tav>
                                        <p:tav tm="100000">
                                          <p:val>
                                            <p:strVal val="#ppt_x"/>
                                          </p:val>
                                        </p:tav>
                                      </p:tavLst>
                                    </p:anim>
                                    <p:anim calcmode="lin" valueType="num">
                                      <p:cBhvr>
                                        <p:cTn id="84" dur="700" fill="hold"/>
                                        <p:tgtEl>
                                          <p:spTgt spid="25"/>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4000"/>
                                  </p:stCondLst>
                                  <p:childTnLst>
                                    <p:set>
                                      <p:cBhvr>
                                        <p:cTn id="86" dur="1" fill="hold">
                                          <p:stCondLst>
                                            <p:cond delay="0"/>
                                          </p:stCondLst>
                                        </p:cTn>
                                        <p:tgtEl>
                                          <p:spTgt spid="26"/>
                                        </p:tgtEl>
                                        <p:attrNameLst>
                                          <p:attrName>style.visibility</p:attrName>
                                        </p:attrNameLst>
                                      </p:cBhvr>
                                      <p:to>
                                        <p:strVal val="visible"/>
                                      </p:to>
                                    </p:set>
                                    <p:animEffect transition="in" filter="fade">
                                      <p:cBhvr>
                                        <p:cTn id="87" dur="700"/>
                                        <p:tgtEl>
                                          <p:spTgt spid="26"/>
                                        </p:tgtEl>
                                      </p:cBhvr>
                                    </p:animEffect>
                                    <p:anim calcmode="lin" valueType="num">
                                      <p:cBhvr>
                                        <p:cTn id="88" dur="700" fill="hold"/>
                                        <p:tgtEl>
                                          <p:spTgt spid="26"/>
                                        </p:tgtEl>
                                        <p:attrNameLst>
                                          <p:attrName>ppt_x</p:attrName>
                                        </p:attrNameLst>
                                      </p:cBhvr>
                                      <p:tavLst>
                                        <p:tav tm="0">
                                          <p:val>
                                            <p:strVal val="#ppt_x"/>
                                          </p:val>
                                        </p:tav>
                                        <p:tav tm="100000">
                                          <p:val>
                                            <p:strVal val="#ppt_x"/>
                                          </p:val>
                                        </p:tav>
                                      </p:tavLst>
                                    </p:anim>
                                    <p:anim calcmode="lin" valueType="num">
                                      <p:cBhvr>
                                        <p:cTn id="89" dur="700" fill="hold"/>
                                        <p:tgtEl>
                                          <p:spTgt spid="26"/>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400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p:cTn id="93" dur="700" fill="hold"/>
                                        <p:tgtEl>
                                          <p:spTgt spid="27"/>
                                        </p:tgtEl>
                                        <p:attrNameLst>
                                          <p:attrName>ppt_x</p:attrName>
                                        </p:attrNameLst>
                                      </p:cBhvr>
                                      <p:tavLst>
                                        <p:tav tm="0">
                                          <p:val>
                                            <p:strVal val="#ppt_x"/>
                                          </p:val>
                                        </p:tav>
                                        <p:tav tm="100000">
                                          <p:val>
                                            <p:strVal val="#ppt_x"/>
                                          </p:val>
                                        </p:tav>
                                      </p:tavLst>
                                    </p:anim>
                                    <p:anim calcmode="lin" valueType="num">
                                      <p:cBhvr>
                                        <p:cTn id="94" dur="700" fill="hold"/>
                                        <p:tgtEl>
                                          <p:spTgt spid="27"/>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000"/>
                                  </p:stCondLst>
                                  <p:childTnLst>
                                    <p:set>
                                      <p:cBhvr>
                                        <p:cTn id="96" dur="1" fill="hold">
                                          <p:stCondLst>
                                            <p:cond delay="0"/>
                                          </p:stCondLst>
                                        </p:cTn>
                                        <p:tgtEl>
                                          <p:spTgt spid="10"/>
                                        </p:tgtEl>
                                        <p:attrNameLst>
                                          <p:attrName>style.visibility</p:attrName>
                                        </p:attrNameLst>
                                      </p:cBhvr>
                                      <p:to>
                                        <p:strVal val="visible"/>
                                      </p:to>
                                    </p:set>
                                    <p:animEffect transition="in" filter="fade">
                                      <p:cBhvr>
                                        <p:cTn id="97" dur="700"/>
                                        <p:tgtEl>
                                          <p:spTgt spid="10"/>
                                        </p:tgtEl>
                                      </p:cBhvr>
                                    </p:animEffect>
                                    <p:anim calcmode="lin" valueType="num">
                                      <p:cBhvr>
                                        <p:cTn id="98" dur="700" fill="hold"/>
                                        <p:tgtEl>
                                          <p:spTgt spid="10"/>
                                        </p:tgtEl>
                                        <p:attrNameLst>
                                          <p:attrName>ppt_x</p:attrName>
                                        </p:attrNameLst>
                                      </p:cBhvr>
                                      <p:tavLst>
                                        <p:tav tm="0">
                                          <p:val>
                                            <p:strVal val="#ppt_x"/>
                                          </p:val>
                                        </p:tav>
                                        <p:tav tm="100000">
                                          <p:val>
                                            <p:strVal val="#ppt_x"/>
                                          </p:val>
                                        </p:tav>
                                      </p:tavLst>
                                    </p:anim>
                                    <p:anim calcmode="lin" valueType="num">
                                      <p:cBhvr>
                                        <p:cTn id="99" dur="700" fill="hold"/>
                                        <p:tgtEl>
                                          <p:spTgt spid="10"/>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000"/>
                                  </p:stCondLst>
                                  <p:childTnLst>
                                    <p:set>
                                      <p:cBhvr>
                                        <p:cTn id="101" dur="1" fill="hold">
                                          <p:stCondLst>
                                            <p:cond delay="0"/>
                                          </p:stCondLst>
                                        </p:cTn>
                                        <p:tgtEl>
                                          <p:spTgt spid="11"/>
                                        </p:tgtEl>
                                        <p:attrNameLst>
                                          <p:attrName>style.visibility</p:attrName>
                                        </p:attrNameLst>
                                      </p:cBhvr>
                                      <p:to>
                                        <p:strVal val="visible"/>
                                      </p:to>
                                    </p:set>
                                    <p:animEffect transition="in" filter="fade">
                                      <p:cBhvr>
                                        <p:cTn id="102" dur="700"/>
                                        <p:tgtEl>
                                          <p:spTgt spid="11"/>
                                        </p:tgtEl>
                                      </p:cBhvr>
                                    </p:animEffect>
                                    <p:anim calcmode="lin" valueType="num">
                                      <p:cBhvr>
                                        <p:cTn id="103" dur="700" fill="hold"/>
                                        <p:tgtEl>
                                          <p:spTgt spid="11"/>
                                        </p:tgtEl>
                                        <p:attrNameLst>
                                          <p:attrName>ppt_x</p:attrName>
                                        </p:attrNameLst>
                                      </p:cBhvr>
                                      <p:tavLst>
                                        <p:tav tm="0">
                                          <p:val>
                                            <p:strVal val="#ppt_x"/>
                                          </p:val>
                                        </p:tav>
                                        <p:tav tm="100000">
                                          <p:val>
                                            <p:strVal val="#ppt_x"/>
                                          </p:val>
                                        </p:tav>
                                      </p:tavLst>
                                    </p:anim>
                                    <p:anim calcmode="lin" valueType="num">
                                      <p:cBhvr>
                                        <p:cTn id="104" dur="700" fill="hold"/>
                                        <p:tgtEl>
                                          <p:spTgt spid="11"/>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6000"/>
                                  </p:stCondLst>
                                  <p:childTnLst>
                                    <p:set>
                                      <p:cBhvr>
                                        <p:cTn id="106" dur="1" fill="hold">
                                          <p:stCondLst>
                                            <p:cond delay="0"/>
                                          </p:stCondLst>
                                        </p:cTn>
                                        <p:tgtEl>
                                          <p:spTgt spid="12"/>
                                        </p:tgtEl>
                                        <p:attrNameLst>
                                          <p:attrName>style.visibility</p:attrName>
                                        </p:attrNameLst>
                                      </p:cBhvr>
                                      <p:to>
                                        <p:strVal val="visible"/>
                                      </p:to>
                                    </p:set>
                                    <p:animEffect transition="in" filter="fade">
                                      <p:cBhvr>
                                        <p:cTn id="107" dur="700"/>
                                        <p:tgtEl>
                                          <p:spTgt spid="12"/>
                                        </p:tgtEl>
                                      </p:cBhvr>
                                    </p:animEffect>
                                    <p:anim calcmode="lin" valueType="num">
                                      <p:cBhvr>
                                        <p:cTn id="108" dur="700" fill="hold"/>
                                        <p:tgtEl>
                                          <p:spTgt spid="12"/>
                                        </p:tgtEl>
                                        <p:attrNameLst>
                                          <p:attrName>ppt_x</p:attrName>
                                        </p:attrNameLst>
                                      </p:cBhvr>
                                      <p:tavLst>
                                        <p:tav tm="0">
                                          <p:val>
                                            <p:strVal val="#ppt_x"/>
                                          </p:val>
                                        </p:tav>
                                        <p:tav tm="100000">
                                          <p:val>
                                            <p:strVal val="#ppt_x"/>
                                          </p:val>
                                        </p:tav>
                                      </p:tavLst>
                                    </p:anim>
                                    <p:anim calcmode="lin" valueType="num">
                                      <p:cBhvr>
                                        <p:cTn id="109" dur="700" fill="hold"/>
                                        <p:tgtEl>
                                          <p:spTgt spid="12"/>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6000"/>
                                  </p:stCondLst>
                                  <p:childTnLst>
                                    <p:set>
                                      <p:cBhvr>
                                        <p:cTn id="111" dur="1" fill="hold">
                                          <p:stCondLst>
                                            <p:cond delay="0"/>
                                          </p:stCondLst>
                                        </p:cTn>
                                        <p:tgtEl>
                                          <p:spTgt spid="13"/>
                                        </p:tgtEl>
                                        <p:attrNameLst>
                                          <p:attrName>style.visibility</p:attrName>
                                        </p:attrNameLst>
                                      </p:cBhvr>
                                      <p:to>
                                        <p:strVal val="visible"/>
                                      </p:to>
                                    </p:set>
                                    <p:animEffect transition="in" filter="fade">
                                      <p:cBhvr>
                                        <p:cTn id="112" dur="700"/>
                                        <p:tgtEl>
                                          <p:spTgt spid="13"/>
                                        </p:tgtEl>
                                      </p:cBhvr>
                                    </p:animEffect>
                                    <p:anim calcmode="lin" valueType="num">
                                      <p:cBhvr>
                                        <p:cTn id="113" dur="700" fill="hold"/>
                                        <p:tgtEl>
                                          <p:spTgt spid="13"/>
                                        </p:tgtEl>
                                        <p:attrNameLst>
                                          <p:attrName>ppt_x</p:attrName>
                                        </p:attrNameLst>
                                      </p:cBhvr>
                                      <p:tavLst>
                                        <p:tav tm="0">
                                          <p:val>
                                            <p:strVal val="#ppt_x"/>
                                          </p:val>
                                        </p:tav>
                                        <p:tav tm="100000">
                                          <p:val>
                                            <p:strVal val="#ppt_x"/>
                                          </p:val>
                                        </p:tav>
                                      </p:tavLst>
                                    </p:anim>
                                    <p:anim calcmode="lin" valueType="num">
                                      <p:cBhvr>
                                        <p:cTn id="114" dur="700" fill="hold"/>
                                        <p:tgtEl>
                                          <p:spTgt spid="13"/>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6000"/>
                                  </p:stCondLst>
                                  <p:childTnLst>
                                    <p:set>
                                      <p:cBhvr>
                                        <p:cTn id="116" dur="1" fill="hold">
                                          <p:stCondLst>
                                            <p:cond delay="0"/>
                                          </p:stCondLst>
                                        </p:cTn>
                                        <p:tgtEl>
                                          <p:spTgt spid="14"/>
                                        </p:tgtEl>
                                        <p:attrNameLst>
                                          <p:attrName>style.visibility</p:attrName>
                                        </p:attrNameLst>
                                      </p:cBhvr>
                                      <p:to>
                                        <p:strVal val="visible"/>
                                      </p:to>
                                    </p:set>
                                    <p:animEffect transition="in" filter="fade">
                                      <p:cBhvr>
                                        <p:cTn id="117" dur="700"/>
                                        <p:tgtEl>
                                          <p:spTgt spid="14"/>
                                        </p:tgtEl>
                                      </p:cBhvr>
                                    </p:animEffect>
                                    <p:anim calcmode="lin" valueType="num">
                                      <p:cBhvr>
                                        <p:cTn id="118" dur="700" fill="hold"/>
                                        <p:tgtEl>
                                          <p:spTgt spid="14"/>
                                        </p:tgtEl>
                                        <p:attrNameLst>
                                          <p:attrName>ppt_x</p:attrName>
                                        </p:attrNameLst>
                                      </p:cBhvr>
                                      <p:tavLst>
                                        <p:tav tm="0">
                                          <p:val>
                                            <p:strVal val="#ppt_x"/>
                                          </p:val>
                                        </p:tav>
                                        <p:tav tm="100000">
                                          <p:val>
                                            <p:strVal val="#ppt_x"/>
                                          </p:val>
                                        </p:tav>
                                      </p:tavLst>
                                    </p:anim>
                                    <p:anim calcmode="lin" valueType="num">
                                      <p:cBhvr>
                                        <p:cTn id="119" dur="700" fill="hold"/>
                                        <p:tgtEl>
                                          <p:spTgt spid="14"/>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6000"/>
                                  </p:stCondLst>
                                  <p:childTnLst>
                                    <p:set>
                                      <p:cBhvr>
                                        <p:cTn id="121" dur="1" fill="hold">
                                          <p:stCondLst>
                                            <p:cond delay="0"/>
                                          </p:stCondLst>
                                        </p:cTn>
                                        <p:tgtEl>
                                          <p:spTgt spid="15"/>
                                        </p:tgtEl>
                                        <p:attrNameLst>
                                          <p:attrName>style.visibility</p:attrName>
                                        </p:attrNameLst>
                                      </p:cBhvr>
                                      <p:to>
                                        <p:strVal val="visible"/>
                                      </p:to>
                                    </p:set>
                                    <p:animEffect transition="in" filter="fade">
                                      <p:cBhvr>
                                        <p:cTn id="122" dur="700"/>
                                        <p:tgtEl>
                                          <p:spTgt spid="15"/>
                                        </p:tgtEl>
                                      </p:cBhvr>
                                    </p:animEffect>
                                    <p:anim calcmode="lin" valueType="num">
                                      <p:cBhvr>
                                        <p:cTn id="123" dur="700" fill="hold"/>
                                        <p:tgtEl>
                                          <p:spTgt spid="15"/>
                                        </p:tgtEl>
                                        <p:attrNameLst>
                                          <p:attrName>ppt_x</p:attrName>
                                        </p:attrNameLst>
                                      </p:cBhvr>
                                      <p:tavLst>
                                        <p:tav tm="0">
                                          <p:val>
                                            <p:strVal val="#ppt_x"/>
                                          </p:val>
                                        </p:tav>
                                        <p:tav tm="100000">
                                          <p:val>
                                            <p:strVal val="#ppt_x"/>
                                          </p:val>
                                        </p:tav>
                                      </p:tavLst>
                                    </p:anim>
                                    <p:anim calcmode="lin" valueType="num">
                                      <p:cBhvr>
                                        <p:cTn id="124" dur="700" fill="hold"/>
                                        <p:tgtEl>
                                          <p:spTgt spid="15"/>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8000"/>
                                  </p:stCondLst>
                                  <p:childTnLst>
                                    <p:set>
                                      <p:cBhvr>
                                        <p:cTn id="126" dur="1" fill="hold">
                                          <p:stCondLst>
                                            <p:cond delay="0"/>
                                          </p:stCondLst>
                                        </p:cTn>
                                        <p:tgtEl>
                                          <p:spTgt spid="4"/>
                                        </p:tgtEl>
                                        <p:attrNameLst>
                                          <p:attrName>style.visibility</p:attrName>
                                        </p:attrNameLst>
                                      </p:cBhvr>
                                      <p:to>
                                        <p:strVal val="visible"/>
                                      </p:to>
                                    </p:set>
                                    <p:animEffect transition="in" filter="fade">
                                      <p:cBhvr>
                                        <p:cTn id="127" dur="700"/>
                                        <p:tgtEl>
                                          <p:spTgt spid="4"/>
                                        </p:tgtEl>
                                      </p:cBhvr>
                                    </p:animEffect>
                                    <p:anim calcmode="lin" valueType="num">
                                      <p:cBhvr>
                                        <p:cTn id="128" dur="700" fill="hold"/>
                                        <p:tgtEl>
                                          <p:spTgt spid="4"/>
                                        </p:tgtEl>
                                        <p:attrNameLst>
                                          <p:attrName>ppt_x</p:attrName>
                                        </p:attrNameLst>
                                      </p:cBhvr>
                                      <p:tavLst>
                                        <p:tav tm="0">
                                          <p:val>
                                            <p:strVal val="#ppt_x"/>
                                          </p:val>
                                        </p:tav>
                                        <p:tav tm="100000">
                                          <p:val>
                                            <p:strVal val="#ppt_x"/>
                                          </p:val>
                                        </p:tav>
                                      </p:tavLst>
                                    </p:anim>
                                    <p:anim calcmode="lin" valueType="num">
                                      <p:cBhvr>
                                        <p:cTn id="129" dur="700" fill="hold"/>
                                        <p:tgtEl>
                                          <p:spTgt spid="4"/>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8000"/>
                                  </p:stCondLst>
                                  <p:childTnLst>
                                    <p:set>
                                      <p:cBhvr>
                                        <p:cTn id="131" dur="1" fill="hold">
                                          <p:stCondLst>
                                            <p:cond delay="0"/>
                                          </p:stCondLst>
                                        </p:cTn>
                                        <p:tgtEl>
                                          <p:spTgt spid="5"/>
                                        </p:tgtEl>
                                        <p:attrNameLst>
                                          <p:attrName>style.visibility</p:attrName>
                                        </p:attrNameLst>
                                      </p:cBhvr>
                                      <p:to>
                                        <p:strVal val="visible"/>
                                      </p:to>
                                    </p:set>
                                    <p:animEffect transition="in" filter="fade">
                                      <p:cBhvr>
                                        <p:cTn id="132" dur="700"/>
                                        <p:tgtEl>
                                          <p:spTgt spid="5"/>
                                        </p:tgtEl>
                                      </p:cBhvr>
                                    </p:animEffect>
                                    <p:anim calcmode="lin" valueType="num">
                                      <p:cBhvr>
                                        <p:cTn id="133" dur="700" fill="hold"/>
                                        <p:tgtEl>
                                          <p:spTgt spid="5"/>
                                        </p:tgtEl>
                                        <p:attrNameLst>
                                          <p:attrName>ppt_x</p:attrName>
                                        </p:attrNameLst>
                                      </p:cBhvr>
                                      <p:tavLst>
                                        <p:tav tm="0">
                                          <p:val>
                                            <p:strVal val="#ppt_x"/>
                                          </p:val>
                                        </p:tav>
                                        <p:tav tm="100000">
                                          <p:val>
                                            <p:strVal val="#ppt_x"/>
                                          </p:val>
                                        </p:tav>
                                      </p:tavLst>
                                    </p:anim>
                                    <p:anim calcmode="lin" valueType="num">
                                      <p:cBhvr>
                                        <p:cTn id="134" dur="700" fill="hold"/>
                                        <p:tgtEl>
                                          <p:spTgt spid="5"/>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8000"/>
                                  </p:stCondLst>
                                  <p:childTnLst>
                                    <p:set>
                                      <p:cBhvr>
                                        <p:cTn id="136" dur="1" fill="hold">
                                          <p:stCondLst>
                                            <p:cond delay="0"/>
                                          </p:stCondLst>
                                        </p:cTn>
                                        <p:tgtEl>
                                          <p:spTgt spid="6"/>
                                        </p:tgtEl>
                                        <p:attrNameLst>
                                          <p:attrName>style.visibility</p:attrName>
                                        </p:attrNameLst>
                                      </p:cBhvr>
                                      <p:to>
                                        <p:strVal val="visible"/>
                                      </p:to>
                                    </p:set>
                                    <p:animEffect transition="in" filter="fade">
                                      <p:cBhvr>
                                        <p:cTn id="137" dur="700"/>
                                        <p:tgtEl>
                                          <p:spTgt spid="6"/>
                                        </p:tgtEl>
                                      </p:cBhvr>
                                    </p:animEffect>
                                    <p:anim calcmode="lin" valueType="num">
                                      <p:cBhvr>
                                        <p:cTn id="138" dur="700" fill="hold"/>
                                        <p:tgtEl>
                                          <p:spTgt spid="6"/>
                                        </p:tgtEl>
                                        <p:attrNameLst>
                                          <p:attrName>ppt_x</p:attrName>
                                        </p:attrNameLst>
                                      </p:cBhvr>
                                      <p:tavLst>
                                        <p:tav tm="0">
                                          <p:val>
                                            <p:strVal val="#ppt_x"/>
                                          </p:val>
                                        </p:tav>
                                        <p:tav tm="100000">
                                          <p:val>
                                            <p:strVal val="#ppt_x"/>
                                          </p:val>
                                        </p:tav>
                                      </p:tavLst>
                                    </p:anim>
                                    <p:anim calcmode="lin" valueType="num">
                                      <p:cBhvr>
                                        <p:cTn id="139" dur="700" fill="hold"/>
                                        <p:tgtEl>
                                          <p:spTgt spid="6"/>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8000"/>
                                  </p:stCondLst>
                                  <p:childTnLst>
                                    <p:set>
                                      <p:cBhvr>
                                        <p:cTn id="141" dur="1" fill="hold">
                                          <p:stCondLst>
                                            <p:cond delay="0"/>
                                          </p:stCondLst>
                                        </p:cTn>
                                        <p:tgtEl>
                                          <p:spTgt spid="7"/>
                                        </p:tgtEl>
                                        <p:attrNameLst>
                                          <p:attrName>style.visibility</p:attrName>
                                        </p:attrNameLst>
                                      </p:cBhvr>
                                      <p:to>
                                        <p:strVal val="visible"/>
                                      </p:to>
                                    </p:set>
                                    <p:animEffect transition="in" filter="fade">
                                      <p:cBhvr>
                                        <p:cTn id="142" dur="700"/>
                                        <p:tgtEl>
                                          <p:spTgt spid="7"/>
                                        </p:tgtEl>
                                      </p:cBhvr>
                                    </p:animEffect>
                                    <p:anim calcmode="lin" valueType="num">
                                      <p:cBhvr>
                                        <p:cTn id="143" dur="700" fill="hold"/>
                                        <p:tgtEl>
                                          <p:spTgt spid="7"/>
                                        </p:tgtEl>
                                        <p:attrNameLst>
                                          <p:attrName>ppt_x</p:attrName>
                                        </p:attrNameLst>
                                      </p:cBhvr>
                                      <p:tavLst>
                                        <p:tav tm="0">
                                          <p:val>
                                            <p:strVal val="#ppt_x"/>
                                          </p:val>
                                        </p:tav>
                                        <p:tav tm="100000">
                                          <p:val>
                                            <p:strVal val="#ppt_x"/>
                                          </p:val>
                                        </p:tav>
                                      </p:tavLst>
                                    </p:anim>
                                    <p:anim calcmode="lin" valueType="num">
                                      <p:cBhvr>
                                        <p:cTn id="144" dur="700" fill="hold"/>
                                        <p:tgtEl>
                                          <p:spTgt spid="7"/>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8000"/>
                                  </p:stCondLst>
                                  <p:childTnLst>
                                    <p:set>
                                      <p:cBhvr>
                                        <p:cTn id="146" dur="1" fill="hold">
                                          <p:stCondLst>
                                            <p:cond delay="0"/>
                                          </p:stCondLst>
                                        </p:cTn>
                                        <p:tgtEl>
                                          <p:spTgt spid="8"/>
                                        </p:tgtEl>
                                        <p:attrNameLst>
                                          <p:attrName>style.visibility</p:attrName>
                                        </p:attrNameLst>
                                      </p:cBhvr>
                                      <p:to>
                                        <p:strVal val="visible"/>
                                      </p:to>
                                    </p:set>
                                    <p:animEffect transition="in" filter="fade">
                                      <p:cBhvr>
                                        <p:cTn id="147" dur="700"/>
                                        <p:tgtEl>
                                          <p:spTgt spid="8"/>
                                        </p:tgtEl>
                                      </p:cBhvr>
                                    </p:animEffect>
                                    <p:anim calcmode="lin" valueType="num">
                                      <p:cBhvr>
                                        <p:cTn id="148" dur="700" fill="hold"/>
                                        <p:tgtEl>
                                          <p:spTgt spid="8"/>
                                        </p:tgtEl>
                                        <p:attrNameLst>
                                          <p:attrName>ppt_x</p:attrName>
                                        </p:attrNameLst>
                                      </p:cBhvr>
                                      <p:tavLst>
                                        <p:tav tm="0">
                                          <p:val>
                                            <p:strVal val="#ppt_x"/>
                                          </p:val>
                                        </p:tav>
                                        <p:tav tm="100000">
                                          <p:val>
                                            <p:strVal val="#ppt_x"/>
                                          </p:val>
                                        </p:tav>
                                      </p:tavLst>
                                    </p:anim>
                                    <p:anim calcmode="lin" valueType="num">
                                      <p:cBhvr>
                                        <p:cTn id="149" dur="700" fill="hold"/>
                                        <p:tgtEl>
                                          <p:spTgt spid="8"/>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8000"/>
                                  </p:stCondLst>
                                  <p:childTnLst>
                                    <p:set>
                                      <p:cBhvr>
                                        <p:cTn id="151" dur="1" fill="hold">
                                          <p:stCondLst>
                                            <p:cond delay="0"/>
                                          </p:stCondLst>
                                        </p:cTn>
                                        <p:tgtEl>
                                          <p:spTgt spid="9"/>
                                        </p:tgtEl>
                                        <p:attrNameLst>
                                          <p:attrName>style.visibility</p:attrName>
                                        </p:attrNameLst>
                                      </p:cBhvr>
                                      <p:to>
                                        <p:strVal val="visible"/>
                                      </p:to>
                                    </p:set>
                                    <p:animEffect transition="in" filter="fade">
                                      <p:cBhvr>
                                        <p:cTn id="152" dur="700"/>
                                        <p:tgtEl>
                                          <p:spTgt spid="9"/>
                                        </p:tgtEl>
                                      </p:cBhvr>
                                    </p:animEffect>
                                    <p:anim calcmode="lin" valueType="num">
                                      <p:cBhvr>
                                        <p:cTn id="153" dur="700" fill="hold"/>
                                        <p:tgtEl>
                                          <p:spTgt spid="9"/>
                                        </p:tgtEl>
                                        <p:attrNameLst>
                                          <p:attrName>ppt_x</p:attrName>
                                        </p:attrNameLst>
                                      </p:cBhvr>
                                      <p:tavLst>
                                        <p:tav tm="0">
                                          <p:val>
                                            <p:strVal val="#ppt_x"/>
                                          </p:val>
                                        </p:tav>
                                        <p:tav tm="100000">
                                          <p:val>
                                            <p:strVal val="#ppt_x"/>
                                          </p:val>
                                        </p:tav>
                                      </p:tavLst>
                                    </p:anim>
                                    <p:anim calcmode="lin" valueType="num">
                                      <p:cBhvr>
                                        <p:cTn id="154" dur="700" fill="hold"/>
                                        <p:tgtEl>
                                          <p:spTgt spid="9"/>
                                        </p:tgtEl>
                                        <p:attrNameLst>
                                          <p:attrName>ppt_y</p:attrName>
                                        </p:attrNameLst>
                                      </p:cBhvr>
                                      <p:tavLst>
                                        <p:tav tm="0">
                                          <p:val>
                                            <p:strVal val="#ppt_y+.1"/>
                                          </p:val>
                                        </p:tav>
                                        <p:tav tm="100000">
                                          <p:val>
                                            <p:strVal val="#ppt_y"/>
                                          </p:val>
                                        </p:tav>
                                      </p:tavLst>
                                    </p:anim>
                                  </p:childTnLst>
                                </p:cTn>
                              </p:par>
                              <p:par>
                                <p:cTn id="155" presetID="42" presetClass="entr" presetSubtype="0" fill="hold" grpId="0" nodeType="withEffect">
                                  <p:stCondLst>
                                    <p:cond delay="10000"/>
                                  </p:stCondLst>
                                  <p:childTnLst>
                                    <p:set>
                                      <p:cBhvr>
                                        <p:cTn id="156" dur="1" fill="hold">
                                          <p:stCondLst>
                                            <p:cond delay="0"/>
                                          </p:stCondLst>
                                        </p:cTn>
                                        <p:tgtEl>
                                          <p:spTgt spid="28"/>
                                        </p:tgtEl>
                                        <p:attrNameLst>
                                          <p:attrName>style.visibility</p:attrName>
                                        </p:attrNameLst>
                                      </p:cBhvr>
                                      <p:to>
                                        <p:strVal val="visible"/>
                                      </p:to>
                                    </p:set>
                                    <p:animEffect transition="in" filter="fade">
                                      <p:cBhvr>
                                        <p:cTn id="157" dur="700"/>
                                        <p:tgtEl>
                                          <p:spTgt spid="28"/>
                                        </p:tgtEl>
                                      </p:cBhvr>
                                    </p:animEffect>
                                    <p:anim calcmode="lin" valueType="num">
                                      <p:cBhvr>
                                        <p:cTn id="158" dur="700" fill="hold"/>
                                        <p:tgtEl>
                                          <p:spTgt spid="28"/>
                                        </p:tgtEl>
                                        <p:attrNameLst>
                                          <p:attrName>ppt_x</p:attrName>
                                        </p:attrNameLst>
                                      </p:cBhvr>
                                      <p:tavLst>
                                        <p:tav tm="0">
                                          <p:val>
                                            <p:strVal val="#ppt_x"/>
                                          </p:val>
                                        </p:tav>
                                        <p:tav tm="100000">
                                          <p:val>
                                            <p:strVal val="#ppt_x"/>
                                          </p:val>
                                        </p:tav>
                                      </p:tavLst>
                                    </p:anim>
                                    <p:anim calcmode="lin" valueType="num">
                                      <p:cBhvr>
                                        <p:cTn id="159" dur="700" fill="hold"/>
                                        <p:tgtEl>
                                          <p:spTgt spid="28"/>
                                        </p:tgtEl>
                                        <p:attrNameLst>
                                          <p:attrName>ppt_y</p:attrName>
                                        </p:attrNameLst>
                                      </p:cBhvr>
                                      <p:tavLst>
                                        <p:tav tm="0">
                                          <p:val>
                                            <p:strVal val="#ppt_y+.1"/>
                                          </p:val>
                                        </p:tav>
                                        <p:tav tm="100000">
                                          <p:val>
                                            <p:strVal val="#ppt_y"/>
                                          </p:val>
                                        </p:tav>
                                      </p:tavLst>
                                    </p:anim>
                                  </p:childTnLst>
                                </p:cTn>
                              </p:par>
                              <p:par>
                                <p:cTn id="160" presetID="42" presetClass="entr" presetSubtype="0" fill="hold" grpId="0" nodeType="withEffect">
                                  <p:stCondLst>
                                    <p:cond delay="10000"/>
                                  </p:stCondLst>
                                  <p:childTnLst>
                                    <p:set>
                                      <p:cBhvr>
                                        <p:cTn id="161" dur="1" fill="hold">
                                          <p:stCondLst>
                                            <p:cond delay="0"/>
                                          </p:stCondLst>
                                        </p:cTn>
                                        <p:tgtEl>
                                          <p:spTgt spid="29"/>
                                        </p:tgtEl>
                                        <p:attrNameLst>
                                          <p:attrName>style.visibility</p:attrName>
                                        </p:attrNameLst>
                                      </p:cBhvr>
                                      <p:to>
                                        <p:strVal val="visible"/>
                                      </p:to>
                                    </p:set>
                                    <p:animEffect transition="in" filter="fade">
                                      <p:cBhvr>
                                        <p:cTn id="162" dur="700"/>
                                        <p:tgtEl>
                                          <p:spTgt spid="29"/>
                                        </p:tgtEl>
                                      </p:cBhvr>
                                    </p:animEffect>
                                    <p:anim calcmode="lin" valueType="num">
                                      <p:cBhvr>
                                        <p:cTn id="163" dur="700" fill="hold"/>
                                        <p:tgtEl>
                                          <p:spTgt spid="29"/>
                                        </p:tgtEl>
                                        <p:attrNameLst>
                                          <p:attrName>ppt_x</p:attrName>
                                        </p:attrNameLst>
                                      </p:cBhvr>
                                      <p:tavLst>
                                        <p:tav tm="0">
                                          <p:val>
                                            <p:strVal val="#ppt_x"/>
                                          </p:val>
                                        </p:tav>
                                        <p:tav tm="100000">
                                          <p:val>
                                            <p:strVal val="#ppt_x"/>
                                          </p:val>
                                        </p:tav>
                                      </p:tavLst>
                                    </p:anim>
                                    <p:anim calcmode="lin" valueType="num">
                                      <p:cBhvr>
                                        <p:cTn id="164" dur="700" fill="hold"/>
                                        <p:tgtEl>
                                          <p:spTgt spid="29"/>
                                        </p:tgtEl>
                                        <p:attrNameLst>
                                          <p:attrName>ppt_y</p:attrName>
                                        </p:attrNameLst>
                                      </p:cBhvr>
                                      <p:tavLst>
                                        <p:tav tm="0">
                                          <p:val>
                                            <p:strVal val="#ppt_y+.1"/>
                                          </p:val>
                                        </p:tav>
                                        <p:tav tm="100000">
                                          <p:val>
                                            <p:strVal val="#ppt_y"/>
                                          </p:val>
                                        </p:tav>
                                      </p:tavLst>
                                    </p:anim>
                                  </p:childTnLst>
                                </p:cTn>
                              </p:par>
                              <p:par>
                                <p:cTn id="165" presetID="42" presetClass="entr" presetSubtype="0" fill="hold" grpId="0" nodeType="withEffect">
                                  <p:stCondLst>
                                    <p:cond delay="10000"/>
                                  </p:stCondLst>
                                  <p:childTnLst>
                                    <p:set>
                                      <p:cBhvr>
                                        <p:cTn id="166" dur="1" fill="hold">
                                          <p:stCondLst>
                                            <p:cond delay="0"/>
                                          </p:stCondLst>
                                        </p:cTn>
                                        <p:tgtEl>
                                          <p:spTgt spid="30"/>
                                        </p:tgtEl>
                                        <p:attrNameLst>
                                          <p:attrName>style.visibility</p:attrName>
                                        </p:attrNameLst>
                                      </p:cBhvr>
                                      <p:to>
                                        <p:strVal val="visible"/>
                                      </p:to>
                                    </p:set>
                                    <p:animEffect transition="in" filter="fade">
                                      <p:cBhvr>
                                        <p:cTn id="167" dur="700"/>
                                        <p:tgtEl>
                                          <p:spTgt spid="30"/>
                                        </p:tgtEl>
                                      </p:cBhvr>
                                    </p:animEffect>
                                    <p:anim calcmode="lin" valueType="num">
                                      <p:cBhvr>
                                        <p:cTn id="168" dur="700" fill="hold"/>
                                        <p:tgtEl>
                                          <p:spTgt spid="30"/>
                                        </p:tgtEl>
                                        <p:attrNameLst>
                                          <p:attrName>ppt_x</p:attrName>
                                        </p:attrNameLst>
                                      </p:cBhvr>
                                      <p:tavLst>
                                        <p:tav tm="0">
                                          <p:val>
                                            <p:strVal val="#ppt_x"/>
                                          </p:val>
                                        </p:tav>
                                        <p:tav tm="100000">
                                          <p:val>
                                            <p:strVal val="#ppt_x"/>
                                          </p:val>
                                        </p:tav>
                                      </p:tavLst>
                                    </p:anim>
                                    <p:anim calcmode="lin" valueType="num">
                                      <p:cBhvr>
                                        <p:cTn id="169" dur="700" fill="hold"/>
                                        <p:tgtEl>
                                          <p:spTgt spid="30"/>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10000"/>
                                  </p:stCondLst>
                                  <p:childTnLst>
                                    <p:set>
                                      <p:cBhvr>
                                        <p:cTn id="171" dur="1" fill="hold">
                                          <p:stCondLst>
                                            <p:cond delay="0"/>
                                          </p:stCondLst>
                                        </p:cTn>
                                        <p:tgtEl>
                                          <p:spTgt spid="31"/>
                                        </p:tgtEl>
                                        <p:attrNameLst>
                                          <p:attrName>style.visibility</p:attrName>
                                        </p:attrNameLst>
                                      </p:cBhvr>
                                      <p:to>
                                        <p:strVal val="visible"/>
                                      </p:to>
                                    </p:set>
                                    <p:animEffect transition="in" filter="fade">
                                      <p:cBhvr>
                                        <p:cTn id="172" dur="700"/>
                                        <p:tgtEl>
                                          <p:spTgt spid="31"/>
                                        </p:tgtEl>
                                      </p:cBhvr>
                                    </p:animEffect>
                                    <p:anim calcmode="lin" valueType="num">
                                      <p:cBhvr>
                                        <p:cTn id="173" dur="700" fill="hold"/>
                                        <p:tgtEl>
                                          <p:spTgt spid="31"/>
                                        </p:tgtEl>
                                        <p:attrNameLst>
                                          <p:attrName>ppt_x</p:attrName>
                                        </p:attrNameLst>
                                      </p:cBhvr>
                                      <p:tavLst>
                                        <p:tav tm="0">
                                          <p:val>
                                            <p:strVal val="#ppt_x"/>
                                          </p:val>
                                        </p:tav>
                                        <p:tav tm="100000">
                                          <p:val>
                                            <p:strVal val="#ppt_x"/>
                                          </p:val>
                                        </p:tav>
                                      </p:tavLst>
                                    </p:anim>
                                    <p:anim calcmode="lin" valueType="num">
                                      <p:cBhvr>
                                        <p:cTn id="174" dur="700" fill="hold"/>
                                        <p:tgtEl>
                                          <p:spTgt spid="31"/>
                                        </p:tgtEl>
                                        <p:attrNameLst>
                                          <p:attrName>ppt_y</p:attrName>
                                        </p:attrNameLst>
                                      </p:cBhvr>
                                      <p:tavLst>
                                        <p:tav tm="0">
                                          <p:val>
                                            <p:strVal val="#ppt_y+.1"/>
                                          </p:val>
                                        </p:tav>
                                        <p:tav tm="100000">
                                          <p:val>
                                            <p:strVal val="#ppt_y"/>
                                          </p:val>
                                        </p:tav>
                                      </p:tavLst>
                                    </p:anim>
                                  </p:childTnLst>
                                </p:cTn>
                              </p:par>
                              <p:par>
                                <p:cTn id="175" presetID="42" presetClass="entr" presetSubtype="0" fill="hold" grpId="0" nodeType="withEffect">
                                  <p:stCondLst>
                                    <p:cond delay="10000"/>
                                  </p:stCondLst>
                                  <p:childTnLst>
                                    <p:set>
                                      <p:cBhvr>
                                        <p:cTn id="176" dur="1" fill="hold">
                                          <p:stCondLst>
                                            <p:cond delay="0"/>
                                          </p:stCondLst>
                                        </p:cTn>
                                        <p:tgtEl>
                                          <p:spTgt spid="32"/>
                                        </p:tgtEl>
                                        <p:attrNameLst>
                                          <p:attrName>style.visibility</p:attrName>
                                        </p:attrNameLst>
                                      </p:cBhvr>
                                      <p:to>
                                        <p:strVal val="visible"/>
                                      </p:to>
                                    </p:set>
                                    <p:animEffect transition="in" filter="fade">
                                      <p:cBhvr>
                                        <p:cTn id="177" dur="700"/>
                                        <p:tgtEl>
                                          <p:spTgt spid="32"/>
                                        </p:tgtEl>
                                      </p:cBhvr>
                                    </p:animEffect>
                                    <p:anim calcmode="lin" valueType="num">
                                      <p:cBhvr>
                                        <p:cTn id="178" dur="700" fill="hold"/>
                                        <p:tgtEl>
                                          <p:spTgt spid="32"/>
                                        </p:tgtEl>
                                        <p:attrNameLst>
                                          <p:attrName>ppt_x</p:attrName>
                                        </p:attrNameLst>
                                      </p:cBhvr>
                                      <p:tavLst>
                                        <p:tav tm="0">
                                          <p:val>
                                            <p:strVal val="#ppt_x"/>
                                          </p:val>
                                        </p:tav>
                                        <p:tav tm="100000">
                                          <p:val>
                                            <p:strVal val="#ppt_x"/>
                                          </p:val>
                                        </p:tav>
                                      </p:tavLst>
                                    </p:anim>
                                    <p:anim calcmode="lin" valueType="num">
                                      <p:cBhvr>
                                        <p:cTn id="179" dur="700" fill="hold"/>
                                        <p:tgtEl>
                                          <p:spTgt spid="32"/>
                                        </p:tgtEl>
                                        <p:attrNameLst>
                                          <p:attrName>ppt_y</p:attrName>
                                        </p:attrNameLst>
                                      </p:cBhvr>
                                      <p:tavLst>
                                        <p:tav tm="0">
                                          <p:val>
                                            <p:strVal val="#ppt_y+.1"/>
                                          </p:val>
                                        </p:tav>
                                        <p:tav tm="100000">
                                          <p:val>
                                            <p:strVal val="#ppt_y"/>
                                          </p:val>
                                        </p:tav>
                                      </p:tavLst>
                                    </p:anim>
                                  </p:childTnLst>
                                </p:cTn>
                              </p:par>
                              <p:par>
                                <p:cTn id="180" presetID="42" presetClass="entr" presetSubtype="0" fill="hold" grpId="0" nodeType="withEffect">
                                  <p:stCondLst>
                                    <p:cond delay="10000"/>
                                  </p:stCondLst>
                                  <p:childTnLst>
                                    <p:set>
                                      <p:cBhvr>
                                        <p:cTn id="181" dur="1" fill="hold">
                                          <p:stCondLst>
                                            <p:cond delay="0"/>
                                          </p:stCondLst>
                                        </p:cTn>
                                        <p:tgtEl>
                                          <p:spTgt spid="33"/>
                                        </p:tgtEl>
                                        <p:attrNameLst>
                                          <p:attrName>style.visibility</p:attrName>
                                        </p:attrNameLst>
                                      </p:cBhvr>
                                      <p:to>
                                        <p:strVal val="visible"/>
                                      </p:to>
                                    </p:set>
                                    <p:animEffect transition="in" filter="fade">
                                      <p:cBhvr>
                                        <p:cTn id="182" dur="700"/>
                                        <p:tgtEl>
                                          <p:spTgt spid="33"/>
                                        </p:tgtEl>
                                      </p:cBhvr>
                                    </p:animEffect>
                                    <p:anim calcmode="lin" valueType="num">
                                      <p:cBhvr>
                                        <p:cTn id="183" dur="700" fill="hold"/>
                                        <p:tgtEl>
                                          <p:spTgt spid="33"/>
                                        </p:tgtEl>
                                        <p:attrNameLst>
                                          <p:attrName>ppt_x</p:attrName>
                                        </p:attrNameLst>
                                      </p:cBhvr>
                                      <p:tavLst>
                                        <p:tav tm="0">
                                          <p:val>
                                            <p:strVal val="#ppt_x"/>
                                          </p:val>
                                        </p:tav>
                                        <p:tav tm="100000">
                                          <p:val>
                                            <p:strVal val="#ppt_x"/>
                                          </p:val>
                                        </p:tav>
                                      </p:tavLst>
                                    </p:anim>
                                    <p:anim calcmode="lin" valueType="num">
                                      <p:cBhvr>
                                        <p:cTn id="184" dur="7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P spid="22" grpId="0" animBg="1"/>
      <p:bldP spid="23" grpId="0" animBg="1"/>
      <p:bldP spid="24" grpId="0" animBg="1"/>
      <p:bldP spid="26" grpId="0" animBg="1"/>
      <p:bldP spid="27" grpId="0" animBg="1"/>
      <p:bldP spid="28" grpId="0" animBg="1"/>
      <p:bldP spid="29" grpId="0" animBg="1"/>
      <p:bldP spid="30" grpId="0" animBg="1"/>
      <p:bldP spid="32" grpId="0" animBg="1"/>
      <p:bldP spid="33" grpId="0" animBg="1"/>
      <p:bldP spid="34" grpId="0" animBg="1"/>
      <p:bldP spid="35" grpId="0" animBg="1"/>
      <p:bldP spid="36" grpId="0" animBg="1"/>
      <p:bldP spid="38" grpId="0" animBg="1"/>
      <p:bldP spid="3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0969DA"/>
                </a:solidFill>
                <a:latin typeface="Calibri" panose="020F0502020204030204" pitchFamily="34" charset="0"/>
                <a:ea typeface="Arial" pitchFamily="34" charset="-122"/>
                <a:cs typeface="Calibri" panose="020F0502020204030204" pitchFamily="34" charset="0"/>
              </a:rPr>
              <a:t>TODAY’S STORY</a:t>
            </a:r>
            <a:endParaRPr lang="en-US" sz="100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Calibri" panose="020F0502020204030204" pitchFamily="34" charset="0"/>
                <a:ea typeface="Arial" pitchFamily="34" charset="-122"/>
                <a:cs typeface="Calibri" panose="020F0502020204030204" pitchFamily="34" charset="0"/>
              </a:rPr>
              <a:t>One dataset. Four roles. Four agents.</a:t>
            </a:r>
            <a:endParaRPr lang="en-US" sz="2800" dirty="0">
              <a:latin typeface="Calibri" panose="020F0502020204030204" pitchFamily="34" charset="0"/>
              <a:cs typeface="Calibri" panose="020F0502020204030204" pitchFamily="34" charset="0"/>
            </a:endParaRPr>
          </a:p>
        </p:txBody>
      </p:sp>
      <p:sp>
        <p:nvSpPr>
          <p:cNvPr id="8" name="Text 4"/>
          <p:cNvSpPr/>
          <p:nvPr/>
        </p:nvSpPr>
        <p:spPr>
          <a:xfrm>
            <a:off x="507950" y="1498550"/>
            <a:ext cx="2686050" cy="2813000"/>
          </a:xfrm>
          <a:prstGeom prst="roundRect">
            <a:avLst>
              <a:gd name="adj" fmla="val 4728"/>
            </a:avLst>
          </a:prstGeom>
          <a:solidFill>
            <a:srgbClr val="F1F8FF"/>
          </a:solidFill>
          <a:ln w="9525">
            <a:solidFill>
              <a:srgbClr val="B6E3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9" name="Text 5"/>
          <p:cNvSpPr/>
          <p:nvPr/>
        </p:nvSpPr>
        <p:spPr>
          <a:xfrm>
            <a:off x="736550" y="1727150"/>
            <a:ext cx="558701" cy="558701"/>
          </a:xfrm>
          <a:prstGeom prst="roundRect">
            <a:avLst>
              <a:gd name="adj" fmla="val 22731"/>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0" name="Image 2" descr="/Users/danwahlin/.copilot/session-state/e7427b9a-9d65-4aa2-953c-14cedea46cbc/files/talkdeck/assets/icons/GoDatabase-0969DA.png"/>
          <p:cNvPicPr>
            <a:picLocks noChangeAspect="1"/>
          </p:cNvPicPr>
          <p:nvPr/>
        </p:nvPicPr>
        <p:blipFill>
          <a:blip r:embed="rId3"/>
          <a:stretch>
            <a:fillRect/>
          </a:stretch>
        </p:blipFill>
        <p:spPr>
          <a:xfrm>
            <a:off x="876300" y="1866900"/>
            <a:ext cx="279350" cy="279350"/>
          </a:xfrm>
          <a:prstGeom prst="rect">
            <a:avLst/>
          </a:prstGeom>
        </p:spPr>
      </p:pic>
      <p:sp>
        <p:nvSpPr>
          <p:cNvPr id="11" name="Text 6"/>
          <p:cNvSpPr/>
          <p:nvPr/>
        </p:nvSpPr>
        <p:spPr>
          <a:xfrm>
            <a:off x="736550" y="2463701"/>
            <a:ext cx="2331720" cy="23812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Public housing data</a:t>
            </a:r>
            <a:endParaRPr lang="en-US" dirty="0">
              <a:latin typeface="Calibri" panose="020F0502020204030204" pitchFamily="34" charset="0"/>
              <a:cs typeface="Calibri" panose="020F0502020204030204" pitchFamily="34" charset="0"/>
            </a:endParaRPr>
          </a:p>
        </p:txBody>
      </p:sp>
      <p:sp>
        <p:nvSpPr>
          <p:cNvPr id="12" name="Text 7"/>
          <p:cNvSpPr/>
          <p:nvPr/>
        </p:nvSpPr>
        <p:spPr>
          <a:xfrm>
            <a:off x="736550" y="2793950"/>
            <a:ext cx="2331720" cy="152400"/>
          </a:xfrm>
          <a:prstGeom prst="rect">
            <a:avLst/>
          </a:prstGeom>
          <a:noFill/>
          <a:ln/>
        </p:spPr>
        <p:txBody>
          <a:bodyPr wrap="square" lIns="0" tIns="0" rIns="0" bIns="0" rtlCol="0" anchor="t"/>
          <a:lstStyle/>
          <a:p>
            <a:pPr marL="0" indent="0" algn="l">
              <a:buNone/>
            </a:pPr>
            <a:r>
              <a:rPr lang="en-US" sz="1200" dirty="0">
                <a:solidFill>
                  <a:srgbClr val="1F2328"/>
                </a:solidFill>
                <a:latin typeface="Calibri" panose="020F0502020204030204" pitchFamily="34" charset="0"/>
                <a:ea typeface="Arial" pitchFamily="34" charset="-122"/>
                <a:cs typeface="Calibri" panose="020F0502020204030204" pitchFamily="34" charset="0"/>
              </a:rPr>
              <a:t>FHFA House Price Index</a:t>
            </a:r>
            <a:endParaRPr lang="en-US" sz="1200" dirty="0">
              <a:latin typeface="Calibri" panose="020F0502020204030204" pitchFamily="34" charset="0"/>
              <a:cs typeface="Calibri" panose="020F0502020204030204" pitchFamily="34" charset="0"/>
            </a:endParaRPr>
          </a:p>
        </p:txBody>
      </p:sp>
      <p:sp>
        <p:nvSpPr>
          <p:cNvPr id="13" name="Text 8"/>
          <p:cNvSpPr/>
          <p:nvPr/>
        </p:nvSpPr>
        <p:spPr>
          <a:xfrm>
            <a:off x="736550" y="3022550"/>
            <a:ext cx="2331720" cy="152400"/>
          </a:xfrm>
          <a:prstGeom prst="rect">
            <a:avLst/>
          </a:prstGeom>
          <a:noFill/>
          <a:ln/>
        </p:spPr>
        <p:txBody>
          <a:bodyPr wrap="square" lIns="0" tIns="0" rIns="0" bIns="0" rtlCol="0" anchor="t"/>
          <a:lstStyle/>
          <a:p>
            <a:pPr marL="0" indent="0" algn="l">
              <a:buNone/>
            </a:pPr>
            <a:r>
              <a:rPr lang="en-US" sz="1200" dirty="0">
                <a:solidFill>
                  <a:srgbClr val="1F2328"/>
                </a:solidFill>
                <a:latin typeface="Calibri" panose="020F0502020204030204" pitchFamily="34" charset="0"/>
                <a:ea typeface="Arial" pitchFamily="34" charset="-122"/>
                <a:cs typeface="Calibri" panose="020F0502020204030204" pitchFamily="34" charset="0"/>
              </a:rPr>
              <a:t>CFPB HMDA mortgage data</a:t>
            </a:r>
            <a:endParaRPr lang="en-US" sz="1200" dirty="0">
              <a:latin typeface="Calibri" panose="020F0502020204030204" pitchFamily="34" charset="0"/>
              <a:cs typeface="Calibri" panose="020F0502020204030204" pitchFamily="34" charset="0"/>
            </a:endParaRPr>
          </a:p>
        </p:txBody>
      </p:sp>
      <p:sp>
        <p:nvSpPr>
          <p:cNvPr id="14" name="Text 9"/>
          <p:cNvSpPr/>
          <p:nvPr/>
        </p:nvSpPr>
        <p:spPr>
          <a:xfrm>
            <a:off x="736550" y="3378101"/>
            <a:ext cx="2331720" cy="342602"/>
          </a:xfrm>
          <a:prstGeom prst="rect">
            <a:avLst/>
          </a:prstGeom>
          <a:noFill/>
          <a:ln/>
        </p:spPr>
        <p:txBody>
          <a:bodyPr wrap="square" lIns="0" tIns="0" rIns="0" bIns="0" rtlCol="0" anchor="t"/>
          <a:lstStyle/>
          <a:p>
            <a:pPr marL="0" indent="0" algn="l">
              <a:lnSpc>
                <a:spcPts val="1350"/>
              </a:lnSpc>
              <a:buNone/>
            </a:pPr>
            <a:r>
              <a:rPr lang="en-US" sz="1050" dirty="0">
                <a:solidFill>
                  <a:srgbClr val="59636E"/>
                </a:solidFill>
                <a:latin typeface="Calibri" panose="020F0502020204030204" pitchFamily="34" charset="0"/>
                <a:ea typeface="Arial" pitchFamily="34" charset="-122"/>
                <a:cs typeface="Calibri" panose="020F0502020204030204" pitchFamily="34" charset="0"/>
              </a:rPr>
              <a:t>50 states and DC, 100 metros, 1991 to 2026</a:t>
            </a:r>
            <a:endParaRPr lang="en-US" sz="1050" dirty="0">
              <a:latin typeface="Calibri" panose="020F0502020204030204" pitchFamily="34" charset="0"/>
              <a:cs typeface="Calibri" panose="020F0502020204030204" pitchFamily="34" charset="0"/>
            </a:endParaRPr>
          </a:p>
        </p:txBody>
      </p:sp>
      <p:sp>
        <p:nvSpPr>
          <p:cNvPr id="15" name="Text 10"/>
          <p:cNvSpPr/>
          <p:nvPr/>
        </p:nvSpPr>
        <p:spPr>
          <a:xfrm>
            <a:off x="3174950" y="2870150"/>
            <a:ext cx="634901" cy="38100"/>
          </a:xfrm>
          <a:prstGeom prst="rect">
            <a:avLst/>
          </a:prstGeom>
          <a:solidFill>
            <a:srgbClr val="0969D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6" name="Text 11"/>
          <p:cNvSpPr/>
          <p:nvPr/>
        </p:nvSpPr>
        <p:spPr>
          <a:xfrm>
            <a:off x="38100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7" name="Text 12"/>
          <p:cNvSpPr/>
          <p:nvPr/>
        </p:nvSpPr>
        <p:spPr>
          <a:xfrm>
            <a:off x="3987701" y="1676400"/>
            <a:ext cx="431750" cy="431750"/>
          </a:xfrm>
          <a:prstGeom prst="roundRect">
            <a:avLst>
              <a:gd name="adj" fmla="val 23532"/>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8" name="Image 3" descr="/Users/danwahlin/.copilot/session-state/e7427b9a-9d65-4aa2-953c-14cedea46cbc/files/talkdeck/assets/icons/GoBrowser-0969DA.png"/>
          <p:cNvPicPr>
            <a:picLocks noChangeAspect="1"/>
          </p:cNvPicPr>
          <p:nvPr/>
        </p:nvPicPr>
        <p:blipFill>
          <a:blip r:embed="rId4"/>
          <a:stretch>
            <a:fillRect/>
          </a:stretch>
        </p:blipFill>
        <p:spPr>
          <a:xfrm>
            <a:off x="4095750" y="1784300"/>
            <a:ext cx="215801" cy="215801"/>
          </a:xfrm>
          <a:prstGeom prst="rect">
            <a:avLst/>
          </a:prstGeom>
        </p:spPr>
      </p:pic>
      <p:sp>
        <p:nvSpPr>
          <p:cNvPr id="19" name="Text 13"/>
          <p:cNvSpPr/>
          <p:nvPr/>
        </p:nvSpPr>
        <p:spPr>
          <a:xfrm>
            <a:off x="3987701" y="2209800"/>
            <a:ext cx="2020824"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Interactive website</a:t>
            </a:r>
            <a:endParaRPr lang="en-US" sz="1400" dirty="0">
              <a:latin typeface="Calibri" panose="020F0502020204030204" pitchFamily="34" charset="0"/>
              <a:cs typeface="Calibri" panose="020F0502020204030204" pitchFamily="34" charset="0"/>
            </a:endParaRPr>
          </a:p>
        </p:txBody>
      </p:sp>
      <p:sp>
        <p:nvSpPr>
          <p:cNvPr id="20" name="Text 14"/>
          <p:cNvSpPr/>
          <p:nvPr/>
        </p:nvSpPr>
        <p:spPr>
          <a:xfrm>
            <a:off x="3987701" y="2463701"/>
            <a:ext cx="2020824" cy="13335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Developers and IT managers</a:t>
            </a:r>
            <a:endParaRPr lang="en-US" sz="1000" dirty="0">
              <a:latin typeface="Calibri" panose="020F0502020204030204" pitchFamily="34" charset="0"/>
              <a:cs typeface="Calibri" panose="020F0502020204030204" pitchFamily="34" charset="0"/>
            </a:endParaRPr>
          </a:p>
        </p:txBody>
      </p:sp>
      <p:sp>
        <p:nvSpPr>
          <p:cNvPr id="21" name="Text 15"/>
          <p:cNvSpPr/>
          <p:nvPr/>
        </p:nvSpPr>
        <p:spPr>
          <a:xfrm>
            <a:off x="62484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2" name="Text 16"/>
          <p:cNvSpPr/>
          <p:nvPr/>
        </p:nvSpPr>
        <p:spPr>
          <a:xfrm>
            <a:off x="6426101" y="1676400"/>
            <a:ext cx="431750" cy="431750"/>
          </a:xfrm>
          <a:prstGeom prst="roundRect">
            <a:avLst>
              <a:gd name="adj" fmla="val 23532"/>
            </a:avLst>
          </a:prstGeom>
          <a:solidFill>
            <a:srgbClr val="DAFBE1"/>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3" name="Image 4" descr="/Users/danwahlin/.copilot/session-state/e7427b9a-9d65-4aa2-953c-14cedea46cbc/files/talkdeck/assets/icons/GoTable-1A7F37.png"/>
          <p:cNvPicPr>
            <a:picLocks noChangeAspect="1"/>
          </p:cNvPicPr>
          <p:nvPr/>
        </p:nvPicPr>
        <p:blipFill>
          <a:blip r:embed="rId5"/>
          <a:stretch>
            <a:fillRect/>
          </a:stretch>
        </p:blipFill>
        <p:spPr>
          <a:xfrm>
            <a:off x="6534150" y="1784300"/>
            <a:ext cx="215801" cy="215801"/>
          </a:xfrm>
          <a:prstGeom prst="rect">
            <a:avLst/>
          </a:prstGeom>
        </p:spPr>
      </p:pic>
      <p:sp>
        <p:nvSpPr>
          <p:cNvPr id="24" name="Text 17"/>
          <p:cNvSpPr/>
          <p:nvPr/>
        </p:nvSpPr>
        <p:spPr>
          <a:xfrm>
            <a:off x="6426101" y="2209800"/>
            <a:ext cx="2020824"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Excel workbook</a:t>
            </a:r>
            <a:endParaRPr lang="en-US" sz="1400" dirty="0">
              <a:latin typeface="Calibri" panose="020F0502020204030204" pitchFamily="34" charset="0"/>
              <a:cs typeface="Calibri" panose="020F0502020204030204" pitchFamily="34" charset="0"/>
            </a:endParaRPr>
          </a:p>
        </p:txBody>
      </p:sp>
      <p:sp>
        <p:nvSpPr>
          <p:cNvPr id="25" name="Text 18"/>
          <p:cNvSpPr/>
          <p:nvPr/>
        </p:nvSpPr>
        <p:spPr>
          <a:xfrm>
            <a:off x="6426101" y="2463701"/>
            <a:ext cx="2020824" cy="13335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Business analysts</a:t>
            </a:r>
            <a:endParaRPr lang="en-US" sz="1000" dirty="0">
              <a:latin typeface="Calibri" panose="020F0502020204030204" pitchFamily="34" charset="0"/>
              <a:cs typeface="Calibri" panose="020F0502020204030204" pitchFamily="34" charset="0"/>
            </a:endParaRPr>
          </a:p>
        </p:txBody>
      </p:sp>
      <p:sp>
        <p:nvSpPr>
          <p:cNvPr id="26" name="Text 19"/>
          <p:cNvSpPr/>
          <p:nvPr/>
        </p:nvSpPr>
        <p:spPr>
          <a:xfrm>
            <a:off x="38100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7" name="Text 20"/>
          <p:cNvSpPr/>
          <p:nvPr/>
        </p:nvSpPr>
        <p:spPr>
          <a:xfrm>
            <a:off x="3987701" y="3149501"/>
            <a:ext cx="431750" cy="431750"/>
          </a:xfrm>
          <a:prstGeom prst="roundRect">
            <a:avLst>
              <a:gd name="adj" fmla="val 23532"/>
            </a:avLst>
          </a:prstGeom>
          <a:solidFill>
            <a:srgbClr val="FFF1E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8" name="Image 5" descr="/Users/danwahlin/.copilot/session-state/e7427b9a-9d65-4aa2-953c-14cedea46cbc/files/talkdeck/assets/icons/GoGraph-BC4C00.png"/>
          <p:cNvPicPr>
            <a:picLocks noChangeAspect="1"/>
          </p:cNvPicPr>
          <p:nvPr/>
        </p:nvPicPr>
        <p:blipFill>
          <a:blip r:embed="rId6"/>
          <a:stretch>
            <a:fillRect/>
          </a:stretch>
        </p:blipFill>
        <p:spPr>
          <a:xfrm>
            <a:off x="4095750" y="3257550"/>
            <a:ext cx="215801" cy="215801"/>
          </a:xfrm>
          <a:prstGeom prst="rect">
            <a:avLst/>
          </a:prstGeom>
        </p:spPr>
      </p:pic>
      <p:sp>
        <p:nvSpPr>
          <p:cNvPr id="29" name="Text 21"/>
          <p:cNvSpPr/>
          <p:nvPr/>
        </p:nvSpPr>
        <p:spPr>
          <a:xfrm>
            <a:off x="3987701" y="3682901"/>
            <a:ext cx="2020824"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Executive briefing</a:t>
            </a:r>
            <a:endParaRPr lang="en-US" sz="1400" dirty="0">
              <a:latin typeface="Calibri" panose="020F0502020204030204" pitchFamily="34" charset="0"/>
              <a:cs typeface="Calibri" panose="020F0502020204030204" pitchFamily="34" charset="0"/>
            </a:endParaRPr>
          </a:p>
        </p:txBody>
      </p:sp>
      <p:sp>
        <p:nvSpPr>
          <p:cNvPr id="30" name="Text 22"/>
          <p:cNvSpPr/>
          <p:nvPr/>
        </p:nvSpPr>
        <p:spPr>
          <a:xfrm>
            <a:off x="3987701" y="3936950"/>
            <a:ext cx="2020824" cy="13335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Leaders and project managers</a:t>
            </a:r>
            <a:endParaRPr lang="en-US" sz="1000" dirty="0">
              <a:latin typeface="Calibri" panose="020F0502020204030204" pitchFamily="34" charset="0"/>
              <a:cs typeface="Calibri" panose="020F0502020204030204" pitchFamily="34" charset="0"/>
            </a:endParaRPr>
          </a:p>
        </p:txBody>
      </p:sp>
      <p:sp>
        <p:nvSpPr>
          <p:cNvPr id="31" name="Text 23"/>
          <p:cNvSpPr/>
          <p:nvPr/>
        </p:nvSpPr>
        <p:spPr>
          <a:xfrm>
            <a:off x="62484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32" name="Text 24"/>
          <p:cNvSpPr/>
          <p:nvPr/>
        </p:nvSpPr>
        <p:spPr>
          <a:xfrm>
            <a:off x="6426101" y="3149501"/>
            <a:ext cx="431750" cy="431750"/>
          </a:xfrm>
          <a:prstGeom prst="roundRect">
            <a:avLst>
              <a:gd name="adj" fmla="val 23532"/>
            </a:avLst>
          </a:prstGeom>
          <a:solidFill>
            <a:srgbClr val="FBEF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33" name="Image 6" descr="/Users/danwahlin/.copilot/session-state/e7427b9a-9d65-4aa2-953c-14cedea46cbc/files/talkdeck/assets/icons/GoMail-8250DF.png"/>
          <p:cNvPicPr>
            <a:picLocks noChangeAspect="1"/>
          </p:cNvPicPr>
          <p:nvPr/>
        </p:nvPicPr>
        <p:blipFill>
          <a:blip r:embed="rId7"/>
          <a:stretch>
            <a:fillRect/>
          </a:stretch>
        </p:blipFill>
        <p:spPr>
          <a:xfrm>
            <a:off x="6534150" y="3257550"/>
            <a:ext cx="215801" cy="215801"/>
          </a:xfrm>
          <a:prstGeom prst="rect">
            <a:avLst/>
          </a:prstGeom>
        </p:spPr>
      </p:pic>
      <p:sp>
        <p:nvSpPr>
          <p:cNvPr id="34" name="Text 25"/>
          <p:cNvSpPr/>
          <p:nvPr/>
        </p:nvSpPr>
        <p:spPr>
          <a:xfrm>
            <a:off x="6426101" y="3682901"/>
            <a:ext cx="2020824"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Microsoft 365 brief</a:t>
            </a:r>
            <a:endParaRPr lang="en-US" sz="1400" dirty="0">
              <a:latin typeface="Calibri" panose="020F0502020204030204" pitchFamily="34" charset="0"/>
              <a:cs typeface="Calibri" panose="020F0502020204030204" pitchFamily="34" charset="0"/>
            </a:endParaRPr>
          </a:p>
        </p:txBody>
      </p:sp>
      <p:sp>
        <p:nvSpPr>
          <p:cNvPr id="35" name="Text 26"/>
          <p:cNvSpPr/>
          <p:nvPr/>
        </p:nvSpPr>
        <p:spPr>
          <a:xfrm>
            <a:off x="6426101" y="3936950"/>
            <a:ext cx="2020824" cy="13335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Project managers</a:t>
            </a:r>
            <a:endParaRPr lang="en-US" sz="1000" dirty="0">
              <a:latin typeface="Calibri" panose="020F0502020204030204" pitchFamily="34" charset="0"/>
              <a:cs typeface="Calibri" panose="020F0502020204030204" pitchFamily="34" charset="0"/>
            </a:endParaRPr>
          </a:p>
        </p:txBody>
      </p:sp>
      <p:pic>
        <p:nvPicPr>
          <p:cNvPr id="36" name="Image 0" descr="/Users/danwahlin/.copilot/session-state/e7427b9a-9d65-4aa2-953c-14cedea46cbc/files/talkdeck/assets/corner.png">
            <a:extLst>
              <a:ext uri="{FF2B5EF4-FFF2-40B4-BE49-F238E27FC236}">
                <a16:creationId xmlns:a16="http://schemas.microsoft.com/office/drawing/2014/main" id="{8834D1B7-C5E6-E168-249A-C1D04B9EB71F}"/>
              </a:ext>
            </a:extLst>
          </p:cNvPr>
          <p:cNvPicPr>
            <a:picLocks noChangeAspect="1"/>
          </p:cNvPicPr>
          <p:nvPr/>
        </p:nvPicPr>
        <p:blipFill>
          <a:blip r:embed="rId8"/>
          <a:stretch>
            <a:fillRect/>
          </a:stretch>
        </p:blipFill>
        <p:spPr>
          <a:xfrm>
            <a:off x="5393683" y="-1"/>
            <a:ext cx="3750168" cy="1755725"/>
          </a:xfrm>
          <a:prstGeom prst="rect">
            <a:avLst/>
          </a:prstGeom>
        </p:spPr>
      </p:pic>
      <p:pic>
        <p:nvPicPr>
          <p:cNvPr id="37" name="Image 1" descr="/Users/danwahlin/.copilot/session-state/e7427b9a-9d65-4aa2-953c-14cedea46cbc/files/talkdeck/assets/mark-dark.png">
            <a:extLst>
              <a:ext uri="{FF2B5EF4-FFF2-40B4-BE49-F238E27FC236}">
                <a16:creationId xmlns:a16="http://schemas.microsoft.com/office/drawing/2014/main" id="{BD9A1EB5-FFA1-6743-4A61-BD09605BD87E}"/>
              </a:ext>
            </a:extLst>
          </p:cNvPr>
          <p:cNvPicPr>
            <a:picLocks noChangeAspect="1"/>
          </p:cNvPicPr>
          <p:nvPr/>
        </p:nvPicPr>
        <p:blipFill>
          <a:blip r:embed="rId9"/>
          <a:stretch>
            <a:fillRect/>
          </a:stretch>
        </p:blipFill>
        <p:spPr>
          <a:xfrm>
            <a:off x="8610600" y="165050"/>
            <a:ext cx="304800" cy="30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0969DA"/>
                </a:solidFill>
                <a:latin typeface="Calibri" panose="020F0502020204030204" pitchFamily="34" charset="0"/>
                <a:ea typeface="Arial" pitchFamily="34" charset="-122"/>
                <a:cs typeface="Calibri" panose="020F0502020204030204" pitchFamily="34" charset="0"/>
              </a:rPr>
              <a:t>HOW YOU WORK WITH AGENTS</a:t>
            </a:r>
            <a:endParaRPr lang="en-US" sz="100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Calibri" panose="020F0502020204030204" pitchFamily="34" charset="0"/>
                <a:ea typeface="Arial" pitchFamily="34" charset="-122"/>
                <a:cs typeface="Calibri" panose="020F0502020204030204" pitchFamily="34" charset="0"/>
              </a:rPr>
              <a:t>Plan first. Then hand it off.</a:t>
            </a:r>
            <a:endParaRPr lang="en-US" sz="2800" dirty="0">
              <a:latin typeface="Calibri" panose="020F0502020204030204" pitchFamily="34" charset="0"/>
              <a:cs typeface="Calibri" panose="020F0502020204030204" pitchFamily="34" charset="0"/>
            </a:endParaRPr>
          </a:p>
        </p:txBody>
      </p:sp>
      <p:sp>
        <p:nvSpPr>
          <p:cNvPr id="8" name="Text 4"/>
          <p:cNvSpPr/>
          <p:nvPr/>
        </p:nvSpPr>
        <p:spPr>
          <a:xfrm>
            <a:off x="507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9" name="Text 5"/>
          <p:cNvSpPr/>
          <p:nvPr/>
        </p:nvSpPr>
        <p:spPr>
          <a:xfrm>
            <a:off x="685800" y="1828800"/>
            <a:ext cx="507950" cy="507950"/>
          </a:xfrm>
          <a:prstGeom prst="roundRect">
            <a:avLst>
              <a:gd name="adj" fmla="val 180018"/>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0" name="Image 2" descr="/Users/danwahlin/.copilot/session-state/e7427b9a-9d65-4aa2-953c-14cedea46cbc/files/talkdeck/assets/icons/GoCommentDiscussion-0969DA.png"/>
          <p:cNvPicPr>
            <a:picLocks noChangeAspect="1"/>
          </p:cNvPicPr>
          <p:nvPr/>
        </p:nvPicPr>
        <p:blipFill>
          <a:blip r:embed="rId3"/>
          <a:stretch>
            <a:fillRect/>
          </a:stretch>
        </p:blipFill>
        <p:spPr>
          <a:xfrm>
            <a:off x="812750" y="1955750"/>
            <a:ext cx="253901" cy="253901"/>
          </a:xfrm>
          <a:prstGeom prst="rect">
            <a:avLst/>
          </a:prstGeom>
        </p:spPr>
      </p:pic>
      <p:sp>
        <p:nvSpPr>
          <p:cNvPr id="11" name="Text 6"/>
          <p:cNvSpPr/>
          <p:nvPr/>
        </p:nvSpPr>
        <p:spPr>
          <a:xfrm>
            <a:off x="685800"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Prompt</a:t>
            </a:r>
            <a:endParaRPr lang="en-US" dirty="0">
              <a:latin typeface="Calibri" panose="020F0502020204030204" pitchFamily="34" charset="0"/>
              <a:cs typeface="Calibri" panose="020F0502020204030204" pitchFamily="34" charset="0"/>
            </a:endParaRPr>
          </a:p>
        </p:txBody>
      </p:sp>
      <p:sp>
        <p:nvSpPr>
          <p:cNvPr id="12" name="Text 7"/>
          <p:cNvSpPr/>
          <p:nvPr/>
        </p:nvSpPr>
        <p:spPr>
          <a:xfrm>
            <a:off x="685800"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Describe the outcome you want.</a:t>
            </a:r>
            <a:endParaRPr lang="en-US" sz="1200" dirty="0">
              <a:latin typeface="Calibri" panose="020F0502020204030204" pitchFamily="34" charset="0"/>
              <a:cs typeface="Calibri" panose="020F0502020204030204" pitchFamily="34" charset="0"/>
            </a:endParaRPr>
          </a:p>
        </p:txBody>
      </p:sp>
      <p:sp>
        <p:nvSpPr>
          <p:cNvPr id="13" name="Text 8"/>
          <p:cNvSpPr/>
          <p:nvPr/>
        </p:nvSpPr>
        <p:spPr>
          <a:xfrm>
            <a:off x="2158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4" name="Text 9"/>
          <p:cNvSpPr/>
          <p:nvPr/>
        </p:nvSpPr>
        <p:spPr>
          <a:xfrm>
            <a:off x="2336750" y="1828800"/>
            <a:ext cx="507950" cy="507950"/>
          </a:xfrm>
          <a:prstGeom prst="roundRect">
            <a:avLst>
              <a:gd name="adj" fmla="val 180018"/>
            </a:avLst>
          </a:prstGeom>
          <a:solidFill>
            <a:srgbClr val="FBEF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5" name="Image 3" descr="/Users/danwahlin/.copilot/session-state/e7427b9a-9d65-4aa2-953c-14cedea46cbc/files/talkdeck/assets/icons/GoChecklist-8250DF.png"/>
          <p:cNvPicPr>
            <a:picLocks noChangeAspect="1"/>
          </p:cNvPicPr>
          <p:nvPr/>
        </p:nvPicPr>
        <p:blipFill>
          <a:blip r:embed="rId4"/>
          <a:stretch>
            <a:fillRect/>
          </a:stretch>
        </p:blipFill>
        <p:spPr>
          <a:xfrm>
            <a:off x="2463701" y="1955750"/>
            <a:ext cx="253901" cy="253901"/>
          </a:xfrm>
          <a:prstGeom prst="rect">
            <a:avLst/>
          </a:prstGeom>
        </p:spPr>
      </p:pic>
      <p:sp>
        <p:nvSpPr>
          <p:cNvPr id="16" name="Text 10"/>
          <p:cNvSpPr/>
          <p:nvPr/>
        </p:nvSpPr>
        <p:spPr>
          <a:xfrm>
            <a:off x="2336750"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Plan</a:t>
            </a:r>
            <a:endParaRPr lang="en-US" dirty="0">
              <a:latin typeface="Calibri" panose="020F0502020204030204" pitchFamily="34" charset="0"/>
              <a:cs typeface="Calibri" panose="020F0502020204030204" pitchFamily="34" charset="0"/>
            </a:endParaRPr>
          </a:p>
        </p:txBody>
      </p:sp>
      <p:sp>
        <p:nvSpPr>
          <p:cNvPr id="17" name="Text 11"/>
          <p:cNvSpPr/>
          <p:nvPr/>
        </p:nvSpPr>
        <p:spPr>
          <a:xfrm>
            <a:off x="2336750"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Read the plan and approve it.</a:t>
            </a:r>
            <a:endParaRPr lang="en-US" sz="1200" dirty="0">
              <a:latin typeface="Calibri" panose="020F0502020204030204" pitchFamily="34" charset="0"/>
              <a:cs typeface="Calibri" panose="020F0502020204030204" pitchFamily="34" charset="0"/>
            </a:endParaRPr>
          </a:p>
        </p:txBody>
      </p:sp>
      <p:sp>
        <p:nvSpPr>
          <p:cNvPr id="18" name="Text 12"/>
          <p:cNvSpPr/>
          <p:nvPr/>
        </p:nvSpPr>
        <p:spPr>
          <a:xfrm>
            <a:off x="2336750" y="3378101"/>
            <a:ext cx="888950" cy="228600"/>
          </a:xfrm>
          <a:prstGeom prst="roundRect">
            <a:avLst>
              <a:gd name="adj" fmla="val 50000"/>
            </a:avLst>
          </a:prstGeom>
          <a:solidFill>
            <a:srgbClr val="FFF8C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9" name="Text 13"/>
          <p:cNvSpPr/>
          <p:nvPr/>
        </p:nvSpPr>
        <p:spPr>
          <a:xfrm>
            <a:off x="2327861" y="3429000"/>
            <a:ext cx="906729" cy="114300"/>
          </a:xfrm>
          <a:prstGeom prst="rect">
            <a:avLst/>
          </a:prstGeom>
          <a:noFill/>
          <a:ln/>
        </p:spPr>
        <p:txBody>
          <a:bodyPr wrap="square" lIns="0" tIns="0" rIns="0" bIns="0" rtlCol="0" anchor="t"/>
          <a:lstStyle/>
          <a:p>
            <a:pPr marL="0" indent="0" algn="ctr">
              <a:buNone/>
            </a:pPr>
            <a:r>
              <a:rPr lang="en-US" sz="900" b="1" dirty="0">
                <a:solidFill>
                  <a:srgbClr val="9A6700"/>
                </a:solidFill>
                <a:latin typeface="Calibri" panose="020F0502020204030204" pitchFamily="34" charset="0"/>
                <a:ea typeface="Arial" pitchFamily="34" charset="-122"/>
                <a:cs typeface="Calibri" panose="020F0502020204030204" pitchFamily="34" charset="0"/>
              </a:rPr>
              <a:t>YOU DECIDE</a:t>
            </a:r>
            <a:endParaRPr lang="en-US" sz="900" dirty="0">
              <a:latin typeface="Calibri" panose="020F0502020204030204" pitchFamily="34" charset="0"/>
              <a:cs typeface="Calibri" panose="020F0502020204030204" pitchFamily="34" charset="0"/>
            </a:endParaRPr>
          </a:p>
        </p:txBody>
      </p:sp>
      <p:sp>
        <p:nvSpPr>
          <p:cNvPr id="20" name="Text 14"/>
          <p:cNvSpPr/>
          <p:nvPr/>
        </p:nvSpPr>
        <p:spPr>
          <a:xfrm>
            <a:off x="381000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1" name="Text 15"/>
          <p:cNvSpPr/>
          <p:nvPr/>
        </p:nvSpPr>
        <p:spPr>
          <a:xfrm>
            <a:off x="3987701" y="1828800"/>
            <a:ext cx="507950" cy="507950"/>
          </a:xfrm>
          <a:prstGeom prst="roundRect">
            <a:avLst>
              <a:gd name="adj" fmla="val 180018"/>
            </a:avLst>
          </a:prstGeom>
          <a:solidFill>
            <a:srgbClr val="FFF1E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2" name="Image 4" descr="/Users/danwahlin/.copilot/session-state/e7427b9a-9d65-4aa2-953c-14cedea46cbc/files/talkdeck/assets/icons/GoZap-BC4C00.png"/>
          <p:cNvPicPr>
            <a:picLocks noChangeAspect="1"/>
          </p:cNvPicPr>
          <p:nvPr/>
        </p:nvPicPr>
        <p:blipFill>
          <a:blip r:embed="rId5"/>
          <a:stretch>
            <a:fillRect/>
          </a:stretch>
        </p:blipFill>
        <p:spPr>
          <a:xfrm>
            <a:off x="4114800" y="1955750"/>
            <a:ext cx="253901" cy="253901"/>
          </a:xfrm>
          <a:prstGeom prst="rect">
            <a:avLst/>
          </a:prstGeom>
        </p:spPr>
      </p:pic>
      <p:sp>
        <p:nvSpPr>
          <p:cNvPr id="23" name="Text 16"/>
          <p:cNvSpPr/>
          <p:nvPr/>
        </p:nvSpPr>
        <p:spPr>
          <a:xfrm>
            <a:off x="3987701"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Autopilot</a:t>
            </a:r>
            <a:endParaRPr lang="en-US" dirty="0">
              <a:latin typeface="Calibri" panose="020F0502020204030204" pitchFamily="34" charset="0"/>
              <a:cs typeface="Calibri" panose="020F0502020204030204" pitchFamily="34" charset="0"/>
            </a:endParaRPr>
          </a:p>
        </p:txBody>
      </p:sp>
      <p:sp>
        <p:nvSpPr>
          <p:cNvPr id="24" name="Text 17"/>
          <p:cNvSpPr/>
          <p:nvPr/>
        </p:nvSpPr>
        <p:spPr>
          <a:xfrm>
            <a:off x="3987701"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Agents work at the same time.</a:t>
            </a:r>
            <a:endParaRPr lang="en-US" sz="1200" dirty="0">
              <a:latin typeface="Calibri" panose="020F0502020204030204" pitchFamily="34" charset="0"/>
              <a:cs typeface="Calibri" panose="020F0502020204030204" pitchFamily="34" charset="0"/>
            </a:endParaRPr>
          </a:p>
        </p:txBody>
      </p:sp>
      <p:sp>
        <p:nvSpPr>
          <p:cNvPr id="25" name="Text 18"/>
          <p:cNvSpPr/>
          <p:nvPr/>
        </p:nvSpPr>
        <p:spPr>
          <a:xfrm>
            <a:off x="5460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6" name="Text 19"/>
          <p:cNvSpPr/>
          <p:nvPr/>
        </p:nvSpPr>
        <p:spPr>
          <a:xfrm>
            <a:off x="5638800" y="1828800"/>
            <a:ext cx="507950" cy="507950"/>
          </a:xfrm>
          <a:prstGeom prst="roundRect">
            <a:avLst>
              <a:gd name="adj" fmla="val 180018"/>
            </a:avLst>
          </a:prstGeom>
          <a:solidFill>
            <a:srgbClr val="DAFBE1"/>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7" name="Image 5" descr="/Users/danwahlin/.copilot/session-state/e7427b9a-9d65-4aa2-953c-14cedea46cbc/files/talkdeck/assets/icons/GoEye-1A7F37.png"/>
          <p:cNvPicPr>
            <a:picLocks noChangeAspect="1"/>
          </p:cNvPicPr>
          <p:nvPr/>
        </p:nvPicPr>
        <p:blipFill>
          <a:blip r:embed="rId6"/>
          <a:stretch>
            <a:fillRect/>
          </a:stretch>
        </p:blipFill>
        <p:spPr>
          <a:xfrm>
            <a:off x="5765750" y="1955750"/>
            <a:ext cx="253901" cy="253901"/>
          </a:xfrm>
          <a:prstGeom prst="rect">
            <a:avLst/>
          </a:prstGeom>
        </p:spPr>
      </p:pic>
      <p:sp>
        <p:nvSpPr>
          <p:cNvPr id="28" name="Text 20"/>
          <p:cNvSpPr/>
          <p:nvPr/>
        </p:nvSpPr>
        <p:spPr>
          <a:xfrm>
            <a:off x="5638800"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Review</a:t>
            </a:r>
            <a:endParaRPr lang="en-US" dirty="0">
              <a:latin typeface="Calibri" panose="020F0502020204030204" pitchFamily="34" charset="0"/>
              <a:cs typeface="Calibri" panose="020F0502020204030204" pitchFamily="34" charset="0"/>
            </a:endParaRPr>
          </a:p>
        </p:txBody>
      </p:sp>
      <p:sp>
        <p:nvSpPr>
          <p:cNvPr id="29" name="Text 21"/>
          <p:cNvSpPr/>
          <p:nvPr/>
        </p:nvSpPr>
        <p:spPr>
          <a:xfrm>
            <a:off x="5638800"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Check diffs, previews, and files.</a:t>
            </a:r>
            <a:endParaRPr lang="en-US" sz="1200" dirty="0">
              <a:latin typeface="Calibri" panose="020F0502020204030204" pitchFamily="34" charset="0"/>
              <a:cs typeface="Calibri" panose="020F0502020204030204" pitchFamily="34" charset="0"/>
            </a:endParaRPr>
          </a:p>
        </p:txBody>
      </p:sp>
      <p:sp>
        <p:nvSpPr>
          <p:cNvPr id="30" name="Text 22"/>
          <p:cNvSpPr/>
          <p:nvPr/>
        </p:nvSpPr>
        <p:spPr>
          <a:xfrm>
            <a:off x="5638800" y="3378101"/>
            <a:ext cx="888950" cy="228600"/>
          </a:xfrm>
          <a:prstGeom prst="roundRect">
            <a:avLst>
              <a:gd name="adj" fmla="val 50000"/>
            </a:avLst>
          </a:prstGeom>
          <a:solidFill>
            <a:srgbClr val="FFF8C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31" name="Text 23"/>
          <p:cNvSpPr/>
          <p:nvPr/>
        </p:nvSpPr>
        <p:spPr>
          <a:xfrm>
            <a:off x="5629910" y="3429000"/>
            <a:ext cx="906729" cy="114300"/>
          </a:xfrm>
          <a:prstGeom prst="rect">
            <a:avLst/>
          </a:prstGeom>
          <a:noFill/>
          <a:ln/>
        </p:spPr>
        <p:txBody>
          <a:bodyPr wrap="square" lIns="0" tIns="0" rIns="0" bIns="0" rtlCol="0" anchor="t"/>
          <a:lstStyle/>
          <a:p>
            <a:pPr marL="0" indent="0" algn="ctr">
              <a:buNone/>
            </a:pPr>
            <a:r>
              <a:rPr lang="en-US" sz="900" b="1" dirty="0">
                <a:solidFill>
                  <a:srgbClr val="9A6700"/>
                </a:solidFill>
                <a:latin typeface="Calibri" panose="020F0502020204030204" pitchFamily="34" charset="0"/>
                <a:ea typeface="Arial" pitchFamily="34" charset="-122"/>
                <a:cs typeface="Calibri" panose="020F0502020204030204" pitchFamily="34" charset="0"/>
              </a:rPr>
              <a:t>YOU DECIDE</a:t>
            </a:r>
            <a:endParaRPr lang="en-US" sz="900" dirty="0">
              <a:latin typeface="Calibri" panose="020F0502020204030204" pitchFamily="34" charset="0"/>
              <a:cs typeface="Calibri" panose="020F0502020204030204" pitchFamily="34" charset="0"/>
            </a:endParaRPr>
          </a:p>
        </p:txBody>
      </p:sp>
      <p:sp>
        <p:nvSpPr>
          <p:cNvPr id="32" name="Text 24"/>
          <p:cNvSpPr/>
          <p:nvPr/>
        </p:nvSpPr>
        <p:spPr>
          <a:xfrm>
            <a:off x="7111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33" name="Text 25"/>
          <p:cNvSpPr/>
          <p:nvPr/>
        </p:nvSpPr>
        <p:spPr>
          <a:xfrm>
            <a:off x="7289750" y="1828800"/>
            <a:ext cx="507950" cy="507950"/>
          </a:xfrm>
          <a:prstGeom prst="roundRect">
            <a:avLst>
              <a:gd name="adj" fmla="val 180018"/>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34" name="Image 6" descr="/Users/danwahlin/.copilot/session-state/e7427b9a-9d65-4aa2-953c-14cedea46cbc/files/talkdeck/assets/icons/GoRocket-0969DA.png"/>
          <p:cNvPicPr>
            <a:picLocks noChangeAspect="1"/>
          </p:cNvPicPr>
          <p:nvPr/>
        </p:nvPicPr>
        <p:blipFill>
          <a:blip r:embed="rId7"/>
          <a:stretch>
            <a:fillRect/>
          </a:stretch>
        </p:blipFill>
        <p:spPr>
          <a:xfrm>
            <a:off x="7416701" y="1955750"/>
            <a:ext cx="253901" cy="253901"/>
          </a:xfrm>
          <a:prstGeom prst="rect">
            <a:avLst/>
          </a:prstGeom>
        </p:spPr>
      </p:pic>
      <p:sp>
        <p:nvSpPr>
          <p:cNvPr id="35" name="Text 26"/>
          <p:cNvSpPr/>
          <p:nvPr/>
        </p:nvSpPr>
        <p:spPr>
          <a:xfrm>
            <a:off x="7289750"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Ship</a:t>
            </a:r>
            <a:endParaRPr lang="en-US" dirty="0">
              <a:latin typeface="Calibri" panose="020F0502020204030204" pitchFamily="34" charset="0"/>
              <a:cs typeface="Calibri" panose="020F0502020204030204" pitchFamily="34" charset="0"/>
            </a:endParaRPr>
          </a:p>
        </p:txBody>
      </p:sp>
      <p:sp>
        <p:nvSpPr>
          <p:cNvPr id="36" name="Text 27"/>
          <p:cNvSpPr/>
          <p:nvPr/>
        </p:nvSpPr>
        <p:spPr>
          <a:xfrm>
            <a:off x="7289750"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Merge, share, or deploy.</a:t>
            </a:r>
            <a:endParaRPr lang="en-US" sz="1200" dirty="0">
              <a:latin typeface="Calibri" panose="020F0502020204030204" pitchFamily="34" charset="0"/>
              <a:cs typeface="Calibri" panose="020F0502020204030204" pitchFamily="34" charset="0"/>
            </a:endParaRPr>
          </a:p>
        </p:txBody>
      </p:sp>
      <p:sp>
        <p:nvSpPr>
          <p:cNvPr id="37" name="Text 28"/>
          <p:cNvSpPr/>
          <p:nvPr/>
        </p:nvSpPr>
        <p:spPr>
          <a:xfrm>
            <a:off x="507950" y="4089350"/>
            <a:ext cx="8290509" cy="200025"/>
          </a:xfrm>
          <a:prstGeom prst="rect">
            <a:avLst/>
          </a:prstGeom>
          <a:noFill/>
          <a:ln/>
        </p:spPr>
        <p:txBody>
          <a:bodyPr wrap="square" lIns="0" tIns="0" rIns="0" bIns="0" rtlCol="0" anchor="t"/>
          <a:lstStyle/>
          <a:p>
            <a:pPr marL="0" indent="0" algn="l">
              <a:buNone/>
            </a:pPr>
            <a:r>
              <a:rPr lang="en-US" sz="1600" dirty="0">
                <a:solidFill>
                  <a:srgbClr val="1F2328"/>
                </a:solidFill>
                <a:latin typeface="Calibri" panose="020F0502020204030204" pitchFamily="34" charset="0"/>
                <a:ea typeface="Arial" pitchFamily="34" charset="-122"/>
                <a:cs typeface="Calibri" panose="020F0502020204030204" pitchFamily="34" charset="0"/>
              </a:rPr>
              <a:t>Use </a:t>
            </a:r>
            <a:r>
              <a:rPr lang="en-US" sz="1600" b="1" dirty="0">
                <a:solidFill>
                  <a:srgbClr val="1F2328"/>
                </a:solidFill>
                <a:latin typeface="Calibri" panose="020F0502020204030204" pitchFamily="34" charset="0"/>
                <a:ea typeface="Arial" pitchFamily="34" charset="-122"/>
                <a:cs typeface="Calibri" panose="020F0502020204030204" pitchFamily="34" charset="0"/>
              </a:rPr>
              <a:t>Plan</a:t>
            </a:r>
            <a:r>
              <a:rPr lang="en-US" sz="1600" dirty="0">
                <a:solidFill>
                  <a:srgbClr val="1F2328"/>
                </a:solidFill>
                <a:latin typeface="Calibri" panose="020F0502020204030204" pitchFamily="34" charset="0"/>
                <a:ea typeface="Arial" pitchFamily="34" charset="-122"/>
                <a:cs typeface="Calibri" panose="020F0502020204030204" pitchFamily="34" charset="0"/>
              </a:rPr>
              <a:t> when the task is big or new. Use </a:t>
            </a:r>
            <a:r>
              <a:rPr lang="en-US" sz="1600" b="1" dirty="0">
                <a:solidFill>
                  <a:srgbClr val="1F2328"/>
                </a:solidFill>
                <a:latin typeface="Calibri" panose="020F0502020204030204" pitchFamily="34" charset="0"/>
                <a:ea typeface="Arial" pitchFamily="34" charset="-122"/>
                <a:cs typeface="Calibri" panose="020F0502020204030204" pitchFamily="34" charset="0"/>
              </a:rPr>
              <a:t>Autopilot</a:t>
            </a:r>
            <a:r>
              <a:rPr lang="en-US" sz="1600" dirty="0">
                <a:solidFill>
                  <a:srgbClr val="1F2328"/>
                </a:solidFill>
                <a:latin typeface="Calibri" panose="020F0502020204030204" pitchFamily="34" charset="0"/>
                <a:ea typeface="Arial" pitchFamily="34" charset="-122"/>
                <a:cs typeface="Calibri" panose="020F0502020204030204" pitchFamily="34" charset="0"/>
              </a:rPr>
              <a:t> when the task is clear.</a:t>
            </a:r>
            <a:endParaRPr lang="en-US" sz="1600" dirty="0">
              <a:latin typeface="Calibri" panose="020F0502020204030204" pitchFamily="34" charset="0"/>
              <a:cs typeface="Calibri" panose="020F0502020204030204" pitchFamily="34" charset="0"/>
            </a:endParaRPr>
          </a:p>
        </p:txBody>
      </p:sp>
      <p:pic>
        <p:nvPicPr>
          <p:cNvPr id="38" name="Image 0" descr="/Users/danwahlin/.copilot/session-state/e7427b9a-9d65-4aa2-953c-14cedea46cbc/files/talkdeck/assets/corner.png">
            <a:extLst>
              <a:ext uri="{FF2B5EF4-FFF2-40B4-BE49-F238E27FC236}">
                <a16:creationId xmlns:a16="http://schemas.microsoft.com/office/drawing/2014/main" id="{BEA6408D-8DAD-D458-23FA-9FC029FEB88D}"/>
              </a:ext>
            </a:extLst>
          </p:cNvPr>
          <p:cNvPicPr>
            <a:picLocks noChangeAspect="1"/>
          </p:cNvPicPr>
          <p:nvPr/>
        </p:nvPicPr>
        <p:blipFill>
          <a:blip r:embed="rId8"/>
          <a:stretch>
            <a:fillRect/>
          </a:stretch>
        </p:blipFill>
        <p:spPr>
          <a:xfrm>
            <a:off x="5393683" y="-1"/>
            <a:ext cx="3750168" cy="1755725"/>
          </a:xfrm>
          <a:prstGeom prst="rect">
            <a:avLst/>
          </a:prstGeom>
        </p:spPr>
      </p:pic>
      <p:pic>
        <p:nvPicPr>
          <p:cNvPr id="39" name="Image 1" descr="/Users/danwahlin/.copilot/session-state/e7427b9a-9d65-4aa2-953c-14cedea46cbc/files/talkdeck/assets/mark-dark.png">
            <a:extLst>
              <a:ext uri="{FF2B5EF4-FFF2-40B4-BE49-F238E27FC236}">
                <a16:creationId xmlns:a16="http://schemas.microsoft.com/office/drawing/2014/main" id="{CD2B746A-3998-BC81-F25E-0A0FECA04A31}"/>
              </a:ext>
            </a:extLst>
          </p:cNvPr>
          <p:cNvPicPr>
            <a:picLocks noChangeAspect="1"/>
          </p:cNvPicPr>
          <p:nvPr/>
        </p:nvPicPr>
        <p:blipFill>
          <a:blip r:embed="rId9"/>
          <a:stretch>
            <a:fillRect/>
          </a:stretch>
        </p:blipFill>
        <p:spPr>
          <a:xfrm>
            <a:off x="8610600" y="165050"/>
            <a:ext cx="304800" cy="3048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0" name="Image 0" descr="/Users/danwahlin/.copilot/session-state/e7427b9a-9d65-4aa2-953c-14cedea46cbc/files/talkdeck/assets/corner.png">
            <a:extLst>
              <a:ext uri="{FF2B5EF4-FFF2-40B4-BE49-F238E27FC236}">
                <a16:creationId xmlns:a16="http://schemas.microsoft.com/office/drawing/2014/main" id="{8DDA1172-0EB3-1855-309D-82E3A9F1C72F}"/>
              </a:ext>
            </a:extLst>
          </p:cNvPr>
          <p:cNvPicPr>
            <a:picLocks noChangeAspect="1"/>
          </p:cNvPicPr>
          <p:nvPr/>
        </p:nvPicPr>
        <p:blipFill>
          <a:blip r:embed="rId3"/>
          <a:stretch>
            <a:fillRect/>
          </a:stretch>
        </p:blipFill>
        <p:spPr>
          <a:xfrm>
            <a:off x="5393683" y="-1"/>
            <a:ext cx="3750168" cy="1755725"/>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WHAT THE AGENTS BUILT</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Four results, built at the same time</a:t>
            </a:r>
            <a:endParaRPr lang="en-US" sz="2400" dirty="0"/>
          </a:p>
        </p:txBody>
      </p:sp>
      <p:sp>
        <p:nvSpPr>
          <p:cNvPr id="8" name="Text 4"/>
          <p:cNvSpPr/>
          <p:nvPr/>
        </p:nvSpPr>
        <p:spPr>
          <a:xfrm>
            <a:off x="507950" y="1289806"/>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9" name="Image 2" descr="website result screenshot"/>
          <p:cNvPicPr>
            <a:picLocks noChangeAspect="1"/>
          </p:cNvPicPr>
          <p:nvPr/>
        </p:nvPicPr>
        <p:blipFill>
          <a:blip r:embed="rId4"/>
          <a:stretch>
            <a:fillRect/>
          </a:stretch>
        </p:blipFill>
        <p:spPr>
          <a:xfrm>
            <a:off x="609600" y="1391307"/>
            <a:ext cx="2438400" cy="1371600"/>
          </a:xfrm>
          <a:prstGeom prst="rect">
            <a:avLst/>
          </a:prstGeom>
        </p:spPr>
      </p:pic>
      <p:sp>
        <p:nvSpPr>
          <p:cNvPr id="10" name="Text 5"/>
          <p:cNvSpPr/>
          <p:nvPr/>
        </p:nvSpPr>
        <p:spPr>
          <a:xfrm>
            <a:off x="3200400" y="1569156"/>
            <a:ext cx="50750" cy="507950"/>
          </a:xfrm>
          <a:prstGeom prst="rect">
            <a:avLst/>
          </a:prstGeom>
          <a:solidFill>
            <a:srgbClr val="0969DA"/>
          </a:solidFill>
          <a:ln/>
        </p:spPr>
        <p:txBody>
          <a:bodyPr wrap="square" rtlCol="0" anchor="ctr"/>
          <a:lstStyle/>
          <a:p>
            <a:pPr marL="0" indent="0">
              <a:buNone/>
            </a:pPr>
            <a:endParaRPr lang="en-US" dirty="0"/>
          </a:p>
        </p:txBody>
      </p:sp>
      <p:sp>
        <p:nvSpPr>
          <p:cNvPr id="11" name="Text 6"/>
          <p:cNvSpPr/>
          <p:nvPr/>
        </p:nvSpPr>
        <p:spPr>
          <a:xfrm>
            <a:off x="3327350" y="1543707"/>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Interactive website</a:t>
            </a:r>
            <a:endParaRPr lang="en-US" sz="1200" dirty="0"/>
          </a:p>
        </p:txBody>
      </p:sp>
      <p:sp>
        <p:nvSpPr>
          <p:cNvPr id="12" name="Text 7"/>
          <p:cNvSpPr/>
          <p:nvPr/>
        </p:nvSpPr>
        <p:spPr>
          <a:xfrm>
            <a:off x="3327350" y="1950156"/>
            <a:ext cx="1113943" cy="26670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Developers and IT managers</a:t>
            </a:r>
            <a:endParaRPr lang="en-US" sz="950" dirty="0"/>
          </a:p>
        </p:txBody>
      </p:sp>
      <p:sp>
        <p:nvSpPr>
          <p:cNvPr id="13" name="Text 8"/>
          <p:cNvSpPr/>
          <p:nvPr/>
        </p:nvSpPr>
        <p:spPr>
          <a:xfrm>
            <a:off x="4622750" y="1289806"/>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14" name="Image 3" descr="excel result screenshot"/>
          <p:cNvPicPr>
            <a:picLocks noChangeAspect="1"/>
          </p:cNvPicPr>
          <p:nvPr/>
        </p:nvPicPr>
        <p:blipFill>
          <a:blip r:embed="rId5"/>
          <a:stretch>
            <a:fillRect/>
          </a:stretch>
        </p:blipFill>
        <p:spPr>
          <a:xfrm>
            <a:off x="4724400" y="1391307"/>
            <a:ext cx="2438400" cy="1371600"/>
          </a:xfrm>
          <a:prstGeom prst="rect">
            <a:avLst/>
          </a:prstGeom>
        </p:spPr>
      </p:pic>
      <p:sp>
        <p:nvSpPr>
          <p:cNvPr id="15" name="Text 9"/>
          <p:cNvSpPr/>
          <p:nvPr/>
        </p:nvSpPr>
        <p:spPr>
          <a:xfrm>
            <a:off x="7315200" y="1569156"/>
            <a:ext cx="50750" cy="507950"/>
          </a:xfrm>
          <a:prstGeom prst="rect">
            <a:avLst/>
          </a:prstGeom>
          <a:solidFill>
            <a:srgbClr val="1A7F37"/>
          </a:solidFill>
          <a:ln/>
        </p:spPr>
        <p:txBody>
          <a:bodyPr wrap="square" rtlCol="0" anchor="ctr"/>
          <a:lstStyle/>
          <a:p>
            <a:pPr marL="0" indent="0">
              <a:buNone/>
            </a:pPr>
            <a:endParaRPr lang="en-US" dirty="0"/>
          </a:p>
        </p:txBody>
      </p:sp>
      <p:sp>
        <p:nvSpPr>
          <p:cNvPr id="16" name="Text 10"/>
          <p:cNvSpPr/>
          <p:nvPr/>
        </p:nvSpPr>
        <p:spPr>
          <a:xfrm>
            <a:off x="7442150" y="1543707"/>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Excel workbook</a:t>
            </a:r>
            <a:endParaRPr lang="en-US" sz="1200" dirty="0"/>
          </a:p>
        </p:txBody>
      </p:sp>
      <p:sp>
        <p:nvSpPr>
          <p:cNvPr id="17" name="Text 11"/>
          <p:cNvSpPr/>
          <p:nvPr/>
        </p:nvSpPr>
        <p:spPr>
          <a:xfrm>
            <a:off x="7442150" y="1950156"/>
            <a:ext cx="1113943"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Business analysts</a:t>
            </a:r>
            <a:endParaRPr lang="en-US" sz="950" dirty="0"/>
          </a:p>
        </p:txBody>
      </p:sp>
      <p:sp>
        <p:nvSpPr>
          <p:cNvPr id="18" name="Text 12"/>
          <p:cNvSpPr/>
          <p:nvPr/>
        </p:nvSpPr>
        <p:spPr>
          <a:xfrm>
            <a:off x="507950" y="3067707"/>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19" name="Image 4" descr="briefing result screenshot"/>
          <p:cNvPicPr>
            <a:picLocks noChangeAspect="1"/>
          </p:cNvPicPr>
          <p:nvPr/>
        </p:nvPicPr>
        <p:blipFill>
          <a:blip r:embed="rId6"/>
          <a:stretch>
            <a:fillRect/>
          </a:stretch>
        </p:blipFill>
        <p:spPr>
          <a:xfrm>
            <a:off x="609600" y="3169356"/>
            <a:ext cx="2438400" cy="1371600"/>
          </a:xfrm>
          <a:prstGeom prst="rect">
            <a:avLst/>
          </a:prstGeom>
        </p:spPr>
      </p:pic>
      <p:sp>
        <p:nvSpPr>
          <p:cNvPr id="20" name="Text 13"/>
          <p:cNvSpPr/>
          <p:nvPr/>
        </p:nvSpPr>
        <p:spPr>
          <a:xfrm>
            <a:off x="3200400" y="3347206"/>
            <a:ext cx="50750" cy="507950"/>
          </a:xfrm>
          <a:prstGeom prst="rect">
            <a:avLst/>
          </a:prstGeom>
          <a:solidFill>
            <a:srgbClr val="BC4C00"/>
          </a:solidFill>
          <a:ln/>
        </p:spPr>
        <p:txBody>
          <a:bodyPr wrap="square" rtlCol="0" anchor="ctr"/>
          <a:lstStyle/>
          <a:p>
            <a:pPr marL="0" indent="0">
              <a:buNone/>
            </a:pPr>
            <a:endParaRPr lang="en-US" dirty="0"/>
          </a:p>
        </p:txBody>
      </p:sp>
      <p:sp>
        <p:nvSpPr>
          <p:cNvPr id="21" name="Text 14"/>
          <p:cNvSpPr/>
          <p:nvPr/>
        </p:nvSpPr>
        <p:spPr>
          <a:xfrm>
            <a:off x="3327350" y="3321756"/>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Executive briefing</a:t>
            </a:r>
            <a:endParaRPr lang="en-US" sz="1200" dirty="0"/>
          </a:p>
        </p:txBody>
      </p:sp>
      <p:sp>
        <p:nvSpPr>
          <p:cNvPr id="22" name="Text 15"/>
          <p:cNvSpPr/>
          <p:nvPr/>
        </p:nvSpPr>
        <p:spPr>
          <a:xfrm>
            <a:off x="3327350" y="3728206"/>
            <a:ext cx="1113943" cy="26670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Leaders and project managers</a:t>
            </a:r>
            <a:endParaRPr lang="en-US" sz="950" dirty="0"/>
          </a:p>
        </p:txBody>
      </p:sp>
      <p:sp>
        <p:nvSpPr>
          <p:cNvPr id="23" name="Text 16"/>
          <p:cNvSpPr/>
          <p:nvPr/>
        </p:nvSpPr>
        <p:spPr>
          <a:xfrm>
            <a:off x="4622750" y="3067707"/>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24" name="Image 5" descr="brief result screenshot"/>
          <p:cNvPicPr>
            <a:picLocks noChangeAspect="1"/>
          </p:cNvPicPr>
          <p:nvPr/>
        </p:nvPicPr>
        <p:blipFill>
          <a:blip r:embed="rId7"/>
          <a:stretch>
            <a:fillRect/>
          </a:stretch>
        </p:blipFill>
        <p:spPr>
          <a:xfrm>
            <a:off x="4724400" y="3169356"/>
            <a:ext cx="2438400" cy="1371600"/>
          </a:xfrm>
          <a:prstGeom prst="rect">
            <a:avLst/>
          </a:prstGeom>
        </p:spPr>
      </p:pic>
      <p:sp>
        <p:nvSpPr>
          <p:cNvPr id="25" name="Text 17"/>
          <p:cNvSpPr/>
          <p:nvPr/>
        </p:nvSpPr>
        <p:spPr>
          <a:xfrm>
            <a:off x="7315200" y="3347206"/>
            <a:ext cx="50750" cy="507950"/>
          </a:xfrm>
          <a:prstGeom prst="rect">
            <a:avLst/>
          </a:prstGeom>
          <a:solidFill>
            <a:srgbClr val="8250DF"/>
          </a:solidFill>
          <a:ln/>
        </p:spPr>
        <p:txBody>
          <a:bodyPr wrap="square" rtlCol="0" anchor="ctr"/>
          <a:lstStyle/>
          <a:p>
            <a:pPr marL="0" indent="0">
              <a:buNone/>
            </a:pPr>
            <a:endParaRPr lang="en-US" dirty="0"/>
          </a:p>
        </p:txBody>
      </p:sp>
      <p:sp>
        <p:nvSpPr>
          <p:cNvPr id="26" name="Text 18"/>
          <p:cNvSpPr/>
          <p:nvPr/>
        </p:nvSpPr>
        <p:spPr>
          <a:xfrm>
            <a:off x="7442150" y="3321756"/>
            <a:ext cx="1113943" cy="17145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Session brief</a:t>
            </a:r>
            <a:endParaRPr lang="en-US" sz="1200" dirty="0"/>
          </a:p>
        </p:txBody>
      </p:sp>
      <p:sp>
        <p:nvSpPr>
          <p:cNvPr id="27" name="Text 19"/>
          <p:cNvSpPr/>
          <p:nvPr/>
        </p:nvSpPr>
        <p:spPr>
          <a:xfrm>
            <a:off x="7442150" y="3728206"/>
            <a:ext cx="1113943"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Project managers</a:t>
            </a:r>
            <a:endParaRPr lang="en-US" sz="950" dirty="0"/>
          </a:p>
        </p:txBody>
      </p:sp>
      <p:pic>
        <p:nvPicPr>
          <p:cNvPr id="28" name="Live site QR"/>
          <p:cNvPicPr>
            <a:picLocks noChangeAspect="1"/>
          </p:cNvPicPr>
          <p:nvPr/>
        </p:nvPicPr>
        <p:blipFill>
          <a:blip r:embed="rId8"/>
          <a:srcRect/>
          <a:stretch/>
        </p:blipFill>
        <p:spPr>
          <a:xfrm>
            <a:off x="8280400" y="4344007"/>
            <a:ext cx="635000" cy="635000"/>
          </a:xfrm>
          <a:prstGeom prst="rect">
            <a:avLst/>
          </a:prstGeom>
        </p:spPr>
      </p:pic>
      <p:pic>
        <p:nvPicPr>
          <p:cNvPr id="31" name="Image 1" descr="/Users/danwahlin/.copilot/session-state/e7427b9a-9d65-4aa2-953c-14cedea46cbc/files/talkdeck/assets/mark-dark.png">
            <a:extLst>
              <a:ext uri="{FF2B5EF4-FFF2-40B4-BE49-F238E27FC236}">
                <a16:creationId xmlns:a16="http://schemas.microsoft.com/office/drawing/2014/main" id="{7C2E6205-E917-851E-6133-266232ADE800}"/>
              </a:ext>
            </a:extLst>
          </p:cNvPr>
          <p:cNvPicPr>
            <a:picLocks noChangeAspect="1"/>
          </p:cNvPicPr>
          <p:nvPr/>
        </p:nvPicPr>
        <p:blipFill>
          <a:blip r:embed="rId9"/>
          <a:stretch>
            <a:fillRect/>
          </a:stretch>
        </p:blipFill>
        <p:spPr>
          <a:xfrm>
            <a:off x="8610600" y="165050"/>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1000"/>
                                        <p:tgtEl>
                                          <p:spTgt spid="9"/>
                                        </p:tgtEl>
                                      </p:cBhvr>
                                    </p:animEffect>
                                    <p:anim calcmode="lin" valueType="num">
                                      <p:cBhvr>
                                        <p:cTn id="13" dur="1000" fill="hold"/>
                                        <p:tgtEl>
                                          <p:spTgt spid="9"/>
                                        </p:tgtEl>
                                        <p:attrNameLst>
                                          <p:attrName>ppt_x</p:attrName>
                                        </p:attrNameLst>
                                      </p:cBhvr>
                                      <p:tavLst>
                                        <p:tav tm="0">
                                          <p:val>
                                            <p:strVal val="#ppt_x"/>
                                          </p:val>
                                        </p:tav>
                                        <p:tav tm="100000">
                                          <p:val>
                                            <p:strVal val="#ppt_x"/>
                                          </p:val>
                                        </p:tav>
                                      </p:tavLst>
                                    </p:anim>
                                    <p:anim calcmode="lin" valueType="num">
                                      <p:cBhvr>
                                        <p:cTn id="14" dur="1000" fill="hold"/>
                                        <p:tgtEl>
                                          <p:spTgt spid="9"/>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anim calcmode="lin" valueType="num">
                                      <p:cBhvr>
                                        <p:cTn id="18" dur="1000" fill="hold"/>
                                        <p:tgtEl>
                                          <p:spTgt spid="10"/>
                                        </p:tgtEl>
                                        <p:attrNameLst>
                                          <p:attrName>ppt_x</p:attrName>
                                        </p:attrNameLst>
                                      </p:cBhvr>
                                      <p:tavLst>
                                        <p:tav tm="0">
                                          <p:val>
                                            <p:strVal val="#ppt_x"/>
                                          </p:val>
                                        </p:tav>
                                        <p:tav tm="100000">
                                          <p:val>
                                            <p:strVal val="#ppt_x"/>
                                          </p:val>
                                        </p:tav>
                                      </p:tavLst>
                                    </p:anim>
                                    <p:anim calcmode="lin" valueType="num">
                                      <p:cBhvr>
                                        <p:cTn id="19" dur="1000" fill="hold"/>
                                        <p:tgtEl>
                                          <p:spTgt spid="10"/>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anim calcmode="lin" valueType="num">
                                      <p:cBhvr>
                                        <p:cTn id="23" dur="1000" fill="hold"/>
                                        <p:tgtEl>
                                          <p:spTgt spid="11"/>
                                        </p:tgtEl>
                                        <p:attrNameLst>
                                          <p:attrName>ppt_x</p:attrName>
                                        </p:attrNameLst>
                                      </p:cBhvr>
                                      <p:tavLst>
                                        <p:tav tm="0">
                                          <p:val>
                                            <p:strVal val="#ppt_x"/>
                                          </p:val>
                                        </p:tav>
                                        <p:tav tm="100000">
                                          <p:val>
                                            <p:strVal val="#ppt_x"/>
                                          </p:val>
                                        </p:tav>
                                      </p:tavLst>
                                    </p:anim>
                                    <p:anim calcmode="lin" valueType="num">
                                      <p:cBhvr>
                                        <p:cTn id="24" dur="1000" fill="hold"/>
                                        <p:tgtEl>
                                          <p:spTgt spid="11"/>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anim calcmode="lin" valueType="num">
                                      <p:cBhvr>
                                        <p:cTn id="28" dur="1000" fill="hold"/>
                                        <p:tgtEl>
                                          <p:spTgt spid="12"/>
                                        </p:tgtEl>
                                        <p:attrNameLst>
                                          <p:attrName>ppt_x</p:attrName>
                                        </p:attrNameLst>
                                      </p:cBhvr>
                                      <p:tavLst>
                                        <p:tav tm="0">
                                          <p:val>
                                            <p:strVal val="#ppt_x"/>
                                          </p:val>
                                        </p:tav>
                                        <p:tav tm="100000">
                                          <p:val>
                                            <p:strVal val="#ppt_x"/>
                                          </p:val>
                                        </p:tav>
                                      </p:tavLst>
                                    </p:anim>
                                    <p:anim calcmode="lin" valueType="num">
                                      <p:cBhvr>
                                        <p:cTn id="29"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1000"/>
                                        <p:tgtEl>
                                          <p:spTgt spid="13"/>
                                        </p:tgtEl>
                                      </p:cBhvr>
                                    </p:animEffect>
                                    <p:anim calcmode="lin" valueType="num">
                                      <p:cBhvr>
                                        <p:cTn id="35" dur="1000" fill="hold"/>
                                        <p:tgtEl>
                                          <p:spTgt spid="13"/>
                                        </p:tgtEl>
                                        <p:attrNameLst>
                                          <p:attrName>ppt_x</p:attrName>
                                        </p:attrNameLst>
                                      </p:cBhvr>
                                      <p:tavLst>
                                        <p:tav tm="0">
                                          <p:val>
                                            <p:strVal val="#ppt_x"/>
                                          </p:val>
                                        </p:tav>
                                        <p:tav tm="100000">
                                          <p:val>
                                            <p:strVal val="#ppt_x"/>
                                          </p:val>
                                        </p:tav>
                                      </p:tavLst>
                                    </p:anim>
                                    <p:anim calcmode="lin" valueType="num">
                                      <p:cBhvr>
                                        <p:cTn id="36" dur="1000" fill="hold"/>
                                        <p:tgtEl>
                                          <p:spTgt spid="13"/>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1000"/>
                                        <p:tgtEl>
                                          <p:spTgt spid="14"/>
                                        </p:tgtEl>
                                      </p:cBhvr>
                                    </p:animEffect>
                                    <p:anim calcmode="lin" valueType="num">
                                      <p:cBhvr>
                                        <p:cTn id="40" dur="1000" fill="hold"/>
                                        <p:tgtEl>
                                          <p:spTgt spid="14"/>
                                        </p:tgtEl>
                                        <p:attrNameLst>
                                          <p:attrName>ppt_x</p:attrName>
                                        </p:attrNameLst>
                                      </p:cBhvr>
                                      <p:tavLst>
                                        <p:tav tm="0">
                                          <p:val>
                                            <p:strVal val="#ppt_x"/>
                                          </p:val>
                                        </p:tav>
                                        <p:tav tm="100000">
                                          <p:val>
                                            <p:strVal val="#ppt_x"/>
                                          </p:val>
                                        </p:tav>
                                      </p:tavLst>
                                    </p:anim>
                                    <p:anim calcmode="lin" valueType="num">
                                      <p:cBhvr>
                                        <p:cTn id="41" dur="1000" fill="hold"/>
                                        <p:tgtEl>
                                          <p:spTgt spid="14"/>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1000"/>
                                        <p:tgtEl>
                                          <p:spTgt spid="15"/>
                                        </p:tgtEl>
                                      </p:cBhvr>
                                    </p:animEffect>
                                    <p:anim calcmode="lin" valueType="num">
                                      <p:cBhvr>
                                        <p:cTn id="45" dur="1000" fill="hold"/>
                                        <p:tgtEl>
                                          <p:spTgt spid="15"/>
                                        </p:tgtEl>
                                        <p:attrNameLst>
                                          <p:attrName>ppt_x</p:attrName>
                                        </p:attrNameLst>
                                      </p:cBhvr>
                                      <p:tavLst>
                                        <p:tav tm="0">
                                          <p:val>
                                            <p:strVal val="#ppt_x"/>
                                          </p:val>
                                        </p:tav>
                                        <p:tav tm="100000">
                                          <p:val>
                                            <p:strVal val="#ppt_x"/>
                                          </p:val>
                                        </p:tav>
                                      </p:tavLst>
                                    </p:anim>
                                    <p:anim calcmode="lin" valueType="num">
                                      <p:cBhvr>
                                        <p:cTn id="46" dur="1000" fill="hold"/>
                                        <p:tgtEl>
                                          <p:spTgt spid="15"/>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1000"/>
                                        <p:tgtEl>
                                          <p:spTgt spid="16"/>
                                        </p:tgtEl>
                                      </p:cBhvr>
                                    </p:animEffect>
                                    <p:anim calcmode="lin" valueType="num">
                                      <p:cBhvr>
                                        <p:cTn id="50" dur="1000" fill="hold"/>
                                        <p:tgtEl>
                                          <p:spTgt spid="16"/>
                                        </p:tgtEl>
                                        <p:attrNameLst>
                                          <p:attrName>ppt_x</p:attrName>
                                        </p:attrNameLst>
                                      </p:cBhvr>
                                      <p:tavLst>
                                        <p:tav tm="0">
                                          <p:val>
                                            <p:strVal val="#ppt_x"/>
                                          </p:val>
                                        </p:tav>
                                        <p:tav tm="100000">
                                          <p:val>
                                            <p:strVal val="#ppt_x"/>
                                          </p:val>
                                        </p:tav>
                                      </p:tavLst>
                                    </p:anim>
                                    <p:anim calcmode="lin" valueType="num">
                                      <p:cBhvr>
                                        <p:cTn id="51" dur="1000" fill="hold"/>
                                        <p:tgtEl>
                                          <p:spTgt spid="16"/>
                                        </p:tgtEl>
                                        <p:attrNameLst>
                                          <p:attrName>ppt_y</p:attrName>
                                        </p:attrNameLst>
                                      </p:cBhvr>
                                      <p:tavLst>
                                        <p:tav tm="0">
                                          <p:val>
                                            <p:strVal val="#ppt_y+.1"/>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1000"/>
                                        <p:tgtEl>
                                          <p:spTgt spid="17"/>
                                        </p:tgtEl>
                                      </p:cBhvr>
                                    </p:animEffect>
                                    <p:anim calcmode="lin" valueType="num">
                                      <p:cBhvr>
                                        <p:cTn id="55" dur="1000" fill="hold"/>
                                        <p:tgtEl>
                                          <p:spTgt spid="17"/>
                                        </p:tgtEl>
                                        <p:attrNameLst>
                                          <p:attrName>ppt_x</p:attrName>
                                        </p:attrNameLst>
                                      </p:cBhvr>
                                      <p:tavLst>
                                        <p:tav tm="0">
                                          <p:val>
                                            <p:strVal val="#ppt_x"/>
                                          </p:val>
                                        </p:tav>
                                        <p:tav tm="100000">
                                          <p:val>
                                            <p:strVal val="#ppt_x"/>
                                          </p:val>
                                        </p:tav>
                                      </p:tavLst>
                                    </p:anim>
                                    <p:anim calcmode="lin" valueType="num">
                                      <p:cBhvr>
                                        <p:cTn id="56"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grpId="0" nodeType="click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1000"/>
                                        <p:tgtEl>
                                          <p:spTgt spid="18"/>
                                        </p:tgtEl>
                                      </p:cBhvr>
                                    </p:animEffect>
                                    <p:anim calcmode="lin" valueType="num">
                                      <p:cBhvr>
                                        <p:cTn id="62" dur="1000" fill="hold"/>
                                        <p:tgtEl>
                                          <p:spTgt spid="18"/>
                                        </p:tgtEl>
                                        <p:attrNameLst>
                                          <p:attrName>ppt_x</p:attrName>
                                        </p:attrNameLst>
                                      </p:cBhvr>
                                      <p:tavLst>
                                        <p:tav tm="0">
                                          <p:val>
                                            <p:strVal val="#ppt_x"/>
                                          </p:val>
                                        </p:tav>
                                        <p:tav tm="100000">
                                          <p:val>
                                            <p:strVal val="#ppt_x"/>
                                          </p:val>
                                        </p:tav>
                                      </p:tavLst>
                                    </p:anim>
                                    <p:anim calcmode="lin" valueType="num">
                                      <p:cBhvr>
                                        <p:cTn id="63" dur="1000" fill="hold"/>
                                        <p:tgtEl>
                                          <p:spTgt spid="18"/>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1000"/>
                                        <p:tgtEl>
                                          <p:spTgt spid="19"/>
                                        </p:tgtEl>
                                      </p:cBhvr>
                                    </p:animEffect>
                                    <p:anim calcmode="lin" valueType="num">
                                      <p:cBhvr>
                                        <p:cTn id="67" dur="1000" fill="hold"/>
                                        <p:tgtEl>
                                          <p:spTgt spid="19"/>
                                        </p:tgtEl>
                                        <p:attrNameLst>
                                          <p:attrName>ppt_x</p:attrName>
                                        </p:attrNameLst>
                                      </p:cBhvr>
                                      <p:tavLst>
                                        <p:tav tm="0">
                                          <p:val>
                                            <p:strVal val="#ppt_x"/>
                                          </p:val>
                                        </p:tav>
                                        <p:tav tm="100000">
                                          <p:val>
                                            <p:strVal val="#ppt_x"/>
                                          </p:val>
                                        </p:tav>
                                      </p:tavLst>
                                    </p:anim>
                                    <p:anim calcmode="lin" valueType="num">
                                      <p:cBhvr>
                                        <p:cTn id="68" dur="1000" fill="hold"/>
                                        <p:tgtEl>
                                          <p:spTgt spid="19"/>
                                        </p:tgtEl>
                                        <p:attrNameLst>
                                          <p:attrName>ppt_y</p:attrName>
                                        </p:attrNameLst>
                                      </p:cBhvr>
                                      <p:tavLst>
                                        <p:tav tm="0">
                                          <p:val>
                                            <p:strVal val="#ppt_y+.1"/>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1000"/>
                                        <p:tgtEl>
                                          <p:spTgt spid="20"/>
                                        </p:tgtEl>
                                      </p:cBhvr>
                                    </p:animEffect>
                                    <p:anim calcmode="lin" valueType="num">
                                      <p:cBhvr>
                                        <p:cTn id="72" dur="1000" fill="hold"/>
                                        <p:tgtEl>
                                          <p:spTgt spid="20"/>
                                        </p:tgtEl>
                                        <p:attrNameLst>
                                          <p:attrName>ppt_x</p:attrName>
                                        </p:attrNameLst>
                                      </p:cBhvr>
                                      <p:tavLst>
                                        <p:tav tm="0">
                                          <p:val>
                                            <p:strVal val="#ppt_x"/>
                                          </p:val>
                                        </p:tav>
                                        <p:tav tm="100000">
                                          <p:val>
                                            <p:strVal val="#ppt_x"/>
                                          </p:val>
                                        </p:tav>
                                      </p:tavLst>
                                    </p:anim>
                                    <p:anim calcmode="lin" valueType="num">
                                      <p:cBhvr>
                                        <p:cTn id="73" dur="1000" fill="hold"/>
                                        <p:tgtEl>
                                          <p:spTgt spid="20"/>
                                        </p:tgtEl>
                                        <p:attrNameLst>
                                          <p:attrName>ppt_y</p:attrName>
                                        </p:attrNameLst>
                                      </p:cBhvr>
                                      <p:tavLst>
                                        <p:tav tm="0">
                                          <p:val>
                                            <p:strVal val="#ppt_y+.1"/>
                                          </p:val>
                                        </p:tav>
                                        <p:tav tm="100000">
                                          <p:val>
                                            <p:strVal val="#ppt_y"/>
                                          </p:val>
                                        </p:tav>
                                      </p:tavLst>
                                    </p:anim>
                                  </p:childTnLst>
                                </p:cTn>
                              </p:par>
                              <p:par>
                                <p:cTn id="74" presetID="42" presetClass="entr" presetSubtype="0" fill="hold" grpId="0" nodeType="with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1000"/>
                                        <p:tgtEl>
                                          <p:spTgt spid="21"/>
                                        </p:tgtEl>
                                      </p:cBhvr>
                                    </p:animEffect>
                                    <p:anim calcmode="lin" valueType="num">
                                      <p:cBhvr>
                                        <p:cTn id="77" dur="1000" fill="hold"/>
                                        <p:tgtEl>
                                          <p:spTgt spid="21"/>
                                        </p:tgtEl>
                                        <p:attrNameLst>
                                          <p:attrName>ppt_x</p:attrName>
                                        </p:attrNameLst>
                                      </p:cBhvr>
                                      <p:tavLst>
                                        <p:tav tm="0">
                                          <p:val>
                                            <p:strVal val="#ppt_x"/>
                                          </p:val>
                                        </p:tav>
                                        <p:tav tm="100000">
                                          <p:val>
                                            <p:strVal val="#ppt_x"/>
                                          </p:val>
                                        </p:tav>
                                      </p:tavLst>
                                    </p:anim>
                                    <p:anim calcmode="lin" valueType="num">
                                      <p:cBhvr>
                                        <p:cTn id="78" dur="1000" fill="hold"/>
                                        <p:tgtEl>
                                          <p:spTgt spid="21"/>
                                        </p:tgtEl>
                                        <p:attrNameLst>
                                          <p:attrName>ppt_y</p:attrName>
                                        </p:attrNameLst>
                                      </p:cBhvr>
                                      <p:tavLst>
                                        <p:tav tm="0">
                                          <p:val>
                                            <p:strVal val="#ppt_y+.1"/>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1000"/>
                                        <p:tgtEl>
                                          <p:spTgt spid="22"/>
                                        </p:tgtEl>
                                      </p:cBhvr>
                                    </p:animEffect>
                                    <p:anim calcmode="lin" valueType="num">
                                      <p:cBhvr>
                                        <p:cTn id="82" dur="1000" fill="hold"/>
                                        <p:tgtEl>
                                          <p:spTgt spid="22"/>
                                        </p:tgtEl>
                                        <p:attrNameLst>
                                          <p:attrName>ppt_x</p:attrName>
                                        </p:attrNameLst>
                                      </p:cBhvr>
                                      <p:tavLst>
                                        <p:tav tm="0">
                                          <p:val>
                                            <p:strVal val="#ppt_x"/>
                                          </p:val>
                                        </p:tav>
                                        <p:tav tm="100000">
                                          <p:val>
                                            <p:strVal val="#ppt_x"/>
                                          </p:val>
                                        </p:tav>
                                      </p:tavLst>
                                    </p:anim>
                                    <p:anim calcmode="lin" valueType="num">
                                      <p:cBhvr>
                                        <p:cTn id="83"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84" fill="hold">
                      <p:stCondLst>
                        <p:cond delay="indefinite"/>
                      </p:stCondLst>
                      <p:childTnLst>
                        <p:par>
                          <p:cTn id="85" fill="hold">
                            <p:stCondLst>
                              <p:cond delay="0"/>
                            </p:stCondLst>
                            <p:childTnLst>
                              <p:par>
                                <p:cTn id="86" presetID="42" presetClass="entr" presetSubtype="0" fill="hold" grpId="0" nodeType="click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1000"/>
                                        <p:tgtEl>
                                          <p:spTgt spid="23"/>
                                        </p:tgtEl>
                                      </p:cBhvr>
                                    </p:animEffect>
                                    <p:anim calcmode="lin" valueType="num">
                                      <p:cBhvr>
                                        <p:cTn id="89" dur="1000" fill="hold"/>
                                        <p:tgtEl>
                                          <p:spTgt spid="23"/>
                                        </p:tgtEl>
                                        <p:attrNameLst>
                                          <p:attrName>ppt_x</p:attrName>
                                        </p:attrNameLst>
                                      </p:cBhvr>
                                      <p:tavLst>
                                        <p:tav tm="0">
                                          <p:val>
                                            <p:strVal val="#ppt_x"/>
                                          </p:val>
                                        </p:tav>
                                        <p:tav tm="100000">
                                          <p:val>
                                            <p:strVal val="#ppt_x"/>
                                          </p:val>
                                        </p:tav>
                                      </p:tavLst>
                                    </p:anim>
                                    <p:anim calcmode="lin" valueType="num">
                                      <p:cBhvr>
                                        <p:cTn id="90" dur="1000" fill="hold"/>
                                        <p:tgtEl>
                                          <p:spTgt spid="23"/>
                                        </p:tgtEl>
                                        <p:attrNameLst>
                                          <p:attrName>ppt_y</p:attrName>
                                        </p:attrNameLst>
                                      </p:cBhvr>
                                      <p:tavLst>
                                        <p:tav tm="0">
                                          <p:val>
                                            <p:strVal val="#ppt_y+.1"/>
                                          </p:val>
                                        </p:tav>
                                        <p:tav tm="100000">
                                          <p:val>
                                            <p:strVal val="#ppt_y"/>
                                          </p:val>
                                        </p:tav>
                                      </p:tavLst>
                                    </p:anim>
                                  </p:childTnLst>
                                </p:cTn>
                              </p:par>
                              <p:par>
                                <p:cTn id="91" presetID="42" presetClass="entr" presetSubtype="0" fill="hold" nodeType="withEffect">
                                  <p:stCondLst>
                                    <p:cond delay="0"/>
                                  </p:stCondLst>
                                  <p:childTnLst>
                                    <p:set>
                                      <p:cBhvr>
                                        <p:cTn id="92" dur="1" fill="hold">
                                          <p:stCondLst>
                                            <p:cond delay="0"/>
                                          </p:stCondLst>
                                        </p:cTn>
                                        <p:tgtEl>
                                          <p:spTgt spid="24"/>
                                        </p:tgtEl>
                                        <p:attrNameLst>
                                          <p:attrName>style.visibility</p:attrName>
                                        </p:attrNameLst>
                                      </p:cBhvr>
                                      <p:to>
                                        <p:strVal val="visible"/>
                                      </p:to>
                                    </p:set>
                                    <p:animEffect transition="in" filter="fade">
                                      <p:cBhvr>
                                        <p:cTn id="93" dur="1000"/>
                                        <p:tgtEl>
                                          <p:spTgt spid="24"/>
                                        </p:tgtEl>
                                      </p:cBhvr>
                                    </p:animEffect>
                                    <p:anim calcmode="lin" valueType="num">
                                      <p:cBhvr>
                                        <p:cTn id="94" dur="1000" fill="hold"/>
                                        <p:tgtEl>
                                          <p:spTgt spid="24"/>
                                        </p:tgtEl>
                                        <p:attrNameLst>
                                          <p:attrName>ppt_x</p:attrName>
                                        </p:attrNameLst>
                                      </p:cBhvr>
                                      <p:tavLst>
                                        <p:tav tm="0">
                                          <p:val>
                                            <p:strVal val="#ppt_x"/>
                                          </p:val>
                                        </p:tav>
                                        <p:tav tm="100000">
                                          <p:val>
                                            <p:strVal val="#ppt_x"/>
                                          </p:val>
                                        </p:tav>
                                      </p:tavLst>
                                    </p:anim>
                                    <p:anim calcmode="lin" valueType="num">
                                      <p:cBhvr>
                                        <p:cTn id="95" dur="1000" fill="hold"/>
                                        <p:tgtEl>
                                          <p:spTgt spid="24"/>
                                        </p:tgtEl>
                                        <p:attrNameLst>
                                          <p:attrName>ppt_y</p:attrName>
                                        </p:attrNameLst>
                                      </p:cBhvr>
                                      <p:tavLst>
                                        <p:tav tm="0">
                                          <p:val>
                                            <p:strVal val="#ppt_y+.1"/>
                                          </p:val>
                                        </p:tav>
                                        <p:tav tm="100000">
                                          <p:val>
                                            <p:strVal val="#ppt_y"/>
                                          </p:val>
                                        </p:tav>
                                      </p:tavLst>
                                    </p:anim>
                                  </p:childTnLst>
                                </p:cTn>
                              </p:par>
                              <p:par>
                                <p:cTn id="96" presetID="42" presetClass="entr" presetSubtype="0" fill="hold" grpId="0" nodeType="withEffect">
                                  <p:stCondLst>
                                    <p:cond delay="0"/>
                                  </p:stCondLst>
                                  <p:childTnLst>
                                    <p:set>
                                      <p:cBhvr>
                                        <p:cTn id="97" dur="1" fill="hold">
                                          <p:stCondLst>
                                            <p:cond delay="0"/>
                                          </p:stCondLst>
                                        </p:cTn>
                                        <p:tgtEl>
                                          <p:spTgt spid="25"/>
                                        </p:tgtEl>
                                        <p:attrNameLst>
                                          <p:attrName>style.visibility</p:attrName>
                                        </p:attrNameLst>
                                      </p:cBhvr>
                                      <p:to>
                                        <p:strVal val="visible"/>
                                      </p:to>
                                    </p:set>
                                    <p:animEffect transition="in" filter="fade">
                                      <p:cBhvr>
                                        <p:cTn id="98" dur="1000"/>
                                        <p:tgtEl>
                                          <p:spTgt spid="25"/>
                                        </p:tgtEl>
                                      </p:cBhvr>
                                    </p:animEffect>
                                    <p:anim calcmode="lin" valueType="num">
                                      <p:cBhvr>
                                        <p:cTn id="99" dur="1000" fill="hold"/>
                                        <p:tgtEl>
                                          <p:spTgt spid="25"/>
                                        </p:tgtEl>
                                        <p:attrNameLst>
                                          <p:attrName>ppt_x</p:attrName>
                                        </p:attrNameLst>
                                      </p:cBhvr>
                                      <p:tavLst>
                                        <p:tav tm="0">
                                          <p:val>
                                            <p:strVal val="#ppt_x"/>
                                          </p:val>
                                        </p:tav>
                                        <p:tav tm="100000">
                                          <p:val>
                                            <p:strVal val="#ppt_x"/>
                                          </p:val>
                                        </p:tav>
                                      </p:tavLst>
                                    </p:anim>
                                    <p:anim calcmode="lin" valueType="num">
                                      <p:cBhvr>
                                        <p:cTn id="100" dur="1000" fill="hold"/>
                                        <p:tgtEl>
                                          <p:spTgt spid="25"/>
                                        </p:tgtEl>
                                        <p:attrNameLst>
                                          <p:attrName>ppt_y</p:attrName>
                                        </p:attrNameLst>
                                      </p:cBhvr>
                                      <p:tavLst>
                                        <p:tav tm="0">
                                          <p:val>
                                            <p:strVal val="#ppt_y+.1"/>
                                          </p:val>
                                        </p:tav>
                                        <p:tav tm="100000">
                                          <p:val>
                                            <p:strVal val="#ppt_y"/>
                                          </p:val>
                                        </p:tav>
                                      </p:tavLst>
                                    </p:anim>
                                  </p:childTnLst>
                                </p:cTn>
                              </p:par>
                              <p:par>
                                <p:cTn id="101" presetID="42" presetClass="entr" presetSubtype="0" fill="hold" grpId="0" nodeType="withEffect">
                                  <p:stCondLst>
                                    <p:cond delay="0"/>
                                  </p:stCondLst>
                                  <p:childTnLst>
                                    <p:set>
                                      <p:cBhvr>
                                        <p:cTn id="102" dur="1" fill="hold">
                                          <p:stCondLst>
                                            <p:cond delay="0"/>
                                          </p:stCondLst>
                                        </p:cTn>
                                        <p:tgtEl>
                                          <p:spTgt spid="26"/>
                                        </p:tgtEl>
                                        <p:attrNameLst>
                                          <p:attrName>style.visibility</p:attrName>
                                        </p:attrNameLst>
                                      </p:cBhvr>
                                      <p:to>
                                        <p:strVal val="visible"/>
                                      </p:to>
                                    </p:set>
                                    <p:animEffect transition="in" filter="fade">
                                      <p:cBhvr>
                                        <p:cTn id="103" dur="1000"/>
                                        <p:tgtEl>
                                          <p:spTgt spid="26"/>
                                        </p:tgtEl>
                                      </p:cBhvr>
                                    </p:animEffect>
                                    <p:anim calcmode="lin" valueType="num">
                                      <p:cBhvr>
                                        <p:cTn id="104" dur="1000" fill="hold"/>
                                        <p:tgtEl>
                                          <p:spTgt spid="26"/>
                                        </p:tgtEl>
                                        <p:attrNameLst>
                                          <p:attrName>ppt_x</p:attrName>
                                        </p:attrNameLst>
                                      </p:cBhvr>
                                      <p:tavLst>
                                        <p:tav tm="0">
                                          <p:val>
                                            <p:strVal val="#ppt_x"/>
                                          </p:val>
                                        </p:tav>
                                        <p:tav tm="100000">
                                          <p:val>
                                            <p:strVal val="#ppt_x"/>
                                          </p:val>
                                        </p:tav>
                                      </p:tavLst>
                                    </p:anim>
                                    <p:anim calcmode="lin" valueType="num">
                                      <p:cBhvr>
                                        <p:cTn id="105" dur="1000" fill="hold"/>
                                        <p:tgtEl>
                                          <p:spTgt spid="26"/>
                                        </p:tgtEl>
                                        <p:attrNameLst>
                                          <p:attrName>ppt_y</p:attrName>
                                        </p:attrNameLst>
                                      </p:cBhvr>
                                      <p:tavLst>
                                        <p:tav tm="0">
                                          <p:val>
                                            <p:strVal val="#ppt_y+.1"/>
                                          </p:val>
                                        </p:tav>
                                        <p:tav tm="100000">
                                          <p:val>
                                            <p:strVal val="#ppt_y"/>
                                          </p:val>
                                        </p:tav>
                                      </p:tavLst>
                                    </p:anim>
                                  </p:childTnLst>
                                </p:cTn>
                              </p:par>
                              <p:par>
                                <p:cTn id="106" presetID="42" presetClass="entr" presetSubtype="0" fill="hold" grpId="0" nodeType="withEffect">
                                  <p:stCondLst>
                                    <p:cond delay="0"/>
                                  </p:stCondLst>
                                  <p:childTnLst>
                                    <p:set>
                                      <p:cBhvr>
                                        <p:cTn id="107" dur="1" fill="hold">
                                          <p:stCondLst>
                                            <p:cond delay="0"/>
                                          </p:stCondLst>
                                        </p:cTn>
                                        <p:tgtEl>
                                          <p:spTgt spid="27"/>
                                        </p:tgtEl>
                                        <p:attrNameLst>
                                          <p:attrName>style.visibility</p:attrName>
                                        </p:attrNameLst>
                                      </p:cBhvr>
                                      <p:to>
                                        <p:strVal val="visible"/>
                                      </p:to>
                                    </p:set>
                                    <p:animEffect transition="in" filter="fade">
                                      <p:cBhvr>
                                        <p:cTn id="108" dur="1000"/>
                                        <p:tgtEl>
                                          <p:spTgt spid="27"/>
                                        </p:tgtEl>
                                      </p:cBhvr>
                                    </p:animEffect>
                                    <p:anim calcmode="lin" valueType="num">
                                      <p:cBhvr>
                                        <p:cTn id="109" dur="1000" fill="hold"/>
                                        <p:tgtEl>
                                          <p:spTgt spid="27"/>
                                        </p:tgtEl>
                                        <p:attrNameLst>
                                          <p:attrName>ppt_x</p:attrName>
                                        </p:attrNameLst>
                                      </p:cBhvr>
                                      <p:tavLst>
                                        <p:tav tm="0">
                                          <p:val>
                                            <p:strVal val="#ppt_x"/>
                                          </p:val>
                                        </p:tav>
                                        <p:tav tm="100000">
                                          <p:val>
                                            <p:strVal val="#ppt_x"/>
                                          </p:val>
                                        </p:tav>
                                      </p:tavLst>
                                    </p:anim>
                                    <p:anim calcmode="lin" valueType="num">
                                      <p:cBhvr>
                                        <p:cTn id="110" dur="1000" fill="hold"/>
                                        <p:tgtEl>
                                          <p:spTgt spid="2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P spid="23" grpId="0" animBg="1"/>
      <p:bldP spid="25" grpId="0" animBg="1"/>
      <p:bldP spid="26" grpId="0" animBg="1"/>
      <p:bldP spid="2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0FBF3"/>
        </a:solidFill>
        <a:effectLst/>
      </p:bgPr>
    </p:bg>
    <p:spTree>
      <p:nvGrpSpPr>
        <p:cNvPr id="1" name=""/>
        <p:cNvGrpSpPr/>
        <p:nvPr/>
      </p:nvGrpSpPr>
      <p:grpSpPr>
        <a:xfrm>
          <a:off x="0" y="0"/>
          <a:ext cx="0" cy="0"/>
          <a:chOff x="0" y="0"/>
          <a:chExt cx="0" cy="0"/>
        </a:xfrm>
      </p:grpSpPr>
      <p:sp>
        <p:nvSpPr>
          <p:cNvPr id="6" name="Text 2"/>
          <p:cNvSpPr/>
          <p:nvPr/>
        </p:nvSpPr>
        <p:spPr>
          <a:xfrm>
            <a:off x="0" y="0"/>
            <a:ext cx="152400" cy="5143500"/>
          </a:xfrm>
          <a:prstGeom prst="rect">
            <a:avLst/>
          </a:prstGeom>
          <a:solidFill>
            <a:srgbClr val="1A7F37"/>
          </a:solidFill>
          <a:ln/>
        </p:spPr>
        <p:txBody>
          <a:bodyPr wrap="square" rtlCol="0" anchor="ctr"/>
          <a:lstStyle/>
          <a:p>
            <a:pPr marL="0" indent="0">
              <a:buNone/>
            </a:pPr>
            <a:endParaRPr lang="en-US" dirty="0"/>
          </a:p>
        </p:txBody>
      </p:sp>
      <p:sp>
        <p:nvSpPr>
          <p:cNvPr id="7" name="Text 3"/>
          <p:cNvSpPr/>
          <p:nvPr/>
        </p:nvSpPr>
        <p:spPr>
          <a:xfrm>
            <a:off x="5910483" y="1219200"/>
            <a:ext cx="2979319" cy="2924175"/>
          </a:xfrm>
          <a:prstGeom prst="rect">
            <a:avLst/>
          </a:prstGeom>
          <a:noFill/>
          <a:ln/>
        </p:spPr>
        <p:txBody>
          <a:bodyPr wrap="square" lIns="0" tIns="0" rIns="0" bIns="0" rtlCol="0" anchor="t"/>
          <a:lstStyle/>
          <a:p>
            <a:pPr marL="0" indent="0" algn="r">
              <a:buNone/>
            </a:pPr>
            <a:r>
              <a:rPr lang="en-US" sz="20000" b="1" dirty="0">
                <a:solidFill>
                  <a:srgbClr val="8CE7A5"/>
                </a:solidFill>
                <a:latin typeface="Calibri" panose="020F0502020204030204" pitchFamily="34" charset="0"/>
                <a:ea typeface="Arial" pitchFamily="34" charset="-122"/>
                <a:cs typeface="Calibri" panose="020F0502020204030204" pitchFamily="34" charset="0"/>
              </a:rPr>
              <a:t>4</a:t>
            </a:r>
            <a:endParaRPr lang="en-US" sz="20000" dirty="0">
              <a:latin typeface="Calibri" panose="020F0502020204030204" pitchFamily="34" charset="0"/>
              <a:cs typeface="Calibri" panose="020F0502020204030204" pitchFamily="34" charset="0"/>
            </a:endParaRPr>
          </a:p>
        </p:txBody>
      </p:sp>
      <p:sp>
        <p:nvSpPr>
          <p:cNvPr id="8" name="Text 4"/>
          <p:cNvSpPr/>
          <p:nvPr/>
        </p:nvSpPr>
        <p:spPr>
          <a:xfrm>
            <a:off x="711101" y="1498550"/>
            <a:ext cx="5440680" cy="171450"/>
          </a:xfrm>
          <a:prstGeom prst="rect">
            <a:avLst/>
          </a:prstGeom>
          <a:noFill/>
          <a:ln/>
        </p:spPr>
        <p:txBody>
          <a:bodyPr wrap="square" lIns="0" tIns="0" rIns="0" bIns="0" rtlCol="0" anchor="t"/>
          <a:lstStyle/>
          <a:p>
            <a:pPr marL="0" indent="0" algn="l">
              <a:buNone/>
            </a:pPr>
            <a:r>
              <a:rPr lang="en-US" sz="1200" b="1" dirty="0">
                <a:solidFill>
                  <a:srgbClr val="1A7F37"/>
                </a:solidFill>
                <a:latin typeface="Calibri" panose="020F0502020204030204" pitchFamily="34" charset="0"/>
                <a:ea typeface="Arial" pitchFamily="34" charset="-122"/>
                <a:cs typeface="Calibri" panose="020F0502020204030204" pitchFamily="34" charset="0"/>
              </a:rPr>
              <a:t>LIVE DEMO</a:t>
            </a:r>
            <a:endParaRPr lang="en-US" sz="1200" dirty="0">
              <a:latin typeface="Calibri" panose="020F0502020204030204" pitchFamily="34" charset="0"/>
              <a:cs typeface="Calibri" panose="020F0502020204030204" pitchFamily="34" charset="0"/>
            </a:endParaRPr>
          </a:p>
        </p:txBody>
      </p:sp>
      <p:sp>
        <p:nvSpPr>
          <p:cNvPr id="9" name="Text 5"/>
          <p:cNvSpPr/>
          <p:nvPr/>
        </p:nvSpPr>
        <p:spPr>
          <a:xfrm>
            <a:off x="711101" y="1777901"/>
            <a:ext cx="5440680" cy="1168003"/>
          </a:xfrm>
          <a:prstGeom prst="rect">
            <a:avLst/>
          </a:prstGeom>
          <a:noFill/>
          <a:ln/>
        </p:spPr>
        <p:txBody>
          <a:bodyPr wrap="square" lIns="0" tIns="0" rIns="0" bIns="0" rtlCol="0" anchor="t"/>
          <a:lstStyle/>
          <a:p>
            <a:pPr marL="0" indent="0" algn="l">
              <a:lnSpc>
                <a:spcPts val="4600"/>
              </a:lnSpc>
              <a:buNone/>
            </a:pPr>
            <a:r>
              <a:rPr lang="en-US" sz="4000" b="1" dirty="0">
                <a:solidFill>
                  <a:srgbClr val="1F2328"/>
                </a:solidFill>
                <a:latin typeface="Calibri" panose="020F0502020204030204" pitchFamily="34" charset="0"/>
                <a:ea typeface="Arial" pitchFamily="34" charset="-122"/>
                <a:cs typeface="Calibri" panose="020F0502020204030204" pitchFamily="34" charset="0"/>
              </a:rPr>
              <a:t>Four agents. Starting now.</a:t>
            </a:r>
            <a:endParaRPr lang="en-US" sz="4000" dirty="0">
              <a:latin typeface="Calibri" panose="020F0502020204030204" pitchFamily="34" charset="0"/>
              <a:cs typeface="Calibri" panose="020F0502020204030204" pitchFamily="34" charset="0"/>
            </a:endParaRPr>
          </a:p>
        </p:txBody>
      </p:sp>
      <p:sp>
        <p:nvSpPr>
          <p:cNvPr id="10" name="Text 6"/>
          <p:cNvSpPr/>
          <p:nvPr/>
        </p:nvSpPr>
        <p:spPr>
          <a:xfrm>
            <a:off x="711101" y="3124200"/>
            <a:ext cx="609600" cy="63401"/>
          </a:xfrm>
          <a:prstGeom prst="rect">
            <a:avLst/>
          </a:prstGeom>
          <a:solidFill>
            <a:srgbClr val="1A7F37"/>
          </a:solidFill>
          <a:ln/>
        </p:spPr>
        <p:txBody>
          <a:bodyPr wrap="square" rtlCol="0" anchor="ctr"/>
          <a:lstStyle/>
          <a:p>
            <a:pPr marL="0" indent="0">
              <a:buNone/>
            </a:pPr>
            <a:endParaRPr lang="en-US" dirty="0"/>
          </a:p>
        </p:txBody>
      </p:sp>
      <p:sp>
        <p:nvSpPr>
          <p:cNvPr id="11" name="Text 7"/>
          <p:cNvSpPr/>
          <p:nvPr/>
        </p:nvSpPr>
        <p:spPr>
          <a:xfrm>
            <a:off x="711101" y="3378101"/>
            <a:ext cx="5181549" cy="548283"/>
          </a:xfrm>
          <a:prstGeom prst="rect">
            <a:avLst/>
          </a:prstGeom>
          <a:noFill/>
          <a:ln/>
        </p:spPr>
        <p:txBody>
          <a:bodyPr wrap="square" lIns="0" tIns="0" rIns="0" bIns="0" rtlCol="0" anchor="t"/>
          <a:lstStyle/>
          <a:p>
            <a:pPr marL="0" indent="0" algn="l">
              <a:lnSpc>
                <a:spcPts val="2160"/>
              </a:lnSpc>
              <a:buNone/>
            </a:pPr>
            <a:r>
              <a:rPr lang="en-US" sz="1600" dirty="0">
                <a:solidFill>
                  <a:srgbClr val="59636E"/>
                </a:solidFill>
                <a:latin typeface="Calibri" panose="020F0502020204030204" pitchFamily="34" charset="0"/>
                <a:ea typeface="Arial" pitchFamily="34" charset="-122"/>
                <a:cs typeface="Calibri" panose="020F0502020204030204" pitchFamily="34" charset="0"/>
              </a:rPr>
              <a:t>Watch the sidebar. Each session is a separate agent.</a:t>
            </a:r>
            <a:endParaRPr lang="en-US" sz="1600" dirty="0">
              <a:latin typeface="Calibri" panose="020F0502020204030204" pitchFamily="34" charset="0"/>
              <a:cs typeface="Calibri" panose="020F0502020204030204" pitchFamily="34" charset="0"/>
            </a:endParaRPr>
          </a:p>
        </p:txBody>
      </p:sp>
      <p:pic>
        <p:nvPicPr>
          <p:cNvPr id="12" name="Image 0" descr="/Users/danwahlin/.copilot/session-state/e7427b9a-9d65-4aa2-953c-14cedea46cbc/files/talkdeck/assets/corner.png">
            <a:extLst>
              <a:ext uri="{FF2B5EF4-FFF2-40B4-BE49-F238E27FC236}">
                <a16:creationId xmlns:a16="http://schemas.microsoft.com/office/drawing/2014/main" id="{578DACD6-981F-A4F9-B39F-A2B3009E6871}"/>
              </a:ext>
            </a:extLst>
          </p:cNvPr>
          <p:cNvPicPr>
            <a:picLocks noChangeAspect="1"/>
          </p:cNvPicPr>
          <p:nvPr/>
        </p:nvPicPr>
        <p:blipFill>
          <a:blip r:embed="rId3"/>
          <a:stretch>
            <a:fillRect/>
          </a:stretch>
        </p:blipFill>
        <p:spPr>
          <a:xfrm>
            <a:off x="5393683" y="-1"/>
            <a:ext cx="3750168" cy="1755725"/>
          </a:xfrm>
          <a:prstGeom prst="rect">
            <a:avLst/>
          </a:prstGeom>
        </p:spPr>
      </p:pic>
      <p:pic>
        <p:nvPicPr>
          <p:cNvPr id="13" name="Image 1" descr="/Users/danwahlin/.copilot/session-state/e7427b9a-9d65-4aa2-953c-14cedea46cbc/files/talkdeck/assets/mark-dark.png">
            <a:extLst>
              <a:ext uri="{FF2B5EF4-FFF2-40B4-BE49-F238E27FC236}">
                <a16:creationId xmlns:a16="http://schemas.microsoft.com/office/drawing/2014/main" id="{83AC85BA-0104-C593-E9A5-892F088641FD}"/>
              </a:ext>
            </a:extLst>
          </p:cNvPr>
          <p:cNvPicPr>
            <a:picLocks noChangeAspect="1"/>
          </p:cNvPicPr>
          <p:nvPr/>
        </p:nvPicPr>
        <p:blipFill>
          <a:blip r:embed="rId4"/>
          <a:stretch>
            <a:fillRect/>
          </a:stretch>
        </p:blipFill>
        <p:spPr>
          <a:xfrm>
            <a:off x="8610600" y="165050"/>
            <a:ext cx="304800" cy="3048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bg>
      <p:bgPr>
        <a:solidFill>
          <a:srgbClr val="FFFFFF"/>
        </a:solidFill>
        <a:effectLst/>
      </p:bgPr>
    </p:bg>
    <p:spTree>
      <p:nvGrpSpPr>
        <p:cNvPr id="1" name=""/>
        <p:cNvGrpSpPr/>
        <p:nvPr/>
      </p:nvGrpSpPr>
      <p:grpSpPr>
        <a:xfrm>
          <a:off x="0" y="0"/>
          <a:ext cx="0" cy="0"/>
          <a:chOff x="0" y="0"/>
          <a:chExt cx="0" cy="0"/>
        </a:xfrm>
      </p:grpSpPr>
      <p:pic>
        <p:nvPicPr>
          <p:cNvPr id="28" name="Image 0" descr="/Users/danwahlin/.copilot/session-state/e7427b9a-9d65-4aa2-953c-14cedea46cbc/files/talkdeck/assets/corner.png">
            <a:extLst>
              <a:ext uri="{FF2B5EF4-FFF2-40B4-BE49-F238E27FC236}">
                <a16:creationId xmlns:a16="http://schemas.microsoft.com/office/drawing/2014/main" id="{2C9CB0CF-ECE8-CA17-4FF8-5BD79D7E4D16}"/>
              </a:ext>
            </a:extLst>
          </p:cNvPr>
          <p:cNvPicPr>
            <a:picLocks noChangeAspect="1"/>
          </p:cNvPicPr>
          <p:nvPr/>
        </p:nvPicPr>
        <p:blipFill>
          <a:blip r:embed="rId3"/>
          <a:stretch>
            <a:fillRect/>
          </a:stretch>
        </p:blipFill>
        <p:spPr>
          <a:xfrm>
            <a:off x="5393683" y="-1"/>
            <a:ext cx="3750168" cy="1755725"/>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0969DA"/>
                </a:solidFill>
                <a:latin typeface="Arial" pitchFamily="34" charset="0"/>
                <a:ea typeface="Arial" pitchFamily="34" charset="-122"/>
                <a:cs typeface="Arial" pitchFamily="34" charset="-120"/>
              </a:rPr>
              <a:t>TRUST AND CONTROL</a:t>
            </a:r>
            <a:endParaRPr lang="en-US" sz="100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Arial" pitchFamily="34" charset="0"/>
                <a:ea typeface="Arial" pitchFamily="34" charset="-122"/>
                <a:cs typeface="Arial" pitchFamily="34" charset="-120"/>
              </a:rPr>
              <a:t>You stay in control</a:t>
            </a:r>
            <a:endParaRPr lang="en-US" sz="2800" dirty="0"/>
          </a:p>
        </p:txBody>
      </p:sp>
      <p:sp>
        <p:nvSpPr>
          <p:cNvPr id="8" name="Text 4"/>
          <p:cNvSpPr/>
          <p:nvPr/>
        </p:nvSpPr>
        <p:spPr>
          <a:xfrm>
            <a:off x="5079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sz="2000" dirty="0"/>
          </a:p>
        </p:txBody>
      </p:sp>
      <p:sp>
        <p:nvSpPr>
          <p:cNvPr id="9" name="Text 5"/>
          <p:cNvSpPr/>
          <p:nvPr/>
        </p:nvSpPr>
        <p:spPr>
          <a:xfrm>
            <a:off x="736550" y="1701701"/>
            <a:ext cx="685800" cy="685800"/>
          </a:xfrm>
          <a:prstGeom prst="roundRect">
            <a:avLst>
              <a:gd name="adj" fmla="val 22222"/>
            </a:avLst>
          </a:prstGeom>
          <a:solidFill>
            <a:srgbClr val="FBEFFF"/>
          </a:solidFill>
          <a:ln/>
        </p:spPr>
        <p:txBody>
          <a:bodyPr wrap="square" rtlCol="0" anchor="ctr"/>
          <a:lstStyle/>
          <a:p>
            <a:pPr marL="0" indent="0">
              <a:buNone/>
            </a:pPr>
            <a:endParaRPr lang="en-US" sz="2000" dirty="0"/>
          </a:p>
        </p:txBody>
      </p:sp>
      <p:pic>
        <p:nvPicPr>
          <p:cNvPr id="10" name="Image 2" descr="/Users/danwahlin/.copilot/session-state/e7427b9a-9d65-4aa2-953c-14cedea46cbc/files/talkdeck/assets/icons/GoChecklist-8250DF.png"/>
          <p:cNvPicPr>
            <a:picLocks noChangeAspect="1"/>
          </p:cNvPicPr>
          <p:nvPr/>
        </p:nvPicPr>
        <p:blipFill>
          <a:blip r:embed="rId4"/>
          <a:stretch>
            <a:fillRect/>
          </a:stretch>
        </p:blipFill>
        <p:spPr>
          <a:xfrm>
            <a:off x="908000" y="1873151"/>
            <a:ext cx="342900" cy="342900"/>
          </a:xfrm>
          <a:prstGeom prst="rect">
            <a:avLst/>
          </a:prstGeom>
        </p:spPr>
      </p:pic>
      <p:sp>
        <p:nvSpPr>
          <p:cNvPr id="11" name="Text 6"/>
          <p:cNvSpPr/>
          <p:nvPr/>
        </p:nvSpPr>
        <p:spPr>
          <a:xfrm>
            <a:off x="1650950" y="1727150"/>
            <a:ext cx="2668423" cy="21907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Plan before work</a:t>
            </a:r>
            <a:endParaRPr lang="en-US" sz="1600" dirty="0"/>
          </a:p>
        </p:txBody>
      </p:sp>
      <p:sp>
        <p:nvSpPr>
          <p:cNvPr id="12" name="Text 7"/>
          <p:cNvSpPr/>
          <p:nvPr/>
        </p:nvSpPr>
        <p:spPr>
          <a:xfrm>
            <a:off x="1650950" y="2031950"/>
            <a:ext cx="2668423" cy="363141"/>
          </a:xfrm>
          <a:prstGeom prst="rect">
            <a:avLst/>
          </a:prstGeom>
          <a:noFill/>
          <a:ln/>
        </p:spPr>
        <p:txBody>
          <a:bodyPr wrap="square" lIns="0" tIns="0" rIns="0" bIns="0" rtlCol="0" anchor="t"/>
          <a:lstStyle/>
          <a:p>
            <a:pPr marL="0" indent="0" algn="l">
              <a:lnSpc>
                <a:spcPts val="1430"/>
              </a:lnSpc>
              <a:buNone/>
            </a:pPr>
            <a:r>
              <a:rPr lang="en-US" sz="1200" dirty="0">
                <a:solidFill>
                  <a:srgbClr val="59636E"/>
                </a:solidFill>
                <a:latin typeface="Arial" pitchFamily="34" charset="0"/>
                <a:ea typeface="Arial" pitchFamily="34" charset="-122"/>
                <a:cs typeface="Arial" pitchFamily="34" charset="-120"/>
              </a:rPr>
              <a:t>Read the plan before the agent changes anything.</a:t>
            </a:r>
            <a:endParaRPr lang="en-US" sz="1200" dirty="0"/>
          </a:p>
        </p:txBody>
      </p:sp>
      <p:sp>
        <p:nvSpPr>
          <p:cNvPr id="13" name="Text 8"/>
          <p:cNvSpPr/>
          <p:nvPr/>
        </p:nvSpPr>
        <p:spPr>
          <a:xfrm>
            <a:off x="46227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sz="2000" dirty="0"/>
          </a:p>
        </p:txBody>
      </p:sp>
      <p:sp>
        <p:nvSpPr>
          <p:cNvPr id="14" name="Text 9"/>
          <p:cNvSpPr/>
          <p:nvPr/>
        </p:nvSpPr>
        <p:spPr>
          <a:xfrm>
            <a:off x="4851350" y="1701701"/>
            <a:ext cx="685800" cy="685800"/>
          </a:xfrm>
          <a:prstGeom prst="roundRect">
            <a:avLst>
              <a:gd name="adj" fmla="val 22222"/>
            </a:avLst>
          </a:prstGeom>
          <a:solidFill>
            <a:srgbClr val="DDF4FF"/>
          </a:solidFill>
          <a:ln/>
        </p:spPr>
        <p:txBody>
          <a:bodyPr wrap="square" rtlCol="0" anchor="ctr"/>
          <a:lstStyle/>
          <a:p>
            <a:pPr marL="0" indent="0">
              <a:buNone/>
            </a:pPr>
            <a:endParaRPr lang="en-US" sz="2000" dirty="0"/>
          </a:p>
        </p:txBody>
      </p:sp>
      <p:pic>
        <p:nvPicPr>
          <p:cNvPr id="15" name="Image 3" descr="/Users/danwahlin/.copilot/session-state/e7427b9a-9d65-4aa2-953c-14cedea46cbc/files/talkdeck/assets/icons/GoGitBranch-0969DA.png"/>
          <p:cNvPicPr>
            <a:picLocks noChangeAspect="1"/>
          </p:cNvPicPr>
          <p:nvPr/>
        </p:nvPicPr>
        <p:blipFill>
          <a:blip r:embed="rId5"/>
          <a:stretch>
            <a:fillRect/>
          </a:stretch>
        </p:blipFill>
        <p:spPr>
          <a:xfrm>
            <a:off x="5022800" y="1873151"/>
            <a:ext cx="342900" cy="342900"/>
          </a:xfrm>
          <a:prstGeom prst="rect">
            <a:avLst/>
          </a:prstGeom>
        </p:spPr>
      </p:pic>
      <p:sp>
        <p:nvSpPr>
          <p:cNvPr id="16" name="Text 10"/>
          <p:cNvSpPr/>
          <p:nvPr/>
        </p:nvSpPr>
        <p:spPr>
          <a:xfrm>
            <a:off x="5765750" y="1727150"/>
            <a:ext cx="2668423" cy="21907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Isolated worktrees</a:t>
            </a:r>
            <a:endParaRPr lang="en-US" sz="1600" dirty="0"/>
          </a:p>
        </p:txBody>
      </p:sp>
      <p:sp>
        <p:nvSpPr>
          <p:cNvPr id="17" name="Text 11"/>
          <p:cNvSpPr/>
          <p:nvPr/>
        </p:nvSpPr>
        <p:spPr>
          <a:xfrm>
            <a:off x="5765750" y="2031950"/>
            <a:ext cx="2668423" cy="363141"/>
          </a:xfrm>
          <a:prstGeom prst="rect">
            <a:avLst/>
          </a:prstGeom>
          <a:noFill/>
          <a:ln/>
        </p:spPr>
        <p:txBody>
          <a:bodyPr wrap="square" lIns="0" tIns="0" rIns="0" bIns="0" rtlCol="0" anchor="t"/>
          <a:lstStyle/>
          <a:p>
            <a:pPr marL="0" indent="0" algn="l">
              <a:lnSpc>
                <a:spcPts val="1430"/>
              </a:lnSpc>
              <a:buNone/>
            </a:pPr>
            <a:r>
              <a:rPr lang="en-US" sz="1200" dirty="0">
                <a:solidFill>
                  <a:srgbClr val="59636E"/>
                </a:solidFill>
                <a:latin typeface="Arial" pitchFamily="34" charset="0"/>
                <a:ea typeface="Arial" pitchFamily="34" charset="-122"/>
                <a:cs typeface="Arial" pitchFamily="34" charset="-120"/>
              </a:rPr>
              <a:t>Each agent works on its own branch, so agents do not collide.</a:t>
            </a:r>
            <a:endParaRPr lang="en-US" sz="1200" dirty="0"/>
          </a:p>
        </p:txBody>
      </p:sp>
      <p:sp>
        <p:nvSpPr>
          <p:cNvPr id="18" name="Text 12"/>
          <p:cNvSpPr/>
          <p:nvPr/>
        </p:nvSpPr>
        <p:spPr>
          <a:xfrm>
            <a:off x="5079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sz="2000" dirty="0"/>
          </a:p>
        </p:txBody>
      </p:sp>
      <p:sp>
        <p:nvSpPr>
          <p:cNvPr id="19" name="Text 13"/>
          <p:cNvSpPr/>
          <p:nvPr/>
        </p:nvSpPr>
        <p:spPr>
          <a:xfrm>
            <a:off x="736550" y="3174950"/>
            <a:ext cx="685800" cy="685800"/>
          </a:xfrm>
          <a:prstGeom prst="roundRect">
            <a:avLst>
              <a:gd name="adj" fmla="val 22222"/>
            </a:avLst>
          </a:prstGeom>
          <a:solidFill>
            <a:srgbClr val="FFF1E5"/>
          </a:solidFill>
          <a:ln/>
        </p:spPr>
        <p:txBody>
          <a:bodyPr wrap="square" rtlCol="0" anchor="ctr"/>
          <a:lstStyle/>
          <a:p>
            <a:pPr marL="0" indent="0">
              <a:buNone/>
            </a:pPr>
            <a:endParaRPr lang="en-US" sz="2000" dirty="0"/>
          </a:p>
        </p:txBody>
      </p:sp>
      <p:pic>
        <p:nvPicPr>
          <p:cNvPr id="20" name="Image 4" descr="/Users/danwahlin/.copilot/session-state/e7427b9a-9d65-4aa2-953c-14cedea46cbc/files/talkdeck/assets/icons/GoShieldCheck-BC4C00.png"/>
          <p:cNvPicPr>
            <a:picLocks noChangeAspect="1"/>
          </p:cNvPicPr>
          <p:nvPr/>
        </p:nvPicPr>
        <p:blipFill>
          <a:blip r:embed="rId6"/>
          <a:stretch>
            <a:fillRect/>
          </a:stretch>
        </p:blipFill>
        <p:spPr>
          <a:xfrm>
            <a:off x="908000" y="3346400"/>
            <a:ext cx="342900" cy="342900"/>
          </a:xfrm>
          <a:prstGeom prst="rect">
            <a:avLst/>
          </a:prstGeom>
        </p:spPr>
      </p:pic>
      <p:sp>
        <p:nvSpPr>
          <p:cNvPr id="21" name="Text 14"/>
          <p:cNvSpPr/>
          <p:nvPr/>
        </p:nvSpPr>
        <p:spPr>
          <a:xfrm>
            <a:off x="1650950" y="3200400"/>
            <a:ext cx="2668423" cy="21907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Tool permissions</a:t>
            </a:r>
            <a:endParaRPr lang="en-US" sz="1600" dirty="0"/>
          </a:p>
        </p:txBody>
      </p:sp>
      <p:sp>
        <p:nvSpPr>
          <p:cNvPr id="22" name="Text 15"/>
          <p:cNvSpPr/>
          <p:nvPr/>
        </p:nvSpPr>
        <p:spPr>
          <a:xfrm>
            <a:off x="1650950" y="3505200"/>
            <a:ext cx="2668423" cy="363141"/>
          </a:xfrm>
          <a:prstGeom prst="rect">
            <a:avLst/>
          </a:prstGeom>
          <a:noFill/>
          <a:ln/>
        </p:spPr>
        <p:txBody>
          <a:bodyPr wrap="square" lIns="0" tIns="0" rIns="0" bIns="0" rtlCol="0" anchor="t"/>
          <a:lstStyle/>
          <a:p>
            <a:pPr marL="0" indent="0" algn="l">
              <a:lnSpc>
                <a:spcPts val="1430"/>
              </a:lnSpc>
              <a:buNone/>
            </a:pPr>
            <a:r>
              <a:rPr lang="en-US" sz="1200" dirty="0">
                <a:solidFill>
                  <a:srgbClr val="59636E"/>
                </a:solidFill>
                <a:latin typeface="Arial" pitchFamily="34" charset="0"/>
                <a:ea typeface="Arial" pitchFamily="34" charset="-122"/>
                <a:cs typeface="Arial" pitchFamily="34" charset="-120"/>
              </a:rPr>
              <a:t>Choose when the agent must ask before it runs a tool.</a:t>
            </a:r>
            <a:endParaRPr lang="en-US" sz="1200" dirty="0"/>
          </a:p>
        </p:txBody>
      </p:sp>
      <p:sp>
        <p:nvSpPr>
          <p:cNvPr id="23" name="Text 16"/>
          <p:cNvSpPr/>
          <p:nvPr/>
        </p:nvSpPr>
        <p:spPr>
          <a:xfrm>
            <a:off x="46227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sz="2000" dirty="0"/>
          </a:p>
        </p:txBody>
      </p:sp>
      <p:sp>
        <p:nvSpPr>
          <p:cNvPr id="24" name="Text 17"/>
          <p:cNvSpPr/>
          <p:nvPr/>
        </p:nvSpPr>
        <p:spPr>
          <a:xfrm>
            <a:off x="4851350" y="3174950"/>
            <a:ext cx="685800" cy="685800"/>
          </a:xfrm>
          <a:prstGeom prst="roundRect">
            <a:avLst>
              <a:gd name="adj" fmla="val 22222"/>
            </a:avLst>
          </a:prstGeom>
          <a:solidFill>
            <a:srgbClr val="DAFBE1"/>
          </a:solidFill>
          <a:ln/>
        </p:spPr>
        <p:txBody>
          <a:bodyPr wrap="square" rtlCol="0" anchor="ctr"/>
          <a:lstStyle/>
          <a:p>
            <a:pPr marL="0" indent="0">
              <a:buNone/>
            </a:pPr>
            <a:endParaRPr lang="en-US" sz="2000" dirty="0"/>
          </a:p>
        </p:txBody>
      </p:sp>
      <p:pic>
        <p:nvPicPr>
          <p:cNvPr id="25" name="Image 5" descr="/Users/danwahlin/.copilot/session-state/e7427b9a-9d65-4aa2-953c-14cedea46cbc/files/talkdeck/assets/icons/GoGitPullRequest-1A7F37.png"/>
          <p:cNvPicPr>
            <a:picLocks noChangeAspect="1"/>
          </p:cNvPicPr>
          <p:nvPr/>
        </p:nvPicPr>
        <p:blipFill>
          <a:blip r:embed="rId7"/>
          <a:stretch>
            <a:fillRect/>
          </a:stretch>
        </p:blipFill>
        <p:spPr>
          <a:xfrm>
            <a:off x="5022800" y="3346400"/>
            <a:ext cx="342900" cy="342900"/>
          </a:xfrm>
          <a:prstGeom prst="rect">
            <a:avLst/>
          </a:prstGeom>
        </p:spPr>
      </p:pic>
      <p:sp>
        <p:nvSpPr>
          <p:cNvPr id="26" name="Text 18"/>
          <p:cNvSpPr/>
          <p:nvPr/>
        </p:nvSpPr>
        <p:spPr>
          <a:xfrm>
            <a:off x="5765750" y="3200400"/>
            <a:ext cx="2668423" cy="21907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Review before you accept</a:t>
            </a:r>
            <a:endParaRPr lang="en-US" sz="1600" dirty="0"/>
          </a:p>
        </p:txBody>
      </p:sp>
      <p:sp>
        <p:nvSpPr>
          <p:cNvPr id="27" name="Text 19"/>
          <p:cNvSpPr/>
          <p:nvPr/>
        </p:nvSpPr>
        <p:spPr>
          <a:xfrm>
            <a:off x="5765750" y="3505200"/>
            <a:ext cx="2668423" cy="363141"/>
          </a:xfrm>
          <a:prstGeom prst="rect">
            <a:avLst/>
          </a:prstGeom>
          <a:noFill/>
          <a:ln/>
        </p:spPr>
        <p:txBody>
          <a:bodyPr wrap="square" lIns="0" tIns="0" rIns="0" bIns="0" rtlCol="0" anchor="t"/>
          <a:lstStyle/>
          <a:p>
            <a:pPr marL="0" indent="0" algn="l">
              <a:lnSpc>
                <a:spcPts val="1430"/>
              </a:lnSpc>
              <a:buNone/>
            </a:pPr>
            <a:r>
              <a:rPr lang="en-US" sz="1200" dirty="0">
                <a:solidFill>
                  <a:srgbClr val="59636E"/>
                </a:solidFill>
                <a:latin typeface="Arial" pitchFamily="34" charset="0"/>
                <a:ea typeface="Arial" pitchFamily="34" charset="-122"/>
                <a:cs typeface="Arial" pitchFamily="34" charset="-120"/>
              </a:rPr>
              <a:t>Check diffs, previews, and files. Then merge.</a:t>
            </a:r>
            <a:endParaRPr lang="en-US" sz="1200" dirty="0"/>
          </a:p>
        </p:txBody>
      </p:sp>
      <p:pic>
        <p:nvPicPr>
          <p:cNvPr id="29" name="Image 1" descr="/Users/danwahlin/.copilot/session-state/e7427b9a-9d65-4aa2-953c-14cedea46cbc/files/talkdeck/assets/mark-dark.png">
            <a:extLst>
              <a:ext uri="{FF2B5EF4-FFF2-40B4-BE49-F238E27FC236}">
                <a16:creationId xmlns:a16="http://schemas.microsoft.com/office/drawing/2014/main" id="{5AF92F73-D4D6-B30C-9555-8841F8FC3634}"/>
              </a:ext>
            </a:extLst>
          </p:cNvPr>
          <p:cNvPicPr>
            <a:picLocks noChangeAspect="1"/>
          </p:cNvPicPr>
          <p:nvPr/>
        </p:nvPicPr>
        <p:blipFill>
          <a:blip r:embed="rId8"/>
          <a:stretch>
            <a:fillRect/>
          </a:stretch>
        </p:blipFill>
        <p:spPr>
          <a:xfrm>
            <a:off x="8610600" y="165050"/>
            <a:ext cx="304800" cy="3048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1A7F37"/>
                </a:solidFill>
                <a:latin typeface="Calibri" panose="020F0502020204030204" pitchFamily="34" charset="0"/>
                <a:ea typeface="Arial" pitchFamily="34" charset="-122"/>
                <a:cs typeface="Calibri" panose="020F0502020204030204" pitchFamily="34" charset="0"/>
              </a:rPr>
              <a:t>START TODAY</a:t>
            </a:r>
            <a:endParaRPr lang="en-US" sz="100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Calibri" panose="020F0502020204030204" pitchFamily="34" charset="0"/>
                <a:ea typeface="Arial" pitchFamily="34" charset="-122"/>
                <a:cs typeface="Calibri" panose="020F0502020204030204" pitchFamily="34" charset="0"/>
              </a:rPr>
              <a:t>Hand off one task this week</a:t>
            </a:r>
            <a:endParaRPr lang="en-US" sz="2800" dirty="0">
              <a:latin typeface="Calibri" panose="020F0502020204030204" pitchFamily="34" charset="0"/>
              <a:cs typeface="Calibri" panose="020F0502020204030204" pitchFamily="34" charset="0"/>
            </a:endParaRPr>
          </a:p>
        </p:txBody>
      </p:sp>
      <p:sp>
        <p:nvSpPr>
          <p:cNvPr id="8" name="Text 4"/>
          <p:cNvSpPr/>
          <p:nvPr/>
        </p:nvSpPr>
        <p:spPr>
          <a:xfrm>
            <a:off x="5079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9" name="Text 5"/>
          <p:cNvSpPr/>
          <p:nvPr/>
        </p:nvSpPr>
        <p:spPr>
          <a:xfrm>
            <a:off x="685800" y="1600200"/>
            <a:ext cx="457200" cy="457200"/>
          </a:xfrm>
          <a:prstGeom prst="roundRect">
            <a:avLst>
              <a:gd name="adj" fmla="val 200000"/>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0" name="Image 2" descr="/Users/danwahlin/.copilot/session-state/e7427b9a-9d65-4aa2-953c-14cedea46cbc/files/talkdeck/assets/icons/GoCode-0969DA.png"/>
          <p:cNvPicPr>
            <a:picLocks noChangeAspect="1"/>
          </p:cNvPicPr>
          <p:nvPr/>
        </p:nvPicPr>
        <p:blipFill>
          <a:blip r:embed="rId5"/>
          <a:stretch>
            <a:fillRect/>
          </a:stretch>
        </p:blipFill>
        <p:spPr>
          <a:xfrm>
            <a:off x="800100" y="1714500"/>
            <a:ext cx="228600" cy="228600"/>
          </a:xfrm>
          <a:prstGeom prst="rect">
            <a:avLst/>
          </a:prstGeom>
        </p:spPr>
      </p:pic>
      <p:sp>
        <p:nvSpPr>
          <p:cNvPr id="11" name="Text 6"/>
          <p:cNvSpPr/>
          <p:nvPr/>
        </p:nvSpPr>
        <p:spPr>
          <a:xfrm>
            <a:off x="685800" y="2184350"/>
            <a:ext cx="1683969"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Developers</a:t>
            </a:r>
            <a:endParaRPr lang="en-US" sz="1400" dirty="0">
              <a:latin typeface="Calibri" panose="020F0502020204030204" pitchFamily="34" charset="0"/>
              <a:cs typeface="Calibri" panose="020F0502020204030204" pitchFamily="34" charset="0"/>
            </a:endParaRPr>
          </a:p>
        </p:txBody>
      </p:sp>
      <p:sp>
        <p:nvSpPr>
          <p:cNvPr id="12" name="Text 7"/>
          <p:cNvSpPr/>
          <p:nvPr/>
        </p:nvSpPr>
        <p:spPr>
          <a:xfrm>
            <a:off x="660350" y="2489150"/>
            <a:ext cx="1600200" cy="914400"/>
          </a:xfrm>
          <a:prstGeom prst="roundRect">
            <a:avLst>
              <a:gd name="adj" fmla="val 8333"/>
            </a:avLst>
          </a:prstGeom>
          <a:solidFill>
            <a:srgbClr val="F6F8F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3" name="Text 8"/>
          <p:cNvSpPr/>
          <p:nvPr/>
        </p:nvSpPr>
        <p:spPr>
          <a:xfrm>
            <a:off x="762000" y="2578001"/>
            <a:ext cx="1450797" cy="494705"/>
          </a:xfrm>
          <a:prstGeom prst="rect">
            <a:avLst/>
          </a:prstGeom>
          <a:noFill/>
          <a:ln/>
        </p:spPr>
        <p:txBody>
          <a:bodyPr wrap="square" lIns="0" tIns="0" rIns="0" bIns="0" rtlCol="0" anchor="t"/>
          <a:lstStyle/>
          <a:p>
            <a:pPr marL="0" indent="0" algn="l">
              <a:lnSpc>
                <a:spcPts val="1300"/>
              </a:lnSpc>
              <a:buNone/>
            </a:pPr>
            <a:r>
              <a:rPr lang="en-US" sz="1400" dirty="0">
                <a:solidFill>
                  <a:srgbClr val="1F2328"/>
                </a:solidFill>
                <a:latin typeface="Calibri" panose="020F0502020204030204" pitchFamily="34" charset="0"/>
                <a:ea typeface="Courier New" pitchFamily="34" charset="-122"/>
                <a:cs typeface="Calibri" panose="020F0502020204030204" pitchFamily="34" charset="0"/>
              </a:rPr>
              <a:t>Fix the bug in issue 42 and add a test.</a:t>
            </a:r>
            <a:endParaRPr lang="en-US" sz="1400" dirty="0">
              <a:latin typeface="Calibri" panose="020F0502020204030204" pitchFamily="34" charset="0"/>
              <a:cs typeface="Calibri" panose="020F0502020204030204" pitchFamily="34" charset="0"/>
            </a:endParaRPr>
          </a:p>
        </p:txBody>
      </p:sp>
      <p:sp>
        <p:nvSpPr>
          <p:cNvPr id="14" name="Text 9"/>
          <p:cNvSpPr/>
          <p:nvPr/>
        </p:nvSpPr>
        <p:spPr>
          <a:xfrm>
            <a:off x="25653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5" name="Text 10"/>
          <p:cNvSpPr/>
          <p:nvPr/>
        </p:nvSpPr>
        <p:spPr>
          <a:xfrm>
            <a:off x="2743200" y="1600200"/>
            <a:ext cx="457200" cy="457200"/>
          </a:xfrm>
          <a:prstGeom prst="roundRect">
            <a:avLst>
              <a:gd name="adj" fmla="val 200000"/>
            </a:avLst>
          </a:prstGeom>
          <a:solidFill>
            <a:srgbClr val="FBEF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6" name="Image 3" descr="/Users/danwahlin/.copilot/session-state/e7427b9a-9d65-4aa2-953c-14cedea46cbc/files/talkdeck/assets/icons/GoProject-8250DF.png"/>
          <p:cNvPicPr>
            <a:picLocks noChangeAspect="1"/>
          </p:cNvPicPr>
          <p:nvPr/>
        </p:nvPicPr>
        <p:blipFill>
          <a:blip r:embed="rId6"/>
          <a:stretch>
            <a:fillRect/>
          </a:stretch>
        </p:blipFill>
        <p:spPr>
          <a:xfrm>
            <a:off x="2857500" y="1714500"/>
            <a:ext cx="228600" cy="228600"/>
          </a:xfrm>
          <a:prstGeom prst="rect">
            <a:avLst/>
          </a:prstGeom>
        </p:spPr>
      </p:pic>
      <p:sp>
        <p:nvSpPr>
          <p:cNvPr id="17" name="Text 11"/>
          <p:cNvSpPr/>
          <p:nvPr/>
        </p:nvSpPr>
        <p:spPr>
          <a:xfrm>
            <a:off x="2743200" y="2184350"/>
            <a:ext cx="1683969"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Project managers</a:t>
            </a:r>
            <a:endParaRPr lang="en-US" sz="1400" dirty="0">
              <a:latin typeface="Calibri" panose="020F0502020204030204" pitchFamily="34" charset="0"/>
              <a:cs typeface="Calibri" panose="020F0502020204030204" pitchFamily="34" charset="0"/>
            </a:endParaRPr>
          </a:p>
        </p:txBody>
      </p:sp>
      <p:sp>
        <p:nvSpPr>
          <p:cNvPr id="18" name="Text 12"/>
          <p:cNvSpPr/>
          <p:nvPr/>
        </p:nvSpPr>
        <p:spPr>
          <a:xfrm>
            <a:off x="2717750" y="2489150"/>
            <a:ext cx="1600200" cy="914400"/>
          </a:xfrm>
          <a:prstGeom prst="roundRect">
            <a:avLst>
              <a:gd name="adj" fmla="val 8333"/>
            </a:avLst>
          </a:prstGeom>
          <a:solidFill>
            <a:srgbClr val="F6F8F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9" name="Text 13"/>
          <p:cNvSpPr/>
          <p:nvPr/>
        </p:nvSpPr>
        <p:spPr>
          <a:xfrm>
            <a:off x="2819400" y="2578001"/>
            <a:ext cx="1450797" cy="659606"/>
          </a:xfrm>
          <a:prstGeom prst="rect">
            <a:avLst/>
          </a:prstGeom>
          <a:noFill/>
          <a:ln/>
        </p:spPr>
        <p:txBody>
          <a:bodyPr wrap="square" lIns="0" tIns="0" rIns="0" bIns="0" rtlCol="0" anchor="t"/>
          <a:lstStyle/>
          <a:p>
            <a:pPr marL="0" indent="0" algn="l">
              <a:lnSpc>
                <a:spcPts val="1300"/>
              </a:lnSpc>
              <a:buNone/>
            </a:pPr>
            <a:r>
              <a:rPr lang="en-US" sz="1400" dirty="0">
                <a:solidFill>
                  <a:srgbClr val="1F2328"/>
                </a:solidFill>
                <a:latin typeface="Calibri" panose="020F0502020204030204" pitchFamily="34" charset="0"/>
                <a:ea typeface="Courier New" pitchFamily="34" charset="-122"/>
                <a:cs typeface="Calibri" panose="020F0502020204030204" pitchFamily="34" charset="0"/>
              </a:rPr>
              <a:t>Make a status brief from this week’s project email.</a:t>
            </a:r>
            <a:endParaRPr lang="en-US" sz="1400" dirty="0">
              <a:latin typeface="Calibri" panose="020F0502020204030204" pitchFamily="34" charset="0"/>
              <a:cs typeface="Calibri" panose="020F0502020204030204" pitchFamily="34" charset="0"/>
            </a:endParaRPr>
          </a:p>
        </p:txBody>
      </p:sp>
      <p:sp>
        <p:nvSpPr>
          <p:cNvPr id="20" name="Text 14"/>
          <p:cNvSpPr/>
          <p:nvPr/>
        </p:nvSpPr>
        <p:spPr>
          <a:xfrm>
            <a:off x="46227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1" name="Text 15"/>
          <p:cNvSpPr/>
          <p:nvPr/>
        </p:nvSpPr>
        <p:spPr>
          <a:xfrm>
            <a:off x="4800600" y="1600200"/>
            <a:ext cx="457200" cy="457200"/>
          </a:xfrm>
          <a:prstGeom prst="roundRect">
            <a:avLst>
              <a:gd name="adj" fmla="val 200000"/>
            </a:avLst>
          </a:prstGeom>
          <a:solidFill>
            <a:srgbClr val="DAFBE1"/>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2" name="Image 4" descr="/Users/danwahlin/.copilot/session-state/e7427b9a-9d65-4aa2-953c-14cedea46cbc/files/talkdeck/assets/icons/GoTable-1A7F37.png"/>
          <p:cNvPicPr>
            <a:picLocks noChangeAspect="1"/>
          </p:cNvPicPr>
          <p:nvPr/>
        </p:nvPicPr>
        <p:blipFill>
          <a:blip r:embed="rId7"/>
          <a:stretch>
            <a:fillRect/>
          </a:stretch>
        </p:blipFill>
        <p:spPr>
          <a:xfrm>
            <a:off x="4914900" y="1714500"/>
            <a:ext cx="228600" cy="228600"/>
          </a:xfrm>
          <a:prstGeom prst="rect">
            <a:avLst/>
          </a:prstGeom>
        </p:spPr>
      </p:pic>
      <p:sp>
        <p:nvSpPr>
          <p:cNvPr id="23" name="Text 16"/>
          <p:cNvSpPr/>
          <p:nvPr/>
        </p:nvSpPr>
        <p:spPr>
          <a:xfrm>
            <a:off x="4800600" y="2184350"/>
            <a:ext cx="1683969"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Business analysts</a:t>
            </a:r>
            <a:endParaRPr lang="en-US" sz="1400" dirty="0">
              <a:latin typeface="Calibri" panose="020F0502020204030204" pitchFamily="34" charset="0"/>
              <a:cs typeface="Calibri" panose="020F0502020204030204" pitchFamily="34" charset="0"/>
            </a:endParaRPr>
          </a:p>
        </p:txBody>
      </p:sp>
      <p:sp>
        <p:nvSpPr>
          <p:cNvPr id="24" name="Text 17"/>
          <p:cNvSpPr/>
          <p:nvPr/>
        </p:nvSpPr>
        <p:spPr>
          <a:xfrm>
            <a:off x="4775150" y="2489150"/>
            <a:ext cx="1600200" cy="914400"/>
          </a:xfrm>
          <a:prstGeom prst="roundRect">
            <a:avLst>
              <a:gd name="adj" fmla="val 8333"/>
            </a:avLst>
          </a:prstGeom>
          <a:solidFill>
            <a:srgbClr val="F6F8F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5" name="Text 18"/>
          <p:cNvSpPr/>
          <p:nvPr/>
        </p:nvSpPr>
        <p:spPr>
          <a:xfrm>
            <a:off x="4876800" y="2578001"/>
            <a:ext cx="1450797" cy="494705"/>
          </a:xfrm>
          <a:prstGeom prst="rect">
            <a:avLst/>
          </a:prstGeom>
          <a:noFill/>
          <a:ln/>
        </p:spPr>
        <p:txBody>
          <a:bodyPr wrap="square" lIns="0" tIns="0" rIns="0" bIns="0" rtlCol="0" anchor="t"/>
          <a:lstStyle/>
          <a:p>
            <a:pPr marL="0" indent="0" algn="l">
              <a:lnSpc>
                <a:spcPts val="1300"/>
              </a:lnSpc>
              <a:buNone/>
            </a:pPr>
            <a:r>
              <a:rPr lang="en-US" sz="1400" dirty="0">
                <a:solidFill>
                  <a:srgbClr val="1F2328"/>
                </a:solidFill>
                <a:latin typeface="Calibri" panose="020F0502020204030204" pitchFamily="34" charset="0"/>
                <a:ea typeface="Courier New" pitchFamily="34" charset="-122"/>
                <a:cs typeface="Calibri" panose="020F0502020204030204" pitchFamily="34" charset="0"/>
              </a:rPr>
              <a:t>Turn this CSV into a workbook with a PivotTable.</a:t>
            </a:r>
            <a:endParaRPr lang="en-US" sz="1400" dirty="0">
              <a:latin typeface="Calibri" panose="020F0502020204030204" pitchFamily="34" charset="0"/>
              <a:cs typeface="Calibri" panose="020F0502020204030204" pitchFamily="34" charset="0"/>
            </a:endParaRPr>
          </a:p>
        </p:txBody>
      </p:sp>
      <p:sp>
        <p:nvSpPr>
          <p:cNvPr id="26" name="Text 19"/>
          <p:cNvSpPr/>
          <p:nvPr/>
        </p:nvSpPr>
        <p:spPr>
          <a:xfrm>
            <a:off x="66801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7" name="Text 20"/>
          <p:cNvSpPr/>
          <p:nvPr/>
        </p:nvSpPr>
        <p:spPr>
          <a:xfrm>
            <a:off x="6858000" y="1600200"/>
            <a:ext cx="457200" cy="457200"/>
          </a:xfrm>
          <a:prstGeom prst="roundRect">
            <a:avLst>
              <a:gd name="adj" fmla="val 200000"/>
            </a:avLst>
          </a:prstGeom>
          <a:solidFill>
            <a:srgbClr val="FFF1E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8" name="Image 5" descr="/Users/danwahlin/.copilot/session-state/e7427b9a-9d65-4aa2-953c-14cedea46cbc/files/talkdeck/assets/icons/GoGraph-BC4C00.png"/>
          <p:cNvPicPr>
            <a:picLocks noChangeAspect="1"/>
          </p:cNvPicPr>
          <p:nvPr/>
        </p:nvPicPr>
        <p:blipFill>
          <a:blip r:embed="rId8"/>
          <a:stretch>
            <a:fillRect/>
          </a:stretch>
        </p:blipFill>
        <p:spPr>
          <a:xfrm>
            <a:off x="6972300" y="1714500"/>
            <a:ext cx="228600" cy="228600"/>
          </a:xfrm>
          <a:prstGeom prst="rect">
            <a:avLst/>
          </a:prstGeom>
        </p:spPr>
      </p:pic>
      <p:sp>
        <p:nvSpPr>
          <p:cNvPr id="29" name="Text 21"/>
          <p:cNvSpPr/>
          <p:nvPr/>
        </p:nvSpPr>
        <p:spPr>
          <a:xfrm>
            <a:off x="6858000" y="2184350"/>
            <a:ext cx="1683969"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Leaders</a:t>
            </a:r>
            <a:endParaRPr lang="en-US" sz="1400" dirty="0">
              <a:latin typeface="Calibri" panose="020F0502020204030204" pitchFamily="34" charset="0"/>
              <a:cs typeface="Calibri" panose="020F0502020204030204" pitchFamily="34" charset="0"/>
            </a:endParaRPr>
          </a:p>
        </p:txBody>
      </p:sp>
      <p:sp>
        <p:nvSpPr>
          <p:cNvPr id="30" name="Text 22"/>
          <p:cNvSpPr/>
          <p:nvPr/>
        </p:nvSpPr>
        <p:spPr>
          <a:xfrm>
            <a:off x="6832550" y="2489150"/>
            <a:ext cx="1600200" cy="914400"/>
          </a:xfrm>
          <a:prstGeom prst="roundRect">
            <a:avLst>
              <a:gd name="adj" fmla="val 8333"/>
            </a:avLst>
          </a:prstGeom>
          <a:solidFill>
            <a:srgbClr val="F6F8F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31" name="Text 23"/>
          <p:cNvSpPr/>
          <p:nvPr/>
        </p:nvSpPr>
        <p:spPr>
          <a:xfrm>
            <a:off x="6934200" y="2578001"/>
            <a:ext cx="1450797" cy="494705"/>
          </a:xfrm>
          <a:prstGeom prst="rect">
            <a:avLst/>
          </a:prstGeom>
          <a:noFill/>
          <a:ln/>
        </p:spPr>
        <p:txBody>
          <a:bodyPr wrap="square" lIns="0" tIns="0" rIns="0" bIns="0" rtlCol="0" anchor="t"/>
          <a:lstStyle/>
          <a:p>
            <a:pPr marL="0" indent="0" algn="l">
              <a:lnSpc>
                <a:spcPts val="1300"/>
              </a:lnSpc>
              <a:buNone/>
            </a:pPr>
            <a:r>
              <a:rPr lang="en-US" sz="1400" dirty="0">
                <a:solidFill>
                  <a:srgbClr val="1F2328"/>
                </a:solidFill>
                <a:latin typeface="Calibri" panose="020F0502020204030204" pitchFamily="34" charset="0"/>
                <a:ea typeface="Courier New" pitchFamily="34" charset="-122"/>
                <a:cs typeface="Calibri" panose="020F0502020204030204" pitchFamily="34" charset="0"/>
              </a:rPr>
              <a:t>Make a one-page briefing on this topic.</a:t>
            </a:r>
            <a:endParaRPr lang="en-US" sz="1400" dirty="0">
              <a:latin typeface="Calibri" panose="020F0502020204030204" pitchFamily="34" charset="0"/>
              <a:cs typeface="Calibri" panose="020F0502020204030204" pitchFamily="34" charset="0"/>
            </a:endParaRPr>
          </a:p>
        </p:txBody>
      </p:sp>
      <p:sp>
        <p:nvSpPr>
          <p:cNvPr id="33" name="Text 24"/>
          <p:cNvSpPr/>
          <p:nvPr/>
        </p:nvSpPr>
        <p:spPr>
          <a:xfrm>
            <a:off x="2167501" y="4133263"/>
            <a:ext cx="6476899" cy="200025"/>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Free course: GitHub Copilot app for beginners</a:t>
            </a:r>
            <a:endParaRPr lang="en-US" sz="1400" dirty="0">
              <a:latin typeface="Calibri" panose="020F0502020204030204" pitchFamily="34" charset="0"/>
              <a:cs typeface="Calibri" panose="020F0502020204030204" pitchFamily="34" charset="0"/>
            </a:endParaRPr>
          </a:p>
        </p:txBody>
      </p:sp>
      <p:sp>
        <p:nvSpPr>
          <p:cNvPr id="34" name="Text 25"/>
          <p:cNvSpPr/>
          <p:nvPr/>
        </p:nvSpPr>
        <p:spPr>
          <a:xfrm>
            <a:off x="2167501" y="4412614"/>
            <a:ext cx="6476899" cy="171450"/>
          </a:xfrm>
          <a:prstGeom prst="rect">
            <a:avLst/>
          </a:prstGeom>
          <a:noFill/>
          <a:ln/>
        </p:spPr>
        <p:txBody>
          <a:bodyPr wrap="square" lIns="0" tIns="0" rIns="0" bIns="0" rtlCol="0" anchor="t"/>
          <a:lstStyle/>
          <a:p>
            <a:pPr marL="0" indent="0" algn="l">
              <a:buNone/>
            </a:pPr>
            <a:r>
              <a:rPr lang="en-US" sz="1400" dirty="0">
                <a:solidFill>
                  <a:srgbClr val="0969DA"/>
                </a:solidFill>
                <a:latin typeface="Calibri" panose="020F0502020204030204" pitchFamily="34" charset="0"/>
                <a:ea typeface="Arial" pitchFamily="34" charset="-122"/>
                <a:cs typeface="Calibri" panose="020F0502020204030204" pitchFamily="34" charset="0"/>
              </a:rPr>
              <a:t>github.com/github/copilot-app-for-beginners</a:t>
            </a:r>
            <a:endParaRPr lang="en-US" sz="1400" dirty="0">
              <a:latin typeface="Calibri" panose="020F0502020204030204" pitchFamily="34" charset="0"/>
              <a:cs typeface="Calibri" panose="020F0502020204030204" pitchFamily="34" charset="0"/>
            </a:endParaRPr>
          </a:p>
        </p:txBody>
      </p:sp>
      <p:pic>
        <p:nvPicPr>
          <p:cNvPr id="36" name="Picture 35">
            <a:extLst>
              <a:ext uri="{FF2B5EF4-FFF2-40B4-BE49-F238E27FC236}">
                <a16:creationId xmlns:a16="http://schemas.microsoft.com/office/drawing/2014/main" id="{BC1C34E6-D18D-682A-BFA1-3E23C07CA7C6}"/>
              </a:ext>
            </a:extLst>
          </p:cNvPr>
          <p:cNvPicPr>
            <a:picLocks noChangeAspect="1"/>
          </p:cNvPicPr>
          <p:nvPr/>
        </p:nvPicPr>
        <p:blipFill>
          <a:blip r:embed="rId9"/>
          <a:srcRect/>
          <a:stretch/>
        </p:blipFill>
        <p:spPr>
          <a:xfrm>
            <a:off x="6130607" y="3920807"/>
            <a:ext cx="841693" cy="84169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icPr>
            <a:picLocks noChangeAspect="1"/>
          </p:cNvPicPr>
          <p:nvPr/>
        </p:nvPicPr>
        <p:blipFill>
          <a:blip r:embed="rId3"/>
          <a:stretch>
            <a:fillRect/>
          </a:stretch>
        </p:blipFill>
        <p:spPr>
          <a:xfrm>
            <a:off x="0" y="0"/>
            <a:ext cx="9144000" cy="5143500"/>
          </a:xfrm>
          <a:prstGeom prst="rect">
            <a:avLst/>
          </a:prstGeom>
        </p:spPr>
      </p:pic>
      <p:pic>
        <p:nvPicPr>
          <p:cNvPr id="3" name="Image 1" descr="/Users/danwahlin/.copilot/session-state/e7427b9a-9d65-4aa2-953c-14cedea46cbc/files/talkdeck/assets/mark-dark.png"/>
          <p:cNvPicPr>
            <a:picLocks noChangeAspect="1"/>
          </p:cNvPicPr>
          <p:nvPr/>
        </p:nvPicPr>
        <p:blipFill>
          <a:blip r:embed="rId4"/>
          <a:stretch>
            <a:fillRect/>
          </a:stretch>
        </p:blipFill>
        <p:spPr>
          <a:xfrm>
            <a:off x="8610600" y="203150"/>
            <a:ext cx="304800" cy="304800"/>
          </a:xfrm>
          <a:prstGeom prst="rect">
            <a:avLst/>
          </a:prstGeom>
        </p:spPr>
      </p:pic>
      <p:sp>
        <p:nvSpPr>
          <p:cNvPr id="5" name="Text 1"/>
          <p:cNvSpPr/>
          <p:nvPr/>
        </p:nvSpPr>
        <p:spPr>
          <a:xfrm>
            <a:off x="1015901" y="835023"/>
            <a:ext cx="6217920" cy="704850"/>
          </a:xfrm>
          <a:prstGeom prst="rect">
            <a:avLst/>
          </a:prstGeom>
          <a:noFill/>
          <a:ln/>
        </p:spPr>
        <p:txBody>
          <a:bodyPr wrap="square" lIns="0" tIns="0" rIns="0" bIns="0" rtlCol="0" anchor="t"/>
          <a:lstStyle/>
          <a:p>
            <a:pPr marL="0" indent="0" algn="l">
              <a:buNone/>
            </a:pPr>
            <a:r>
              <a:rPr lang="en-US" sz="5400" b="1" dirty="0">
                <a:solidFill>
                  <a:srgbClr val="1F2328"/>
                </a:solidFill>
                <a:latin typeface="Calibri" panose="020F0502020204030204" pitchFamily="34" charset="0"/>
                <a:ea typeface="Arial" pitchFamily="34" charset="-122"/>
                <a:cs typeface="Calibri" panose="020F0502020204030204" pitchFamily="34" charset="0"/>
              </a:rPr>
              <a:t>Thank you!</a:t>
            </a:r>
            <a:endParaRPr lang="en-US" sz="5400" dirty="0">
              <a:latin typeface="Calibri" panose="020F0502020204030204" pitchFamily="34" charset="0"/>
              <a:cs typeface="Calibri" panose="020F0502020204030204" pitchFamily="34" charset="0"/>
            </a:endParaRPr>
          </a:p>
        </p:txBody>
      </p:sp>
      <p:sp>
        <p:nvSpPr>
          <p:cNvPr id="6" name="Text 2"/>
          <p:cNvSpPr/>
          <p:nvPr/>
        </p:nvSpPr>
        <p:spPr>
          <a:xfrm>
            <a:off x="1015901" y="1749423"/>
            <a:ext cx="609600" cy="63401"/>
          </a:xfrm>
          <a:prstGeom prst="rect">
            <a:avLst/>
          </a:prstGeom>
          <a:solidFill>
            <a:srgbClr val="1A7F37"/>
          </a:solidFill>
          <a:ln/>
        </p:spPr>
        <p:txBody>
          <a:bodyPr wrap="square" rtlCol="0" anchor="ctr"/>
          <a:lstStyle/>
          <a:p>
            <a:pPr marL="0" indent="0">
              <a:buNone/>
            </a:pPr>
            <a:endParaRPr lang="en-US" dirty="0"/>
          </a:p>
        </p:txBody>
      </p:sp>
      <p:sp>
        <p:nvSpPr>
          <p:cNvPr id="7" name="Text 3"/>
          <p:cNvSpPr/>
          <p:nvPr/>
        </p:nvSpPr>
        <p:spPr>
          <a:xfrm>
            <a:off x="1015901" y="2819448"/>
            <a:ext cx="5440680" cy="257175"/>
          </a:xfrm>
          <a:prstGeom prst="rect">
            <a:avLst/>
          </a:prstGeom>
          <a:noFill/>
          <a:ln/>
        </p:spPr>
        <p:txBody>
          <a:bodyPr wrap="square" lIns="0" tIns="0" rIns="0" bIns="0" rtlCol="0" anchor="t"/>
          <a:lstStyle/>
          <a:p>
            <a:pPr marL="0" indent="0" algn="l">
              <a:buNone/>
            </a:pPr>
            <a:r>
              <a:rPr lang="en-US" sz="2400" dirty="0">
                <a:solidFill>
                  <a:srgbClr val="59636E"/>
                </a:solidFill>
                <a:latin typeface="Calibri" panose="020F0502020204030204" pitchFamily="34" charset="0"/>
                <a:ea typeface="Arial" pitchFamily="34" charset="-122"/>
                <a:cs typeface="Calibri" panose="020F0502020204030204" pitchFamily="34" charset="0"/>
              </a:rPr>
              <a:t>Bring an idea. Put an agent to work on it.</a:t>
            </a:r>
            <a:endParaRPr lang="en-US" sz="2400" dirty="0">
              <a:latin typeface="Calibri" panose="020F0502020204030204" pitchFamily="34" charset="0"/>
              <a:cs typeface="Calibri" panose="020F0502020204030204" pitchFamily="34" charset="0"/>
            </a:endParaRPr>
          </a:p>
        </p:txBody>
      </p:sp>
      <p:pic>
        <p:nvPicPr>
          <p:cNvPr id="8" name="Image 2" descr="/Users/danwahlin/.copilot/session-state/e7427b9a-9d65-4aa2-953c-14cedea46cbc/files/talkdeck/assets/mark-blue.png"/>
          <p:cNvPicPr>
            <a:picLocks noChangeAspect="1"/>
          </p:cNvPicPr>
          <p:nvPr/>
        </p:nvPicPr>
        <p:blipFill>
          <a:blip r:embed="rId5"/>
          <a:stretch>
            <a:fillRect/>
          </a:stretch>
        </p:blipFill>
        <p:spPr>
          <a:xfrm>
            <a:off x="1015901" y="4295827"/>
            <a:ext cx="203150" cy="203150"/>
          </a:xfrm>
          <a:prstGeom prst="rect">
            <a:avLst/>
          </a:prstGeom>
        </p:spPr>
      </p:pic>
      <p:sp>
        <p:nvSpPr>
          <p:cNvPr id="9" name="Text 4"/>
          <p:cNvSpPr/>
          <p:nvPr/>
        </p:nvSpPr>
        <p:spPr>
          <a:xfrm>
            <a:off x="1308050" y="4308477"/>
            <a:ext cx="3886200" cy="190500"/>
          </a:xfrm>
          <a:prstGeom prst="rect">
            <a:avLst/>
          </a:prstGeom>
          <a:noFill/>
          <a:ln/>
        </p:spPr>
        <p:txBody>
          <a:bodyPr wrap="square" lIns="0" tIns="0" rIns="0" bIns="0" rtlCol="0" anchor="t"/>
          <a:lstStyle/>
          <a:p>
            <a:pPr marL="0" indent="0" algn="l">
              <a:buNone/>
            </a:pPr>
            <a:r>
              <a:rPr lang="en-US" sz="1400" b="1" dirty="0">
                <a:solidFill>
                  <a:srgbClr val="0969DA"/>
                </a:solidFill>
                <a:latin typeface="Calibri" panose="020F0502020204030204" pitchFamily="34" charset="0"/>
                <a:ea typeface="Arial" pitchFamily="34" charset="-122"/>
                <a:cs typeface="Calibri" panose="020F0502020204030204" pitchFamily="34" charset="0"/>
              </a:rPr>
              <a:t>Dan Wahlin </a:t>
            </a:r>
            <a:r>
              <a:rPr lang="en-US" sz="1400" b="1">
                <a:solidFill>
                  <a:srgbClr val="0969DA"/>
                </a:solidFill>
                <a:latin typeface="Calibri" panose="020F0502020204030204" pitchFamily="34" charset="0"/>
                <a:ea typeface="Arial" pitchFamily="34" charset="-122"/>
                <a:cs typeface="Calibri" panose="020F0502020204030204" pitchFamily="34" charset="0"/>
              </a:rPr>
              <a:t>· Microsoft</a:t>
            </a:r>
            <a:endParaRPr lang="en-US" sz="1400"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A1B8B579-573A-40A5-1A3D-B8D6FD2B83FB}"/>
              </a:ext>
            </a:extLst>
          </p:cNvPr>
          <p:cNvPicPr>
            <a:picLocks noChangeAspect="1"/>
          </p:cNvPicPr>
          <p:nvPr/>
        </p:nvPicPr>
        <p:blipFill>
          <a:blip r:embed="rId6"/>
          <a:srcRect/>
          <a:stretch/>
        </p:blipFill>
        <p:spPr>
          <a:xfrm>
            <a:off x="8045938" y="4076750"/>
            <a:ext cx="863600" cy="8636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FE6E6BB-2E2E-99BC-81CF-AF6D30399329}"/>
            </a:ext>
          </a:extLst>
        </p:cNvPr>
        <p:cNvGrpSpPr/>
        <p:nvPr/>
      </p:nvGrpSpPr>
      <p:grpSpPr>
        <a:xfrm>
          <a:off x="0" y="0"/>
          <a:ext cx="0" cy="0"/>
          <a:chOff x="0" y="0"/>
          <a:chExt cx="0" cy="0"/>
        </a:xfrm>
      </p:grpSpPr>
      <p:pic>
        <p:nvPicPr>
          <p:cNvPr id="2" name="Image 0" descr="/Users/danwahlin/.copilot/session-state/e7427b9a-9d65-4aa2-953c-14cedea46cbc/files/talkdeck/assets/bg-hero.jpg">
            <a:extLst>
              <a:ext uri="{FF2B5EF4-FFF2-40B4-BE49-F238E27FC236}">
                <a16:creationId xmlns:a16="http://schemas.microsoft.com/office/drawing/2014/main" id="{7AA2ABB8-8319-0ABE-2C54-E27896DAF9BD}"/>
              </a:ext>
            </a:extLst>
          </p:cNvPr>
          <p:cNvPicPr>
            <a:picLocks noChangeAspect="1"/>
          </p:cNvPicPr>
          <p:nvPr/>
        </p:nvPicPr>
        <p:blipFill>
          <a:blip r:embed="rId3"/>
          <a:stretch>
            <a:fillRect/>
          </a:stretch>
        </p:blipFill>
        <p:spPr>
          <a:xfrm>
            <a:off x="0" y="0"/>
            <a:ext cx="9144000" cy="5143500"/>
          </a:xfrm>
          <a:prstGeom prst="rect">
            <a:avLst/>
          </a:prstGeom>
        </p:spPr>
      </p:pic>
      <p:pic>
        <p:nvPicPr>
          <p:cNvPr id="3" name="Image 1" descr="/Users/danwahlin/.copilot/session-state/e7427b9a-9d65-4aa2-953c-14cedea46cbc/files/talkdeck/assets/mark-dark.png">
            <a:extLst>
              <a:ext uri="{FF2B5EF4-FFF2-40B4-BE49-F238E27FC236}">
                <a16:creationId xmlns:a16="http://schemas.microsoft.com/office/drawing/2014/main" id="{C5A950C1-9B84-3109-442D-05FEC1C59525}"/>
              </a:ext>
            </a:extLst>
          </p:cNvPr>
          <p:cNvPicPr>
            <a:picLocks noChangeAspect="1"/>
          </p:cNvPicPr>
          <p:nvPr/>
        </p:nvPicPr>
        <p:blipFill>
          <a:blip r:embed="rId4"/>
          <a:stretch>
            <a:fillRect/>
          </a:stretch>
        </p:blipFill>
        <p:spPr>
          <a:xfrm>
            <a:off x="8610600" y="203150"/>
            <a:ext cx="304800" cy="304800"/>
          </a:xfrm>
          <a:prstGeom prst="rect">
            <a:avLst/>
          </a:prstGeom>
        </p:spPr>
      </p:pic>
      <p:pic>
        <p:nvPicPr>
          <p:cNvPr id="11" name="Picture 10">
            <a:extLst>
              <a:ext uri="{FF2B5EF4-FFF2-40B4-BE49-F238E27FC236}">
                <a16:creationId xmlns:a16="http://schemas.microsoft.com/office/drawing/2014/main" id="{D3B3AA52-551A-863B-9D35-3C2565F699DC}"/>
              </a:ext>
            </a:extLst>
          </p:cNvPr>
          <p:cNvPicPr>
            <a:picLocks noChangeAspect="1"/>
          </p:cNvPicPr>
          <p:nvPr/>
        </p:nvPicPr>
        <p:blipFill>
          <a:blip r:embed="rId5"/>
          <a:srcRect/>
          <a:stretch/>
        </p:blipFill>
        <p:spPr>
          <a:xfrm>
            <a:off x="8045938" y="4076750"/>
            <a:ext cx="863600" cy="863600"/>
          </a:xfrm>
          <a:prstGeom prst="rect">
            <a:avLst/>
          </a:prstGeom>
        </p:spPr>
      </p:pic>
      <p:pic>
        <p:nvPicPr>
          <p:cNvPr id="10" name="Picture 9">
            <a:extLst>
              <a:ext uri="{FF2B5EF4-FFF2-40B4-BE49-F238E27FC236}">
                <a16:creationId xmlns:a16="http://schemas.microsoft.com/office/drawing/2014/main" id="{193652BD-C8BF-422A-3E6C-DCA216B7A373}"/>
              </a:ext>
            </a:extLst>
          </p:cNvPr>
          <p:cNvPicPr>
            <a:picLocks noChangeAspect="1"/>
          </p:cNvPicPr>
          <p:nvPr/>
        </p:nvPicPr>
        <p:blipFill>
          <a:blip r:embed="rId6"/>
          <a:stretch>
            <a:fillRect/>
          </a:stretch>
        </p:blipFill>
        <p:spPr>
          <a:xfrm>
            <a:off x="-1031617" y="-339847"/>
            <a:ext cx="11207234" cy="5823194"/>
          </a:xfrm>
          <a:prstGeom prst="rect">
            <a:avLst/>
          </a:prstGeom>
        </p:spPr>
      </p:pic>
      <p:pic>
        <p:nvPicPr>
          <p:cNvPr id="12" name="Picture 11">
            <a:extLst>
              <a:ext uri="{FF2B5EF4-FFF2-40B4-BE49-F238E27FC236}">
                <a16:creationId xmlns:a16="http://schemas.microsoft.com/office/drawing/2014/main" id="{8C3DF9A6-B818-A915-8004-94E1E251AA76}"/>
              </a:ext>
            </a:extLst>
          </p:cNvPr>
          <p:cNvPicPr>
            <a:picLocks noChangeAspect="1"/>
          </p:cNvPicPr>
          <p:nvPr/>
        </p:nvPicPr>
        <p:blipFill>
          <a:blip r:embed="rId7"/>
          <a:stretch>
            <a:fillRect/>
          </a:stretch>
        </p:blipFill>
        <p:spPr>
          <a:xfrm>
            <a:off x="8045938" y="4009292"/>
            <a:ext cx="777240" cy="777240"/>
          </a:xfrm>
          <a:prstGeom prst="rect">
            <a:avLst/>
          </a:prstGeom>
        </p:spPr>
      </p:pic>
    </p:spTree>
    <p:extLst>
      <p:ext uri="{BB962C8B-B14F-4D97-AF65-F5344CB8AC3E}">
        <p14:creationId xmlns:p14="http://schemas.microsoft.com/office/powerpoint/2010/main" val="34628819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TotalTime>
  <Words>1458</Words>
  <Application>Microsoft Macintosh PowerPoint</Application>
  <PresentationFormat>On-screen Show (16:9)</PresentationFormat>
  <Paragraphs>185</Paragraphs>
  <Slides>16</Slides>
  <Notes>16</Notes>
  <HiddenSlides>1</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app: Put AI Agents to Work</dc:title>
  <dc:subject>PptxGenJS Presentation</dc:subject>
  <dc:creator>Dan Wahlin</dc:creator>
  <cp:lastModifiedBy>Dan Wahlin</cp:lastModifiedBy>
  <cp:revision>16</cp:revision>
  <dcterms:created xsi:type="dcterms:W3CDTF">2026-10-17T08:27:35Z</dcterms:created>
  <dcterms:modified xsi:type="dcterms:W3CDTF">2026-10-22T23:19:48Z</dcterms:modified>
</cp:coreProperties>
</file>