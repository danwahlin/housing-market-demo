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has its own backlog. Developers have bugs and missing tests. Project managers pull status reports together by hand. Analysts move data between systems. Leaders wait on all of that before they decide. Chat helps you get answers, but you still do the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Derek Sivers wrote this in 2005. A great idea with no execution is worth little. Agents raise the execution side for everyone, not only for people who write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conductor does not play every instrument. The conductor sets the direction, keeps the sections together, and listens for problems. That is your job in the Copilot app. The agents play the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today's orchestra. Each section is a session with its own agent and its own branch. The website, the Excel workbook, the PowerPoint briefing, and the WorkIQ brief all play at the same time. The automation keeps the beat every Monday. You stand in the middle: you plan, you review, and you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Kay said this in 1971. With agents, more people can invent: developers, project managers, analysts, and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r>
          <p:cNvPicPr>
            <a:picLocks noChangeAspect="1"/>
          </p:cNvPicPr>
          <p:nvPr/>
        </p:nvPicPr>
        <p:blipFill>
          <a:blip r:embed="rId2"/>
          <a:stretch>
            <a:fillRect/>
          </a:stretch>
        </p:blipFill>
        <p:spPr>
          <a:xfrm>
            <a:off x="8610600" y="203150"/>
            <a:ext cx="304800" cy="304800"/>
          </a:xfrm>
          <a:prstGeom prst="rect">
            <a:avLst/>
          </a:prstGeom>
        </p:spPr>
      </p:pic>
      <p:sp>
        <p:nvSpPr>
          <p:cNvPr id="4" name="Text 0"/>
          <p:cNvSpPr/>
          <p:nvPr/>
        </p:nvSpPr>
        <p:spPr>
          <a:xfrm>
            <a:off x="1015901" y="1168301"/>
            <a:ext cx="6217920"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FANNIE MAE AI SUMMIT</a:t>
            </a:r>
            <a:endParaRPr lang="en-US" sz="1100" dirty="0"/>
          </a:p>
        </p:txBody>
      </p:sp>
      <p:sp>
        <p:nvSpPr>
          <p:cNvPr id="5" name="Text 1"/>
          <p:cNvSpPr/>
          <p:nvPr/>
        </p:nvSpPr>
        <p:spPr>
          <a:xfrm>
            <a:off x="1015901" y="1422350"/>
            <a:ext cx="6736029" cy="638175"/>
          </a:xfrm>
          <a:prstGeom prst="rect">
            <a:avLst/>
          </a:prstGeom>
          <a:noFill/>
          <a:ln/>
        </p:spPr>
        <p:txBody>
          <a:bodyPr wrap="square" lIns="0" tIns="0" rIns="0" bIns="0" rtlCol="0" anchor="t"/>
          <a:lstStyle/>
          <a:p>
            <a:pPr algn="l" indent="0" marL="0">
              <a:buNone/>
            </a:pPr>
            <a:r>
              <a:rPr lang="en-US" sz="4400" b="1" dirty="0">
                <a:solidFill>
                  <a:srgbClr val="1F2328"/>
                </a:solidFill>
                <a:latin typeface="Arial" pitchFamily="34" charset="0"/>
                <a:ea typeface="Arial" pitchFamily="34" charset="-122"/>
                <a:cs typeface="Arial" pitchFamily="34" charset="-120"/>
              </a:rPr>
              <a:t>Put AI Agents to Work</a:t>
            </a:r>
            <a:endParaRPr lang="en-US" sz="4400" dirty="0"/>
          </a:p>
        </p:txBody>
      </p:sp>
      <p:sp>
        <p:nvSpPr>
          <p:cNvPr id="6" name="Text 2"/>
          <p:cNvSpPr/>
          <p:nvPr/>
        </p:nvSpPr>
        <p:spPr>
          <a:xfrm>
            <a:off x="1015901" y="2260550"/>
            <a:ext cx="609600" cy="63401"/>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14600"/>
            <a:ext cx="5699659" cy="617041"/>
          </a:xfrm>
          <a:prstGeom prst="rect">
            <a:avLst/>
          </a:prstGeom>
          <a:noFill/>
          <a:ln/>
        </p:spPr>
        <p:txBody>
          <a:bodyPr wrap="square" lIns="0" tIns="0" rIns="0" bIns="0" rtlCol="0" anchor="t"/>
          <a:lstStyle/>
          <a:p>
            <a:pPr algn="l" indent="0" marL="0">
              <a:lnSpc>
                <a:spcPts val="2430"/>
              </a:lnSpc>
              <a:buNone/>
            </a:pPr>
            <a:r>
              <a:rPr lang="en-US" sz="1800" dirty="0">
                <a:solidFill>
                  <a:srgbClr val="59636E"/>
                </a:solidFill>
                <a:latin typeface="Arial" pitchFamily="34" charset="0"/>
                <a:ea typeface="Arial" pitchFamily="34" charset="-122"/>
                <a:cs typeface="Arial" pitchFamily="34" charset="-120"/>
              </a:rPr>
              <a:t>The GitHub Copilot app for developers, knowledge workers, and leaders</a:t>
            </a:r>
            <a:endParaRPr lang="en-US" sz="1800" dirty="0"/>
          </a:p>
        </p:txBody>
      </p:sp>
      <p:pic>
        <p:nvPicPr>
          <p:cNvPr id="8" name="Image 2" descr="/Users/danwahlin/.copilot/session-state/e7427b9a-9d65-4aa2-953c-14cedea46cbc/files/talkdeck/assets/mark-blue.png">    </p:cNvPr>
          <p:cNvPicPr>
            <a:picLocks noChangeAspect="1"/>
          </p:cNvPicPr>
          <p:nvPr/>
        </p:nvPicPr>
        <p:blipFill>
          <a:blip r:embed="rId3"/>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START WITH A QUESTION</a:t>
            </a:r>
            <a:endParaRPr lang="en-US" sz="950" dirty="0"/>
          </a:p>
        </p:txBody>
      </p:sp>
      <p:sp>
        <p:nvSpPr>
          <p:cNvPr id="7" name="Text 3"/>
          <p:cNvSpPr/>
          <p:nvPr/>
        </p:nvSpPr>
        <p:spPr>
          <a:xfrm>
            <a:off x="507950" y="787301"/>
            <a:ext cx="7254139" cy="1168003"/>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How much of your day is real work?</a:t>
            </a:r>
            <a:endParaRPr lang="en-US" sz="4000" dirty="0"/>
          </a:p>
        </p:txBody>
      </p:sp>
      <p:sp>
        <p:nvSpPr>
          <p:cNvPr id="8" name="Text 4"/>
          <p:cNvSpPr/>
          <p:nvPr/>
        </p:nvSpPr>
        <p:spPr>
          <a:xfrm>
            <a:off x="507950" y="2717750"/>
            <a:ext cx="1295349" cy="142875"/>
          </a:xfrm>
          <a:prstGeom prst="rect">
            <a:avLst/>
          </a:prstGeom>
          <a:noFill/>
          <a:ln/>
        </p:spPr>
        <p:txBody>
          <a:bodyPr wrap="square" lIns="0" tIns="0" rIns="0" bIns="0" rtlCol="0" anchor="t"/>
          <a:lstStyle/>
          <a:p>
            <a:pPr algn="l" indent="0" marL="0">
              <a:buNone/>
            </a:pPr>
            <a:r>
              <a:rPr lang="en-US" sz="1000" dirty="0">
                <a:solidFill>
                  <a:srgbClr val="59636E"/>
                </a:solidFill>
                <a:latin typeface="Arial" pitchFamily="34" charset="0"/>
                <a:ea typeface="Arial" pitchFamily="34" charset="-122"/>
                <a:cs typeface="Arial" pitchFamily="34" charset="-120"/>
              </a:rPr>
              <a:t>9:00 AM</a:t>
            </a:r>
            <a:endParaRPr lang="en-US" sz="1000" dirty="0"/>
          </a:p>
        </p:txBody>
      </p:sp>
      <p:sp>
        <p:nvSpPr>
          <p:cNvPr id="9" name="Text 5"/>
          <p:cNvSpPr/>
          <p:nvPr/>
        </p:nvSpPr>
        <p:spPr>
          <a:xfrm>
            <a:off x="7340551" y="2717750"/>
            <a:ext cx="1295349" cy="142875"/>
          </a:xfrm>
          <a:prstGeom prst="rect">
            <a:avLst/>
          </a:prstGeom>
          <a:noFill/>
          <a:ln/>
        </p:spPr>
        <p:txBody>
          <a:bodyPr wrap="square" lIns="0" tIns="0" rIns="0" bIns="0" rtlCol="0" anchor="t"/>
          <a:lstStyle/>
          <a:p>
            <a:pPr algn="r" indent="0" marL="0">
              <a:buNone/>
            </a:pPr>
            <a:r>
              <a:rPr lang="en-US" sz="1000" dirty="0">
                <a:solidFill>
                  <a:srgbClr val="59636E"/>
                </a:solidFill>
                <a:latin typeface="Arial" pitchFamily="34" charset="0"/>
                <a:ea typeface="Arial" pitchFamily="34" charset="-122"/>
                <a:cs typeface="Arial" pitchFamily="34" charset="-120"/>
              </a:rPr>
              <a:t>5:00 PM</a:t>
            </a:r>
            <a:endParaRPr lang="en-US" sz="1000" dirty="0"/>
          </a:p>
        </p:txBody>
      </p:sp>
      <p:sp>
        <p:nvSpPr>
          <p:cNvPr id="10" name="Text 6"/>
          <p:cNvSpPr/>
          <p:nvPr/>
        </p:nvSpPr>
        <p:spPr>
          <a:xfrm>
            <a:off x="507950" y="2997101"/>
            <a:ext cx="2120801" cy="660350"/>
          </a:xfrm>
          <a:prstGeom prst="roundRect">
            <a:avLst>
              <a:gd name="adj" fmla="val 15386"/>
            </a:avLst>
          </a:prstGeom>
          <a:solidFill>
            <a:srgbClr val="1A7F37"/>
          </a:solidFill>
          <a:ln/>
        </p:spPr>
        <p:txBody>
          <a:bodyPr wrap="square" rtlCol="0" anchor="ctr"/>
          <a:lstStyle/>
          <a:p>
            <a:pPr indent="0" marL="0">
              <a:buNone/>
            </a:pPr>
            <a:endParaRPr lang="en-US" dirty="0"/>
          </a:p>
        </p:txBody>
      </p:sp>
      <p:sp>
        <p:nvSpPr>
          <p:cNvPr id="11" name="Text 7"/>
          <p:cNvSpPr/>
          <p:nvPr/>
        </p:nvSpPr>
        <p:spPr>
          <a:xfrm>
            <a:off x="634901" y="3238500"/>
            <a:ext cx="1943100" cy="171450"/>
          </a:xfrm>
          <a:prstGeom prst="rect">
            <a:avLst/>
          </a:prstGeom>
          <a:noFill/>
          <a:ln/>
        </p:spPr>
        <p:txBody>
          <a:bodyPr wrap="square" lIns="0" tIns="0" rIns="0" bIns="0" rtlCol="0" anchor="t"/>
          <a:lstStyle/>
          <a:p>
            <a:pPr algn="l" indent="0" marL="0">
              <a:buNone/>
            </a:pPr>
            <a:r>
              <a:rPr lang="en-US" sz="1150" b="1" dirty="0">
                <a:solidFill>
                  <a:srgbClr val="FFFFFF"/>
                </a:solidFill>
                <a:latin typeface="Arial" pitchFamily="34" charset="0"/>
                <a:ea typeface="Arial" pitchFamily="34" charset="-122"/>
                <a:cs typeface="Arial" pitchFamily="34" charset="-120"/>
              </a:rPr>
              <a:t>Real work</a:t>
            </a:r>
            <a:endParaRPr lang="en-US" sz="1150" dirty="0"/>
          </a:p>
        </p:txBody>
      </p:sp>
      <p:sp>
        <p:nvSpPr>
          <p:cNvPr id="12" name="Text 8"/>
          <p:cNvSpPr/>
          <p:nvPr/>
        </p:nvSpPr>
        <p:spPr>
          <a:xfrm>
            <a:off x="2667000" y="2997101"/>
            <a:ext cx="2374850" cy="660350"/>
          </a:xfrm>
          <a:prstGeom prst="roundRect">
            <a:avLst>
              <a:gd name="adj" fmla="val 7693"/>
            </a:avLst>
          </a:prstGeom>
          <a:solidFill>
            <a:srgbClr val="DDF4FF"/>
          </a:solidFill>
          <a:ln/>
        </p:spPr>
        <p:txBody>
          <a:bodyPr wrap="square" rtlCol="0" anchor="ctr"/>
          <a:lstStyle/>
          <a:p>
            <a:pPr indent="0" marL="0">
              <a:buNone/>
            </a:pPr>
            <a:endParaRPr lang="en-US" dirty="0"/>
          </a:p>
        </p:txBody>
      </p:sp>
      <p:sp>
        <p:nvSpPr>
          <p:cNvPr id="13" name="Text 9"/>
          <p:cNvSpPr/>
          <p:nvPr/>
        </p:nvSpPr>
        <p:spPr>
          <a:xfrm>
            <a:off x="2793950" y="3238500"/>
            <a:ext cx="220207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Hunting for information</a:t>
            </a:r>
            <a:endParaRPr lang="en-US" sz="1150" dirty="0"/>
          </a:p>
        </p:txBody>
      </p:sp>
      <p:sp>
        <p:nvSpPr>
          <p:cNvPr id="14" name="Text 10"/>
          <p:cNvSpPr/>
          <p:nvPr/>
        </p:nvSpPr>
        <p:spPr>
          <a:xfrm>
            <a:off x="5079950" y="2997101"/>
            <a:ext cx="1866900" cy="660350"/>
          </a:xfrm>
          <a:prstGeom prst="roundRect">
            <a:avLst>
              <a:gd name="adj" fmla="val 7693"/>
            </a:avLst>
          </a:prstGeom>
          <a:solidFill>
            <a:srgbClr val="FBEFFF"/>
          </a:solidFill>
          <a:ln/>
        </p:spPr>
        <p:txBody>
          <a:bodyPr wrap="square" rtlCol="0" anchor="ctr"/>
          <a:lstStyle/>
          <a:p>
            <a:pPr indent="0" marL="0">
              <a:buNone/>
            </a:pPr>
            <a:endParaRPr lang="en-US" dirty="0"/>
          </a:p>
        </p:txBody>
      </p:sp>
      <p:sp>
        <p:nvSpPr>
          <p:cNvPr id="15" name="Text 11"/>
          <p:cNvSpPr/>
          <p:nvPr/>
        </p:nvSpPr>
        <p:spPr>
          <a:xfrm>
            <a:off x="5206901" y="3238500"/>
            <a:ext cx="1683969"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Switching tools</a:t>
            </a:r>
            <a:endParaRPr lang="en-US" sz="1150" dirty="0"/>
          </a:p>
        </p:txBody>
      </p:sp>
      <p:sp>
        <p:nvSpPr>
          <p:cNvPr id="16" name="Text 12"/>
          <p:cNvSpPr/>
          <p:nvPr/>
        </p:nvSpPr>
        <p:spPr>
          <a:xfrm>
            <a:off x="6984950" y="2997101"/>
            <a:ext cx="1612850" cy="660350"/>
          </a:xfrm>
          <a:prstGeom prst="roundRect">
            <a:avLst>
              <a:gd name="adj" fmla="val 7693"/>
            </a:avLst>
          </a:prstGeom>
          <a:solidFill>
            <a:srgbClr val="FFF1E5"/>
          </a:solidFill>
          <a:ln/>
        </p:spPr>
        <p:txBody>
          <a:bodyPr wrap="square" rtlCol="0" anchor="ctr"/>
          <a:lstStyle/>
          <a:p>
            <a:pPr indent="0" marL="0">
              <a:buNone/>
            </a:pPr>
            <a:endParaRPr lang="en-US" dirty="0"/>
          </a:p>
        </p:txBody>
      </p:sp>
      <p:sp>
        <p:nvSpPr>
          <p:cNvPr id="17" name="Text 13"/>
          <p:cNvSpPr/>
          <p:nvPr/>
        </p:nvSpPr>
        <p:spPr>
          <a:xfrm>
            <a:off x="7111901" y="3238500"/>
            <a:ext cx="1424839"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Waiting on others</a:t>
            </a:r>
            <a:endParaRPr lang="en-US" sz="1150" dirty="0"/>
          </a:p>
        </p:txBody>
      </p:sp>
      <p:sp>
        <p:nvSpPr>
          <p:cNvPr id="18" name="Text 14"/>
          <p:cNvSpPr/>
          <p:nvPr/>
        </p:nvSpPr>
        <p:spPr>
          <a:xfrm>
            <a:off x="507950" y="3962400"/>
            <a:ext cx="8290509" cy="419100"/>
          </a:xfrm>
          <a:prstGeom prst="rect">
            <a:avLst/>
          </a:prstGeom>
          <a:noFill/>
          <a:ln/>
        </p:spPr>
        <p:txBody>
          <a:bodyPr wrap="square" lIns="0" tIns="0" rIns="0" bIns="0" rtlCol="0" anchor="t"/>
          <a:lstStyle/>
          <a:p>
            <a:pPr algn="l" indent="0" marL="0">
              <a:buNone/>
            </a:pPr>
            <a:r>
              <a:rPr lang="en-US" sz="1400" dirty="0">
                <a:solidFill>
                  <a:srgbClr val="59636E"/>
                </a:solidFill>
                <a:latin typeface="Arial" pitchFamily="34" charset="0"/>
                <a:ea typeface="Arial" pitchFamily="34" charset="-122"/>
                <a:cs typeface="Arial" pitchFamily="34" charset="-120"/>
              </a:rPr>
              <a:t>Developers, project managers, analysts, and leaders all know this bar. The green part is the part you were hired for.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CHALLENGE</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Every role has work that waits</a:t>
            </a:r>
            <a:endParaRPr lang="en-US" sz="2400" dirty="0"/>
          </a:p>
        </p:txBody>
      </p:sp>
      <p:sp>
        <p:nvSpPr>
          <p:cNvPr id="8" name="Text 4"/>
          <p:cNvSpPr/>
          <p:nvPr/>
        </p:nvSpPr>
        <p:spPr>
          <a:xfrm>
            <a:off x="5079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711101" y="1727150"/>
            <a:ext cx="533400" cy="533400"/>
          </a:xfrm>
          <a:prstGeom prst="roundRect">
            <a:avLst>
              <a:gd name="adj" fmla="val 171429"/>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de-0969DA.png">    </p:cNvPr>
          <p:cNvPicPr>
            <a:picLocks noChangeAspect="1"/>
          </p:cNvPicPr>
          <p:nvPr/>
        </p:nvPicPr>
        <p:blipFill>
          <a:blip r:embed="rId3"/>
          <a:stretch>
            <a:fillRect/>
          </a:stretch>
        </p:blipFill>
        <p:spPr>
          <a:xfrm>
            <a:off x="844451" y="1860500"/>
            <a:ext cx="266700" cy="266700"/>
          </a:xfrm>
          <a:prstGeom prst="rect">
            <a:avLst/>
          </a:prstGeom>
        </p:spPr>
      </p:pic>
      <p:sp>
        <p:nvSpPr>
          <p:cNvPr id="11" name="Text 6"/>
          <p:cNvSpPr/>
          <p:nvPr/>
        </p:nvSpPr>
        <p:spPr>
          <a:xfrm>
            <a:off x="7111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Developers</a:t>
            </a:r>
            <a:endParaRPr lang="en-US" sz="1300" dirty="0"/>
          </a:p>
        </p:txBody>
      </p:sp>
      <p:sp>
        <p:nvSpPr>
          <p:cNvPr id="12" name="Text 7"/>
          <p:cNvSpPr/>
          <p:nvPr/>
        </p:nvSpPr>
        <p:spPr>
          <a:xfrm>
            <a:off x="711101" y="2743200"/>
            <a:ext cx="1580287" cy="379512"/>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Bugs and missing tests wait in the backlog.</a:t>
            </a:r>
            <a:endParaRPr lang="en-US" sz="1150" dirty="0"/>
          </a:p>
        </p:txBody>
      </p:sp>
      <p:sp>
        <p:nvSpPr>
          <p:cNvPr id="13" name="Text 8"/>
          <p:cNvSpPr/>
          <p:nvPr/>
        </p:nvSpPr>
        <p:spPr>
          <a:xfrm>
            <a:off x="25653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2768501" y="1727150"/>
            <a:ext cx="533400" cy="533400"/>
          </a:xfrm>
          <a:prstGeom prst="roundRect">
            <a:avLst>
              <a:gd name="adj" fmla="val 171429"/>
            </a:avLst>
          </a:prstGeom>
          <a:solidFill>
            <a:srgbClr val="FBEF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Project-8250DF.png">    </p:cNvPr>
          <p:cNvPicPr>
            <a:picLocks noChangeAspect="1"/>
          </p:cNvPicPr>
          <p:nvPr/>
        </p:nvPicPr>
        <p:blipFill>
          <a:blip r:embed="rId4"/>
          <a:stretch>
            <a:fillRect/>
          </a:stretch>
        </p:blipFill>
        <p:spPr>
          <a:xfrm>
            <a:off x="2901851" y="1860500"/>
            <a:ext cx="266700" cy="266700"/>
          </a:xfrm>
          <a:prstGeom prst="rect">
            <a:avLst/>
          </a:prstGeom>
        </p:spPr>
      </p:pic>
      <p:sp>
        <p:nvSpPr>
          <p:cNvPr id="16" name="Text 10"/>
          <p:cNvSpPr/>
          <p:nvPr/>
        </p:nvSpPr>
        <p:spPr>
          <a:xfrm>
            <a:off x="27685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Project managers</a:t>
            </a:r>
            <a:endParaRPr lang="en-US" sz="1300" dirty="0"/>
          </a:p>
        </p:txBody>
      </p:sp>
      <p:sp>
        <p:nvSpPr>
          <p:cNvPr id="17" name="Text 11"/>
          <p:cNvSpPr/>
          <p:nvPr/>
        </p:nvSpPr>
        <p:spPr>
          <a:xfrm>
            <a:off x="2768501" y="2743200"/>
            <a:ext cx="1580287" cy="569268"/>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Status reports get built by hand from email and meetings.</a:t>
            </a:r>
            <a:endParaRPr lang="en-US" sz="1150" dirty="0"/>
          </a:p>
        </p:txBody>
      </p:sp>
      <p:sp>
        <p:nvSpPr>
          <p:cNvPr id="18" name="Text 12"/>
          <p:cNvSpPr/>
          <p:nvPr/>
        </p:nvSpPr>
        <p:spPr>
          <a:xfrm>
            <a:off x="46227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9" name="Text 13"/>
          <p:cNvSpPr/>
          <p:nvPr/>
        </p:nvSpPr>
        <p:spPr>
          <a:xfrm>
            <a:off x="4825901" y="1727150"/>
            <a:ext cx="533400" cy="533400"/>
          </a:xfrm>
          <a:prstGeom prst="roundRect">
            <a:avLst>
              <a:gd name="adj" fmla="val 171429"/>
            </a:avLst>
          </a:prstGeom>
          <a:solidFill>
            <a:srgbClr val="DAFBE1"/>
          </a:solidFill>
          <a:ln/>
        </p:spPr>
        <p:txBody>
          <a:bodyPr wrap="square" rtlCol="0" anchor="ctr"/>
          <a:lstStyle/>
          <a:p>
            <a:pPr indent="0" marL="0">
              <a:buNone/>
            </a:pPr>
            <a:endParaRPr lang="en-US" dirty="0"/>
          </a:p>
        </p:txBody>
      </p:sp>
      <p:pic>
        <p:nvPicPr>
          <p:cNvPr id="20" name="Image 4" descr="/Users/danwahlin/.copilot/session-state/e7427b9a-9d65-4aa2-953c-14cedea46cbc/files/talkdeck/assets/icons/GoTable-1A7F37.png">    </p:cNvPr>
          <p:cNvPicPr>
            <a:picLocks noChangeAspect="1"/>
          </p:cNvPicPr>
          <p:nvPr/>
        </p:nvPicPr>
        <p:blipFill>
          <a:blip r:embed="rId5"/>
          <a:stretch>
            <a:fillRect/>
          </a:stretch>
        </p:blipFill>
        <p:spPr>
          <a:xfrm>
            <a:off x="4959251" y="1860500"/>
            <a:ext cx="266700" cy="266700"/>
          </a:xfrm>
          <a:prstGeom prst="rect">
            <a:avLst/>
          </a:prstGeom>
        </p:spPr>
      </p:pic>
      <p:sp>
        <p:nvSpPr>
          <p:cNvPr id="21" name="Text 14"/>
          <p:cNvSpPr/>
          <p:nvPr/>
        </p:nvSpPr>
        <p:spPr>
          <a:xfrm>
            <a:off x="48259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Business analysts</a:t>
            </a:r>
            <a:endParaRPr lang="en-US" sz="1300" dirty="0"/>
          </a:p>
        </p:txBody>
      </p:sp>
      <p:sp>
        <p:nvSpPr>
          <p:cNvPr id="22" name="Text 15"/>
          <p:cNvSpPr/>
          <p:nvPr/>
        </p:nvSpPr>
        <p:spPr>
          <a:xfrm>
            <a:off x="4825901" y="2743200"/>
            <a:ext cx="1580287" cy="569268"/>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Data moves between spreadsheets and systems by hand.</a:t>
            </a:r>
            <a:endParaRPr lang="en-US" sz="1150" dirty="0"/>
          </a:p>
        </p:txBody>
      </p:sp>
      <p:sp>
        <p:nvSpPr>
          <p:cNvPr id="23" name="Text 16"/>
          <p:cNvSpPr/>
          <p:nvPr/>
        </p:nvSpPr>
        <p:spPr>
          <a:xfrm>
            <a:off x="66801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4" name="Text 17"/>
          <p:cNvSpPr/>
          <p:nvPr/>
        </p:nvSpPr>
        <p:spPr>
          <a:xfrm>
            <a:off x="6883301" y="1727150"/>
            <a:ext cx="533400" cy="533400"/>
          </a:xfrm>
          <a:prstGeom prst="roundRect">
            <a:avLst>
              <a:gd name="adj" fmla="val 171429"/>
            </a:avLst>
          </a:prstGeom>
          <a:solidFill>
            <a:srgbClr val="FFF1E5"/>
          </a:solidFill>
          <a:ln/>
        </p:spPr>
        <p:txBody>
          <a:bodyPr wrap="square" rtlCol="0" anchor="ctr"/>
          <a:lstStyle/>
          <a:p>
            <a:pPr indent="0" marL="0">
              <a:buNone/>
            </a:pPr>
            <a:endParaRPr lang="en-US" dirty="0"/>
          </a:p>
        </p:txBody>
      </p:sp>
      <p:pic>
        <p:nvPicPr>
          <p:cNvPr id="25" name="Image 5" descr="/Users/danwahlin/.copilot/session-state/e7427b9a-9d65-4aa2-953c-14cedea46cbc/files/talkdeck/assets/icons/GoGraph-BC4C00.png">    </p:cNvPr>
          <p:cNvPicPr>
            <a:picLocks noChangeAspect="1"/>
          </p:cNvPicPr>
          <p:nvPr/>
        </p:nvPicPr>
        <p:blipFill>
          <a:blip r:embed="rId6"/>
          <a:stretch>
            <a:fillRect/>
          </a:stretch>
        </p:blipFill>
        <p:spPr>
          <a:xfrm>
            <a:off x="7016651" y="1860500"/>
            <a:ext cx="266700" cy="266700"/>
          </a:xfrm>
          <a:prstGeom prst="rect">
            <a:avLst/>
          </a:prstGeom>
        </p:spPr>
      </p:pic>
      <p:sp>
        <p:nvSpPr>
          <p:cNvPr id="26" name="Text 18"/>
          <p:cNvSpPr/>
          <p:nvPr/>
        </p:nvSpPr>
        <p:spPr>
          <a:xfrm>
            <a:off x="6883301" y="2438400"/>
            <a:ext cx="168396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Leaders</a:t>
            </a:r>
            <a:endParaRPr lang="en-US" sz="1300" dirty="0"/>
          </a:p>
        </p:txBody>
      </p:sp>
      <p:sp>
        <p:nvSpPr>
          <p:cNvPr id="27" name="Text 19"/>
          <p:cNvSpPr/>
          <p:nvPr/>
        </p:nvSpPr>
        <p:spPr>
          <a:xfrm>
            <a:off x="6883301" y="2743200"/>
            <a:ext cx="1580287" cy="379512"/>
          </a:xfrm>
          <a:prstGeom prst="rect">
            <a:avLst/>
          </a:prstGeom>
          <a:noFill/>
          <a:ln/>
        </p:spPr>
        <p:txBody>
          <a:bodyPr wrap="square" lIns="0" tIns="0" rIns="0" bIns="0" rtlCol="0" anchor="t"/>
          <a:lstStyle/>
          <a:p>
            <a:pPr algn="l" indent="0" marL="0">
              <a:lnSpc>
                <a:spcPts val="1495"/>
              </a:lnSpc>
              <a:buNone/>
            </a:pPr>
            <a:r>
              <a:rPr lang="en-US" sz="1150" dirty="0">
                <a:solidFill>
                  <a:srgbClr val="59636E"/>
                </a:solidFill>
                <a:latin typeface="Arial" pitchFamily="34" charset="0"/>
                <a:ea typeface="Arial" pitchFamily="34" charset="-122"/>
                <a:cs typeface="Arial" pitchFamily="34" charset="-120"/>
              </a:rPr>
              <a:t>Decisions wait on all of it.</a:t>
            </a:r>
            <a:endParaRPr lang="en-US" sz="1150" dirty="0"/>
          </a:p>
        </p:txBody>
      </p:sp>
      <p:sp>
        <p:nvSpPr>
          <p:cNvPr id="28" name="Text 20"/>
          <p:cNvSpPr/>
          <p:nvPr/>
        </p:nvSpPr>
        <p:spPr>
          <a:xfrm>
            <a:off x="507950" y="3936950"/>
            <a:ext cx="8108900" cy="660350"/>
          </a:xfrm>
          <a:prstGeom prst="roundRect">
            <a:avLst>
              <a:gd name="adj" fmla="val 15386"/>
            </a:avLst>
          </a:prstGeom>
          <a:solidFill>
            <a:srgbClr val="F6F8FA"/>
          </a:solidFill>
          <a:ln/>
        </p:spPr>
        <p:txBody>
          <a:bodyPr wrap="square" rtlCol="0" anchor="ctr"/>
          <a:lstStyle/>
          <a:p>
            <a:pPr indent="0" marL="0">
              <a:buNone/>
            </a:pPr>
            <a:endParaRPr lang="en-US" dirty="0"/>
          </a:p>
        </p:txBody>
      </p:sp>
      <p:sp>
        <p:nvSpPr>
          <p:cNvPr id="29" name="Shape 21"/>
          <p:cNvSpPr/>
          <p:nvPr/>
        </p:nvSpPr>
        <p:spPr>
          <a:xfrm>
            <a:off x="536525" y="3936950"/>
            <a:ext cx="0" cy="660350"/>
          </a:xfrm>
          <a:prstGeom prst="line">
            <a:avLst/>
          </a:prstGeom>
          <a:noFill/>
          <a:ln w="57150">
            <a:solidFill>
              <a:srgbClr val="1F2328"/>
            </a:solidFill>
            <a:prstDash val="solid"/>
          </a:ln>
        </p:spPr>
      </p:sp>
      <p:sp>
        <p:nvSpPr>
          <p:cNvPr id="30" name="Text 22"/>
          <p:cNvSpPr/>
          <p:nvPr/>
        </p:nvSpPr>
        <p:spPr>
          <a:xfrm>
            <a:off x="787301" y="4152900"/>
            <a:ext cx="7772400" cy="209550"/>
          </a:xfrm>
          <a:prstGeom prst="rect">
            <a:avLst/>
          </a:prstGeom>
          <a:noFill/>
          <a:ln/>
        </p:spPr>
        <p:txBody>
          <a:bodyPr wrap="square" lIns="0" tIns="0" rIns="0" bIns="0" rtlCol="0" anchor="t"/>
          <a:lstStyle/>
          <a:p>
            <a:pPr algn="l" indent="0" marL="0">
              <a:buNone/>
            </a:pPr>
            <a:r>
              <a:rPr lang="en-US" sz="1400" dirty="0">
                <a:solidFill>
                  <a:srgbClr val="1F2328"/>
                </a:solidFill>
                <a:latin typeface="Arial" pitchFamily="34" charset="0"/>
                <a:ea typeface="Arial" pitchFamily="34" charset="-122"/>
                <a:cs typeface="Arial" pitchFamily="34" charset="-120"/>
              </a:rPr>
              <a:t>A chat assistant helps with the answers. </a:t>
            </a:r>
            <a:pPr algn="l" indent="0" marL="0">
              <a:buNone/>
            </a:pPr>
            <a:r>
              <a:rPr lang="en-US" sz="1400" b="1" dirty="0">
                <a:solidFill>
                  <a:srgbClr val="1F2328"/>
                </a:solidFill>
                <a:latin typeface="Arial" pitchFamily="34" charset="0"/>
                <a:ea typeface="Arial" pitchFamily="34" charset="-122"/>
                <a:cs typeface="Arial" pitchFamily="34" charset="-120"/>
              </a:rPr>
              <a:t>The work still lands on you.</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IDEA</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Ideas need execution</a:t>
            </a:r>
            <a:endParaRPr lang="en-US" sz="2400" dirty="0"/>
          </a:p>
        </p:txBody>
      </p:sp>
      <p:sp>
        <p:nvSpPr>
          <p:cNvPr id="8" name="Text 4"/>
          <p:cNvSpPr/>
          <p:nvPr/>
        </p:nvSpPr>
        <p:spPr>
          <a:xfrm>
            <a:off x="762000" y="1498550"/>
            <a:ext cx="1905000" cy="1905000"/>
          </a:xfrm>
          <a:prstGeom prst="roundRect">
            <a:avLst>
              <a:gd name="adj" fmla="val 48000"/>
            </a:avLst>
          </a:prstGeom>
          <a:solidFill>
            <a:srgbClr val="FFF8C5"/>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icons/GoLightBulb-9A6700.png">    </p:cNvPr>
          <p:cNvPicPr>
            <a:picLocks noChangeAspect="1"/>
          </p:cNvPicPr>
          <p:nvPr/>
        </p:nvPicPr>
        <p:blipFill>
          <a:blip r:embed="rId3"/>
          <a:stretch>
            <a:fillRect/>
          </a:stretch>
        </p:blipFill>
        <p:spPr>
          <a:xfrm>
            <a:off x="1409700" y="1905000"/>
            <a:ext cx="609600" cy="609600"/>
          </a:xfrm>
          <a:prstGeom prst="rect">
            <a:avLst/>
          </a:prstGeom>
        </p:spPr>
      </p:pic>
      <p:sp>
        <p:nvSpPr>
          <p:cNvPr id="10" name="Text 5"/>
          <p:cNvSpPr/>
          <p:nvPr/>
        </p:nvSpPr>
        <p:spPr>
          <a:xfrm>
            <a:off x="742950" y="2667000"/>
            <a:ext cx="1943100" cy="219075"/>
          </a:xfrm>
          <a:prstGeom prst="rect">
            <a:avLst/>
          </a:prstGeom>
          <a:noFill/>
          <a:ln/>
        </p:spPr>
        <p:txBody>
          <a:bodyPr wrap="square" lIns="0" tIns="0" rIns="0" bIns="0" rtlCol="0" anchor="t"/>
          <a:lstStyle/>
          <a:p>
            <a:pPr algn="ctr" indent="0" marL="0">
              <a:buNone/>
            </a:pPr>
            <a:r>
              <a:rPr lang="en-US" sz="1500" b="1" dirty="0">
                <a:solidFill>
                  <a:srgbClr val="9A6700"/>
                </a:solidFill>
                <a:latin typeface="Arial" pitchFamily="34" charset="0"/>
                <a:ea typeface="Arial" pitchFamily="34" charset="-122"/>
                <a:cs typeface="Arial" pitchFamily="34" charset="-120"/>
              </a:rPr>
              <a:t>Your ideas</a:t>
            </a:r>
            <a:endParaRPr lang="en-US" sz="1500" dirty="0"/>
          </a:p>
        </p:txBody>
      </p:sp>
      <p:sp>
        <p:nvSpPr>
          <p:cNvPr id="11" name="Text 6"/>
          <p:cNvSpPr/>
          <p:nvPr/>
        </p:nvSpPr>
        <p:spPr>
          <a:xfrm>
            <a:off x="2722781" y="2133600"/>
            <a:ext cx="777240" cy="581025"/>
          </a:xfrm>
          <a:prstGeom prst="rect">
            <a:avLst/>
          </a:prstGeom>
          <a:noFill/>
          <a:ln/>
        </p:spPr>
        <p:txBody>
          <a:bodyPr wrap="square" lIns="0" tIns="0" rIns="0" bIns="0" rtlCol="0" anchor="t"/>
          <a:lstStyle/>
          <a:p>
            <a:pPr algn="ctr" indent="0" marL="0">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indent="0" marL="0">
              <a:buNone/>
            </a:pPr>
            <a:endParaRPr lang="en-US" dirty="0"/>
          </a:p>
        </p:txBody>
      </p:sp>
      <p:pic>
        <p:nvPicPr>
          <p:cNvPr id="13" name="Image 3" descr="/Users/danwahlin/.copilot/session-state/e7427b9a-9d65-4aa2-953c-14cedea46cbc/files/talkdeck/assets/icons/GoCopilot-0969DA.png">    </p:cNvPr>
          <p:cNvPicPr>
            <a:picLocks noChangeAspect="1"/>
          </p:cNvPicPr>
          <p:nvPr/>
        </p:nvPicPr>
        <p:blipFill>
          <a:blip r:embed="rId4"/>
          <a:stretch>
            <a:fillRect/>
          </a:stretch>
        </p:blipFill>
        <p:spPr>
          <a:xfrm>
            <a:off x="4267200" y="1905000"/>
            <a:ext cx="609600" cy="609600"/>
          </a:xfrm>
          <a:prstGeom prst="rect">
            <a:avLst/>
          </a:prstGeom>
        </p:spPr>
      </p:pic>
      <p:sp>
        <p:nvSpPr>
          <p:cNvPr id="14" name="Text 8"/>
          <p:cNvSpPr/>
          <p:nvPr/>
        </p:nvSpPr>
        <p:spPr>
          <a:xfrm>
            <a:off x="3600450" y="2667000"/>
            <a:ext cx="1943100" cy="438150"/>
          </a:xfrm>
          <a:prstGeom prst="rect">
            <a:avLst/>
          </a:prstGeom>
          <a:noFill/>
          <a:ln/>
        </p:spPr>
        <p:txBody>
          <a:bodyPr wrap="square" lIns="0" tIns="0" rIns="0" bIns="0" rtlCol="0" anchor="t"/>
          <a:lstStyle/>
          <a:p>
            <a:pPr algn="ctr" indent="0" marL="0">
              <a:buNone/>
            </a:pPr>
            <a:r>
              <a:rPr lang="en-US" sz="1500" b="1" dirty="0">
                <a:solidFill>
                  <a:srgbClr val="0969DA"/>
                </a:solidFill>
                <a:latin typeface="Arial" pitchFamily="34" charset="0"/>
                <a:ea typeface="Arial" pitchFamily="34" charset="-122"/>
                <a:cs typeface="Arial" pitchFamily="34" charset="-120"/>
              </a:rPr>
              <a:t>Agents that do the work</a:t>
            </a:r>
            <a:endParaRPr lang="en-US" sz="1500" dirty="0"/>
          </a:p>
        </p:txBody>
      </p:sp>
      <p:sp>
        <p:nvSpPr>
          <p:cNvPr id="15" name="Text 9"/>
          <p:cNvSpPr/>
          <p:nvPr/>
        </p:nvSpPr>
        <p:spPr>
          <a:xfrm>
            <a:off x="5580281" y="2133600"/>
            <a:ext cx="777240" cy="581025"/>
          </a:xfrm>
          <a:prstGeom prst="rect">
            <a:avLst/>
          </a:prstGeom>
          <a:noFill/>
          <a:ln/>
        </p:spPr>
        <p:txBody>
          <a:bodyPr wrap="square" lIns="0" tIns="0" rIns="0" bIns="0" rtlCol="0" anchor="t"/>
          <a:lstStyle/>
          <a:p>
            <a:pPr algn="ctr" indent="0" marL="0">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indent="0" marL="0">
              <a:buNone/>
            </a:pPr>
            <a:endParaRPr lang="en-US" dirty="0"/>
          </a:p>
        </p:txBody>
      </p:sp>
      <p:pic>
        <p:nvPicPr>
          <p:cNvPr id="17" name="Image 4" descr="/Users/danwahlin/.copilot/session-state/e7427b9a-9d65-4aa2-953c-14cedea46cbc/files/talkdeck/assets/icons/GoRocket-1A7F37.png">    </p:cNvPr>
          <p:cNvPicPr>
            <a:picLocks noChangeAspect="1"/>
          </p:cNvPicPr>
          <p:nvPr/>
        </p:nvPicPr>
        <p:blipFill>
          <a:blip r:embed="rId5"/>
          <a:stretch>
            <a:fillRect/>
          </a:stretch>
        </p:blipFill>
        <p:spPr>
          <a:xfrm>
            <a:off x="7124700" y="1905000"/>
            <a:ext cx="609600" cy="609600"/>
          </a:xfrm>
          <a:prstGeom prst="rect">
            <a:avLst/>
          </a:prstGeom>
        </p:spPr>
      </p:pic>
      <p:sp>
        <p:nvSpPr>
          <p:cNvPr id="18" name="Text 11"/>
          <p:cNvSpPr/>
          <p:nvPr/>
        </p:nvSpPr>
        <p:spPr>
          <a:xfrm>
            <a:off x="6457950" y="2667000"/>
            <a:ext cx="1943100" cy="219075"/>
          </a:xfrm>
          <a:prstGeom prst="rect">
            <a:avLst/>
          </a:prstGeom>
          <a:noFill/>
          <a:ln/>
        </p:spPr>
        <p:txBody>
          <a:bodyPr wrap="square" lIns="0" tIns="0" rIns="0" bIns="0" rtlCol="0" anchor="t"/>
          <a:lstStyle/>
          <a:p>
            <a:pPr algn="ctr" indent="0" marL="0">
              <a:buNone/>
            </a:pPr>
            <a:r>
              <a:rPr lang="en-US" sz="1500" b="1" dirty="0">
                <a:solidFill>
                  <a:srgbClr val="1A7F37"/>
                </a:solidFill>
                <a:latin typeface="Arial" pitchFamily="34" charset="0"/>
                <a:ea typeface="Arial" pitchFamily="34" charset="-122"/>
                <a:cs typeface="Arial" pitchFamily="34" charset="-120"/>
              </a:rPr>
              <a:t>Impact</a:t>
            </a:r>
            <a:endParaRPr lang="en-US" sz="1500" dirty="0"/>
          </a:p>
        </p:txBody>
      </p:sp>
      <p:sp>
        <p:nvSpPr>
          <p:cNvPr id="19" name="Text 12"/>
          <p:cNvSpPr/>
          <p:nvPr/>
        </p:nvSpPr>
        <p:spPr>
          <a:xfrm>
            <a:off x="426671" y="3810000"/>
            <a:ext cx="8290509" cy="238125"/>
          </a:xfrm>
          <a:prstGeom prst="rect">
            <a:avLst/>
          </a:prstGeom>
          <a:noFill/>
          <a:ln/>
        </p:spPr>
        <p:txBody>
          <a:bodyPr wrap="square" lIns="0" tIns="0" rIns="0" bIns="0" rtlCol="0" anchor="t"/>
          <a:lstStyle/>
          <a:p>
            <a:pPr algn="ctr" indent="0" marL="0">
              <a:buNone/>
            </a:pPr>
            <a:r>
              <a:rPr lang="en-US" sz="1600" dirty="0">
                <a:solidFill>
                  <a:srgbClr val="1F2328"/>
                </a:solidFill>
                <a:latin typeface="Arial" pitchFamily="34" charset="0"/>
                <a:ea typeface="Arial" pitchFamily="34" charset="-122"/>
                <a:cs typeface="Arial" pitchFamily="34" charset="-120"/>
              </a:rPr>
              <a:t>You bring the idea and the judgment. Agents do the steps.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8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pic>
        <p:nvPicPr>
          <p:cNvPr id="7" name="Image 2" descr="/Users/danwahlin/.copilot/session-state/e7427b9a-9d65-4aa2-953c-14cedea46cbc/files/talkdeck/assets/icons/GoQuote-0969DA.png">    </p:cNvPr>
          <p:cNvPicPr>
            <a:picLocks noChangeAspect="1"/>
          </p:cNvPicPr>
          <p:nvPr/>
        </p:nvPicPr>
        <p:blipFill>
          <a:blip r:embed="rId3"/>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algn="l" indent="0" marL="0">
              <a:lnSpc>
                <a:spcPts val="4080"/>
              </a:lnSpc>
              <a:buNone/>
            </a:pPr>
            <a:r>
              <a:rPr lang="en-US" sz="3400" b="1" dirty="0">
                <a:solidFill>
                  <a:srgbClr val="1F2328"/>
                </a:solidFill>
                <a:latin typeface="Arial" pitchFamily="34" charset="0"/>
                <a:ea typeface="Arial" pitchFamily="34" charset="-122"/>
                <a:cs typeface="Arial" pitchFamily="34" charset="-120"/>
              </a:rPr>
              <a:t>“Ideas are just a multiplier of execution.”</a:t>
            </a:r>
            <a:endParaRPr lang="en-US" sz="3400" dirty="0"/>
          </a:p>
        </p:txBody>
      </p:sp>
      <p:sp>
        <p:nvSpPr>
          <p:cNvPr id="9" name="Text 4"/>
          <p:cNvSpPr/>
          <p:nvPr/>
        </p:nvSpPr>
        <p:spPr>
          <a:xfrm>
            <a:off x="888950" y="3403550"/>
            <a:ext cx="609600" cy="50750"/>
          </a:xfrm>
          <a:prstGeom prst="rect">
            <a:avLst/>
          </a:prstGeom>
          <a:solidFill>
            <a:srgbClr val="0969DA"/>
          </a:solidFill>
          <a:ln/>
        </p:spPr>
        <p:txBody>
          <a:bodyPr wrap="square" rtlCol="0" anchor="ctr"/>
          <a:lstStyle/>
          <a:p>
            <a:pPr indent="0" marL="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Derek Sivers</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Entrepreneur and author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THE GITHUB COPILOT APP</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One desktop workspace for many agents</a:t>
            </a:r>
            <a:endParaRPr lang="en-US" sz="2400" dirty="0"/>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icons/GoTasklist-0969DA.png">    </p:cNvPr>
          <p:cNvPicPr>
            <a:picLocks noChangeAspect="1"/>
          </p:cNvPicPr>
          <p:nvPr/>
        </p:nvPicPr>
        <p:blipFill>
          <a:blip r:embed="rId3"/>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Hand off a task</a:t>
            </a:r>
            <a:endParaRPr lang="en-US" sz="1500" dirty="0"/>
          </a:p>
        </p:txBody>
      </p:sp>
      <p:sp>
        <p:nvSpPr>
          <p:cNvPr id="11" name="Text 6"/>
          <p:cNvSpPr/>
          <p:nvPr/>
        </p:nvSpPr>
        <p:spPr>
          <a:xfrm>
            <a:off x="1244501" y="1943100"/>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Describe the outcome you want.</a:t>
            </a:r>
            <a:endParaRPr lang="en-US" sz="1150" dirty="0"/>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indent="0" marL="0">
              <a:buNone/>
            </a:pPr>
            <a:endParaRPr lang="en-US" dirty="0"/>
          </a:p>
        </p:txBody>
      </p:sp>
      <p:pic>
        <p:nvPicPr>
          <p:cNvPr id="13" name="Image 3" descr="/Users/danwahlin/.copilot/session-state/e7427b9a-9d65-4aa2-953c-14cedea46cbc/files/talkdeck/assets/icons/GoStack-8250DF.png">    </p:cNvPr>
          <p:cNvPicPr>
            <a:picLocks noChangeAspect="1"/>
          </p:cNvPicPr>
          <p:nvPr/>
        </p:nvPicPr>
        <p:blipFill>
          <a:blip r:embed="rId4"/>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Run several at once</a:t>
            </a:r>
            <a:endParaRPr lang="en-US" sz="1500" dirty="0"/>
          </a:p>
        </p:txBody>
      </p:sp>
      <p:sp>
        <p:nvSpPr>
          <p:cNvPr id="15" name="Text 9"/>
          <p:cNvSpPr/>
          <p:nvPr/>
        </p:nvSpPr>
        <p:spPr>
          <a:xfrm>
            <a:off x="1244501" y="2908250"/>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Each agent has its own session.</a:t>
            </a:r>
            <a:endParaRPr lang="en-US" sz="1150" dirty="0"/>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indent="0" marL="0">
              <a:buNone/>
            </a:pPr>
            <a:endParaRPr lang="en-US" dirty="0"/>
          </a:p>
        </p:txBody>
      </p:sp>
      <p:pic>
        <p:nvPicPr>
          <p:cNvPr id="17" name="Image 4" descr="/Users/danwahlin/.copilot/session-state/e7427b9a-9d65-4aa2-953c-14cedea46cbc/files/talkdeck/assets/icons/GoEye-1A7F37.png">    </p:cNvPr>
          <p:cNvPicPr>
            <a:picLocks noChangeAspect="1"/>
          </p:cNvPicPr>
          <p:nvPr/>
        </p:nvPicPr>
        <p:blipFill>
          <a:blip r:embed="rId5"/>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 the results</a:t>
            </a:r>
            <a:endParaRPr lang="en-US" sz="1500" dirty="0"/>
          </a:p>
        </p:txBody>
      </p:sp>
      <p:sp>
        <p:nvSpPr>
          <p:cNvPr id="19" name="Text 12"/>
          <p:cNvSpPr/>
          <p:nvPr/>
        </p:nvSpPr>
        <p:spPr>
          <a:xfrm>
            <a:off x="1244501" y="3873401"/>
            <a:ext cx="2849829" cy="171450"/>
          </a:xfrm>
          <a:prstGeom prst="rect">
            <a:avLst/>
          </a:prstGeom>
          <a:noFill/>
          <a:ln/>
        </p:spPr>
        <p:txBody>
          <a:bodyPr wrap="square" lIns="0" tIns="0" rIns="0" bIns="0" rtlCol="0" anchor="t"/>
          <a:lstStyle/>
          <a:p>
            <a:pPr algn="l" indent="0" marL="0">
              <a:buNone/>
            </a:pPr>
            <a:r>
              <a:rPr lang="en-US" sz="1150" dirty="0">
                <a:solidFill>
                  <a:srgbClr val="59636E"/>
                </a:solidFill>
                <a:latin typeface="Arial" pitchFamily="34" charset="0"/>
                <a:ea typeface="Arial" pitchFamily="34" charset="-122"/>
                <a:cs typeface="Arial" pitchFamily="34" charset="-120"/>
              </a:rPr>
              <a:t>Accept only what you trust.</a:t>
            </a:r>
            <a:endParaRPr lang="en-US" sz="1150" dirty="0"/>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sx="100000" sy="100000" kx="0" ky="0" algn="bl" rotWithShape="0" blurRad="171450" dist="57150" dir="5400000">
              <a:srgbClr val="1f2328">
                <a:alpha val="12000"/>
              </a:srgbClr>
            </a:outerShdw>
          </a:effectLst>
        </p:spPr>
        <p:txBody>
          <a:bodyPr wrap="square" rtlCol="0" anchor="ctr"/>
          <a:lstStyle/>
          <a:p>
            <a:pPr indent="0" marL="0">
              <a:buNone/>
            </a:pPr>
            <a:endParaRPr lang="en-US" dirty="0"/>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indent="0" marL="0">
              <a:buNone/>
            </a:pPr>
            <a:endParaRPr lang="en-US" dirty="0"/>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indent="0" marL="0">
              <a:buNone/>
            </a:pPr>
            <a:endParaRPr lang="en-US" dirty="0"/>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indent="0" marL="0">
              <a:buNone/>
            </a:pPr>
            <a:endParaRPr lang="en-US" dirty="0"/>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indent="0" marL="0">
              <a:buNone/>
            </a:pPr>
            <a:endParaRPr lang="en-US" dirty="0"/>
          </a:p>
        </p:txBody>
      </p:sp>
      <p:sp>
        <p:nvSpPr>
          <p:cNvPr id="25" name="Text 18"/>
          <p:cNvSpPr/>
          <p:nvPr/>
        </p:nvSpPr>
        <p:spPr>
          <a:xfrm>
            <a:off x="5079950" y="1587401"/>
            <a:ext cx="2590699" cy="114300"/>
          </a:xfrm>
          <a:prstGeom prst="rect">
            <a:avLst/>
          </a:prstGeom>
          <a:noFill/>
          <a:ln/>
        </p:spPr>
        <p:txBody>
          <a:bodyPr wrap="square" lIns="0" tIns="0" rIns="0" bIns="0" rtlCol="0" anchor="t"/>
          <a:lstStyle/>
          <a:p>
            <a:pPr algn="l" indent="0" marL="0">
              <a:buNone/>
            </a:pPr>
            <a:r>
              <a:rPr lang="en-US" sz="800" dirty="0">
                <a:solidFill>
                  <a:srgbClr val="59636E"/>
                </a:solidFill>
                <a:latin typeface="Arial" pitchFamily="34" charset="0"/>
                <a:ea typeface="Arial" pitchFamily="34" charset="-122"/>
                <a:cs typeface="Arial" pitchFamily="34" charset="-120"/>
              </a:rPr>
              <a:t>GitHub Copilot app</a:t>
            </a:r>
            <a:endParaRPr lang="en-US" sz="800" dirty="0"/>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indent="0" marL="0">
              <a:buNone/>
            </a:pPr>
            <a:endParaRPr lang="en-US" dirty="0"/>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indent="0" marL="0">
              <a:buNone/>
            </a:pPr>
            <a:endParaRPr lang="en-US" dirty="0"/>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29" name="Text 22"/>
          <p:cNvSpPr/>
          <p:nvPr/>
        </p:nvSpPr>
        <p:spPr>
          <a:xfrm>
            <a:off x="4737050" y="198120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Housing website</a:t>
            </a:r>
            <a:endParaRPr lang="en-US" sz="850" dirty="0"/>
          </a:p>
        </p:txBody>
      </p:sp>
      <p:sp>
        <p:nvSpPr>
          <p:cNvPr id="30" name="Text 23"/>
          <p:cNvSpPr/>
          <p:nvPr/>
        </p:nvSpPr>
        <p:spPr>
          <a:xfrm>
            <a:off x="4737050" y="2120801"/>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33" name="Text 26"/>
          <p:cNvSpPr/>
          <p:nvPr/>
        </p:nvSpPr>
        <p:spPr>
          <a:xfrm>
            <a:off x="4737050" y="241295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Excel analysis</a:t>
            </a:r>
            <a:endParaRPr lang="en-US" sz="850" dirty="0"/>
          </a:p>
        </p:txBody>
      </p:sp>
      <p:sp>
        <p:nvSpPr>
          <p:cNvPr id="34" name="Text 27"/>
          <p:cNvSpPr/>
          <p:nvPr/>
        </p:nvSpPr>
        <p:spPr>
          <a:xfrm>
            <a:off x="4737050" y="2552700"/>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indent="0" marL="0">
              <a:buNone/>
            </a:pPr>
            <a:endParaRPr lang="en-US" dirty="0"/>
          </a:p>
        </p:txBody>
      </p:sp>
      <p:sp>
        <p:nvSpPr>
          <p:cNvPr id="37" name="Text 30"/>
          <p:cNvSpPr/>
          <p:nvPr/>
        </p:nvSpPr>
        <p:spPr>
          <a:xfrm>
            <a:off x="4737050" y="2844701"/>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PowerPoint briefing</a:t>
            </a:r>
            <a:endParaRPr lang="en-US" sz="850" dirty="0"/>
          </a:p>
        </p:txBody>
      </p:sp>
      <p:sp>
        <p:nvSpPr>
          <p:cNvPr id="38" name="Text 31"/>
          <p:cNvSpPr/>
          <p:nvPr/>
        </p:nvSpPr>
        <p:spPr>
          <a:xfrm>
            <a:off x="4737050" y="2984450"/>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indent="0" marL="0">
              <a:buNone/>
            </a:pPr>
            <a:endParaRPr lang="en-US" dirty="0"/>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indent="0" marL="0">
              <a:buNone/>
            </a:pPr>
            <a:endParaRPr lang="en-US" dirty="0"/>
          </a:p>
        </p:txBody>
      </p:sp>
      <p:sp>
        <p:nvSpPr>
          <p:cNvPr id="41" name="Text 34"/>
          <p:cNvSpPr/>
          <p:nvPr/>
        </p:nvSpPr>
        <p:spPr>
          <a:xfrm>
            <a:off x="4737050" y="3276600"/>
            <a:ext cx="1230529" cy="114300"/>
          </a:xfrm>
          <a:prstGeom prst="rect">
            <a:avLst/>
          </a:prstGeom>
          <a:noFill/>
          <a:ln/>
        </p:spPr>
        <p:txBody>
          <a:bodyPr wrap="square" lIns="0" tIns="0" rIns="0" bIns="0" rtlCol="0" anchor="t"/>
          <a:lstStyle/>
          <a:p>
            <a:pPr algn="l" indent="0" marL="0">
              <a:buNone/>
            </a:pPr>
            <a:r>
              <a:rPr lang="en-US" sz="850" b="1" dirty="0">
                <a:solidFill>
                  <a:srgbClr val="1F2328"/>
                </a:solidFill>
                <a:latin typeface="Arial" pitchFamily="34" charset="0"/>
                <a:ea typeface="Arial" pitchFamily="34" charset="-122"/>
                <a:cs typeface="Arial" pitchFamily="34" charset="-120"/>
              </a:rPr>
              <a:t>WorkIQ session brief</a:t>
            </a:r>
            <a:endParaRPr lang="en-US" sz="850" dirty="0"/>
          </a:p>
        </p:txBody>
      </p:sp>
      <p:sp>
        <p:nvSpPr>
          <p:cNvPr id="42" name="Text 35"/>
          <p:cNvSpPr/>
          <p:nvPr/>
        </p:nvSpPr>
        <p:spPr>
          <a:xfrm>
            <a:off x="4737050" y="3416201"/>
            <a:ext cx="123052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Done</a:t>
            </a:r>
            <a:endParaRPr lang="en-US" sz="750" dirty="0"/>
          </a:p>
        </p:txBody>
      </p:sp>
      <p:sp>
        <p:nvSpPr>
          <p:cNvPr id="43" name="Text 36"/>
          <p:cNvSpPr/>
          <p:nvPr/>
        </p:nvSpPr>
        <p:spPr>
          <a:xfrm>
            <a:off x="6121301" y="1955750"/>
            <a:ext cx="2461209" cy="142875"/>
          </a:xfrm>
          <a:prstGeom prst="rect">
            <a:avLst/>
          </a:prstGeom>
          <a:noFill/>
          <a:ln/>
        </p:spPr>
        <p:txBody>
          <a:bodyPr wrap="square" lIns="0" tIns="0" rIns="0" bIns="0" rtlCol="0" anchor="t"/>
          <a:lstStyle/>
          <a:p>
            <a:pPr algn="l" indent="0" marL="0">
              <a:buNone/>
            </a:pPr>
            <a:r>
              <a:rPr lang="en-US" sz="1000" b="1" dirty="0">
                <a:solidFill>
                  <a:srgbClr val="1F2328"/>
                </a:solidFill>
                <a:latin typeface="Arial" pitchFamily="34" charset="0"/>
                <a:ea typeface="Arial" pitchFamily="34" charset="-122"/>
                <a:cs typeface="Arial" pitchFamily="34" charset="-120"/>
              </a:rPr>
              <a:t>Housing website</a:t>
            </a:r>
            <a:endParaRPr lang="en-US" sz="1000" dirty="0"/>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indent="0" marL="0">
              <a:buNone/>
            </a:pPr>
            <a:endParaRPr lang="en-US" dirty="0"/>
          </a:p>
        </p:txBody>
      </p:sp>
      <p:sp>
        <p:nvSpPr>
          <p:cNvPr id="45" name="Text 38"/>
          <p:cNvSpPr/>
          <p:nvPr/>
        </p:nvSpPr>
        <p:spPr>
          <a:xfrm>
            <a:off x="6222950" y="2260550"/>
            <a:ext cx="2228037" cy="264021"/>
          </a:xfrm>
          <a:prstGeom prst="rect">
            <a:avLst/>
          </a:prstGeom>
          <a:noFill/>
          <a:ln/>
        </p:spPr>
        <p:txBody>
          <a:bodyPr wrap="square" lIns="0" tIns="0" rIns="0" bIns="0" rtlCol="0" anchor="t"/>
          <a:lstStyle/>
          <a:p>
            <a:pPr algn="l" indent="0" marL="0">
              <a:lnSpc>
                <a:spcPts val="1040"/>
              </a:lnSpc>
              <a:buNone/>
            </a:pPr>
            <a:r>
              <a:rPr lang="en-US" sz="800" dirty="0">
                <a:solidFill>
                  <a:srgbClr val="1F2328"/>
                </a:solidFill>
                <a:latin typeface="Arial" pitchFamily="34" charset="0"/>
                <a:ea typeface="Arial" pitchFamily="34" charset="-122"/>
                <a:cs typeface="Arial" pitchFamily="34" charset="-120"/>
              </a:rPr>
              <a:t>Plan approved. Tests pass. Build done. Deploying to Azure Static Web Apps.</a:t>
            </a:r>
            <a:endParaRPr lang="en-US" sz="800" dirty="0"/>
          </a:p>
        </p:txBody>
      </p:sp>
      <p:sp>
        <p:nvSpPr>
          <p:cNvPr id="46" name="Text 39"/>
          <p:cNvSpPr/>
          <p:nvPr/>
        </p:nvSpPr>
        <p:spPr>
          <a:xfrm>
            <a:off x="6121301" y="3174950"/>
            <a:ext cx="481310"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47" name="Text 40"/>
          <p:cNvSpPr/>
          <p:nvPr/>
        </p:nvSpPr>
        <p:spPr>
          <a:xfrm>
            <a:off x="6116678" y="3225701"/>
            <a:ext cx="471505"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Plan</a:t>
            </a:r>
            <a:endParaRPr lang="en-US" sz="750" dirty="0"/>
          </a:p>
        </p:txBody>
      </p:sp>
      <p:sp>
        <p:nvSpPr>
          <p:cNvPr id="48" name="Text 41"/>
          <p:cNvSpPr/>
          <p:nvPr/>
        </p:nvSpPr>
        <p:spPr>
          <a:xfrm>
            <a:off x="6659761" y="3174950"/>
            <a:ext cx="77331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49" name="Text 42"/>
          <p:cNvSpPr/>
          <p:nvPr/>
        </p:nvSpPr>
        <p:spPr>
          <a:xfrm>
            <a:off x="6652218" y="3225701"/>
            <a:ext cx="769346"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Autopilot</a:t>
            </a:r>
            <a:endParaRPr lang="en-US" sz="750" dirty="0"/>
          </a:p>
        </p:txBody>
      </p:sp>
      <p:sp>
        <p:nvSpPr>
          <p:cNvPr id="50" name="Text 43"/>
          <p:cNvSpPr/>
          <p:nvPr/>
        </p:nvSpPr>
        <p:spPr>
          <a:xfrm>
            <a:off x="7490371" y="3174950"/>
            <a:ext cx="77331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1" name="Text 44"/>
          <p:cNvSpPr/>
          <p:nvPr/>
        </p:nvSpPr>
        <p:spPr>
          <a:xfrm>
            <a:off x="7482828" y="3225701"/>
            <a:ext cx="769346"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Worktrees</a:t>
            </a:r>
            <a:endParaRPr lang="en-US" sz="750" dirty="0"/>
          </a:p>
        </p:txBody>
      </p:sp>
      <p:sp>
        <p:nvSpPr>
          <p:cNvPr id="52" name="Text 45"/>
          <p:cNvSpPr/>
          <p:nvPr/>
        </p:nvSpPr>
        <p:spPr>
          <a:xfrm>
            <a:off x="6121301" y="3479750"/>
            <a:ext cx="1123950"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3" name="Text 46"/>
          <p:cNvSpPr/>
          <p:nvPr/>
        </p:nvSpPr>
        <p:spPr>
          <a:xfrm>
            <a:off x="6110252" y="3530501"/>
            <a:ext cx="1126998"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Browser preview</a:t>
            </a:r>
            <a:endParaRPr lang="en-US" sz="750" dirty="0"/>
          </a:p>
        </p:txBody>
      </p:sp>
      <p:sp>
        <p:nvSpPr>
          <p:cNvPr id="54" name="Text 47"/>
          <p:cNvSpPr/>
          <p:nvPr/>
        </p:nvSpPr>
        <p:spPr>
          <a:xfrm>
            <a:off x="7302401" y="3479750"/>
            <a:ext cx="106546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5" name="Text 48"/>
          <p:cNvSpPr/>
          <p:nvPr/>
        </p:nvSpPr>
        <p:spPr>
          <a:xfrm>
            <a:off x="7291937" y="3530501"/>
            <a:ext cx="1067339"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MCP and WorkIQ</a:t>
            </a:r>
            <a:endParaRPr lang="en-US" sz="750" dirty="0"/>
          </a:p>
        </p:txBody>
      </p:sp>
      <p:sp>
        <p:nvSpPr>
          <p:cNvPr id="56" name="Text 49"/>
          <p:cNvSpPr/>
          <p:nvPr/>
        </p:nvSpPr>
        <p:spPr>
          <a:xfrm>
            <a:off x="6121301" y="3784550"/>
            <a:ext cx="890141" cy="247650"/>
          </a:xfrm>
          <a:prstGeom prst="roundRect">
            <a:avLst>
              <a:gd name="adj" fmla="val 46154"/>
            </a:avLst>
          </a:prstGeom>
          <a:solidFill>
            <a:srgbClr val="F6F8FA"/>
          </a:solidFill>
          <a:ln w="9525">
            <a:solidFill>
              <a:srgbClr val="D0D7DE"/>
            </a:solidFill>
          </a:ln>
        </p:spPr>
        <p:txBody>
          <a:bodyPr wrap="square" rtlCol="0" anchor="ctr"/>
          <a:lstStyle/>
          <a:p>
            <a:pPr indent="0" marL="0">
              <a:buNone/>
            </a:pPr>
            <a:endParaRPr lang="en-US" dirty="0"/>
          </a:p>
        </p:txBody>
      </p:sp>
      <p:sp>
        <p:nvSpPr>
          <p:cNvPr id="57" name="Text 50"/>
          <p:cNvSpPr/>
          <p:nvPr/>
        </p:nvSpPr>
        <p:spPr>
          <a:xfrm>
            <a:off x="6112590" y="3835301"/>
            <a:ext cx="888513" cy="104775"/>
          </a:xfrm>
          <a:prstGeom prst="rect">
            <a:avLst/>
          </a:prstGeom>
          <a:noFill/>
          <a:ln/>
        </p:spPr>
        <p:txBody>
          <a:bodyPr wrap="square" lIns="0" tIns="0" rIns="0" bIns="0" rtlCol="0" anchor="t"/>
          <a:lstStyle/>
          <a:p>
            <a:pPr algn="ctr" indent="0" marL="0">
              <a:buNone/>
            </a:pPr>
            <a:r>
              <a:rPr lang="en-US" sz="750" b="1" dirty="0">
                <a:solidFill>
                  <a:srgbClr val="1F2328"/>
                </a:solidFill>
                <a:latin typeface="Arial" pitchFamily="34" charset="0"/>
                <a:ea typeface="Arial" pitchFamily="34" charset="-122"/>
                <a:cs typeface="Arial" pitchFamily="34" charset="-120"/>
              </a:rPr>
              <a:t>Automations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orchestra" descr="/Users/danwahlin/.copilot/session-state/e7427b9a-9d65-4aa2-953c-14cedea46cbc/files/talkdeck/assets/orchestra-base.png">    </p:cNvPr>
          <p:cNvPicPr>
            <a:picLocks noChangeAspect="1"/>
          </p:cNvPicPr>
          <p:nvPr/>
        </p:nvPicPr>
        <p:blipFill>
          <a:blip r:embed="rId1"/>
          <a:stretch>
            <a:fillRect/>
          </a:stretch>
        </p:blipFill>
        <p:spPr>
          <a:xfrm>
            <a:off x="939701" y="990600"/>
            <a:ext cx="7251650" cy="4152900"/>
          </a:xfrm>
          <a:prstGeom prst="rect">
            <a:avLst/>
          </a:prstGeom>
        </p:spPr>
      </p:pic>
      <p:pic>
        <p:nvPicPr>
          <p:cNvPr id="3" name="Image 1" descr="/Users/danwahlin/.copilot/session-state/e7427b9a-9d65-4aa2-953c-14cedea46cbc/files/talkdeck/assets/corner.png">    </p:cNvPr>
          <p:cNvPicPr>
            <a:picLocks noChangeAspect="1"/>
          </p:cNvPicPr>
          <p:nvPr/>
        </p:nvPicPr>
        <p:blipFill>
          <a:blip r:embed="rId2"/>
          <a:stretch>
            <a:fillRect/>
          </a:stretch>
        </p:blipFill>
        <p:spPr>
          <a:xfrm>
            <a:off x="6349901" y="0"/>
            <a:ext cx="2793950" cy="1308050"/>
          </a:xfrm>
          <a:prstGeom prst="rect">
            <a:avLst/>
          </a:prstGeom>
        </p:spPr>
      </p:pic>
      <p:sp>
        <p:nvSpPr>
          <p:cNvPr id="4"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5"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6" name="Image 2" descr="/Users/danwahlin/.copilot/session-state/e7427b9a-9d65-4aa2-953c-14cedea46cbc/files/talkdeck/assets/mark-dark.png">    </p:cNvPr>
          <p:cNvPicPr>
            <a:picLocks noChangeAspect="1"/>
          </p:cNvPicPr>
          <p:nvPr/>
        </p:nvPicPr>
        <p:blipFill>
          <a:blip r:embed="rId3"/>
          <a:stretch>
            <a:fillRect/>
          </a:stretch>
        </p:blipFill>
        <p:spPr>
          <a:xfrm>
            <a:off x="8610600" y="165050"/>
            <a:ext cx="304800" cy="304800"/>
          </a:xfrm>
          <a:prstGeom prst="rect">
            <a:avLst/>
          </a:prstGeom>
        </p:spPr>
      </p:pic>
      <p:sp>
        <p:nvSpPr>
          <p:cNvPr id="7" name="!!eyebrow"/>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ORCHESTRATE YOUR WORK</a:t>
            </a:r>
            <a:endParaRPr lang="en-US" sz="950" dirty="0"/>
          </a:p>
        </p:txBody>
      </p:sp>
      <p:sp>
        <p:nvSpPr>
          <p:cNvPr id="8" name="!!title"/>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You are the conductor</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orchestra" descr="/Users/danwahlin/.copilot/session-state/e7427b9a-9d65-4aa2-953c-14cedea46cbc/files/talkdeck/assets/orchestra-base.png">    </p:cNvPr>
          <p:cNvPicPr>
            <a:picLocks noChangeAspect="1"/>
          </p:cNvPicPr>
          <p:nvPr/>
        </p:nvPicPr>
        <p:blipFill>
          <a:blip r:embed="rId1"/>
          <a:stretch>
            <a:fillRect/>
          </a:stretch>
        </p:blipFill>
        <p:spPr>
          <a:xfrm>
            <a:off x="939701" y="990600"/>
            <a:ext cx="7251650" cy="4152900"/>
          </a:xfrm>
          <a:prstGeom prst="rect">
            <a:avLst/>
          </a:prstGeom>
        </p:spPr>
      </p:pic>
      <p:pic>
        <p:nvPicPr>
          <p:cNvPr id="3" name="!!spotlight" descr="/Users/danwahlin/.copilot/session-state/e7427b9a-9d65-4aa2-953c-14cedea46cbc/files/talkdeck/assets/orchestra-overlay.png">    </p:cNvPr>
          <p:cNvPicPr>
            <a:picLocks noChangeAspect="1"/>
          </p:cNvPicPr>
          <p:nvPr/>
        </p:nvPicPr>
        <p:blipFill>
          <a:blip r:embed="rId2"/>
          <a:stretch>
            <a:fillRect/>
          </a:stretch>
        </p:blipFill>
        <p:spPr>
          <a:xfrm>
            <a:off x="939701" y="990600"/>
            <a:ext cx="7251650" cy="4152900"/>
          </a:xfrm>
          <a:prstGeom prst="rect">
            <a:avLst/>
          </a:prstGeom>
        </p:spPr>
      </p:pic>
      <p:sp>
        <p:nvSpPr>
          <p:cNvPr id="4" name="Text 0"/>
          <p:cNvSpPr/>
          <p:nvPr/>
        </p:nvSpPr>
        <p:spPr>
          <a:xfrm>
            <a:off x="1259979" y="2085677"/>
            <a:ext cx="1625501" cy="406301"/>
          </a:xfrm>
          <a:prstGeom prst="roundRect">
            <a:avLst>
              <a:gd name="adj" fmla="val 18755"/>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5" name="Text 1"/>
          <p:cNvSpPr/>
          <p:nvPr/>
        </p:nvSpPr>
        <p:spPr>
          <a:xfrm>
            <a:off x="1259979" y="2085677"/>
            <a:ext cx="63401" cy="406301"/>
          </a:xfrm>
          <a:prstGeom prst="rect">
            <a:avLst/>
          </a:prstGeom>
          <a:solidFill>
            <a:srgbClr val="8250DF"/>
          </a:solidFill>
          <a:ln/>
        </p:spPr>
        <p:txBody>
          <a:bodyPr wrap="square" rtlCol="0" anchor="ctr"/>
          <a:lstStyle/>
          <a:p>
            <a:pPr indent="0" marL="0">
              <a:buNone/>
            </a:pPr>
            <a:endParaRPr lang="en-US" dirty="0"/>
          </a:p>
        </p:txBody>
      </p:sp>
      <p:sp>
        <p:nvSpPr>
          <p:cNvPr id="6" name="Text 2"/>
          <p:cNvSpPr/>
          <p:nvPr/>
        </p:nvSpPr>
        <p:spPr>
          <a:xfrm>
            <a:off x="1412379" y="2136428"/>
            <a:ext cx="1450797"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WorkIQ session brief</a:t>
            </a:r>
            <a:endParaRPr lang="en-US" sz="950" dirty="0"/>
          </a:p>
        </p:txBody>
      </p:sp>
      <p:sp>
        <p:nvSpPr>
          <p:cNvPr id="7" name="Text 3"/>
          <p:cNvSpPr/>
          <p:nvPr/>
        </p:nvSpPr>
        <p:spPr>
          <a:xfrm>
            <a:off x="1412379" y="2301627"/>
            <a:ext cx="1450797"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Project managers</a:t>
            </a:r>
            <a:endParaRPr lang="en-US" sz="750" dirty="0"/>
          </a:p>
        </p:txBody>
      </p:sp>
      <p:sp>
        <p:nvSpPr>
          <p:cNvPr id="8" name="Text 4"/>
          <p:cNvSpPr/>
          <p:nvPr/>
        </p:nvSpPr>
        <p:spPr>
          <a:xfrm>
            <a:off x="5698034" y="2038499"/>
            <a:ext cx="1625501" cy="406301"/>
          </a:xfrm>
          <a:prstGeom prst="roundRect">
            <a:avLst>
              <a:gd name="adj" fmla="val 18755"/>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9" name="Text 5"/>
          <p:cNvSpPr/>
          <p:nvPr/>
        </p:nvSpPr>
        <p:spPr>
          <a:xfrm>
            <a:off x="5698034" y="2038499"/>
            <a:ext cx="63401" cy="406301"/>
          </a:xfrm>
          <a:prstGeom prst="rect">
            <a:avLst/>
          </a:prstGeom>
          <a:solidFill>
            <a:srgbClr val="BC4C00"/>
          </a:solidFill>
          <a:ln/>
        </p:spPr>
        <p:txBody>
          <a:bodyPr wrap="square" rtlCol="0" anchor="ctr"/>
          <a:lstStyle/>
          <a:p>
            <a:pPr indent="0" marL="0">
              <a:buNone/>
            </a:pPr>
            <a:endParaRPr lang="en-US" dirty="0"/>
          </a:p>
        </p:txBody>
      </p:sp>
      <p:sp>
        <p:nvSpPr>
          <p:cNvPr id="10" name="Text 6"/>
          <p:cNvSpPr/>
          <p:nvPr/>
        </p:nvSpPr>
        <p:spPr>
          <a:xfrm>
            <a:off x="5850434" y="2089249"/>
            <a:ext cx="1450797"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PowerPoint briefing</a:t>
            </a:r>
            <a:endParaRPr lang="en-US" sz="950" dirty="0"/>
          </a:p>
        </p:txBody>
      </p:sp>
      <p:sp>
        <p:nvSpPr>
          <p:cNvPr id="11" name="Text 7"/>
          <p:cNvSpPr/>
          <p:nvPr/>
        </p:nvSpPr>
        <p:spPr>
          <a:xfrm>
            <a:off x="5850434" y="2254300"/>
            <a:ext cx="1450797"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Leaders</a:t>
            </a:r>
            <a:endParaRPr lang="en-US" sz="750" dirty="0"/>
          </a:p>
        </p:txBody>
      </p:sp>
      <p:sp>
        <p:nvSpPr>
          <p:cNvPr id="12" name="Text 8"/>
          <p:cNvSpPr/>
          <p:nvPr/>
        </p:nvSpPr>
        <p:spPr>
          <a:xfrm>
            <a:off x="3715048" y="2699445"/>
            <a:ext cx="1625501" cy="406301"/>
          </a:xfrm>
          <a:prstGeom prst="roundRect">
            <a:avLst>
              <a:gd name="adj" fmla="val 18755"/>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13" name="Text 9"/>
          <p:cNvSpPr/>
          <p:nvPr/>
        </p:nvSpPr>
        <p:spPr>
          <a:xfrm>
            <a:off x="3715048" y="2699445"/>
            <a:ext cx="63401" cy="406301"/>
          </a:xfrm>
          <a:prstGeom prst="rect">
            <a:avLst/>
          </a:prstGeom>
          <a:solidFill>
            <a:srgbClr val="0969DA"/>
          </a:solidFill>
          <a:ln/>
        </p:spPr>
        <p:txBody>
          <a:bodyPr wrap="square" rtlCol="0" anchor="ctr"/>
          <a:lstStyle/>
          <a:p>
            <a:pPr indent="0" marL="0">
              <a:buNone/>
            </a:pPr>
            <a:endParaRPr lang="en-US" dirty="0"/>
          </a:p>
        </p:txBody>
      </p:sp>
      <p:sp>
        <p:nvSpPr>
          <p:cNvPr id="14" name="Text 10"/>
          <p:cNvSpPr/>
          <p:nvPr/>
        </p:nvSpPr>
        <p:spPr>
          <a:xfrm>
            <a:off x="3867448" y="2750195"/>
            <a:ext cx="1450797"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Housing website</a:t>
            </a:r>
            <a:endParaRPr lang="en-US" sz="950" dirty="0"/>
          </a:p>
        </p:txBody>
      </p:sp>
      <p:sp>
        <p:nvSpPr>
          <p:cNvPr id="15" name="Text 11"/>
          <p:cNvSpPr/>
          <p:nvPr/>
        </p:nvSpPr>
        <p:spPr>
          <a:xfrm>
            <a:off x="3867448" y="2915394"/>
            <a:ext cx="1450797"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Developers and IT managers</a:t>
            </a:r>
            <a:endParaRPr lang="en-US" sz="750" dirty="0"/>
          </a:p>
        </p:txBody>
      </p:sp>
      <p:sp>
        <p:nvSpPr>
          <p:cNvPr id="16" name="Text 12"/>
          <p:cNvSpPr/>
          <p:nvPr/>
        </p:nvSpPr>
        <p:spPr>
          <a:xfrm>
            <a:off x="976759" y="4493419"/>
            <a:ext cx="1625501" cy="406301"/>
          </a:xfrm>
          <a:prstGeom prst="roundRect">
            <a:avLst>
              <a:gd name="adj" fmla="val 18755"/>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17" name="Text 13"/>
          <p:cNvSpPr/>
          <p:nvPr/>
        </p:nvSpPr>
        <p:spPr>
          <a:xfrm>
            <a:off x="976759" y="4493419"/>
            <a:ext cx="63401" cy="406301"/>
          </a:xfrm>
          <a:prstGeom prst="rect">
            <a:avLst/>
          </a:prstGeom>
          <a:solidFill>
            <a:srgbClr val="1A7F37"/>
          </a:solidFill>
          <a:ln/>
        </p:spPr>
        <p:txBody>
          <a:bodyPr wrap="square" rtlCol="0" anchor="ctr"/>
          <a:lstStyle/>
          <a:p>
            <a:pPr indent="0" marL="0">
              <a:buNone/>
            </a:pPr>
            <a:endParaRPr lang="en-US" dirty="0"/>
          </a:p>
        </p:txBody>
      </p:sp>
      <p:sp>
        <p:nvSpPr>
          <p:cNvPr id="18" name="Text 14"/>
          <p:cNvSpPr/>
          <p:nvPr/>
        </p:nvSpPr>
        <p:spPr>
          <a:xfrm>
            <a:off x="1129159" y="4544318"/>
            <a:ext cx="1450797"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Excel workbook</a:t>
            </a:r>
            <a:endParaRPr lang="en-US" sz="950" dirty="0"/>
          </a:p>
        </p:txBody>
      </p:sp>
      <p:sp>
        <p:nvSpPr>
          <p:cNvPr id="19" name="Text 15"/>
          <p:cNvSpPr/>
          <p:nvPr/>
        </p:nvSpPr>
        <p:spPr>
          <a:xfrm>
            <a:off x="1129159" y="4709368"/>
            <a:ext cx="1450797"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Business analysts</a:t>
            </a:r>
            <a:endParaRPr lang="en-US" sz="750" dirty="0"/>
          </a:p>
        </p:txBody>
      </p:sp>
      <p:sp>
        <p:nvSpPr>
          <p:cNvPr id="20" name="Text 16"/>
          <p:cNvSpPr/>
          <p:nvPr/>
        </p:nvSpPr>
        <p:spPr>
          <a:xfrm>
            <a:off x="6547842" y="4493419"/>
            <a:ext cx="1625501" cy="406301"/>
          </a:xfrm>
          <a:prstGeom prst="roundRect">
            <a:avLst>
              <a:gd name="adj" fmla="val 18755"/>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21" name="Text 17"/>
          <p:cNvSpPr/>
          <p:nvPr/>
        </p:nvSpPr>
        <p:spPr>
          <a:xfrm>
            <a:off x="6547842" y="4493419"/>
            <a:ext cx="63401" cy="406301"/>
          </a:xfrm>
          <a:prstGeom prst="rect">
            <a:avLst/>
          </a:prstGeom>
          <a:solidFill>
            <a:srgbClr val="9A6700"/>
          </a:solidFill>
          <a:ln/>
        </p:spPr>
        <p:txBody>
          <a:bodyPr wrap="square" rtlCol="0" anchor="ctr"/>
          <a:lstStyle/>
          <a:p>
            <a:pPr indent="0" marL="0">
              <a:buNone/>
            </a:pPr>
            <a:endParaRPr lang="en-US" dirty="0"/>
          </a:p>
        </p:txBody>
      </p:sp>
      <p:sp>
        <p:nvSpPr>
          <p:cNvPr id="22" name="Text 18"/>
          <p:cNvSpPr/>
          <p:nvPr/>
        </p:nvSpPr>
        <p:spPr>
          <a:xfrm>
            <a:off x="6700242" y="4544318"/>
            <a:ext cx="1450797"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Weekly automation</a:t>
            </a:r>
            <a:endParaRPr lang="en-US" sz="950" dirty="0"/>
          </a:p>
        </p:txBody>
      </p:sp>
      <p:sp>
        <p:nvSpPr>
          <p:cNvPr id="23" name="Text 19"/>
          <p:cNvSpPr/>
          <p:nvPr/>
        </p:nvSpPr>
        <p:spPr>
          <a:xfrm>
            <a:off x="6700242" y="4709368"/>
            <a:ext cx="1450797"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Runs every Monday</a:t>
            </a:r>
            <a:endParaRPr lang="en-US" sz="750" dirty="0"/>
          </a:p>
        </p:txBody>
      </p:sp>
      <p:sp>
        <p:nvSpPr>
          <p:cNvPr id="24" name="Text 20"/>
          <p:cNvSpPr/>
          <p:nvPr/>
        </p:nvSpPr>
        <p:spPr>
          <a:xfrm>
            <a:off x="2974032" y="4375398"/>
            <a:ext cx="1219200" cy="406301"/>
          </a:xfrm>
          <a:prstGeom prst="roundRect">
            <a:avLst>
              <a:gd name="adj" fmla="val 18755"/>
            </a:avLst>
          </a:prstGeom>
          <a:solidFill>
            <a:srgbClr val="FFFFFF"/>
          </a:solidFill>
          <a:ln/>
          <a:effectLst>
            <a:outerShdw sx="100000" sy="100000" kx="0" ky="0" algn="bl" rotWithShape="0" blurRad="95250" dist="28575" dir="5400000">
              <a:srgbClr val="0d1117">
                <a:alpha val="35000"/>
              </a:srgbClr>
            </a:outerShdw>
          </a:effectLst>
        </p:spPr>
        <p:txBody>
          <a:bodyPr wrap="square" rtlCol="0" anchor="ctr"/>
          <a:lstStyle/>
          <a:p>
            <a:pPr indent="0" marL="0">
              <a:buNone/>
            </a:pPr>
            <a:endParaRPr lang="en-US" dirty="0"/>
          </a:p>
        </p:txBody>
      </p:sp>
      <p:sp>
        <p:nvSpPr>
          <p:cNvPr id="25" name="Text 21"/>
          <p:cNvSpPr/>
          <p:nvPr/>
        </p:nvSpPr>
        <p:spPr>
          <a:xfrm>
            <a:off x="2974032" y="4375398"/>
            <a:ext cx="63401" cy="406301"/>
          </a:xfrm>
          <a:prstGeom prst="rect">
            <a:avLst/>
          </a:prstGeom>
          <a:solidFill>
            <a:srgbClr val="1F2328"/>
          </a:solidFill>
          <a:ln/>
        </p:spPr>
        <p:txBody>
          <a:bodyPr wrap="square" rtlCol="0" anchor="ctr"/>
          <a:lstStyle/>
          <a:p>
            <a:pPr indent="0" marL="0">
              <a:buNone/>
            </a:pPr>
            <a:endParaRPr lang="en-US" dirty="0"/>
          </a:p>
        </p:txBody>
      </p:sp>
      <p:sp>
        <p:nvSpPr>
          <p:cNvPr id="26" name="Text 22"/>
          <p:cNvSpPr/>
          <p:nvPr/>
        </p:nvSpPr>
        <p:spPr>
          <a:xfrm>
            <a:off x="3126432" y="4426297"/>
            <a:ext cx="1036219" cy="133350"/>
          </a:xfrm>
          <a:prstGeom prst="rect">
            <a:avLst/>
          </a:prstGeom>
          <a:noFill/>
          <a:ln/>
        </p:spPr>
        <p:txBody>
          <a:bodyPr wrap="square" lIns="0" tIns="0" rIns="0" bIns="0" rtlCol="0" anchor="t"/>
          <a:lstStyle/>
          <a:p>
            <a:pPr algn="l" indent="0" marL="0">
              <a:buNone/>
            </a:pPr>
            <a:r>
              <a:rPr lang="en-US" sz="950" b="1" dirty="0">
                <a:solidFill>
                  <a:srgbClr val="1F2328"/>
                </a:solidFill>
                <a:latin typeface="Arial" pitchFamily="34" charset="0"/>
                <a:ea typeface="Arial" pitchFamily="34" charset="-122"/>
                <a:cs typeface="Arial" pitchFamily="34" charset="-120"/>
              </a:rPr>
              <a:t>You</a:t>
            </a:r>
            <a:endParaRPr lang="en-US" sz="950" dirty="0"/>
          </a:p>
        </p:txBody>
      </p:sp>
      <p:sp>
        <p:nvSpPr>
          <p:cNvPr id="27" name="Text 23"/>
          <p:cNvSpPr/>
          <p:nvPr/>
        </p:nvSpPr>
        <p:spPr>
          <a:xfrm>
            <a:off x="3126432" y="4591348"/>
            <a:ext cx="1036219" cy="104775"/>
          </a:xfrm>
          <a:prstGeom prst="rect">
            <a:avLst/>
          </a:prstGeom>
          <a:noFill/>
          <a:ln/>
        </p:spPr>
        <p:txBody>
          <a:bodyPr wrap="square" lIns="0" tIns="0" rIns="0" bIns="0" rtlCol="0" anchor="t"/>
          <a:lstStyle/>
          <a:p>
            <a:pPr algn="l" indent="0" marL="0">
              <a:buNone/>
            </a:pPr>
            <a:r>
              <a:rPr lang="en-US" sz="750" dirty="0">
                <a:solidFill>
                  <a:srgbClr val="59636E"/>
                </a:solidFill>
                <a:latin typeface="Arial" pitchFamily="34" charset="0"/>
                <a:ea typeface="Arial" pitchFamily="34" charset="-122"/>
                <a:cs typeface="Arial" pitchFamily="34" charset="-120"/>
              </a:rPr>
              <a:t>Plan, review, approve</a:t>
            </a:r>
            <a:endParaRPr lang="en-US" sz="750" dirty="0"/>
          </a:p>
        </p:txBody>
      </p:sp>
      <p:pic>
        <p:nvPicPr>
          <p:cNvPr id="28" name="Image 2" descr="/Users/danwahlin/.copilot/session-state/e7427b9a-9d65-4aa2-953c-14cedea46cbc/files/talkdeck/assets/corner.png">    </p:cNvPr>
          <p:cNvPicPr>
            <a:picLocks noChangeAspect="1"/>
          </p:cNvPicPr>
          <p:nvPr/>
        </p:nvPicPr>
        <p:blipFill>
          <a:blip r:embed="rId3"/>
          <a:stretch>
            <a:fillRect/>
          </a:stretch>
        </p:blipFill>
        <p:spPr>
          <a:xfrm>
            <a:off x="6349901" y="0"/>
            <a:ext cx="2793950" cy="1308050"/>
          </a:xfrm>
          <a:prstGeom prst="rect">
            <a:avLst/>
          </a:prstGeom>
        </p:spPr>
      </p:pic>
      <p:sp>
        <p:nvSpPr>
          <p:cNvPr id="29" name="Text 24"/>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30" name="Text 25"/>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31" name="Image 3" descr="/Users/danwahlin/.copilot/session-state/e7427b9a-9d65-4aa2-953c-14cedea46cbc/files/talkdeck/assets/mark-dark.png">    </p:cNvPr>
          <p:cNvPicPr>
            <a:picLocks noChangeAspect="1"/>
          </p:cNvPicPr>
          <p:nvPr/>
        </p:nvPicPr>
        <p:blipFill>
          <a:blip r:embed="rId4"/>
          <a:stretch>
            <a:fillRect/>
          </a:stretch>
        </p:blipFill>
        <p:spPr>
          <a:xfrm>
            <a:off x="8610600" y="165050"/>
            <a:ext cx="304800" cy="304800"/>
          </a:xfrm>
          <a:prstGeom prst="rect">
            <a:avLst/>
          </a:prstGeom>
        </p:spPr>
      </p:pic>
      <p:sp>
        <p:nvSpPr>
          <p:cNvPr id="32" name="!!eyebrow"/>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TODAY’S ORCHESTRA</a:t>
            </a:r>
            <a:endParaRPr lang="en-US" sz="950" dirty="0"/>
          </a:p>
        </p:txBody>
      </p:sp>
      <p:sp>
        <p:nvSpPr>
          <p:cNvPr id="33" name="!!title"/>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Each session plays its own part</a:t>
            </a:r>
            <a:endParaRPr lang="en-US" sz="2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TODAY’S STORY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One dataset. Four roles. Four agents.</a:t>
            </a:r>
            <a:endParaRPr lang="en-US" sz="2400" dirty="0"/>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indent="0" marL="0">
              <a:buNone/>
            </a:pPr>
            <a:endParaRPr lang="en-US" dirty="0"/>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Database-0969DA.png">    </p:cNvPr>
          <p:cNvPicPr>
            <a:picLocks noChangeAspect="1"/>
          </p:cNvPicPr>
          <p:nvPr/>
        </p:nvPicPr>
        <p:blipFill>
          <a:blip r:embed="rId3"/>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Public housing data</a:t>
            </a:r>
            <a:endParaRPr lang="en-US" sz="1600" dirty="0"/>
          </a:p>
        </p:txBody>
      </p:sp>
      <p:sp>
        <p:nvSpPr>
          <p:cNvPr id="12" name="Text 7"/>
          <p:cNvSpPr/>
          <p:nvPr/>
        </p:nvSpPr>
        <p:spPr>
          <a:xfrm>
            <a:off x="736550" y="2793950"/>
            <a:ext cx="2331720" cy="152400"/>
          </a:xfrm>
          <a:prstGeom prst="rect">
            <a:avLst/>
          </a:prstGeom>
          <a:noFill/>
          <a:ln/>
        </p:spPr>
        <p:txBody>
          <a:bodyPr wrap="square" lIns="0" tIns="0" rIns="0" bIns="0" rtlCol="0" anchor="t"/>
          <a:lstStyle/>
          <a:p>
            <a:pPr algn="l" indent="0" marL="0">
              <a:buNone/>
            </a:pPr>
            <a:r>
              <a:rPr lang="en-US" sz="1100" dirty="0">
                <a:solidFill>
                  <a:srgbClr val="1F2328"/>
                </a:solidFill>
                <a:latin typeface="Arial" pitchFamily="34" charset="0"/>
                <a:ea typeface="Arial" pitchFamily="34" charset="-122"/>
                <a:cs typeface="Arial" pitchFamily="34" charset="-120"/>
              </a:rPr>
              <a:t>FHFA House Price Index</a:t>
            </a:r>
            <a:endParaRPr lang="en-US" sz="1100" dirty="0"/>
          </a:p>
        </p:txBody>
      </p:sp>
      <p:sp>
        <p:nvSpPr>
          <p:cNvPr id="13" name="Text 8"/>
          <p:cNvSpPr/>
          <p:nvPr/>
        </p:nvSpPr>
        <p:spPr>
          <a:xfrm>
            <a:off x="736550" y="3022550"/>
            <a:ext cx="2331720" cy="152400"/>
          </a:xfrm>
          <a:prstGeom prst="rect">
            <a:avLst/>
          </a:prstGeom>
          <a:noFill/>
          <a:ln/>
        </p:spPr>
        <p:txBody>
          <a:bodyPr wrap="square" lIns="0" tIns="0" rIns="0" bIns="0" rtlCol="0" anchor="t"/>
          <a:lstStyle/>
          <a:p>
            <a:pPr algn="l" indent="0" marL="0">
              <a:buNone/>
            </a:pPr>
            <a:r>
              <a:rPr lang="en-US" sz="1100" dirty="0">
                <a:solidFill>
                  <a:srgbClr val="1F2328"/>
                </a:solidFill>
                <a:latin typeface="Arial" pitchFamily="34" charset="0"/>
                <a:ea typeface="Arial" pitchFamily="34" charset="-122"/>
                <a:cs typeface="Arial" pitchFamily="34" charset="-120"/>
              </a:rPr>
              <a:t>CFPB HMDA mortgage data</a:t>
            </a:r>
            <a:endParaRPr lang="en-US" sz="1100" dirty="0"/>
          </a:p>
        </p:txBody>
      </p:sp>
      <p:sp>
        <p:nvSpPr>
          <p:cNvPr id="14" name="Text 9"/>
          <p:cNvSpPr/>
          <p:nvPr/>
        </p:nvSpPr>
        <p:spPr>
          <a:xfrm>
            <a:off x="736550" y="3378101"/>
            <a:ext cx="2331720" cy="342602"/>
          </a:xfrm>
          <a:prstGeom prst="rect">
            <a:avLst/>
          </a:prstGeom>
          <a:noFill/>
          <a:ln/>
        </p:spPr>
        <p:txBody>
          <a:bodyPr wrap="square" lIns="0" tIns="0" rIns="0" bIns="0" rtlCol="0" anchor="t"/>
          <a:lstStyle/>
          <a:p>
            <a:pPr algn="l" indent="0" marL="0">
              <a:lnSpc>
                <a:spcPts val="1350"/>
              </a:lnSpc>
              <a:buNone/>
            </a:pPr>
            <a:r>
              <a:rPr lang="en-US" sz="1000" dirty="0">
                <a:solidFill>
                  <a:srgbClr val="59636E"/>
                </a:solidFill>
                <a:latin typeface="Arial" pitchFamily="34" charset="0"/>
                <a:ea typeface="Arial" pitchFamily="34" charset="-122"/>
                <a:cs typeface="Arial" pitchFamily="34" charset="-120"/>
              </a:rPr>
              <a:t>50 states and DC, 100 metros, 1991 to 2026</a:t>
            </a:r>
            <a:endParaRPr lang="en-US" sz="1000" dirty="0"/>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indent="0" marL="0">
              <a:buNone/>
            </a:pPr>
            <a:endParaRPr lang="en-US" dirty="0"/>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indent="0" marL="0">
              <a:buNone/>
            </a:pPr>
            <a:endParaRPr lang="en-US" dirty="0"/>
          </a:p>
        </p:txBody>
      </p:sp>
      <p:pic>
        <p:nvPicPr>
          <p:cNvPr id="18" name="Image 3" descr="/Users/danwahlin/.copilot/session-state/e7427b9a-9d65-4aa2-953c-14cedea46cbc/files/talkdeck/assets/icons/GoBrowser-0969DA.png">    </p:cNvPr>
          <p:cNvPicPr>
            <a:picLocks noChangeAspect="1"/>
          </p:cNvPicPr>
          <p:nvPr/>
        </p:nvPicPr>
        <p:blipFill>
          <a:blip r:embed="rId4"/>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Interactive website</a:t>
            </a:r>
            <a:endParaRPr lang="en-US" sz="1250" dirty="0"/>
          </a:p>
        </p:txBody>
      </p:sp>
      <p:sp>
        <p:nvSpPr>
          <p:cNvPr id="20" name="Text 14"/>
          <p:cNvSpPr/>
          <p:nvPr/>
        </p:nvSpPr>
        <p:spPr>
          <a:xfrm>
            <a:off x="3987701" y="2463701"/>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indent="0" marL="0">
              <a:buNone/>
            </a:pPr>
            <a:endParaRPr lang="en-US" dirty="0"/>
          </a:p>
        </p:txBody>
      </p:sp>
      <p:pic>
        <p:nvPicPr>
          <p:cNvPr id="23" name="Image 4" descr="/Users/danwahlin/.copilot/session-state/e7427b9a-9d65-4aa2-953c-14cedea46cbc/files/talkdeck/assets/icons/GoTable-1A7F37.png">    </p:cNvPr>
          <p:cNvPicPr>
            <a:picLocks noChangeAspect="1"/>
          </p:cNvPicPr>
          <p:nvPr/>
        </p:nvPicPr>
        <p:blipFill>
          <a:blip r:embed="rId5"/>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Excel workbook</a:t>
            </a:r>
            <a:endParaRPr lang="en-US" sz="1250" dirty="0"/>
          </a:p>
        </p:txBody>
      </p:sp>
      <p:sp>
        <p:nvSpPr>
          <p:cNvPr id="25" name="Text 18"/>
          <p:cNvSpPr/>
          <p:nvPr/>
        </p:nvSpPr>
        <p:spPr>
          <a:xfrm>
            <a:off x="6426101" y="2463701"/>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indent="0" marL="0">
              <a:buNone/>
            </a:pPr>
            <a:endParaRPr lang="en-US" dirty="0"/>
          </a:p>
        </p:txBody>
      </p:sp>
      <p:pic>
        <p:nvPicPr>
          <p:cNvPr id="28" name="Image 5" descr="/Users/danwahlin/.copilot/session-state/e7427b9a-9d65-4aa2-953c-14cedea46cbc/files/talkdeck/assets/icons/GoGraph-BC4C00.png">    </p:cNvPr>
          <p:cNvPicPr>
            <a:picLocks noChangeAspect="1"/>
          </p:cNvPicPr>
          <p:nvPr/>
        </p:nvPicPr>
        <p:blipFill>
          <a:blip r:embed="rId6"/>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Executive briefing</a:t>
            </a:r>
            <a:endParaRPr lang="en-US" sz="1250" dirty="0"/>
          </a:p>
        </p:txBody>
      </p:sp>
      <p:sp>
        <p:nvSpPr>
          <p:cNvPr id="30" name="Text 22"/>
          <p:cNvSpPr/>
          <p:nvPr/>
        </p:nvSpPr>
        <p:spPr>
          <a:xfrm>
            <a:off x="3987701" y="3936950"/>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indent="0" marL="0">
              <a:buNone/>
            </a:pPr>
            <a:endParaRPr lang="en-US" dirty="0"/>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indent="0" marL="0">
              <a:buNone/>
            </a:pPr>
            <a:endParaRPr lang="en-US" dirty="0"/>
          </a:p>
        </p:txBody>
      </p:sp>
      <p:pic>
        <p:nvPicPr>
          <p:cNvPr id="33" name="Image 6" descr="/Users/danwahlin/.copilot/session-state/e7427b9a-9d65-4aa2-953c-14cedea46cbc/files/talkdeck/assets/icons/GoMail-8250DF.png">    </p:cNvPr>
          <p:cNvPicPr>
            <a:picLocks noChangeAspect="1"/>
          </p:cNvPicPr>
          <p:nvPr/>
        </p:nvPicPr>
        <p:blipFill>
          <a:blip r:embed="rId7"/>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Microsoft 365 brief</a:t>
            </a:r>
            <a:endParaRPr lang="en-US" sz="1250" dirty="0"/>
          </a:p>
        </p:txBody>
      </p:sp>
      <p:sp>
        <p:nvSpPr>
          <p:cNvPr id="35" name="Text 26"/>
          <p:cNvSpPr/>
          <p:nvPr/>
        </p:nvSpPr>
        <p:spPr>
          <a:xfrm>
            <a:off x="6426101" y="3936950"/>
            <a:ext cx="2020824"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HOW YOU WORK WITH AGENTS</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Plan first. Then hand it off.</a:t>
            </a:r>
            <a:endParaRPr lang="en-US" sz="2400" dirty="0"/>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mmentDiscussion-0969DA.png">    </p:cNvPr>
          <p:cNvPicPr>
            <a:picLocks noChangeAspect="1"/>
          </p:cNvPicPr>
          <p:nvPr/>
        </p:nvPicPr>
        <p:blipFill>
          <a:blip r:embed="rId3"/>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Prompt</a:t>
            </a:r>
            <a:endParaRPr lang="en-US" sz="1500" dirty="0"/>
          </a:p>
        </p:txBody>
      </p:sp>
      <p:sp>
        <p:nvSpPr>
          <p:cNvPr id="12" name="Text 7"/>
          <p:cNvSpPr/>
          <p:nvPr/>
        </p:nvSpPr>
        <p:spPr>
          <a:xfrm>
            <a:off x="68580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Describe the outcome you want.</a:t>
            </a:r>
            <a:endParaRPr lang="en-US" sz="1050" dirty="0"/>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Checklist-8250DF.png">    </p:cNvPr>
          <p:cNvPicPr>
            <a:picLocks noChangeAspect="1"/>
          </p:cNvPicPr>
          <p:nvPr/>
        </p:nvPicPr>
        <p:blipFill>
          <a:blip r:embed="rId4"/>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7" name="Text 11"/>
          <p:cNvSpPr/>
          <p:nvPr/>
        </p:nvSpPr>
        <p:spPr>
          <a:xfrm>
            <a:off x="233675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Read the plan and approve it.</a:t>
            </a:r>
            <a:endParaRPr lang="en-US" sz="1050" dirty="0"/>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indent="0" marL="0">
              <a:buNone/>
            </a:pPr>
            <a:endParaRPr lang="en-US" dirty="0"/>
          </a:p>
        </p:txBody>
      </p:sp>
      <p:sp>
        <p:nvSpPr>
          <p:cNvPr id="19" name="Text 13"/>
          <p:cNvSpPr/>
          <p:nvPr/>
        </p:nvSpPr>
        <p:spPr>
          <a:xfrm>
            <a:off x="2327861" y="3429000"/>
            <a:ext cx="906729" cy="114300"/>
          </a:xfrm>
          <a:prstGeom prst="rect">
            <a:avLst/>
          </a:prstGeom>
          <a:noFill/>
          <a:ln/>
        </p:spPr>
        <p:txBody>
          <a:bodyPr wrap="square" lIns="0" tIns="0" rIns="0" bIns="0" rtlCol="0" anchor="t"/>
          <a:lstStyle/>
          <a:p>
            <a:pPr algn="ctr" indent="0" marL="0">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indent="0" marL="0">
              <a:buNone/>
            </a:pPr>
            <a:endParaRPr lang="en-US" dirty="0"/>
          </a:p>
        </p:txBody>
      </p:sp>
      <p:pic>
        <p:nvPicPr>
          <p:cNvPr id="22" name="Image 4" descr="/Users/danwahlin/.copilot/session-state/e7427b9a-9d65-4aa2-953c-14cedea46cbc/files/talkdeck/assets/icons/GoZap-BC4C00.png">    </p:cNvPr>
          <p:cNvPicPr>
            <a:picLocks noChangeAspect="1"/>
          </p:cNvPicPr>
          <p:nvPr/>
        </p:nvPicPr>
        <p:blipFill>
          <a:blip r:embed="rId5"/>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Autopilot</a:t>
            </a:r>
            <a:endParaRPr lang="en-US" sz="1500" dirty="0"/>
          </a:p>
        </p:txBody>
      </p:sp>
      <p:sp>
        <p:nvSpPr>
          <p:cNvPr id="24" name="Text 17"/>
          <p:cNvSpPr/>
          <p:nvPr/>
        </p:nvSpPr>
        <p:spPr>
          <a:xfrm>
            <a:off x="3987701"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Agents work at the same time.</a:t>
            </a:r>
            <a:endParaRPr lang="en-US" sz="1050" dirty="0"/>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indent="0" marL="0">
              <a:buNone/>
            </a:pPr>
            <a:endParaRPr lang="en-US" dirty="0"/>
          </a:p>
        </p:txBody>
      </p:sp>
      <p:pic>
        <p:nvPicPr>
          <p:cNvPr id="27" name="Image 5" descr="/Users/danwahlin/.copilot/session-state/e7427b9a-9d65-4aa2-953c-14cedea46cbc/files/talkdeck/assets/icons/GoEye-1A7F37.png">    </p:cNvPr>
          <p:cNvPicPr>
            <a:picLocks noChangeAspect="1"/>
          </p:cNvPicPr>
          <p:nvPr/>
        </p:nvPicPr>
        <p:blipFill>
          <a:blip r:embed="rId6"/>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a:t>
            </a:r>
            <a:endParaRPr lang="en-US" sz="1500" dirty="0"/>
          </a:p>
        </p:txBody>
      </p:sp>
      <p:sp>
        <p:nvSpPr>
          <p:cNvPr id="29" name="Text 21"/>
          <p:cNvSpPr/>
          <p:nvPr/>
        </p:nvSpPr>
        <p:spPr>
          <a:xfrm>
            <a:off x="563880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Check diffs, previews, and files.</a:t>
            </a:r>
            <a:endParaRPr lang="en-US" sz="1050" dirty="0"/>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indent="0" marL="0">
              <a:buNone/>
            </a:pPr>
            <a:endParaRPr lang="en-US" dirty="0"/>
          </a:p>
        </p:txBody>
      </p:sp>
      <p:sp>
        <p:nvSpPr>
          <p:cNvPr id="31" name="Text 23"/>
          <p:cNvSpPr/>
          <p:nvPr/>
        </p:nvSpPr>
        <p:spPr>
          <a:xfrm>
            <a:off x="5629910" y="3429000"/>
            <a:ext cx="906729" cy="114300"/>
          </a:xfrm>
          <a:prstGeom prst="rect">
            <a:avLst/>
          </a:prstGeom>
          <a:noFill/>
          <a:ln/>
        </p:spPr>
        <p:txBody>
          <a:bodyPr wrap="square" lIns="0" tIns="0" rIns="0" bIns="0" rtlCol="0" anchor="t"/>
          <a:lstStyle/>
          <a:p>
            <a:pPr algn="ctr" indent="0" marL="0">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indent="0" marL="0">
              <a:buNone/>
            </a:pPr>
            <a:endParaRPr lang="en-US" dirty="0"/>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indent="0" marL="0">
              <a:buNone/>
            </a:pPr>
            <a:endParaRPr lang="en-US" dirty="0"/>
          </a:p>
        </p:txBody>
      </p:sp>
      <p:pic>
        <p:nvPicPr>
          <p:cNvPr id="34" name="Image 6" descr="/Users/danwahlin/.copilot/session-state/e7427b9a-9d65-4aa2-953c-14cedea46cbc/files/talkdeck/assets/icons/GoRocket-0969DA.png">    </p:cNvPr>
          <p:cNvPicPr>
            <a:picLocks noChangeAspect="1"/>
          </p:cNvPicPr>
          <p:nvPr/>
        </p:nvPicPr>
        <p:blipFill>
          <a:blip r:embed="rId7"/>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36" name="Text 27"/>
          <p:cNvSpPr/>
          <p:nvPr/>
        </p:nvSpPr>
        <p:spPr>
          <a:xfrm>
            <a:off x="7289750" y="2793950"/>
            <a:ext cx="1217625" cy="346472"/>
          </a:xfrm>
          <a:prstGeom prst="rect">
            <a:avLst/>
          </a:prstGeom>
          <a:noFill/>
          <a:ln/>
        </p:spPr>
        <p:txBody>
          <a:bodyPr wrap="square" lIns="0" tIns="0" rIns="0" bIns="0" rtlCol="0" anchor="t"/>
          <a:lstStyle/>
          <a:p>
            <a:pPr algn="l" indent="0" marL="0">
              <a:lnSpc>
                <a:spcPts val="1365"/>
              </a:lnSpc>
              <a:buNone/>
            </a:pPr>
            <a:r>
              <a:rPr lang="en-US" sz="1050" dirty="0">
                <a:solidFill>
                  <a:srgbClr val="59636E"/>
                </a:solidFill>
                <a:latin typeface="Arial" pitchFamily="34" charset="0"/>
                <a:ea typeface="Arial" pitchFamily="34" charset="-122"/>
                <a:cs typeface="Arial" pitchFamily="34" charset="-120"/>
              </a:rPr>
              <a:t>Merge, share, or deploy.</a:t>
            </a:r>
            <a:endParaRPr lang="en-US" sz="1050" dirty="0"/>
          </a:p>
        </p:txBody>
      </p:sp>
      <p:sp>
        <p:nvSpPr>
          <p:cNvPr id="37" name="Text 28"/>
          <p:cNvSpPr/>
          <p:nvPr/>
        </p:nvSpPr>
        <p:spPr>
          <a:xfrm>
            <a:off x="507950" y="4089350"/>
            <a:ext cx="8290509" cy="200025"/>
          </a:xfrm>
          <a:prstGeom prst="rect">
            <a:avLst/>
          </a:prstGeom>
          <a:noFill/>
          <a:ln/>
        </p:spPr>
        <p:txBody>
          <a:bodyPr wrap="square" lIns="0" tIns="0" rIns="0" bIns="0" rtlCol="0" anchor="t"/>
          <a:lstStyle/>
          <a:p>
            <a:pPr algn="l" indent="0" marL="0">
              <a:buNone/>
            </a:pPr>
            <a:r>
              <a:rPr lang="en-US" sz="1350" dirty="0">
                <a:solidFill>
                  <a:srgbClr val="1F2328"/>
                </a:solidFill>
                <a:latin typeface="Arial" pitchFamily="34" charset="0"/>
                <a:ea typeface="Arial" pitchFamily="34" charset="-122"/>
                <a:cs typeface="Arial" pitchFamily="34" charset="-120"/>
              </a:rPr>
              <a:t>Use </a:t>
            </a:r>
            <a:pPr algn="l" indent="0" marL="0">
              <a:buNone/>
            </a:pPr>
            <a:r>
              <a:rPr lang="en-US" sz="1350" b="1" dirty="0">
                <a:solidFill>
                  <a:srgbClr val="1F2328"/>
                </a:solidFill>
                <a:latin typeface="Arial" pitchFamily="34" charset="0"/>
                <a:ea typeface="Arial" pitchFamily="34" charset="-122"/>
                <a:cs typeface="Arial" pitchFamily="34" charset="-120"/>
              </a:rPr>
              <a:t>Plan</a:t>
            </a:r>
            <a:pPr algn="l" indent="0" marL="0">
              <a:buNone/>
            </a:pPr>
            <a:r>
              <a:rPr lang="en-US" sz="1350" dirty="0">
                <a:solidFill>
                  <a:srgbClr val="1F2328"/>
                </a:solidFill>
                <a:latin typeface="Arial" pitchFamily="34" charset="0"/>
                <a:ea typeface="Arial" pitchFamily="34" charset="-122"/>
                <a:cs typeface="Arial" pitchFamily="34" charset="-120"/>
              </a:rPr>
              <a:t> when the task is big or new. Use </a:t>
            </a:r>
            <a:pPr algn="l" indent="0" marL="0">
              <a:buNone/>
            </a:pPr>
            <a:r>
              <a:rPr lang="en-US" sz="1350" b="1" dirty="0">
                <a:solidFill>
                  <a:srgbClr val="1F2328"/>
                </a:solidFill>
                <a:latin typeface="Arial" pitchFamily="34" charset="0"/>
                <a:ea typeface="Arial" pitchFamily="34" charset="-122"/>
                <a:cs typeface="Arial" pitchFamily="34" charset="-120"/>
              </a:rPr>
              <a:t>Autopilot</a:t>
            </a:r>
            <a:pPr algn="l" indent="0" marL="0">
              <a:buNone/>
            </a:pPr>
            <a:r>
              <a:rPr lang="en-US" sz="1350" dirty="0">
                <a:solidFill>
                  <a:srgbClr val="1F2328"/>
                </a:solidFill>
                <a:latin typeface="Arial" pitchFamily="34" charset="0"/>
                <a:ea typeface="Arial" pitchFamily="34" charset="-122"/>
                <a:cs typeface="Arial" pitchFamily="34" charset="-120"/>
              </a:rPr>
              <a:t> when the task is clear.</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BF3"/>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LIVE DEMO</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algn="r" indent="0" marL="0">
              <a:buNone/>
            </a:pPr>
            <a:r>
              <a:rPr lang="en-US" sz="20000" b="1" dirty="0">
                <a:solidFill>
                  <a:srgbClr val="8CE7A5"/>
                </a:solidFill>
                <a:latin typeface="Arial" pitchFamily="34" charset="0"/>
                <a:ea typeface="Arial" pitchFamily="34" charset="-122"/>
                <a:cs typeface="Arial" pitchFamily="34" charset="-120"/>
              </a:rPr>
              <a:t>4</a:t>
            </a:r>
            <a:endParaRPr lang="en-US" sz="20000" dirty="0"/>
          </a:p>
        </p:txBody>
      </p:sp>
      <p:sp>
        <p:nvSpPr>
          <p:cNvPr id="8" name="Text 4"/>
          <p:cNvSpPr/>
          <p:nvPr/>
        </p:nvSpPr>
        <p:spPr>
          <a:xfrm>
            <a:off x="711101" y="1498550"/>
            <a:ext cx="5440680" cy="171450"/>
          </a:xfrm>
          <a:prstGeom prst="rect">
            <a:avLst/>
          </a:prstGeom>
          <a:noFill/>
          <a:ln/>
        </p:spPr>
        <p:txBody>
          <a:bodyPr wrap="square" lIns="0" tIns="0" rIns="0" bIns="0" rtlCol="0" anchor="t"/>
          <a:lstStyle/>
          <a:p>
            <a:pPr algn="l" indent="0" marL="0">
              <a:buNone/>
            </a:pPr>
            <a:r>
              <a:rPr lang="en-US" sz="1200" b="1" dirty="0">
                <a:solidFill>
                  <a:srgbClr val="1A7F37"/>
                </a:solidFill>
                <a:latin typeface="Arial" pitchFamily="34" charset="0"/>
                <a:ea typeface="Arial" pitchFamily="34" charset="-122"/>
                <a:cs typeface="Arial" pitchFamily="34" charset="-120"/>
              </a:rPr>
              <a:t>LIVE DEMO</a:t>
            </a:r>
            <a:endParaRPr lang="en-US" sz="1200" dirty="0"/>
          </a:p>
        </p:txBody>
      </p:sp>
      <p:sp>
        <p:nvSpPr>
          <p:cNvPr id="9" name="Text 5"/>
          <p:cNvSpPr/>
          <p:nvPr/>
        </p:nvSpPr>
        <p:spPr>
          <a:xfrm>
            <a:off x="711101" y="1777901"/>
            <a:ext cx="5440680" cy="1168003"/>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Four agents. Starting now.</a:t>
            </a:r>
            <a:endParaRPr lang="en-US" sz="4000" dirty="0"/>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indent="0" marL="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algn="l" indent="0" marL="0">
              <a:lnSpc>
                <a:spcPts val="2160"/>
              </a:lnSpc>
              <a:buNone/>
            </a:pPr>
            <a:r>
              <a:rPr lang="en-US" sz="1600" dirty="0">
                <a:solidFill>
                  <a:srgbClr val="59636E"/>
                </a:solidFill>
                <a:latin typeface="Arial" pitchFamily="34" charset="0"/>
                <a:ea typeface="Arial" pitchFamily="34" charset="-122"/>
                <a:cs typeface="Arial" pitchFamily="34" charset="-120"/>
              </a:rPr>
              <a:t>Watch the sidebar. Each session is a separate agent that works on its own branch.</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9" name="Image 2" descr="/Users/danwahlin/.copilot/session-state/e7427b9a-9d65-4aa2-953c-14cedea46cbc/files/talkdeck/assets/results/website.png">    </p:cNvPr>
          <p:cNvPicPr>
            <a:picLocks noChangeAspect="1"/>
          </p:cNvPicPr>
          <p:nvPr/>
        </p:nvPicPr>
        <p:blipFill>
          <a:blip r:embed="rId3"/>
          <a:stretch>
            <a:fillRect/>
          </a:stretch>
        </p:blipFill>
        <p:spPr>
          <a:xfrm>
            <a:off x="609600" y="1473101"/>
            <a:ext cx="2438400" cy="1371600"/>
          </a:xfrm>
          <a:prstGeom prst="rect">
            <a:avLst/>
          </a:prstGeom>
        </p:spPr>
      </p:pic>
      <p:sp>
        <p:nvSpPr>
          <p:cNvPr id="10" name="Text 5"/>
          <p:cNvSpPr/>
          <p:nvPr/>
        </p:nvSpPr>
        <p:spPr>
          <a:xfrm>
            <a:off x="3200400" y="1650950"/>
            <a:ext cx="50750" cy="507950"/>
          </a:xfrm>
          <a:prstGeom prst="rect">
            <a:avLst/>
          </a:prstGeom>
          <a:solidFill>
            <a:srgbClr val="0969DA"/>
          </a:solidFill>
          <a:ln/>
        </p:spPr>
        <p:txBody>
          <a:bodyPr wrap="square" rtlCol="0" anchor="ctr"/>
          <a:lstStyle/>
          <a:p>
            <a:pPr indent="0" marL="0">
              <a:buNone/>
            </a:pPr>
            <a:endParaRPr lang="en-US" dirty="0"/>
          </a:p>
        </p:txBody>
      </p:sp>
      <p:sp>
        <p:nvSpPr>
          <p:cNvPr id="11" name="Text 6"/>
          <p:cNvSpPr/>
          <p:nvPr/>
        </p:nvSpPr>
        <p:spPr>
          <a:xfrm>
            <a:off x="3327350" y="1625501"/>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2031950"/>
            <a:ext cx="1113943" cy="26670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14" name="Image 3" descr="/Users/danwahlin/.copilot/session-state/e7427b9a-9d65-4aa2-953c-14cedea46cbc/files/talkdeck/assets/results/excel.png">    </p:cNvPr>
          <p:cNvPicPr>
            <a:picLocks noChangeAspect="1"/>
          </p:cNvPicPr>
          <p:nvPr/>
        </p:nvPicPr>
        <p:blipFill>
          <a:blip r:embed="rId4"/>
          <a:stretch>
            <a:fillRect/>
          </a:stretch>
        </p:blipFill>
        <p:spPr>
          <a:xfrm>
            <a:off x="4724400" y="1473101"/>
            <a:ext cx="2438400" cy="1371600"/>
          </a:xfrm>
          <a:prstGeom prst="rect">
            <a:avLst/>
          </a:prstGeom>
        </p:spPr>
      </p:pic>
      <p:sp>
        <p:nvSpPr>
          <p:cNvPr id="15" name="Text 9"/>
          <p:cNvSpPr/>
          <p:nvPr/>
        </p:nvSpPr>
        <p:spPr>
          <a:xfrm>
            <a:off x="7315200" y="1650950"/>
            <a:ext cx="50750" cy="507950"/>
          </a:xfrm>
          <a:prstGeom prst="rect">
            <a:avLst/>
          </a:prstGeom>
          <a:solidFill>
            <a:srgbClr val="1A7F37"/>
          </a:solidFill>
          <a:ln/>
        </p:spPr>
        <p:txBody>
          <a:bodyPr wrap="square" rtlCol="0" anchor="ctr"/>
          <a:lstStyle/>
          <a:p>
            <a:pPr indent="0" marL="0">
              <a:buNone/>
            </a:pPr>
            <a:endParaRPr lang="en-US" dirty="0"/>
          </a:p>
        </p:txBody>
      </p:sp>
      <p:sp>
        <p:nvSpPr>
          <p:cNvPr id="16" name="Text 10"/>
          <p:cNvSpPr/>
          <p:nvPr/>
        </p:nvSpPr>
        <p:spPr>
          <a:xfrm>
            <a:off x="7442150" y="1625501"/>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2031950"/>
            <a:ext cx="1113943"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19" name="Image 4" descr="/Users/danwahlin/.copilot/session-state/e7427b9a-9d65-4aa2-953c-14cedea46cbc/files/talkdeck/assets/results/briefing.png">    </p:cNvPr>
          <p:cNvPicPr>
            <a:picLocks noChangeAspect="1"/>
          </p:cNvPicPr>
          <p:nvPr/>
        </p:nvPicPr>
        <p:blipFill>
          <a:blip r:embed="rId5"/>
          <a:stretch>
            <a:fillRect/>
          </a:stretch>
        </p:blipFill>
        <p:spPr>
          <a:xfrm>
            <a:off x="609600" y="3251150"/>
            <a:ext cx="2438400" cy="1371600"/>
          </a:xfrm>
          <a:prstGeom prst="rect">
            <a:avLst/>
          </a:prstGeom>
        </p:spPr>
      </p:pic>
      <p:sp>
        <p:nvSpPr>
          <p:cNvPr id="20" name="Text 13"/>
          <p:cNvSpPr/>
          <p:nvPr/>
        </p:nvSpPr>
        <p:spPr>
          <a:xfrm>
            <a:off x="3200400" y="3429000"/>
            <a:ext cx="50750" cy="507950"/>
          </a:xfrm>
          <a:prstGeom prst="rect">
            <a:avLst/>
          </a:prstGeom>
          <a:solidFill>
            <a:srgbClr val="BC4C00"/>
          </a:solidFill>
          <a:ln/>
        </p:spPr>
        <p:txBody>
          <a:bodyPr wrap="square" rtlCol="0" anchor="ctr"/>
          <a:lstStyle/>
          <a:p>
            <a:pPr indent="0" marL="0">
              <a:buNone/>
            </a:pPr>
            <a:endParaRPr lang="en-US" dirty="0"/>
          </a:p>
        </p:txBody>
      </p:sp>
      <p:sp>
        <p:nvSpPr>
          <p:cNvPr id="21" name="Text 14"/>
          <p:cNvSpPr/>
          <p:nvPr/>
        </p:nvSpPr>
        <p:spPr>
          <a:xfrm>
            <a:off x="3327350" y="3403550"/>
            <a:ext cx="1113943" cy="34290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810000"/>
            <a:ext cx="1113943" cy="26670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indent="0" marL="0">
              <a:buNone/>
            </a:pPr>
            <a:endParaRPr lang="en-US" dirty="0"/>
          </a:p>
        </p:txBody>
      </p:sp>
      <p:pic>
        <p:nvPicPr>
          <p:cNvPr id="24" name="Image 5" descr="/Users/danwahlin/.copilot/session-state/e7427b9a-9d65-4aa2-953c-14cedea46cbc/files/talkdeck/assets/results/brief.png">    </p:cNvPr>
          <p:cNvPicPr>
            <a:picLocks noChangeAspect="1"/>
          </p:cNvPicPr>
          <p:nvPr/>
        </p:nvPicPr>
        <p:blipFill>
          <a:blip r:embed="rId6"/>
          <a:stretch>
            <a:fillRect/>
          </a:stretch>
        </p:blipFill>
        <p:spPr>
          <a:xfrm>
            <a:off x="4724400" y="3251150"/>
            <a:ext cx="2438400" cy="1371600"/>
          </a:xfrm>
          <a:prstGeom prst="rect">
            <a:avLst/>
          </a:prstGeom>
        </p:spPr>
      </p:pic>
      <p:sp>
        <p:nvSpPr>
          <p:cNvPr id="25" name="Text 17"/>
          <p:cNvSpPr/>
          <p:nvPr/>
        </p:nvSpPr>
        <p:spPr>
          <a:xfrm>
            <a:off x="7315200" y="3429000"/>
            <a:ext cx="50750" cy="507950"/>
          </a:xfrm>
          <a:prstGeom prst="rect">
            <a:avLst/>
          </a:prstGeom>
          <a:solidFill>
            <a:srgbClr val="8250DF"/>
          </a:solidFill>
          <a:ln/>
        </p:spPr>
        <p:txBody>
          <a:bodyPr wrap="square" rtlCol="0" anchor="ctr"/>
          <a:lstStyle/>
          <a:p>
            <a:pPr indent="0" marL="0">
              <a:buNone/>
            </a:pPr>
            <a:endParaRPr lang="en-US" dirty="0"/>
          </a:p>
        </p:txBody>
      </p:sp>
      <p:sp>
        <p:nvSpPr>
          <p:cNvPr id="26" name="Text 18"/>
          <p:cNvSpPr/>
          <p:nvPr/>
        </p:nvSpPr>
        <p:spPr>
          <a:xfrm>
            <a:off x="7442150" y="3403550"/>
            <a:ext cx="1113943"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810000"/>
            <a:ext cx="1113943" cy="133350"/>
          </a:xfrm>
          <a:prstGeom prst="rect">
            <a:avLst/>
          </a:prstGeom>
          <a:noFill/>
          <a:ln/>
        </p:spPr>
        <p:txBody>
          <a:bodyPr wrap="square" lIns="0" tIns="0" rIns="0" bIns="0" rtlCol="0" anchor="t"/>
          <a:lstStyle/>
          <a:p>
            <a:pPr algn="l" indent="0" marL="0">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0969DA"/>
                </a:solidFill>
                <a:latin typeface="Arial" pitchFamily="34" charset="0"/>
                <a:ea typeface="Arial" pitchFamily="34" charset="-122"/>
                <a:cs typeface="Arial" pitchFamily="34" charset="-120"/>
              </a:rPr>
              <a:t>TRUST AND CONTROL</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You stay in control</a:t>
            </a:r>
            <a:endParaRPr lang="en-US" sz="24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hecklist-8250DF.png">    </p:cNvPr>
          <p:cNvPicPr>
            <a:picLocks noChangeAspect="1"/>
          </p:cNvPicPr>
          <p:nvPr/>
        </p:nvPicPr>
        <p:blipFill>
          <a:blip r:embed="rId3"/>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Plan before work</a:t>
            </a:r>
            <a:endParaRPr lang="en-US" sz="15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Read the plan before the agent changes anything.</a:t>
            </a:r>
            <a:endParaRPr lang="en-US" sz="11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indent="0" marL="0">
              <a:buNone/>
            </a:pPr>
            <a:endParaRPr lang="en-US" dirty="0"/>
          </a:p>
        </p:txBody>
      </p:sp>
      <p:pic>
        <p:nvPicPr>
          <p:cNvPr id="15" name="Image 3" descr="/Users/danwahlin/.copilot/session-state/e7427b9a-9d65-4aa2-953c-14cedea46cbc/files/talkdeck/assets/icons/GoGitBranch-0969DA.png">    </p:cNvPr>
          <p:cNvPicPr>
            <a:picLocks noChangeAspect="1"/>
          </p:cNvPicPr>
          <p:nvPr/>
        </p:nvPicPr>
        <p:blipFill>
          <a:blip r:embed="rId4"/>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Isolated worktrees</a:t>
            </a:r>
            <a:endParaRPr lang="en-US" sz="15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Each agent works on its own branch, so agents do not collide.</a:t>
            </a:r>
            <a:endParaRPr lang="en-US" sz="11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indent="0" marL="0">
              <a:buNone/>
            </a:pPr>
            <a:endParaRPr lang="en-US" dirty="0"/>
          </a:p>
        </p:txBody>
      </p:sp>
      <p:pic>
        <p:nvPicPr>
          <p:cNvPr id="20" name="Image 4" descr="/Users/danwahlin/.copilot/session-state/e7427b9a-9d65-4aa2-953c-14cedea46cbc/files/talkdeck/assets/icons/GoShieldCheck-BC4C00.png">    </p:cNvPr>
          <p:cNvPicPr>
            <a:picLocks noChangeAspect="1"/>
          </p:cNvPicPr>
          <p:nvPr/>
        </p:nvPicPr>
        <p:blipFill>
          <a:blip r:embed="rId5"/>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Tool permissions</a:t>
            </a:r>
            <a:endParaRPr lang="en-US" sz="15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Choose when the agent must ask before it runs a tool.</a:t>
            </a:r>
            <a:endParaRPr lang="en-US" sz="11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indent="0" marL="0">
              <a:buNone/>
            </a:pPr>
            <a:endParaRPr lang="en-US"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indent="0" marL="0">
              <a:buNone/>
            </a:pPr>
            <a:endParaRPr lang="en-US" dirty="0"/>
          </a:p>
        </p:txBody>
      </p:sp>
      <p:pic>
        <p:nvPicPr>
          <p:cNvPr id="25" name="Image 5" descr="/Users/danwahlin/.copilot/session-state/e7427b9a-9d65-4aa2-953c-14cedea46cbc/files/talkdeck/assets/icons/GoGitPullRequest-1A7F37.png">    </p:cNvPr>
          <p:cNvPicPr>
            <a:picLocks noChangeAspect="1"/>
          </p:cNvPicPr>
          <p:nvPr/>
        </p:nvPicPr>
        <p:blipFill>
          <a:blip r:embed="rId6"/>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algn="l" indent="0" marL="0">
              <a:buNone/>
            </a:pPr>
            <a:r>
              <a:rPr lang="en-US" sz="1500" b="1" dirty="0">
                <a:solidFill>
                  <a:srgbClr val="1F2328"/>
                </a:solidFill>
                <a:latin typeface="Arial" pitchFamily="34" charset="0"/>
                <a:ea typeface="Arial" pitchFamily="34" charset="-122"/>
                <a:cs typeface="Arial" pitchFamily="34" charset="-120"/>
              </a:rPr>
              <a:t>Review before you accept</a:t>
            </a:r>
            <a:endParaRPr lang="en-US" sz="15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algn="l" indent="0" marL="0">
              <a:lnSpc>
                <a:spcPts val="1430"/>
              </a:lnSpc>
              <a:buNone/>
            </a:pPr>
            <a:r>
              <a:rPr lang="en-US" sz="1100" dirty="0">
                <a:solidFill>
                  <a:srgbClr val="59636E"/>
                </a:solidFill>
                <a:latin typeface="Arial" pitchFamily="34" charset="0"/>
                <a:ea typeface="Arial" pitchFamily="34" charset="-122"/>
                <a:cs typeface="Arial" pitchFamily="34" charset="-120"/>
              </a:rPr>
              <a:t>Check diffs, previews, and files. Then merge.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pic>
        <p:nvPicPr>
          <p:cNvPr id="7" name="Image 2" descr="/Users/danwahlin/.copilot/session-state/e7427b9a-9d65-4aa2-953c-14cedea46cbc/files/talkdeck/assets/icons/GoQuote-8250DF.png">    </p:cNvPr>
          <p:cNvPicPr>
            <a:picLocks noChangeAspect="1"/>
          </p:cNvPicPr>
          <p:nvPr/>
        </p:nvPicPr>
        <p:blipFill>
          <a:blip r:embed="rId3"/>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algn="l" indent="0" marL="0">
              <a:lnSpc>
                <a:spcPts val="4080"/>
              </a:lnSpc>
              <a:buNone/>
            </a:pPr>
            <a:r>
              <a:rPr lang="en-US" sz="3400" b="1" dirty="0">
                <a:solidFill>
                  <a:srgbClr val="1F2328"/>
                </a:solidFill>
                <a:latin typeface="Arial" pitchFamily="34" charset="0"/>
                <a:ea typeface="Arial" pitchFamily="34" charset="-122"/>
                <a:cs typeface="Arial" pitchFamily="34" charset="-120"/>
              </a:rPr>
              <a:t>“The best way to predict the future is to invent it.”</a:t>
            </a:r>
            <a:endParaRPr lang="en-US" sz="3400" dirty="0"/>
          </a:p>
        </p:txBody>
      </p:sp>
      <p:sp>
        <p:nvSpPr>
          <p:cNvPr id="9" name="Text 4"/>
          <p:cNvSpPr/>
          <p:nvPr/>
        </p:nvSpPr>
        <p:spPr>
          <a:xfrm>
            <a:off x="888950" y="3403550"/>
            <a:ext cx="609600" cy="50750"/>
          </a:xfrm>
          <a:prstGeom prst="rect">
            <a:avLst/>
          </a:prstGeom>
          <a:solidFill>
            <a:srgbClr val="8250DF"/>
          </a:solidFill>
          <a:ln/>
        </p:spPr>
        <p:txBody>
          <a:bodyPr wrap="square" rtlCol="0" anchor="ctr"/>
          <a:lstStyle/>
          <a:p>
            <a:pPr indent="0" marL="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algn="l" indent="0" marL="0">
              <a:buNone/>
            </a:pPr>
            <a:r>
              <a:rPr lang="en-US" sz="1600" b="1" dirty="0">
                <a:solidFill>
                  <a:srgbClr val="1F2328"/>
                </a:solidFill>
                <a:latin typeface="Arial" pitchFamily="34" charset="0"/>
                <a:ea typeface="Arial" pitchFamily="34" charset="-122"/>
                <a:cs typeface="Arial" pitchFamily="34" charset="-120"/>
              </a:rPr>
              <a:t>Alan Kay</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algn="l" indent="0" marL="0">
              <a:buNone/>
            </a:pPr>
            <a:r>
              <a:rPr lang="en-US" sz="1300" dirty="0">
                <a:solidFill>
                  <a:srgbClr val="59636E"/>
                </a:solidFill>
                <a:latin typeface="Arial" pitchFamily="34" charset="0"/>
                <a:ea typeface="Arial" pitchFamily="34" charset="-122"/>
                <a:cs typeface="Arial" pitchFamily="34" charset="-120"/>
              </a:rPr>
              <a:t>Computer scientist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indent="0" marL="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algn="ctr" indent="0" marL="0">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algn="l" indent="0" marL="0">
              <a:buNone/>
            </a:pPr>
            <a:r>
              <a:rPr lang="en-US" sz="950" b="1" dirty="0">
                <a:solidFill>
                  <a:srgbClr val="1A7F37"/>
                </a:solidFill>
                <a:latin typeface="Arial" pitchFamily="34" charset="0"/>
                <a:ea typeface="Arial" pitchFamily="34" charset="-122"/>
                <a:cs typeface="Arial" pitchFamily="34" charset="-120"/>
              </a:rPr>
              <a:t>START TODAY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algn="l" indent="0" marL="0">
              <a:buNone/>
            </a:pPr>
            <a:r>
              <a:rPr lang="en-US" sz="2400" b="1" dirty="0">
                <a:solidFill>
                  <a:srgbClr val="1F2328"/>
                </a:solidFill>
                <a:latin typeface="Arial" pitchFamily="34" charset="0"/>
                <a:ea typeface="Arial" pitchFamily="34" charset="-122"/>
                <a:cs typeface="Arial" pitchFamily="34" charset="-120"/>
              </a:rPr>
              <a:t>Hand off one task this week</a:t>
            </a:r>
            <a:endParaRPr lang="en-US" sz="2400" dirty="0"/>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indent="0" marL="0">
              <a:buNone/>
            </a:pPr>
            <a:endParaRPr lang="en-US" dirty="0"/>
          </a:p>
        </p:txBody>
      </p:sp>
      <p:pic>
        <p:nvPicPr>
          <p:cNvPr id="10" name="Image 2" descr="/Users/danwahlin/.copilot/session-state/e7427b9a-9d65-4aa2-953c-14cedea46cbc/files/talkdeck/assets/icons/GoCode-0969DA.png">    </p:cNvPr>
          <p:cNvPicPr>
            <a:picLocks noChangeAspect="1"/>
          </p:cNvPicPr>
          <p:nvPr/>
        </p:nvPicPr>
        <p:blipFill>
          <a:blip r:embed="rId3"/>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Developers</a:t>
            </a:r>
            <a:endParaRPr lang="en-US" sz="1250" dirty="0"/>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13" name="Text 8"/>
          <p:cNvSpPr/>
          <p:nvPr/>
        </p:nvSpPr>
        <p:spPr>
          <a:xfrm>
            <a:off x="7620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Fix the bug in issue 42 and add a test.</a:t>
            </a:r>
            <a:endParaRPr lang="en-US" sz="1000" dirty="0"/>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indent="0" marL="0">
              <a:buNone/>
            </a:pPr>
            <a:endParaRPr lang="en-US" dirty="0"/>
          </a:p>
        </p:txBody>
      </p:sp>
      <p:pic>
        <p:nvPicPr>
          <p:cNvPr id="16" name="Image 3" descr="/Users/danwahlin/.copilot/session-state/e7427b9a-9d65-4aa2-953c-14cedea46cbc/files/talkdeck/assets/icons/GoProject-8250DF.png">    </p:cNvPr>
          <p:cNvPicPr>
            <a:picLocks noChangeAspect="1"/>
          </p:cNvPicPr>
          <p:nvPr/>
        </p:nvPicPr>
        <p:blipFill>
          <a:blip r:embed="rId4"/>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Project managers</a:t>
            </a:r>
            <a:endParaRPr lang="en-US" sz="1250" dirty="0"/>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19" name="Text 13"/>
          <p:cNvSpPr/>
          <p:nvPr/>
        </p:nvSpPr>
        <p:spPr>
          <a:xfrm>
            <a:off x="2819400" y="2578001"/>
            <a:ext cx="1450797" cy="659606"/>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Make a status brief from this week’s project email.</a:t>
            </a:r>
            <a:endParaRPr lang="en-US" sz="1000" dirty="0"/>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indent="0" marL="0">
              <a:buNone/>
            </a:pPr>
            <a:endParaRPr lang="en-US" dirty="0"/>
          </a:p>
        </p:txBody>
      </p:sp>
      <p:pic>
        <p:nvPicPr>
          <p:cNvPr id="22" name="Image 4" descr="/Users/danwahlin/.copilot/session-state/e7427b9a-9d65-4aa2-953c-14cedea46cbc/files/talkdeck/assets/icons/GoTable-1A7F37.png">    </p:cNvPr>
          <p:cNvPicPr>
            <a:picLocks noChangeAspect="1"/>
          </p:cNvPicPr>
          <p:nvPr/>
        </p:nvPicPr>
        <p:blipFill>
          <a:blip r:embed="rId5"/>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Business analysts</a:t>
            </a:r>
            <a:endParaRPr lang="en-US" sz="1250" dirty="0"/>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25" name="Text 18"/>
          <p:cNvSpPr/>
          <p:nvPr/>
        </p:nvSpPr>
        <p:spPr>
          <a:xfrm>
            <a:off x="48768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Turn this CSV into a workbook with a PivotTable.</a:t>
            </a:r>
            <a:endParaRPr lang="en-US" sz="1000" dirty="0"/>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indent="0" marL="0">
              <a:buNone/>
            </a:pPr>
            <a:endParaRPr lang="en-US" dirty="0"/>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indent="0" marL="0">
              <a:buNone/>
            </a:pPr>
            <a:endParaRPr lang="en-US" dirty="0"/>
          </a:p>
        </p:txBody>
      </p:sp>
      <p:pic>
        <p:nvPicPr>
          <p:cNvPr id="28" name="Image 5" descr="/Users/danwahlin/.copilot/session-state/e7427b9a-9d65-4aa2-953c-14cedea46cbc/files/talkdeck/assets/icons/GoGraph-BC4C00.png">    </p:cNvPr>
          <p:cNvPicPr>
            <a:picLocks noChangeAspect="1"/>
          </p:cNvPicPr>
          <p:nvPr/>
        </p:nvPicPr>
        <p:blipFill>
          <a:blip r:embed="rId6"/>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Leaders</a:t>
            </a:r>
            <a:endParaRPr lang="en-US" sz="1250" dirty="0"/>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indent="0" marL="0">
              <a:buNone/>
            </a:pPr>
            <a:endParaRPr lang="en-US" dirty="0"/>
          </a:p>
        </p:txBody>
      </p:sp>
      <p:sp>
        <p:nvSpPr>
          <p:cNvPr id="31" name="Text 23"/>
          <p:cNvSpPr/>
          <p:nvPr/>
        </p:nvSpPr>
        <p:spPr>
          <a:xfrm>
            <a:off x="6934200" y="2578001"/>
            <a:ext cx="1450797" cy="494705"/>
          </a:xfrm>
          <a:prstGeom prst="rect">
            <a:avLst/>
          </a:prstGeom>
          <a:noFill/>
          <a:ln/>
        </p:spPr>
        <p:txBody>
          <a:bodyPr wrap="square" lIns="0" tIns="0" rIns="0" bIns="0" rtlCol="0" anchor="t"/>
          <a:lstStyle/>
          <a:p>
            <a:pPr algn="l" indent="0" marL="0">
              <a:lnSpc>
                <a:spcPts val="1300"/>
              </a:lnSpc>
              <a:buNone/>
            </a:pPr>
            <a:r>
              <a:rPr lang="en-US" sz="1000" dirty="0">
                <a:solidFill>
                  <a:srgbClr val="1F2328"/>
                </a:solidFill>
                <a:latin typeface="Courier New" pitchFamily="34" charset="0"/>
                <a:ea typeface="Courier New" pitchFamily="34" charset="-122"/>
                <a:cs typeface="Courier New" pitchFamily="34" charset="-120"/>
              </a:rPr>
              <a:t>Make a one-page briefing on this topic.</a:t>
            </a:r>
            <a:endParaRPr lang="en-US" sz="1000" dirty="0"/>
          </a:p>
        </p:txBody>
      </p:sp>
      <p:pic>
        <p:nvPicPr>
          <p:cNvPr id="32" name="Image 6" descr="/Users/danwahlin/.copilot/session-state/e7427b9a-9d65-4aa2-953c-14cedea46cbc/files/talkdeck/assets/qr-course.png">    </p:cNvPr>
          <p:cNvPicPr>
            <a:picLocks noChangeAspect="1"/>
          </p:cNvPicPr>
          <p:nvPr/>
        </p:nvPicPr>
        <p:blipFill>
          <a:blip r:embed="rId7"/>
          <a:stretch>
            <a:fillRect/>
          </a:stretch>
        </p:blipFill>
        <p:spPr>
          <a:xfrm>
            <a:off x="507950" y="3784550"/>
            <a:ext cx="914400" cy="914400"/>
          </a:xfrm>
          <a:prstGeom prst="rect">
            <a:avLst/>
          </a:prstGeom>
        </p:spPr>
      </p:pic>
      <p:sp>
        <p:nvSpPr>
          <p:cNvPr id="33" name="Text 24"/>
          <p:cNvSpPr/>
          <p:nvPr/>
        </p:nvSpPr>
        <p:spPr>
          <a:xfrm>
            <a:off x="1600200" y="3936950"/>
            <a:ext cx="6476899" cy="200025"/>
          </a:xfrm>
          <a:prstGeom prst="rect">
            <a:avLst/>
          </a:prstGeom>
          <a:noFill/>
          <a:ln/>
        </p:spPr>
        <p:txBody>
          <a:bodyPr wrap="square" lIns="0" tIns="0" rIns="0" bIns="0" rtlCol="0" anchor="t"/>
          <a:lstStyle/>
          <a:p>
            <a:pPr algn="l" indent="0" marL="0">
              <a:buNone/>
            </a:pPr>
            <a:r>
              <a:rPr lang="en-US" sz="1300" b="1" dirty="0">
                <a:solidFill>
                  <a:srgbClr val="1F2328"/>
                </a:solidFill>
                <a:latin typeface="Arial" pitchFamily="34" charset="0"/>
                <a:ea typeface="Arial" pitchFamily="34" charset="-122"/>
                <a:cs typeface="Arial" pitchFamily="34" charset="-120"/>
              </a:rPr>
              <a:t>Free course: GitHub Copilot app for beginners</a:t>
            </a:r>
            <a:endParaRPr lang="en-US" sz="1300" dirty="0"/>
          </a:p>
        </p:txBody>
      </p:sp>
      <p:sp>
        <p:nvSpPr>
          <p:cNvPr id="34" name="Text 25"/>
          <p:cNvSpPr/>
          <p:nvPr/>
        </p:nvSpPr>
        <p:spPr>
          <a:xfrm>
            <a:off x="1600200" y="4216301"/>
            <a:ext cx="6476899" cy="171450"/>
          </a:xfrm>
          <a:prstGeom prst="rect">
            <a:avLst/>
          </a:prstGeom>
          <a:noFill/>
          <a:ln/>
        </p:spPr>
        <p:txBody>
          <a:bodyPr wrap="square" lIns="0" tIns="0" rIns="0" bIns="0" rtlCol="0" anchor="t"/>
          <a:lstStyle/>
          <a:p>
            <a:pPr algn="l" indent="0" marL="0">
              <a:buNone/>
            </a:pPr>
            <a:r>
              <a:rPr lang="en-US" sz="1200" dirty="0">
                <a:solidFill>
                  <a:srgbClr val="0969DA"/>
                </a:solidFill>
                <a:latin typeface="Arial" pitchFamily="34" charset="0"/>
                <a:ea typeface="Arial" pitchFamily="34" charset="-122"/>
                <a:cs typeface="Arial" pitchFamily="34" charset="-120"/>
              </a:rPr>
              <a:t>github.com/github/copilot-app-for-beginners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r>
          <p:cNvPicPr>
            <a:picLocks noChangeAspect="1"/>
          </p:cNvPicPr>
          <p:nvPr/>
        </p:nvPicPr>
        <p:blipFill>
          <a:blip r:embed="rId2"/>
          <a:stretch>
            <a:fillRect/>
          </a:stretch>
        </p:blipFill>
        <p:spPr>
          <a:xfrm>
            <a:off x="8610600" y="203150"/>
            <a:ext cx="304800" cy="304800"/>
          </a:xfrm>
          <a:prstGeom prst="rect">
            <a:avLst/>
          </a:prstGeom>
        </p:spPr>
      </p:pic>
      <p:sp>
        <p:nvSpPr>
          <p:cNvPr id="4" name="Text 0"/>
          <p:cNvSpPr/>
          <p:nvPr/>
        </p:nvSpPr>
        <p:spPr>
          <a:xfrm>
            <a:off x="1015901" y="1396901"/>
            <a:ext cx="6217920"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THANK YOU</a:t>
            </a:r>
            <a:endParaRPr lang="en-US" sz="1100" dirty="0"/>
          </a:p>
        </p:txBody>
      </p:sp>
      <p:sp>
        <p:nvSpPr>
          <p:cNvPr id="5" name="Text 1"/>
          <p:cNvSpPr/>
          <p:nvPr/>
        </p:nvSpPr>
        <p:spPr>
          <a:xfrm>
            <a:off x="1015901" y="1650950"/>
            <a:ext cx="6217920" cy="704850"/>
          </a:xfrm>
          <a:prstGeom prst="rect">
            <a:avLst/>
          </a:prstGeom>
          <a:noFill/>
          <a:ln/>
        </p:spPr>
        <p:txBody>
          <a:bodyPr wrap="square" lIns="0" tIns="0" rIns="0" bIns="0" rtlCol="0" anchor="t"/>
          <a:lstStyle/>
          <a:p>
            <a:pPr algn="l" indent="0" marL="0">
              <a:buNone/>
            </a:pPr>
            <a:r>
              <a:rPr lang="en-US" sz="4800" b="1" dirty="0">
                <a:solidFill>
                  <a:srgbClr val="1F2328"/>
                </a:solidFill>
                <a:latin typeface="Arial" pitchFamily="34" charset="0"/>
                <a:ea typeface="Arial" pitchFamily="34" charset="-122"/>
                <a:cs typeface="Arial" pitchFamily="34" charset="-120"/>
              </a:rPr>
              <a:t>Questions?</a:t>
            </a:r>
            <a:endParaRPr lang="en-US" sz="4800" dirty="0"/>
          </a:p>
        </p:txBody>
      </p:sp>
      <p:sp>
        <p:nvSpPr>
          <p:cNvPr id="6" name="Text 2"/>
          <p:cNvSpPr/>
          <p:nvPr/>
        </p:nvSpPr>
        <p:spPr>
          <a:xfrm>
            <a:off x="1015901" y="2565350"/>
            <a:ext cx="609600" cy="63401"/>
          </a:xfrm>
          <a:prstGeom prst="rect">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19400"/>
            <a:ext cx="5440680" cy="257175"/>
          </a:xfrm>
          <a:prstGeom prst="rect">
            <a:avLst/>
          </a:prstGeom>
          <a:noFill/>
          <a:ln/>
        </p:spPr>
        <p:txBody>
          <a:bodyPr wrap="square" lIns="0" tIns="0" rIns="0" bIns="0" rtlCol="0" anchor="t"/>
          <a:lstStyle/>
          <a:p>
            <a:pPr algn="l" indent="0" marL="0">
              <a:buNone/>
            </a:pPr>
            <a:r>
              <a:rPr lang="en-US" sz="1700" dirty="0">
                <a:solidFill>
                  <a:srgbClr val="59636E"/>
                </a:solidFill>
                <a:latin typeface="Arial" pitchFamily="34" charset="0"/>
                <a:ea typeface="Arial" pitchFamily="34" charset="-122"/>
                <a:cs typeface="Arial" pitchFamily="34" charset="-120"/>
              </a:rPr>
              <a:t>Bring an idea. Put an agent to work on it.</a:t>
            </a:r>
            <a:endParaRPr lang="en-US" sz="1700" dirty="0"/>
          </a:p>
        </p:txBody>
      </p:sp>
      <p:pic>
        <p:nvPicPr>
          <p:cNvPr id="8" name="Image 2" descr="/Users/danwahlin/.copilot/session-state/e7427b9a-9d65-4aa2-953c-14cedea46cbc/files/talkdeck/assets/mark-blue.png">    </p:cNvPr>
          <p:cNvPicPr>
            <a:picLocks noChangeAspect="1"/>
          </p:cNvPicPr>
          <p:nvPr/>
        </p:nvPicPr>
        <p:blipFill>
          <a:blip r:embed="rId3"/>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1</cp:revision>
  <dcterms:created xsi:type="dcterms:W3CDTF">2026-10-17T07:59:17Z</dcterms:created>
  <dcterms:modified xsi:type="dcterms:W3CDTF">2026-10-17T07:59:17Z</dcterms:modified>
</cp:coreProperties>
</file>