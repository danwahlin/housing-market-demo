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8" d="100"/>
          <a:sy n="168"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287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one idea: you can hand real work to AI agents, run several at once, and stay in control of the result. You will see it for developers, project managers, business analysts, and leaders.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much of your day is real work, and how much is hunting for information and switching between tools? Get a show of hands. The bar is not data. It is the feeling most of us have.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has its own backlog. Developers have bugs and missing tests. Project managers pull status reports together by hand. Analysts move data between systems. Leaders wait on all of that before they decide. Chat helps you get answers, but you still do the steps.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room has more ideas than time. AI agents change the execution side of the equation. You stay the owner of the idea and the judgment.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Derek Sivers wrote this in 2005. A great idea with no execution is worth little. Agents raise the execution side for everyone, not only for people who write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Copilot app is a desktop workspace for agents. Each session is an agent with its own branch and context. You can plan first, hand work to Autopilot, preview results in the app, connect to tools such as WorkIQ through MCP, and schedule automations.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conductor does not play every instrument. The conductor sets the direction, keeps the sections together, and listens for problems. That is your job in the Copilot app. The agents play the parts.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today's orchestra. Each section is a session with its own agent and its own branch. The website, the Excel workbook, the PowerPoint briefing, and the WorkIQ brief all play at the same time. The automation keeps the beat every Monday. You stand in the middle: you plan, you review, and you approve.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story for the demo. One public dataset: the FHFA House Price Index and CFPB HMDA mortgage data. Four people need four different outputs. I will start four agents at the same time, one for each output.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is simple. Describe the outcome. For bigger work, read the plan first. Then switch to Autopilot. When the agent is done, you review the diff, the preview, or the file before you accept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Start the website session in Plan mode first, then start the Excel, PowerPoint, and WorkIQ sessions in Autopilot.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what the four agents built while we talked: a deployed website, an analyst workbook with a PivotTable, an executive briefing with native charts, and a session brief from Microsoft 365. Each one took one prompt.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do the steps, but you own the result. Plan mode shows you the approach first. Worktrees keep agents apart. Tool permissions control what runs without asking. And nothing is accepted until you review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Kay said this in 1971. With agents, more people can invent: developers, project managers, analysts, and leaders.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task this week and hand it to an agent. Each role has a first prompt you can use right away. The free course walks through the app step by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4.png"/><Relationship Id="rId1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1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bg-hero.jpg"/>
          <p:cNvPicPr>
            <a:picLocks noChangeAspect="1"/>
          </p:cNvPicPr>
          <p:nvPr/>
        </p:nvPicPr>
        <p:blipFill>
          <a:blip r:embed="rId3"/>
          <a:stretch>
            <a:fillRect/>
          </a:stretch>
        </p:blipFill>
        <p:spPr>
          <a:xfrm>
            <a:off x="0" y="0"/>
            <a:ext cx="9144000" cy="5143500"/>
          </a:xfrm>
          <a:prstGeom prst="rect">
            <a:avLst/>
          </a:prstGeom>
        </p:spPr>
      </p:pic>
      <p:pic>
        <p:nvPicPr>
          <p:cNvPr id="3" name="Image 1" descr="/Users/danwahlin/.copilot/session-state/e7427b9a-9d65-4aa2-953c-14cedea46cbc/files/talkdeck/assets/mark-dark.png"/>
          <p:cNvPicPr>
            <a:picLocks noChangeAspect="1"/>
          </p:cNvPicPr>
          <p:nvPr/>
        </p:nvPicPr>
        <p:blipFill>
          <a:blip r:embed="rId4"/>
          <a:stretch>
            <a:fillRect/>
          </a:stretch>
        </p:blipFill>
        <p:spPr>
          <a:xfrm>
            <a:off x="8610600" y="203150"/>
            <a:ext cx="304800" cy="304800"/>
          </a:xfrm>
          <a:prstGeom prst="rect">
            <a:avLst/>
          </a:prstGeom>
        </p:spPr>
      </p:pic>
      <p:sp>
        <p:nvSpPr>
          <p:cNvPr id="4" name="Text 0"/>
          <p:cNvSpPr/>
          <p:nvPr/>
        </p:nvSpPr>
        <p:spPr>
          <a:xfrm>
            <a:off x="1015901" y="1168301"/>
            <a:ext cx="6217920" cy="152400"/>
          </a:xfrm>
          <a:prstGeom prst="rect">
            <a:avLst/>
          </a:prstGeom>
          <a:noFill/>
          <a:ln/>
        </p:spPr>
        <p:txBody>
          <a:bodyPr wrap="square" lIns="0" tIns="0" rIns="0" bIns="0" rtlCol="0" anchor="t"/>
          <a:lstStyle/>
          <a:p>
            <a:pPr marL="0" indent="0" algn="l">
              <a:buNone/>
            </a:pPr>
            <a:r>
              <a:rPr lang="en-US" sz="1100" b="1" dirty="0">
                <a:solidFill>
                  <a:srgbClr val="1A7F37"/>
                </a:solidFill>
                <a:latin typeface="Arial" pitchFamily="34" charset="0"/>
                <a:ea typeface="Arial" pitchFamily="34" charset="-122"/>
                <a:cs typeface="Arial" pitchFamily="34" charset="-120"/>
              </a:rPr>
              <a:t>FANNIE MAE AI SUMMIT</a:t>
            </a:r>
            <a:endParaRPr lang="en-US" sz="1100" dirty="0"/>
          </a:p>
        </p:txBody>
      </p:sp>
      <p:sp>
        <p:nvSpPr>
          <p:cNvPr id="5" name="Text 1"/>
          <p:cNvSpPr/>
          <p:nvPr/>
        </p:nvSpPr>
        <p:spPr>
          <a:xfrm>
            <a:off x="1015901" y="1422350"/>
            <a:ext cx="6736029" cy="638175"/>
          </a:xfrm>
          <a:prstGeom prst="rect">
            <a:avLst/>
          </a:prstGeom>
          <a:noFill/>
          <a:ln/>
        </p:spPr>
        <p:txBody>
          <a:bodyPr wrap="square" lIns="0" tIns="0" rIns="0" bIns="0" rtlCol="0" anchor="t"/>
          <a:lstStyle/>
          <a:p>
            <a:pPr marL="0" indent="0" algn="l">
              <a:buNone/>
            </a:pPr>
            <a:r>
              <a:rPr lang="en-US" sz="4400" b="1" dirty="0">
                <a:solidFill>
                  <a:srgbClr val="1F2328"/>
                </a:solidFill>
                <a:latin typeface="Arial" pitchFamily="34" charset="0"/>
                <a:ea typeface="Arial" pitchFamily="34" charset="-122"/>
                <a:cs typeface="Arial" pitchFamily="34" charset="-120"/>
              </a:rPr>
              <a:t>Put AI Agents to Work</a:t>
            </a:r>
            <a:endParaRPr lang="en-US" sz="4400" dirty="0"/>
          </a:p>
        </p:txBody>
      </p:sp>
      <p:sp>
        <p:nvSpPr>
          <p:cNvPr id="6" name="Text 2"/>
          <p:cNvSpPr/>
          <p:nvPr/>
        </p:nvSpPr>
        <p:spPr>
          <a:xfrm>
            <a:off x="1015901" y="2260550"/>
            <a:ext cx="609600" cy="63401"/>
          </a:xfrm>
          <a:prstGeom prst="rect">
            <a:avLst/>
          </a:prstGeom>
          <a:solidFill>
            <a:srgbClr val="1A7F37"/>
          </a:solidFill>
          <a:ln/>
        </p:spPr>
        <p:txBody>
          <a:bodyPr wrap="square" rtlCol="0" anchor="ctr"/>
          <a:lstStyle/>
          <a:p>
            <a:pPr marL="0" indent="0">
              <a:buNone/>
            </a:pPr>
            <a:endParaRPr lang="en-US" dirty="0"/>
          </a:p>
        </p:txBody>
      </p:sp>
      <p:sp>
        <p:nvSpPr>
          <p:cNvPr id="7" name="Text 3"/>
          <p:cNvSpPr/>
          <p:nvPr/>
        </p:nvSpPr>
        <p:spPr>
          <a:xfrm>
            <a:off x="1015901" y="2514600"/>
            <a:ext cx="5699659" cy="617041"/>
          </a:xfrm>
          <a:prstGeom prst="rect">
            <a:avLst/>
          </a:prstGeom>
          <a:noFill/>
          <a:ln/>
        </p:spPr>
        <p:txBody>
          <a:bodyPr wrap="square" lIns="0" tIns="0" rIns="0" bIns="0" rtlCol="0" anchor="t"/>
          <a:lstStyle/>
          <a:p>
            <a:pPr marL="0" indent="0" algn="l">
              <a:lnSpc>
                <a:spcPts val="2430"/>
              </a:lnSpc>
              <a:buNone/>
            </a:pPr>
            <a:r>
              <a:rPr lang="en-US" sz="1800" dirty="0">
                <a:solidFill>
                  <a:srgbClr val="59636E"/>
                </a:solidFill>
                <a:latin typeface="Arial" pitchFamily="34" charset="0"/>
                <a:ea typeface="Arial" pitchFamily="34" charset="-122"/>
                <a:cs typeface="Arial" pitchFamily="34" charset="-120"/>
              </a:rPr>
              <a:t>The GitHub Copilot app for developers, knowledge workers, and leaders</a:t>
            </a:r>
            <a:endParaRPr lang="en-US" sz="1800" dirty="0"/>
          </a:p>
        </p:txBody>
      </p:sp>
      <p:pic>
        <p:nvPicPr>
          <p:cNvPr id="8" name="Image 2" descr="/Users/danwahlin/.copilot/session-state/e7427b9a-9d65-4aa2-953c-14cedea46cbc/files/talkdeck/assets/mark-blue.png"/>
          <p:cNvPicPr>
            <a:picLocks noChangeAspect="1"/>
          </p:cNvPicPr>
          <p:nvPr/>
        </p:nvPicPr>
        <p:blipFill>
          <a:blip r:embed="rId5"/>
          <a:stretch>
            <a:fillRect/>
          </a:stretch>
        </p:blipFill>
        <p:spPr>
          <a:xfrm>
            <a:off x="1015901" y="3810000"/>
            <a:ext cx="203150" cy="203150"/>
          </a:xfrm>
          <a:prstGeom prst="rect">
            <a:avLst/>
          </a:prstGeom>
        </p:spPr>
      </p:pic>
      <p:sp>
        <p:nvSpPr>
          <p:cNvPr id="9" name="Text 4"/>
          <p:cNvSpPr/>
          <p:nvPr/>
        </p:nvSpPr>
        <p:spPr>
          <a:xfrm>
            <a:off x="1308050" y="3822650"/>
            <a:ext cx="3886200" cy="190500"/>
          </a:xfrm>
          <a:prstGeom prst="rect">
            <a:avLst/>
          </a:prstGeom>
          <a:noFill/>
          <a:ln/>
        </p:spPr>
        <p:txBody>
          <a:bodyPr wrap="square" lIns="0" tIns="0" rIns="0" bIns="0" rtlCol="0" anchor="t"/>
          <a:lstStyle/>
          <a:p>
            <a:pPr marL="0" indent="0" algn="l">
              <a:buNone/>
            </a:pPr>
            <a:r>
              <a:rPr lang="en-US" sz="1250" b="1" dirty="0">
                <a:solidFill>
                  <a:srgbClr val="0969DA"/>
                </a:solidFill>
                <a:latin typeface="Arial" pitchFamily="34" charset="0"/>
                <a:ea typeface="Arial" pitchFamily="34" charset="-122"/>
                <a:cs typeface="Arial" pitchFamily="34" charset="-120"/>
              </a:rPr>
              <a:t>Dan Wahlin · GitHub</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START WITH A QUESTION</a:t>
            </a:r>
            <a:endParaRPr lang="en-US" sz="950" dirty="0"/>
          </a:p>
        </p:txBody>
      </p:sp>
      <p:sp>
        <p:nvSpPr>
          <p:cNvPr id="7" name="Text 3"/>
          <p:cNvSpPr/>
          <p:nvPr/>
        </p:nvSpPr>
        <p:spPr>
          <a:xfrm>
            <a:off x="507950" y="787301"/>
            <a:ext cx="7254139" cy="1168003"/>
          </a:xfrm>
          <a:prstGeom prst="rect">
            <a:avLst/>
          </a:prstGeom>
          <a:noFill/>
          <a:ln/>
        </p:spPr>
        <p:txBody>
          <a:bodyPr wrap="square" lIns="0" tIns="0" rIns="0" bIns="0" rtlCol="0" anchor="t"/>
          <a:lstStyle/>
          <a:p>
            <a:pPr marL="0" indent="0" algn="l">
              <a:lnSpc>
                <a:spcPts val="4600"/>
              </a:lnSpc>
              <a:buNone/>
            </a:pPr>
            <a:r>
              <a:rPr lang="en-US" sz="4000" b="1" dirty="0">
                <a:solidFill>
                  <a:srgbClr val="1F2328"/>
                </a:solidFill>
                <a:latin typeface="Arial" pitchFamily="34" charset="0"/>
                <a:ea typeface="Arial" pitchFamily="34" charset="-122"/>
                <a:cs typeface="Arial" pitchFamily="34" charset="-120"/>
              </a:rPr>
              <a:t>How much of your day is real work?</a:t>
            </a:r>
            <a:endParaRPr lang="en-US" sz="4000" dirty="0"/>
          </a:p>
        </p:txBody>
      </p:sp>
      <p:sp>
        <p:nvSpPr>
          <p:cNvPr id="8" name="Text 4"/>
          <p:cNvSpPr/>
          <p:nvPr/>
        </p:nvSpPr>
        <p:spPr>
          <a:xfrm>
            <a:off x="507950" y="2717750"/>
            <a:ext cx="1295349" cy="142875"/>
          </a:xfrm>
          <a:prstGeom prst="rect">
            <a:avLst/>
          </a:prstGeom>
          <a:noFill/>
          <a:ln/>
        </p:spPr>
        <p:txBody>
          <a:bodyPr wrap="square" lIns="0" tIns="0" rIns="0" bIns="0" rtlCol="0" anchor="t"/>
          <a:lstStyle/>
          <a:p>
            <a:pPr marL="0" indent="0" algn="l">
              <a:buNone/>
            </a:pPr>
            <a:r>
              <a:rPr lang="en-US" sz="1000" dirty="0">
                <a:solidFill>
                  <a:srgbClr val="59636E"/>
                </a:solidFill>
                <a:latin typeface="Arial" pitchFamily="34" charset="0"/>
                <a:ea typeface="Arial" pitchFamily="34" charset="-122"/>
                <a:cs typeface="Arial" pitchFamily="34" charset="-120"/>
              </a:rPr>
              <a:t>9:00 AM</a:t>
            </a:r>
            <a:endParaRPr lang="en-US" sz="1000" dirty="0"/>
          </a:p>
        </p:txBody>
      </p:sp>
      <p:sp>
        <p:nvSpPr>
          <p:cNvPr id="9" name="Text 5"/>
          <p:cNvSpPr/>
          <p:nvPr/>
        </p:nvSpPr>
        <p:spPr>
          <a:xfrm>
            <a:off x="7340551" y="2717750"/>
            <a:ext cx="1295349" cy="142875"/>
          </a:xfrm>
          <a:prstGeom prst="rect">
            <a:avLst/>
          </a:prstGeom>
          <a:noFill/>
          <a:ln/>
        </p:spPr>
        <p:txBody>
          <a:bodyPr wrap="square" lIns="0" tIns="0" rIns="0" bIns="0" rtlCol="0" anchor="t"/>
          <a:lstStyle/>
          <a:p>
            <a:pPr marL="0" indent="0" algn="r">
              <a:buNone/>
            </a:pPr>
            <a:r>
              <a:rPr lang="en-US" sz="1000" dirty="0">
                <a:solidFill>
                  <a:srgbClr val="59636E"/>
                </a:solidFill>
                <a:latin typeface="Arial" pitchFamily="34" charset="0"/>
                <a:ea typeface="Arial" pitchFamily="34" charset="-122"/>
                <a:cs typeface="Arial" pitchFamily="34" charset="-120"/>
              </a:rPr>
              <a:t>5:00 PM</a:t>
            </a:r>
            <a:endParaRPr lang="en-US" sz="1000" dirty="0"/>
          </a:p>
        </p:txBody>
      </p:sp>
      <p:sp>
        <p:nvSpPr>
          <p:cNvPr id="10" name="Text 6"/>
          <p:cNvSpPr/>
          <p:nvPr/>
        </p:nvSpPr>
        <p:spPr>
          <a:xfrm>
            <a:off x="507950" y="2997101"/>
            <a:ext cx="2120801" cy="660350"/>
          </a:xfrm>
          <a:prstGeom prst="roundRect">
            <a:avLst>
              <a:gd name="adj" fmla="val 15386"/>
            </a:avLst>
          </a:prstGeom>
          <a:solidFill>
            <a:srgbClr val="1A7F37"/>
          </a:solidFill>
          <a:ln/>
        </p:spPr>
        <p:txBody>
          <a:bodyPr wrap="square" rtlCol="0" anchor="ctr"/>
          <a:lstStyle/>
          <a:p>
            <a:pPr marL="0" indent="0">
              <a:buNone/>
            </a:pPr>
            <a:endParaRPr lang="en-US" dirty="0"/>
          </a:p>
        </p:txBody>
      </p:sp>
      <p:sp>
        <p:nvSpPr>
          <p:cNvPr id="11" name="Text 7"/>
          <p:cNvSpPr/>
          <p:nvPr/>
        </p:nvSpPr>
        <p:spPr>
          <a:xfrm>
            <a:off x="634901" y="3238500"/>
            <a:ext cx="1943100" cy="171450"/>
          </a:xfrm>
          <a:prstGeom prst="rect">
            <a:avLst/>
          </a:prstGeom>
          <a:noFill/>
          <a:ln/>
        </p:spPr>
        <p:txBody>
          <a:bodyPr wrap="square" lIns="0" tIns="0" rIns="0" bIns="0" rtlCol="0" anchor="t"/>
          <a:lstStyle/>
          <a:p>
            <a:pPr marL="0" indent="0" algn="l">
              <a:buNone/>
            </a:pPr>
            <a:r>
              <a:rPr lang="en-US" sz="1150" b="1" dirty="0">
                <a:solidFill>
                  <a:srgbClr val="FFFFFF"/>
                </a:solidFill>
                <a:latin typeface="Arial" pitchFamily="34" charset="0"/>
                <a:ea typeface="Arial" pitchFamily="34" charset="-122"/>
                <a:cs typeface="Arial" pitchFamily="34" charset="-120"/>
              </a:rPr>
              <a:t>Real work</a:t>
            </a:r>
            <a:endParaRPr lang="en-US" sz="1150" dirty="0"/>
          </a:p>
        </p:txBody>
      </p:sp>
      <p:sp>
        <p:nvSpPr>
          <p:cNvPr id="12" name="Text 8"/>
          <p:cNvSpPr/>
          <p:nvPr/>
        </p:nvSpPr>
        <p:spPr>
          <a:xfrm>
            <a:off x="2667000" y="2997101"/>
            <a:ext cx="2374850" cy="660350"/>
          </a:xfrm>
          <a:prstGeom prst="roundRect">
            <a:avLst>
              <a:gd name="adj" fmla="val 7693"/>
            </a:avLst>
          </a:prstGeom>
          <a:solidFill>
            <a:srgbClr val="DDF4FF"/>
          </a:solidFill>
          <a:ln/>
        </p:spPr>
        <p:txBody>
          <a:bodyPr wrap="square" rtlCol="0" anchor="ctr"/>
          <a:lstStyle/>
          <a:p>
            <a:pPr marL="0" indent="0">
              <a:buNone/>
            </a:pPr>
            <a:endParaRPr lang="en-US" dirty="0"/>
          </a:p>
        </p:txBody>
      </p:sp>
      <p:sp>
        <p:nvSpPr>
          <p:cNvPr id="13" name="Text 9"/>
          <p:cNvSpPr/>
          <p:nvPr/>
        </p:nvSpPr>
        <p:spPr>
          <a:xfrm>
            <a:off x="2793950" y="3238500"/>
            <a:ext cx="2202079" cy="171450"/>
          </a:xfrm>
          <a:prstGeom prst="rect">
            <a:avLst/>
          </a:prstGeom>
          <a:noFill/>
          <a:ln/>
        </p:spPr>
        <p:txBody>
          <a:bodyPr wrap="square" lIns="0" tIns="0" rIns="0" bIns="0" rtlCol="0" anchor="t"/>
          <a:lstStyle/>
          <a:p>
            <a:pPr marL="0" indent="0" algn="l">
              <a:buNone/>
            </a:pPr>
            <a:r>
              <a:rPr lang="en-US" sz="1150" b="1" dirty="0">
                <a:solidFill>
                  <a:srgbClr val="0969DA"/>
                </a:solidFill>
                <a:latin typeface="Arial" pitchFamily="34" charset="0"/>
                <a:ea typeface="Arial" pitchFamily="34" charset="-122"/>
                <a:cs typeface="Arial" pitchFamily="34" charset="-120"/>
              </a:rPr>
              <a:t>Hunting for information</a:t>
            </a:r>
            <a:endParaRPr lang="en-US" sz="1150" dirty="0"/>
          </a:p>
        </p:txBody>
      </p:sp>
      <p:sp>
        <p:nvSpPr>
          <p:cNvPr id="14" name="Text 10"/>
          <p:cNvSpPr/>
          <p:nvPr/>
        </p:nvSpPr>
        <p:spPr>
          <a:xfrm>
            <a:off x="5079950" y="2997101"/>
            <a:ext cx="1866900" cy="660350"/>
          </a:xfrm>
          <a:prstGeom prst="roundRect">
            <a:avLst>
              <a:gd name="adj" fmla="val 7693"/>
            </a:avLst>
          </a:prstGeom>
          <a:solidFill>
            <a:srgbClr val="FBEFFF"/>
          </a:solidFill>
          <a:ln/>
        </p:spPr>
        <p:txBody>
          <a:bodyPr wrap="square" rtlCol="0" anchor="ctr"/>
          <a:lstStyle/>
          <a:p>
            <a:pPr marL="0" indent="0">
              <a:buNone/>
            </a:pPr>
            <a:endParaRPr lang="en-US" dirty="0"/>
          </a:p>
        </p:txBody>
      </p:sp>
      <p:sp>
        <p:nvSpPr>
          <p:cNvPr id="15" name="Text 11"/>
          <p:cNvSpPr/>
          <p:nvPr/>
        </p:nvSpPr>
        <p:spPr>
          <a:xfrm>
            <a:off x="5206901" y="3238500"/>
            <a:ext cx="1683969" cy="171450"/>
          </a:xfrm>
          <a:prstGeom prst="rect">
            <a:avLst/>
          </a:prstGeom>
          <a:noFill/>
          <a:ln/>
        </p:spPr>
        <p:txBody>
          <a:bodyPr wrap="square" lIns="0" tIns="0" rIns="0" bIns="0" rtlCol="0" anchor="t"/>
          <a:lstStyle/>
          <a:p>
            <a:pPr marL="0" indent="0" algn="l">
              <a:buNone/>
            </a:pPr>
            <a:r>
              <a:rPr lang="en-US" sz="1150" b="1" dirty="0">
                <a:solidFill>
                  <a:srgbClr val="8250DF"/>
                </a:solidFill>
                <a:latin typeface="Arial" pitchFamily="34" charset="0"/>
                <a:ea typeface="Arial" pitchFamily="34" charset="-122"/>
                <a:cs typeface="Arial" pitchFamily="34" charset="-120"/>
              </a:rPr>
              <a:t>Switching tools</a:t>
            </a:r>
            <a:endParaRPr lang="en-US" sz="1150" dirty="0"/>
          </a:p>
        </p:txBody>
      </p:sp>
      <p:sp>
        <p:nvSpPr>
          <p:cNvPr id="16" name="Text 12"/>
          <p:cNvSpPr/>
          <p:nvPr/>
        </p:nvSpPr>
        <p:spPr>
          <a:xfrm>
            <a:off x="6984950" y="2997101"/>
            <a:ext cx="1612850" cy="660350"/>
          </a:xfrm>
          <a:prstGeom prst="roundRect">
            <a:avLst>
              <a:gd name="adj" fmla="val 7693"/>
            </a:avLst>
          </a:prstGeom>
          <a:solidFill>
            <a:srgbClr val="FFF1E5"/>
          </a:solidFill>
          <a:ln/>
        </p:spPr>
        <p:txBody>
          <a:bodyPr wrap="square" rtlCol="0" anchor="ctr"/>
          <a:lstStyle/>
          <a:p>
            <a:pPr marL="0" indent="0">
              <a:buNone/>
            </a:pPr>
            <a:endParaRPr lang="en-US" dirty="0"/>
          </a:p>
        </p:txBody>
      </p:sp>
      <p:sp>
        <p:nvSpPr>
          <p:cNvPr id="17" name="Text 13"/>
          <p:cNvSpPr/>
          <p:nvPr/>
        </p:nvSpPr>
        <p:spPr>
          <a:xfrm>
            <a:off x="7111901" y="3238500"/>
            <a:ext cx="1424839" cy="171450"/>
          </a:xfrm>
          <a:prstGeom prst="rect">
            <a:avLst/>
          </a:prstGeom>
          <a:noFill/>
          <a:ln/>
        </p:spPr>
        <p:txBody>
          <a:bodyPr wrap="square" lIns="0" tIns="0" rIns="0" bIns="0" rtlCol="0" anchor="t"/>
          <a:lstStyle/>
          <a:p>
            <a:pPr marL="0" indent="0" algn="l">
              <a:buNone/>
            </a:pPr>
            <a:r>
              <a:rPr lang="en-US" sz="1150" b="1" dirty="0">
                <a:solidFill>
                  <a:srgbClr val="BC4C00"/>
                </a:solidFill>
                <a:latin typeface="Arial" pitchFamily="34" charset="0"/>
                <a:ea typeface="Arial" pitchFamily="34" charset="-122"/>
                <a:cs typeface="Arial" pitchFamily="34" charset="-120"/>
              </a:rPr>
              <a:t>Waiting on others</a:t>
            </a:r>
            <a:endParaRPr lang="en-US" sz="1150" dirty="0"/>
          </a:p>
        </p:txBody>
      </p:sp>
      <p:sp>
        <p:nvSpPr>
          <p:cNvPr id="18" name="Text 14"/>
          <p:cNvSpPr/>
          <p:nvPr/>
        </p:nvSpPr>
        <p:spPr>
          <a:xfrm>
            <a:off x="507950" y="3962400"/>
            <a:ext cx="8290509" cy="419100"/>
          </a:xfrm>
          <a:prstGeom prst="rect">
            <a:avLst/>
          </a:prstGeom>
          <a:noFill/>
          <a:ln/>
        </p:spPr>
        <p:txBody>
          <a:bodyPr wrap="square" lIns="0" tIns="0" rIns="0" bIns="0" rtlCol="0" anchor="t"/>
          <a:lstStyle/>
          <a:p>
            <a:pPr marL="0" indent="0" algn="l">
              <a:buNone/>
            </a:pPr>
            <a:r>
              <a:rPr lang="en-US" sz="1400" dirty="0">
                <a:solidFill>
                  <a:srgbClr val="59636E"/>
                </a:solidFill>
                <a:latin typeface="Arial" pitchFamily="34" charset="0"/>
                <a:ea typeface="Arial" pitchFamily="34" charset="-122"/>
                <a:cs typeface="Arial" pitchFamily="34" charset="-120"/>
              </a:rPr>
              <a:t>Developers, project managers, analysts, and leaders all know this bar. The green part is the part you were hired for.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THE CHALLENGE</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Every role has work that waits</a:t>
            </a:r>
            <a:endParaRPr lang="en-US" sz="2400" dirty="0"/>
          </a:p>
        </p:txBody>
      </p:sp>
      <p:sp>
        <p:nvSpPr>
          <p:cNvPr id="8" name="Text 4"/>
          <p:cNvSpPr/>
          <p:nvPr/>
        </p:nvSpPr>
        <p:spPr>
          <a:xfrm>
            <a:off x="507950" y="1524000"/>
            <a:ext cx="1924050" cy="220340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9" name="Text 5"/>
          <p:cNvSpPr/>
          <p:nvPr/>
        </p:nvSpPr>
        <p:spPr>
          <a:xfrm>
            <a:off x="711101" y="1727150"/>
            <a:ext cx="533400" cy="533400"/>
          </a:xfrm>
          <a:prstGeom prst="roundRect">
            <a:avLst>
              <a:gd name="adj" fmla="val 171429"/>
            </a:avLst>
          </a:prstGeom>
          <a:solidFill>
            <a:srgbClr val="DDF4FF"/>
          </a:solidFill>
          <a:ln/>
        </p:spPr>
        <p:txBody>
          <a:bodyPr wrap="square" rtlCol="0" anchor="ctr"/>
          <a:lstStyle/>
          <a:p>
            <a:pPr marL="0" indent="0">
              <a:buNone/>
            </a:pPr>
            <a:endParaRPr lang="en-US" dirty="0"/>
          </a:p>
        </p:txBody>
      </p:sp>
      <p:pic>
        <p:nvPicPr>
          <p:cNvPr id="10" name="Image 2" descr="/Users/danwahlin/.copilot/session-state/e7427b9a-9d65-4aa2-953c-14cedea46cbc/files/talkdeck/assets/icons/GoCode-0969DA.png"/>
          <p:cNvPicPr>
            <a:picLocks noChangeAspect="1"/>
          </p:cNvPicPr>
          <p:nvPr/>
        </p:nvPicPr>
        <p:blipFill>
          <a:blip r:embed="rId5"/>
          <a:stretch>
            <a:fillRect/>
          </a:stretch>
        </p:blipFill>
        <p:spPr>
          <a:xfrm>
            <a:off x="844451" y="1860500"/>
            <a:ext cx="266700" cy="266700"/>
          </a:xfrm>
          <a:prstGeom prst="rect">
            <a:avLst/>
          </a:prstGeom>
        </p:spPr>
      </p:pic>
      <p:sp>
        <p:nvSpPr>
          <p:cNvPr id="11" name="Text 6"/>
          <p:cNvSpPr/>
          <p:nvPr/>
        </p:nvSpPr>
        <p:spPr>
          <a:xfrm>
            <a:off x="711101" y="2438400"/>
            <a:ext cx="1683969" cy="200025"/>
          </a:xfrm>
          <a:prstGeom prst="rect">
            <a:avLst/>
          </a:prstGeom>
          <a:noFill/>
          <a:ln/>
        </p:spPr>
        <p:txBody>
          <a:bodyPr wrap="square" lIns="0" tIns="0" rIns="0" bIns="0" rtlCol="0" anchor="t"/>
          <a:lstStyle/>
          <a:p>
            <a:pPr marL="0" indent="0" algn="l">
              <a:buNone/>
            </a:pPr>
            <a:r>
              <a:rPr lang="en-US" sz="1300" b="1" dirty="0">
                <a:solidFill>
                  <a:srgbClr val="1F2328"/>
                </a:solidFill>
                <a:latin typeface="Arial" pitchFamily="34" charset="0"/>
                <a:ea typeface="Arial" pitchFamily="34" charset="-122"/>
                <a:cs typeface="Arial" pitchFamily="34" charset="-120"/>
              </a:rPr>
              <a:t>Developers</a:t>
            </a:r>
            <a:endParaRPr lang="en-US" sz="1300" dirty="0"/>
          </a:p>
        </p:txBody>
      </p:sp>
      <p:sp>
        <p:nvSpPr>
          <p:cNvPr id="12" name="Text 7"/>
          <p:cNvSpPr/>
          <p:nvPr/>
        </p:nvSpPr>
        <p:spPr>
          <a:xfrm>
            <a:off x="711101" y="2743200"/>
            <a:ext cx="1580287" cy="379512"/>
          </a:xfrm>
          <a:prstGeom prst="rect">
            <a:avLst/>
          </a:prstGeom>
          <a:noFill/>
          <a:ln/>
        </p:spPr>
        <p:txBody>
          <a:bodyPr wrap="square" lIns="0" tIns="0" rIns="0" bIns="0" rtlCol="0" anchor="t"/>
          <a:lstStyle/>
          <a:p>
            <a:pPr marL="0" indent="0" algn="l">
              <a:lnSpc>
                <a:spcPts val="1495"/>
              </a:lnSpc>
              <a:buNone/>
            </a:pPr>
            <a:r>
              <a:rPr lang="en-US" sz="1150" dirty="0">
                <a:solidFill>
                  <a:srgbClr val="59636E"/>
                </a:solidFill>
                <a:latin typeface="Arial" pitchFamily="34" charset="0"/>
                <a:ea typeface="Arial" pitchFamily="34" charset="-122"/>
                <a:cs typeface="Arial" pitchFamily="34" charset="-120"/>
              </a:rPr>
              <a:t>Bugs and missing tests wait in the backlog.</a:t>
            </a:r>
            <a:endParaRPr lang="en-US" sz="1150" dirty="0"/>
          </a:p>
        </p:txBody>
      </p:sp>
      <p:sp>
        <p:nvSpPr>
          <p:cNvPr id="13" name="Text 8"/>
          <p:cNvSpPr/>
          <p:nvPr/>
        </p:nvSpPr>
        <p:spPr>
          <a:xfrm>
            <a:off x="2565350" y="1524000"/>
            <a:ext cx="1924050" cy="220340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14" name="Text 9"/>
          <p:cNvSpPr/>
          <p:nvPr/>
        </p:nvSpPr>
        <p:spPr>
          <a:xfrm>
            <a:off x="2768501" y="1727150"/>
            <a:ext cx="533400" cy="533400"/>
          </a:xfrm>
          <a:prstGeom prst="roundRect">
            <a:avLst>
              <a:gd name="adj" fmla="val 171429"/>
            </a:avLst>
          </a:prstGeom>
          <a:solidFill>
            <a:srgbClr val="FBEFFF"/>
          </a:solidFill>
          <a:ln/>
        </p:spPr>
        <p:txBody>
          <a:bodyPr wrap="square" rtlCol="0" anchor="ctr"/>
          <a:lstStyle/>
          <a:p>
            <a:pPr marL="0" indent="0">
              <a:buNone/>
            </a:pPr>
            <a:endParaRPr lang="en-US" dirty="0"/>
          </a:p>
        </p:txBody>
      </p:sp>
      <p:pic>
        <p:nvPicPr>
          <p:cNvPr id="15" name="Image 3" descr="/Users/danwahlin/.copilot/session-state/e7427b9a-9d65-4aa2-953c-14cedea46cbc/files/talkdeck/assets/icons/GoProject-8250DF.png"/>
          <p:cNvPicPr>
            <a:picLocks noChangeAspect="1"/>
          </p:cNvPicPr>
          <p:nvPr/>
        </p:nvPicPr>
        <p:blipFill>
          <a:blip r:embed="rId6"/>
          <a:stretch>
            <a:fillRect/>
          </a:stretch>
        </p:blipFill>
        <p:spPr>
          <a:xfrm>
            <a:off x="2901851" y="1860500"/>
            <a:ext cx="266700" cy="266700"/>
          </a:xfrm>
          <a:prstGeom prst="rect">
            <a:avLst/>
          </a:prstGeom>
        </p:spPr>
      </p:pic>
      <p:sp>
        <p:nvSpPr>
          <p:cNvPr id="16" name="Text 10"/>
          <p:cNvSpPr/>
          <p:nvPr/>
        </p:nvSpPr>
        <p:spPr>
          <a:xfrm>
            <a:off x="2768501" y="2438400"/>
            <a:ext cx="1683969" cy="200025"/>
          </a:xfrm>
          <a:prstGeom prst="rect">
            <a:avLst/>
          </a:prstGeom>
          <a:noFill/>
          <a:ln/>
        </p:spPr>
        <p:txBody>
          <a:bodyPr wrap="square" lIns="0" tIns="0" rIns="0" bIns="0" rtlCol="0" anchor="t"/>
          <a:lstStyle/>
          <a:p>
            <a:pPr marL="0" indent="0" algn="l">
              <a:buNone/>
            </a:pPr>
            <a:r>
              <a:rPr lang="en-US" sz="1300" b="1" dirty="0">
                <a:solidFill>
                  <a:srgbClr val="1F2328"/>
                </a:solidFill>
                <a:latin typeface="Arial" pitchFamily="34" charset="0"/>
                <a:ea typeface="Arial" pitchFamily="34" charset="-122"/>
                <a:cs typeface="Arial" pitchFamily="34" charset="-120"/>
              </a:rPr>
              <a:t>Project managers</a:t>
            </a:r>
            <a:endParaRPr lang="en-US" sz="1300" dirty="0"/>
          </a:p>
        </p:txBody>
      </p:sp>
      <p:sp>
        <p:nvSpPr>
          <p:cNvPr id="17" name="Text 11"/>
          <p:cNvSpPr/>
          <p:nvPr/>
        </p:nvSpPr>
        <p:spPr>
          <a:xfrm>
            <a:off x="2768501" y="2743200"/>
            <a:ext cx="1580287" cy="569268"/>
          </a:xfrm>
          <a:prstGeom prst="rect">
            <a:avLst/>
          </a:prstGeom>
          <a:noFill/>
          <a:ln/>
        </p:spPr>
        <p:txBody>
          <a:bodyPr wrap="square" lIns="0" tIns="0" rIns="0" bIns="0" rtlCol="0" anchor="t"/>
          <a:lstStyle/>
          <a:p>
            <a:pPr marL="0" indent="0" algn="l">
              <a:lnSpc>
                <a:spcPts val="1495"/>
              </a:lnSpc>
              <a:buNone/>
            </a:pPr>
            <a:r>
              <a:rPr lang="en-US" sz="1150" dirty="0">
                <a:solidFill>
                  <a:srgbClr val="59636E"/>
                </a:solidFill>
                <a:latin typeface="Arial" pitchFamily="34" charset="0"/>
                <a:ea typeface="Arial" pitchFamily="34" charset="-122"/>
                <a:cs typeface="Arial" pitchFamily="34" charset="-120"/>
              </a:rPr>
              <a:t>Status reports get built by hand from email and meetings.</a:t>
            </a:r>
            <a:endParaRPr lang="en-US" sz="1150" dirty="0"/>
          </a:p>
        </p:txBody>
      </p:sp>
      <p:sp>
        <p:nvSpPr>
          <p:cNvPr id="18" name="Text 12"/>
          <p:cNvSpPr/>
          <p:nvPr/>
        </p:nvSpPr>
        <p:spPr>
          <a:xfrm>
            <a:off x="4622750" y="1524000"/>
            <a:ext cx="1924050" cy="220340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19" name="Text 13"/>
          <p:cNvSpPr/>
          <p:nvPr/>
        </p:nvSpPr>
        <p:spPr>
          <a:xfrm>
            <a:off x="4825901" y="1727150"/>
            <a:ext cx="533400" cy="533400"/>
          </a:xfrm>
          <a:prstGeom prst="roundRect">
            <a:avLst>
              <a:gd name="adj" fmla="val 171429"/>
            </a:avLst>
          </a:prstGeom>
          <a:solidFill>
            <a:srgbClr val="DAFBE1"/>
          </a:solidFill>
          <a:ln/>
        </p:spPr>
        <p:txBody>
          <a:bodyPr wrap="square" rtlCol="0" anchor="ctr"/>
          <a:lstStyle/>
          <a:p>
            <a:pPr marL="0" indent="0">
              <a:buNone/>
            </a:pPr>
            <a:endParaRPr lang="en-US" dirty="0"/>
          </a:p>
        </p:txBody>
      </p:sp>
      <p:pic>
        <p:nvPicPr>
          <p:cNvPr id="20" name="Image 4" descr="/Users/danwahlin/.copilot/session-state/e7427b9a-9d65-4aa2-953c-14cedea46cbc/files/talkdeck/assets/icons/GoTable-1A7F37.png"/>
          <p:cNvPicPr>
            <a:picLocks noChangeAspect="1"/>
          </p:cNvPicPr>
          <p:nvPr/>
        </p:nvPicPr>
        <p:blipFill>
          <a:blip r:embed="rId7"/>
          <a:stretch>
            <a:fillRect/>
          </a:stretch>
        </p:blipFill>
        <p:spPr>
          <a:xfrm>
            <a:off x="4959251" y="1860500"/>
            <a:ext cx="266700" cy="266700"/>
          </a:xfrm>
          <a:prstGeom prst="rect">
            <a:avLst/>
          </a:prstGeom>
        </p:spPr>
      </p:pic>
      <p:sp>
        <p:nvSpPr>
          <p:cNvPr id="21" name="Text 14"/>
          <p:cNvSpPr/>
          <p:nvPr/>
        </p:nvSpPr>
        <p:spPr>
          <a:xfrm>
            <a:off x="4825901" y="2438400"/>
            <a:ext cx="1683969" cy="200025"/>
          </a:xfrm>
          <a:prstGeom prst="rect">
            <a:avLst/>
          </a:prstGeom>
          <a:noFill/>
          <a:ln/>
        </p:spPr>
        <p:txBody>
          <a:bodyPr wrap="square" lIns="0" tIns="0" rIns="0" bIns="0" rtlCol="0" anchor="t"/>
          <a:lstStyle/>
          <a:p>
            <a:pPr marL="0" indent="0" algn="l">
              <a:buNone/>
            </a:pPr>
            <a:r>
              <a:rPr lang="en-US" sz="1300" b="1" dirty="0">
                <a:solidFill>
                  <a:srgbClr val="1F2328"/>
                </a:solidFill>
                <a:latin typeface="Arial" pitchFamily="34" charset="0"/>
                <a:ea typeface="Arial" pitchFamily="34" charset="-122"/>
                <a:cs typeface="Arial" pitchFamily="34" charset="-120"/>
              </a:rPr>
              <a:t>Business analysts</a:t>
            </a:r>
            <a:endParaRPr lang="en-US" sz="1300" dirty="0"/>
          </a:p>
        </p:txBody>
      </p:sp>
      <p:sp>
        <p:nvSpPr>
          <p:cNvPr id="22" name="Text 15"/>
          <p:cNvSpPr/>
          <p:nvPr/>
        </p:nvSpPr>
        <p:spPr>
          <a:xfrm>
            <a:off x="4825901" y="2743200"/>
            <a:ext cx="1580287" cy="569268"/>
          </a:xfrm>
          <a:prstGeom prst="rect">
            <a:avLst/>
          </a:prstGeom>
          <a:noFill/>
          <a:ln/>
        </p:spPr>
        <p:txBody>
          <a:bodyPr wrap="square" lIns="0" tIns="0" rIns="0" bIns="0" rtlCol="0" anchor="t"/>
          <a:lstStyle/>
          <a:p>
            <a:pPr marL="0" indent="0" algn="l">
              <a:lnSpc>
                <a:spcPts val="1495"/>
              </a:lnSpc>
              <a:buNone/>
            </a:pPr>
            <a:r>
              <a:rPr lang="en-US" sz="1150" dirty="0">
                <a:solidFill>
                  <a:srgbClr val="59636E"/>
                </a:solidFill>
                <a:latin typeface="Arial" pitchFamily="34" charset="0"/>
                <a:ea typeface="Arial" pitchFamily="34" charset="-122"/>
                <a:cs typeface="Arial" pitchFamily="34" charset="-120"/>
              </a:rPr>
              <a:t>Data moves between spreadsheets and systems by hand.</a:t>
            </a:r>
            <a:endParaRPr lang="en-US" sz="1150" dirty="0"/>
          </a:p>
        </p:txBody>
      </p:sp>
      <p:sp>
        <p:nvSpPr>
          <p:cNvPr id="23" name="Text 16"/>
          <p:cNvSpPr/>
          <p:nvPr/>
        </p:nvSpPr>
        <p:spPr>
          <a:xfrm>
            <a:off x="6680150" y="1524000"/>
            <a:ext cx="1924050" cy="220340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24" name="Text 17"/>
          <p:cNvSpPr/>
          <p:nvPr/>
        </p:nvSpPr>
        <p:spPr>
          <a:xfrm>
            <a:off x="6883301" y="1727150"/>
            <a:ext cx="533400" cy="533400"/>
          </a:xfrm>
          <a:prstGeom prst="roundRect">
            <a:avLst>
              <a:gd name="adj" fmla="val 171429"/>
            </a:avLst>
          </a:prstGeom>
          <a:solidFill>
            <a:srgbClr val="FFF1E5"/>
          </a:solidFill>
          <a:ln/>
        </p:spPr>
        <p:txBody>
          <a:bodyPr wrap="square" rtlCol="0" anchor="ctr"/>
          <a:lstStyle/>
          <a:p>
            <a:pPr marL="0" indent="0">
              <a:buNone/>
            </a:pPr>
            <a:endParaRPr lang="en-US" dirty="0"/>
          </a:p>
        </p:txBody>
      </p:sp>
      <p:pic>
        <p:nvPicPr>
          <p:cNvPr id="25" name="Image 5" descr="/Users/danwahlin/.copilot/session-state/e7427b9a-9d65-4aa2-953c-14cedea46cbc/files/talkdeck/assets/icons/GoGraph-BC4C00.png"/>
          <p:cNvPicPr>
            <a:picLocks noChangeAspect="1"/>
          </p:cNvPicPr>
          <p:nvPr/>
        </p:nvPicPr>
        <p:blipFill>
          <a:blip r:embed="rId8"/>
          <a:stretch>
            <a:fillRect/>
          </a:stretch>
        </p:blipFill>
        <p:spPr>
          <a:xfrm>
            <a:off x="7016651" y="1860500"/>
            <a:ext cx="266700" cy="266700"/>
          </a:xfrm>
          <a:prstGeom prst="rect">
            <a:avLst/>
          </a:prstGeom>
        </p:spPr>
      </p:pic>
      <p:sp>
        <p:nvSpPr>
          <p:cNvPr id="26" name="Text 18"/>
          <p:cNvSpPr/>
          <p:nvPr/>
        </p:nvSpPr>
        <p:spPr>
          <a:xfrm>
            <a:off x="6883301" y="2438400"/>
            <a:ext cx="1683969" cy="200025"/>
          </a:xfrm>
          <a:prstGeom prst="rect">
            <a:avLst/>
          </a:prstGeom>
          <a:noFill/>
          <a:ln/>
        </p:spPr>
        <p:txBody>
          <a:bodyPr wrap="square" lIns="0" tIns="0" rIns="0" bIns="0" rtlCol="0" anchor="t"/>
          <a:lstStyle/>
          <a:p>
            <a:pPr marL="0" indent="0" algn="l">
              <a:buNone/>
            </a:pPr>
            <a:r>
              <a:rPr lang="en-US" sz="1300" b="1" dirty="0">
                <a:solidFill>
                  <a:srgbClr val="1F2328"/>
                </a:solidFill>
                <a:latin typeface="Arial" pitchFamily="34" charset="0"/>
                <a:ea typeface="Arial" pitchFamily="34" charset="-122"/>
                <a:cs typeface="Arial" pitchFamily="34" charset="-120"/>
              </a:rPr>
              <a:t>Leaders</a:t>
            </a:r>
            <a:endParaRPr lang="en-US" sz="1300" dirty="0"/>
          </a:p>
        </p:txBody>
      </p:sp>
      <p:sp>
        <p:nvSpPr>
          <p:cNvPr id="27" name="Text 19"/>
          <p:cNvSpPr/>
          <p:nvPr/>
        </p:nvSpPr>
        <p:spPr>
          <a:xfrm>
            <a:off x="6883301" y="2743200"/>
            <a:ext cx="1580287" cy="379512"/>
          </a:xfrm>
          <a:prstGeom prst="rect">
            <a:avLst/>
          </a:prstGeom>
          <a:noFill/>
          <a:ln/>
        </p:spPr>
        <p:txBody>
          <a:bodyPr wrap="square" lIns="0" tIns="0" rIns="0" bIns="0" rtlCol="0" anchor="t"/>
          <a:lstStyle/>
          <a:p>
            <a:pPr marL="0" indent="0" algn="l">
              <a:lnSpc>
                <a:spcPts val="1495"/>
              </a:lnSpc>
              <a:buNone/>
            </a:pPr>
            <a:r>
              <a:rPr lang="en-US" sz="1150" dirty="0">
                <a:solidFill>
                  <a:srgbClr val="59636E"/>
                </a:solidFill>
                <a:latin typeface="Arial" pitchFamily="34" charset="0"/>
                <a:ea typeface="Arial" pitchFamily="34" charset="-122"/>
                <a:cs typeface="Arial" pitchFamily="34" charset="-120"/>
              </a:rPr>
              <a:t>Decisions wait on all of it.</a:t>
            </a:r>
            <a:endParaRPr lang="en-US" sz="1150" dirty="0"/>
          </a:p>
        </p:txBody>
      </p:sp>
      <p:sp>
        <p:nvSpPr>
          <p:cNvPr id="28" name="Text 20"/>
          <p:cNvSpPr/>
          <p:nvPr/>
        </p:nvSpPr>
        <p:spPr>
          <a:xfrm>
            <a:off x="507950" y="3936950"/>
            <a:ext cx="8108900" cy="660350"/>
          </a:xfrm>
          <a:prstGeom prst="roundRect">
            <a:avLst>
              <a:gd name="adj" fmla="val 15386"/>
            </a:avLst>
          </a:prstGeom>
          <a:solidFill>
            <a:srgbClr val="F6F8FA"/>
          </a:solidFill>
          <a:ln/>
        </p:spPr>
        <p:txBody>
          <a:bodyPr wrap="square" rtlCol="0" anchor="ctr"/>
          <a:lstStyle/>
          <a:p>
            <a:pPr marL="0" indent="0">
              <a:buNone/>
            </a:pPr>
            <a:endParaRPr lang="en-US" dirty="0"/>
          </a:p>
        </p:txBody>
      </p:sp>
      <p:sp>
        <p:nvSpPr>
          <p:cNvPr id="29" name="Shape 21"/>
          <p:cNvSpPr/>
          <p:nvPr/>
        </p:nvSpPr>
        <p:spPr>
          <a:xfrm>
            <a:off x="536525" y="3936950"/>
            <a:ext cx="0" cy="660350"/>
          </a:xfrm>
          <a:prstGeom prst="line">
            <a:avLst/>
          </a:prstGeom>
          <a:noFill/>
          <a:ln w="57150">
            <a:solidFill>
              <a:srgbClr val="1F2328"/>
            </a:solidFill>
            <a:prstDash val="solid"/>
          </a:ln>
        </p:spPr>
        <p:txBody>
          <a:bodyPr/>
          <a:lstStyle/>
          <a:p>
            <a:endParaRPr/>
          </a:p>
        </p:txBody>
      </p:sp>
      <p:sp>
        <p:nvSpPr>
          <p:cNvPr id="30" name="Text 22"/>
          <p:cNvSpPr/>
          <p:nvPr/>
        </p:nvSpPr>
        <p:spPr>
          <a:xfrm>
            <a:off x="787301" y="4152900"/>
            <a:ext cx="7772400" cy="209550"/>
          </a:xfrm>
          <a:prstGeom prst="rect">
            <a:avLst/>
          </a:prstGeom>
          <a:noFill/>
          <a:ln/>
        </p:spPr>
        <p:txBody>
          <a:bodyPr wrap="square" lIns="0" tIns="0" rIns="0" bIns="0" rtlCol="0" anchor="t"/>
          <a:lstStyle/>
          <a:p>
            <a:pPr marL="0" indent="0" algn="l">
              <a:buNone/>
            </a:pPr>
            <a:r>
              <a:rPr lang="en-US" sz="1400" dirty="0">
                <a:solidFill>
                  <a:srgbClr val="1F2328"/>
                </a:solidFill>
                <a:latin typeface="Arial" pitchFamily="34" charset="0"/>
                <a:ea typeface="Arial" pitchFamily="34" charset="-122"/>
                <a:cs typeface="Arial" pitchFamily="34" charset="-120"/>
              </a:rPr>
              <a:t>A chat assistant helps with the answers. </a:t>
            </a:r>
            <a:r>
              <a:rPr lang="en-US" sz="1400" b="1" dirty="0">
                <a:solidFill>
                  <a:srgbClr val="1F2328"/>
                </a:solidFill>
                <a:latin typeface="Arial" pitchFamily="34" charset="0"/>
                <a:ea typeface="Arial" pitchFamily="34" charset="-122"/>
                <a:cs typeface="Arial" pitchFamily="34" charset="-120"/>
              </a:rPr>
              <a:t>The work still lands on you.</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THE IDEA</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Ideas need execution</a:t>
            </a:r>
            <a:endParaRPr lang="en-US" sz="2400" dirty="0"/>
          </a:p>
        </p:txBody>
      </p:sp>
      <p:sp>
        <p:nvSpPr>
          <p:cNvPr id="8" name="Text 4"/>
          <p:cNvSpPr/>
          <p:nvPr/>
        </p:nvSpPr>
        <p:spPr>
          <a:xfrm>
            <a:off x="762000" y="1498550"/>
            <a:ext cx="1905000" cy="1905000"/>
          </a:xfrm>
          <a:prstGeom prst="roundRect">
            <a:avLst>
              <a:gd name="adj" fmla="val 48000"/>
            </a:avLst>
          </a:prstGeom>
          <a:solidFill>
            <a:srgbClr val="FFF8C5"/>
          </a:solidFill>
          <a:ln/>
        </p:spPr>
        <p:txBody>
          <a:bodyPr wrap="square" rtlCol="0" anchor="ctr"/>
          <a:lstStyle/>
          <a:p>
            <a:pPr marL="0" indent="0">
              <a:buNone/>
            </a:pPr>
            <a:endParaRPr lang="en-US" dirty="0"/>
          </a:p>
        </p:txBody>
      </p:sp>
      <p:pic>
        <p:nvPicPr>
          <p:cNvPr id="9" name="Image 2" descr="/Users/danwahlin/.copilot/session-state/e7427b9a-9d65-4aa2-953c-14cedea46cbc/files/talkdeck/assets/icons/GoLightBulb-9A6700.png"/>
          <p:cNvPicPr>
            <a:picLocks noChangeAspect="1"/>
          </p:cNvPicPr>
          <p:nvPr/>
        </p:nvPicPr>
        <p:blipFill>
          <a:blip r:embed="rId5"/>
          <a:stretch>
            <a:fillRect/>
          </a:stretch>
        </p:blipFill>
        <p:spPr>
          <a:xfrm>
            <a:off x="1409700" y="1905000"/>
            <a:ext cx="609600" cy="609600"/>
          </a:xfrm>
          <a:prstGeom prst="rect">
            <a:avLst/>
          </a:prstGeom>
        </p:spPr>
      </p:pic>
      <p:sp>
        <p:nvSpPr>
          <p:cNvPr id="10" name="Text 5"/>
          <p:cNvSpPr/>
          <p:nvPr/>
        </p:nvSpPr>
        <p:spPr>
          <a:xfrm>
            <a:off x="742950" y="2667000"/>
            <a:ext cx="1943100" cy="219075"/>
          </a:xfrm>
          <a:prstGeom prst="rect">
            <a:avLst/>
          </a:prstGeom>
          <a:noFill/>
          <a:ln/>
        </p:spPr>
        <p:txBody>
          <a:bodyPr wrap="square" lIns="0" tIns="0" rIns="0" bIns="0" rtlCol="0" anchor="t"/>
          <a:lstStyle/>
          <a:p>
            <a:pPr marL="0" indent="0" algn="ctr">
              <a:buNone/>
            </a:pPr>
            <a:r>
              <a:rPr lang="en-US" sz="1500" b="1" dirty="0">
                <a:solidFill>
                  <a:srgbClr val="9A6700"/>
                </a:solidFill>
                <a:latin typeface="Arial" pitchFamily="34" charset="0"/>
                <a:ea typeface="Arial" pitchFamily="34" charset="-122"/>
                <a:cs typeface="Arial" pitchFamily="34" charset="-120"/>
              </a:rPr>
              <a:t>Your ideas</a:t>
            </a:r>
            <a:endParaRPr lang="en-US" sz="1500" dirty="0"/>
          </a:p>
        </p:txBody>
      </p:sp>
      <p:sp>
        <p:nvSpPr>
          <p:cNvPr id="11" name="Text 6"/>
          <p:cNvSpPr/>
          <p:nvPr/>
        </p:nvSpPr>
        <p:spPr>
          <a:xfrm>
            <a:off x="2722781" y="2133600"/>
            <a:ext cx="777240" cy="581025"/>
          </a:xfrm>
          <a:prstGeom prst="rect">
            <a:avLst/>
          </a:prstGeom>
          <a:noFill/>
          <a:ln/>
        </p:spPr>
        <p:txBody>
          <a:bodyPr wrap="square" lIns="0" tIns="0" rIns="0" bIns="0" rtlCol="0" anchor="t"/>
          <a:lstStyle/>
          <a:p>
            <a:pPr marL="0" indent="0" algn="ctr">
              <a:buNone/>
            </a:pPr>
            <a:r>
              <a:rPr lang="en-US" sz="4000" b="1" dirty="0">
                <a:solidFill>
                  <a:srgbClr val="59636E"/>
                </a:solidFill>
                <a:latin typeface="Arial" pitchFamily="34" charset="0"/>
                <a:ea typeface="Arial" pitchFamily="34" charset="-122"/>
                <a:cs typeface="Arial" pitchFamily="34" charset="-120"/>
              </a:rPr>
              <a:t>×</a:t>
            </a:r>
            <a:endParaRPr lang="en-US" sz="4000" dirty="0"/>
          </a:p>
        </p:txBody>
      </p:sp>
      <p:sp>
        <p:nvSpPr>
          <p:cNvPr id="12" name="Text 7"/>
          <p:cNvSpPr/>
          <p:nvPr/>
        </p:nvSpPr>
        <p:spPr>
          <a:xfrm>
            <a:off x="3619500" y="1498550"/>
            <a:ext cx="1905000" cy="1905000"/>
          </a:xfrm>
          <a:prstGeom prst="roundRect">
            <a:avLst>
              <a:gd name="adj" fmla="val 48000"/>
            </a:avLst>
          </a:prstGeom>
          <a:solidFill>
            <a:srgbClr val="DDF4FF"/>
          </a:solidFill>
          <a:ln/>
        </p:spPr>
        <p:txBody>
          <a:bodyPr wrap="square" rtlCol="0" anchor="ctr"/>
          <a:lstStyle/>
          <a:p>
            <a:pPr marL="0" indent="0">
              <a:buNone/>
            </a:pPr>
            <a:endParaRPr lang="en-US" dirty="0"/>
          </a:p>
        </p:txBody>
      </p:sp>
      <p:pic>
        <p:nvPicPr>
          <p:cNvPr id="13" name="Image 3" descr="/Users/danwahlin/.copilot/session-state/e7427b9a-9d65-4aa2-953c-14cedea46cbc/files/talkdeck/assets/icons/GoCopilot-0969DA.png"/>
          <p:cNvPicPr>
            <a:picLocks noChangeAspect="1"/>
          </p:cNvPicPr>
          <p:nvPr/>
        </p:nvPicPr>
        <p:blipFill>
          <a:blip r:embed="rId6"/>
          <a:stretch>
            <a:fillRect/>
          </a:stretch>
        </p:blipFill>
        <p:spPr>
          <a:xfrm>
            <a:off x="4267200" y="1905000"/>
            <a:ext cx="609600" cy="609600"/>
          </a:xfrm>
          <a:prstGeom prst="rect">
            <a:avLst/>
          </a:prstGeom>
        </p:spPr>
      </p:pic>
      <p:sp>
        <p:nvSpPr>
          <p:cNvPr id="14" name="Text 8"/>
          <p:cNvSpPr/>
          <p:nvPr/>
        </p:nvSpPr>
        <p:spPr>
          <a:xfrm>
            <a:off x="3600450" y="2667000"/>
            <a:ext cx="1943100" cy="438150"/>
          </a:xfrm>
          <a:prstGeom prst="rect">
            <a:avLst/>
          </a:prstGeom>
          <a:noFill/>
          <a:ln/>
        </p:spPr>
        <p:txBody>
          <a:bodyPr wrap="square" lIns="0" tIns="0" rIns="0" bIns="0" rtlCol="0" anchor="t"/>
          <a:lstStyle/>
          <a:p>
            <a:pPr marL="0" indent="0" algn="ctr">
              <a:buNone/>
            </a:pPr>
            <a:r>
              <a:rPr lang="en-US" sz="1500" b="1" dirty="0">
                <a:solidFill>
                  <a:srgbClr val="0969DA"/>
                </a:solidFill>
                <a:latin typeface="Arial" pitchFamily="34" charset="0"/>
                <a:ea typeface="Arial" pitchFamily="34" charset="-122"/>
                <a:cs typeface="Arial" pitchFamily="34" charset="-120"/>
              </a:rPr>
              <a:t>Agents that do </a:t>
            </a:r>
            <a:br>
              <a:rPr lang="en-US" sz="1500" b="1" dirty="0">
                <a:solidFill>
                  <a:srgbClr val="0969DA"/>
                </a:solidFill>
                <a:latin typeface="Arial" pitchFamily="34" charset="0"/>
                <a:ea typeface="Arial" pitchFamily="34" charset="-122"/>
                <a:cs typeface="Arial" pitchFamily="34" charset="-120"/>
              </a:rPr>
            </a:br>
            <a:r>
              <a:rPr lang="en-US" sz="1500" b="1" dirty="0">
                <a:solidFill>
                  <a:srgbClr val="0969DA"/>
                </a:solidFill>
                <a:latin typeface="Arial" pitchFamily="34" charset="0"/>
                <a:ea typeface="Arial" pitchFamily="34" charset="-122"/>
                <a:cs typeface="Arial" pitchFamily="34" charset="-120"/>
              </a:rPr>
              <a:t>the work</a:t>
            </a:r>
            <a:endParaRPr lang="en-US" sz="1500" dirty="0"/>
          </a:p>
        </p:txBody>
      </p:sp>
      <p:sp>
        <p:nvSpPr>
          <p:cNvPr id="15" name="Text 9"/>
          <p:cNvSpPr/>
          <p:nvPr/>
        </p:nvSpPr>
        <p:spPr>
          <a:xfrm>
            <a:off x="5580281" y="2133600"/>
            <a:ext cx="777240" cy="581025"/>
          </a:xfrm>
          <a:prstGeom prst="rect">
            <a:avLst/>
          </a:prstGeom>
          <a:noFill/>
          <a:ln/>
        </p:spPr>
        <p:txBody>
          <a:bodyPr wrap="square" lIns="0" tIns="0" rIns="0" bIns="0" rtlCol="0" anchor="t"/>
          <a:lstStyle/>
          <a:p>
            <a:pPr marL="0" indent="0" algn="ctr">
              <a:buNone/>
            </a:pPr>
            <a:r>
              <a:rPr lang="en-US" sz="4000" b="1" dirty="0">
                <a:solidFill>
                  <a:srgbClr val="59636E"/>
                </a:solidFill>
                <a:latin typeface="Arial" pitchFamily="34" charset="0"/>
                <a:ea typeface="Arial" pitchFamily="34" charset="-122"/>
                <a:cs typeface="Arial" pitchFamily="34" charset="-120"/>
              </a:rPr>
              <a:t>=</a:t>
            </a:r>
            <a:endParaRPr lang="en-US" sz="4000" dirty="0"/>
          </a:p>
        </p:txBody>
      </p:sp>
      <p:sp>
        <p:nvSpPr>
          <p:cNvPr id="16" name="Text 10"/>
          <p:cNvSpPr/>
          <p:nvPr/>
        </p:nvSpPr>
        <p:spPr>
          <a:xfrm>
            <a:off x="6477000" y="1498550"/>
            <a:ext cx="1905000" cy="1905000"/>
          </a:xfrm>
          <a:prstGeom prst="roundRect">
            <a:avLst>
              <a:gd name="adj" fmla="val 48000"/>
            </a:avLst>
          </a:prstGeom>
          <a:solidFill>
            <a:srgbClr val="DAFBE1"/>
          </a:solidFill>
          <a:ln/>
        </p:spPr>
        <p:txBody>
          <a:bodyPr wrap="square" rtlCol="0" anchor="ctr"/>
          <a:lstStyle/>
          <a:p>
            <a:pPr marL="0" indent="0">
              <a:buNone/>
            </a:pPr>
            <a:endParaRPr lang="en-US" dirty="0"/>
          </a:p>
        </p:txBody>
      </p:sp>
      <p:pic>
        <p:nvPicPr>
          <p:cNvPr id="17" name="Image 4" descr="/Users/danwahlin/.copilot/session-state/e7427b9a-9d65-4aa2-953c-14cedea46cbc/files/talkdeck/assets/icons/GoRocket-1A7F37.png"/>
          <p:cNvPicPr>
            <a:picLocks noChangeAspect="1"/>
          </p:cNvPicPr>
          <p:nvPr/>
        </p:nvPicPr>
        <p:blipFill>
          <a:blip r:embed="rId7"/>
          <a:stretch>
            <a:fillRect/>
          </a:stretch>
        </p:blipFill>
        <p:spPr>
          <a:xfrm>
            <a:off x="7124700" y="1905000"/>
            <a:ext cx="609600" cy="609600"/>
          </a:xfrm>
          <a:prstGeom prst="rect">
            <a:avLst/>
          </a:prstGeom>
        </p:spPr>
      </p:pic>
      <p:sp>
        <p:nvSpPr>
          <p:cNvPr id="18" name="Text 11"/>
          <p:cNvSpPr/>
          <p:nvPr/>
        </p:nvSpPr>
        <p:spPr>
          <a:xfrm>
            <a:off x="6457950" y="2667000"/>
            <a:ext cx="1943100" cy="219075"/>
          </a:xfrm>
          <a:prstGeom prst="rect">
            <a:avLst/>
          </a:prstGeom>
          <a:noFill/>
          <a:ln/>
        </p:spPr>
        <p:txBody>
          <a:bodyPr wrap="square" lIns="0" tIns="0" rIns="0" bIns="0" rtlCol="0" anchor="t"/>
          <a:lstStyle/>
          <a:p>
            <a:pPr marL="0" indent="0" algn="ctr">
              <a:buNone/>
            </a:pPr>
            <a:r>
              <a:rPr lang="en-US" sz="1500" b="1" dirty="0">
                <a:solidFill>
                  <a:srgbClr val="1A7F37"/>
                </a:solidFill>
                <a:latin typeface="Arial" pitchFamily="34" charset="0"/>
                <a:ea typeface="Arial" pitchFamily="34" charset="-122"/>
                <a:cs typeface="Arial" pitchFamily="34" charset="-120"/>
              </a:rPr>
              <a:t>Impact</a:t>
            </a:r>
            <a:endParaRPr lang="en-US" sz="1500" dirty="0"/>
          </a:p>
        </p:txBody>
      </p:sp>
      <p:sp>
        <p:nvSpPr>
          <p:cNvPr id="19" name="Text 12"/>
          <p:cNvSpPr/>
          <p:nvPr/>
        </p:nvSpPr>
        <p:spPr>
          <a:xfrm>
            <a:off x="426671" y="3810000"/>
            <a:ext cx="8290509" cy="238125"/>
          </a:xfrm>
          <a:prstGeom prst="rect">
            <a:avLst/>
          </a:prstGeom>
          <a:noFill/>
          <a:ln/>
        </p:spPr>
        <p:txBody>
          <a:bodyPr wrap="square" lIns="0" tIns="0" rIns="0" bIns="0" rtlCol="0" anchor="t"/>
          <a:lstStyle/>
          <a:p>
            <a:pPr marL="0" indent="0" algn="ctr">
              <a:buNone/>
            </a:pPr>
            <a:r>
              <a:rPr lang="en-US" sz="1600" dirty="0">
                <a:solidFill>
                  <a:srgbClr val="1F2328"/>
                </a:solidFill>
                <a:latin typeface="Arial" pitchFamily="34" charset="0"/>
                <a:ea typeface="Arial" pitchFamily="34" charset="-122"/>
                <a:cs typeface="Arial" pitchFamily="34" charset="-120"/>
              </a:rPr>
              <a:t>You bring the idea and the judgment. Agents do the steps.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600" fill="hold"/>
                                        <p:tgtEl>
                                          <p:spTgt spid="8"/>
                                        </p:tgtEl>
                                        <p:attrNameLst>
                                          <p:attrName>ppt_w</p:attrName>
                                        </p:attrNameLst>
                                      </p:cBhvr>
                                      <p:tavLst>
                                        <p:tav tm="0">
                                          <p:val>
                                            <p:fltVal val="0"/>
                                          </p:val>
                                        </p:tav>
                                        <p:tav tm="100000">
                                          <p:val>
                                            <p:strVal val="#ppt_w"/>
                                          </p:val>
                                        </p:tav>
                                      </p:tavLst>
                                    </p:anim>
                                    <p:anim calcmode="lin" valueType="num">
                                      <p:cBhvr>
                                        <p:cTn id="8" dur="600" fill="hold"/>
                                        <p:tgtEl>
                                          <p:spTgt spid="8"/>
                                        </p:tgtEl>
                                        <p:attrNameLst>
                                          <p:attrName>ppt_h</p:attrName>
                                        </p:attrNameLst>
                                      </p:cBhvr>
                                      <p:tavLst>
                                        <p:tav tm="0">
                                          <p:val>
                                            <p:fltVal val="0"/>
                                          </p:val>
                                        </p:tav>
                                        <p:tav tm="100000">
                                          <p:val>
                                            <p:strVal val="#ppt_h"/>
                                          </p:val>
                                        </p:tav>
                                      </p:tavLst>
                                    </p:anim>
                                    <p:animEffect transition="in" filter="fade">
                                      <p:cBhvr>
                                        <p:cTn id="9" dur="6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600" fill="hold"/>
                                        <p:tgtEl>
                                          <p:spTgt spid="9"/>
                                        </p:tgtEl>
                                        <p:attrNameLst>
                                          <p:attrName>ppt_w</p:attrName>
                                        </p:attrNameLst>
                                      </p:cBhvr>
                                      <p:tavLst>
                                        <p:tav tm="0">
                                          <p:val>
                                            <p:fltVal val="0"/>
                                          </p:val>
                                        </p:tav>
                                        <p:tav tm="100000">
                                          <p:val>
                                            <p:strVal val="#ppt_w"/>
                                          </p:val>
                                        </p:tav>
                                      </p:tavLst>
                                    </p:anim>
                                    <p:anim calcmode="lin" valueType="num">
                                      <p:cBhvr>
                                        <p:cTn id="13" dur="600" fill="hold"/>
                                        <p:tgtEl>
                                          <p:spTgt spid="9"/>
                                        </p:tgtEl>
                                        <p:attrNameLst>
                                          <p:attrName>ppt_h</p:attrName>
                                        </p:attrNameLst>
                                      </p:cBhvr>
                                      <p:tavLst>
                                        <p:tav tm="0">
                                          <p:val>
                                            <p:fltVal val="0"/>
                                          </p:val>
                                        </p:tav>
                                        <p:tav tm="100000">
                                          <p:val>
                                            <p:strVal val="#ppt_h"/>
                                          </p:val>
                                        </p:tav>
                                      </p:tavLst>
                                    </p:anim>
                                    <p:animEffect transition="in" filter="fade">
                                      <p:cBhvr>
                                        <p:cTn id="14" dur="6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600" fill="hold"/>
                                        <p:tgtEl>
                                          <p:spTgt spid="10"/>
                                        </p:tgtEl>
                                        <p:attrNameLst>
                                          <p:attrName>ppt_w</p:attrName>
                                        </p:attrNameLst>
                                      </p:cBhvr>
                                      <p:tavLst>
                                        <p:tav tm="0">
                                          <p:val>
                                            <p:fltVal val="0"/>
                                          </p:val>
                                        </p:tav>
                                        <p:tav tm="100000">
                                          <p:val>
                                            <p:strVal val="#ppt_w"/>
                                          </p:val>
                                        </p:tav>
                                      </p:tavLst>
                                    </p:anim>
                                    <p:anim calcmode="lin" valueType="num">
                                      <p:cBhvr>
                                        <p:cTn id="18" dur="600" fill="hold"/>
                                        <p:tgtEl>
                                          <p:spTgt spid="10"/>
                                        </p:tgtEl>
                                        <p:attrNameLst>
                                          <p:attrName>ppt_h</p:attrName>
                                        </p:attrNameLst>
                                      </p:cBhvr>
                                      <p:tavLst>
                                        <p:tav tm="0">
                                          <p:val>
                                            <p:fltVal val="0"/>
                                          </p:val>
                                        </p:tav>
                                        <p:tav tm="100000">
                                          <p:val>
                                            <p:strVal val="#ppt_h"/>
                                          </p:val>
                                        </p:tav>
                                      </p:tavLst>
                                    </p:anim>
                                    <p:animEffect transition="in" filter="fade">
                                      <p:cBhvr>
                                        <p:cTn id="19" dur="6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600" fill="hold"/>
                                        <p:tgtEl>
                                          <p:spTgt spid="11"/>
                                        </p:tgtEl>
                                        <p:attrNameLst>
                                          <p:attrName>ppt_w</p:attrName>
                                        </p:attrNameLst>
                                      </p:cBhvr>
                                      <p:tavLst>
                                        <p:tav tm="0">
                                          <p:val>
                                            <p:fltVal val="0"/>
                                          </p:val>
                                        </p:tav>
                                        <p:tav tm="100000">
                                          <p:val>
                                            <p:strVal val="#ppt_w"/>
                                          </p:val>
                                        </p:tav>
                                      </p:tavLst>
                                    </p:anim>
                                    <p:anim calcmode="lin" valueType="num">
                                      <p:cBhvr>
                                        <p:cTn id="25" dur="600" fill="hold"/>
                                        <p:tgtEl>
                                          <p:spTgt spid="11"/>
                                        </p:tgtEl>
                                        <p:attrNameLst>
                                          <p:attrName>ppt_h</p:attrName>
                                        </p:attrNameLst>
                                      </p:cBhvr>
                                      <p:tavLst>
                                        <p:tav tm="0">
                                          <p:val>
                                            <p:fltVal val="0"/>
                                          </p:val>
                                        </p:tav>
                                        <p:tav tm="100000">
                                          <p:val>
                                            <p:strVal val="#ppt_h"/>
                                          </p:val>
                                        </p:tav>
                                      </p:tavLst>
                                    </p:anim>
                                    <p:animEffect transition="in" filter="fade">
                                      <p:cBhvr>
                                        <p:cTn id="26" dur="600"/>
                                        <p:tgtEl>
                                          <p:spTgt spid="11"/>
                                        </p:tgtEl>
                                      </p:cBhvr>
                                    </p:animEffect>
                                  </p:childTnLst>
                                </p:cTn>
                              </p:par>
                              <p:par>
                                <p:cTn id="27" presetID="53" presetClass="entr" presetSubtype="16" fill="hold" grpId="0" nodeType="withEffect">
                                  <p:stCondLst>
                                    <p:cond delay="150"/>
                                  </p:stCondLst>
                                  <p:childTnLst>
                                    <p:set>
                                      <p:cBhvr>
                                        <p:cTn id="28" dur="1" fill="hold">
                                          <p:stCondLst>
                                            <p:cond delay="0"/>
                                          </p:stCondLst>
                                        </p:cTn>
                                        <p:tgtEl>
                                          <p:spTgt spid="12"/>
                                        </p:tgtEl>
                                        <p:attrNameLst>
                                          <p:attrName>style.visibility</p:attrName>
                                        </p:attrNameLst>
                                      </p:cBhvr>
                                      <p:to>
                                        <p:strVal val="visible"/>
                                      </p:to>
                                    </p:set>
                                    <p:anim calcmode="lin" valueType="num">
                                      <p:cBhvr>
                                        <p:cTn id="29" dur="600" fill="hold"/>
                                        <p:tgtEl>
                                          <p:spTgt spid="12"/>
                                        </p:tgtEl>
                                        <p:attrNameLst>
                                          <p:attrName>ppt_w</p:attrName>
                                        </p:attrNameLst>
                                      </p:cBhvr>
                                      <p:tavLst>
                                        <p:tav tm="0">
                                          <p:val>
                                            <p:fltVal val="0"/>
                                          </p:val>
                                        </p:tav>
                                        <p:tav tm="100000">
                                          <p:val>
                                            <p:strVal val="#ppt_w"/>
                                          </p:val>
                                        </p:tav>
                                      </p:tavLst>
                                    </p:anim>
                                    <p:anim calcmode="lin" valueType="num">
                                      <p:cBhvr>
                                        <p:cTn id="30" dur="600" fill="hold"/>
                                        <p:tgtEl>
                                          <p:spTgt spid="12"/>
                                        </p:tgtEl>
                                        <p:attrNameLst>
                                          <p:attrName>ppt_h</p:attrName>
                                        </p:attrNameLst>
                                      </p:cBhvr>
                                      <p:tavLst>
                                        <p:tav tm="0">
                                          <p:val>
                                            <p:fltVal val="0"/>
                                          </p:val>
                                        </p:tav>
                                        <p:tav tm="100000">
                                          <p:val>
                                            <p:strVal val="#ppt_h"/>
                                          </p:val>
                                        </p:tav>
                                      </p:tavLst>
                                    </p:anim>
                                    <p:animEffect transition="in" filter="fade">
                                      <p:cBhvr>
                                        <p:cTn id="31" dur="600"/>
                                        <p:tgtEl>
                                          <p:spTgt spid="12"/>
                                        </p:tgtEl>
                                      </p:cBhvr>
                                    </p:animEffect>
                                  </p:childTnLst>
                                </p:cTn>
                              </p:par>
                              <p:par>
                                <p:cTn id="32" presetID="53" presetClass="entr" presetSubtype="16" fill="hold" nodeType="withEffect">
                                  <p:stCondLst>
                                    <p:cond delay="150"/>
                                  </p:stCondLst>
                                  <p:childTnLst>
                                    <p:set>
                                      <p:cBhvr>
                                        <p:cTn id="33" dur="1" fill="hold">
                                          <p:stCondLst>
                                            <p:cond delay="0"/>
                                          </p:stCondLst>
                                        </p:cTn>
                                        <p:tgtEl>
                                          <p:spTgt spid="13"/>
                                        </p:tgtEl>
                                        <p:attrNameLst>
                                          <p:attrName>style.visibility</p:attrName>
                                        </p:attrNameLst>
                                      </p:cBhvr>
                                      <p:to>
                                        <p:strVal val="visible"/>
                                      </p:to>
                                    </p:set>
                                    <p:anim calcmode="lin" valueType="num">
                                      <p:cBhvr>
                                        <p:cTn id="34" dur="600" fill="hold"/>
                                        <p:tgtEl>
                                          <p:spTgt spid="13"/>
                                        </p:tgtEl>
                                        <p:attrNameLst>
                                          <p:attrName>ppt_w</p:attrName>
                                        </p:attrNameLst>
                                      </p:cBhvr>
                                      <p:tavLst>
                                        <p:tav tm="0">
                                          <p:val>
                                            <p:fltVal val="0"/>
                                          </p:val>
                                        </p:tav>
                                        <p:tav tm="100000">
                                          <p:val>
                                            <p:strVal val="#ppt_w"/>
                                          </p:val>
                                        </p:tav>
                                      </p:tavLst>
                                    </p:anim>
                                    <p:anim calcmode="lin" valueType="num">
                                      <p:cBhvr>
                                        <p:cTn id="35" dur="600" fill="hold"/>
                                        <p:tgtEl>
                                          <p:spTgt spid="13"/>
                                        </p:tgtEl>
                                        <p:attrNameLst>
                                          <p:attrName>ppt_h</p:attrName>
                                        </p:attrNameLst>
                                      </p:cBhvr>
                                      <p:tavLst>
                                        <p:tav tm="0">
                                          <p:val>
                                            <p:fltVal val="0"/>
                                          </p:val>
                                        </p:tav>
                                        <p:tav tm="100000">
                                          <p:val>
                                            <p:strVal val="#ppt_h"/>
                                          </p:val>
                                        </p:tav>
                                      </p:tavLst>
                                    </p:anim>
                                    <p:animEffect transition="in" filter="fade">
                                      <p:cBhvr>
                                        <p:cTn id="36" dur="600"/>
                                        <p:tgtEl>
                                          <p:spTgt spid="13"/>
                                        </p:tgtEl>
                                      </p:cBhvr>
                                    </p:animEffect>
                                  </p:childTnLst>
                                </p:cTn>
                              </p:par>
                              <p:par>
                                <p:cTn id="37" presetID="53" presetClass="entr" presetSubtype="16" fill="hold" grpId="0" nodeType="withEffect">
                                  <p:stCondLst>
                                    <p:cond delay="150"/>
                                  </p:stCondLst>
                                  <p:childTnLst>
                                    <p:set>
                                      <p:cBhvr>
                                        <p:cTn id="38" dur="1" fill="hold">
                                          <p:stCondLst>
                                            <p:cond delay="0"/>
                                          </p:stCondLst>
                                        </p:cTn>
                                        <p:tgtEl>
                                          <p:spTgt spid="14"/>
                                        </p:tgtEl>
                                        <p:attrNameLst>
                                          <p:attrName>style.visibility</p:attrName>
                                        </p:attrNameLst>
                                      </p:cBhvr>
                                      <p:to>
                                        <p:strVal val="visible"/>
                                      </p:to>
                                    </p:set>
                                    <p:anim calcmode="lin" valueType="num">
                                      <p:cBhvr>
                                        <p:cTn id="39" dur="600" fill="hold"/>
                                        <p:tgtEl>
                                          <p:spTgt spid="14"/>
                                        </p:tgtEl>
                                        <p:attrNameLst>
                                          <p:attrName>ppt_w</p:attrName>
                                        </p:attrNameLst>
                                      </p:cBhvr>
                                      <p:tavLst>
                                        <p:tav tm="0">
                                          <p:val>
                                            <p:fltVal val="0"/>
                                          </p:val>
                                        </p:tav>
                                        <p:tav tm="100000">
                                          <p:val>
                                            <p:strVal val="#ppt_w"/>
                                          </p:val>
                                        </p:tav>
                                      </p:tavLst>
                                    </p:anim>
                                    <p:anim calcmode="lin" valueType="num">
                                      <p:cBhvr>
                                        <p:cTn id="40" dur="600" fill="hold"/>
                                        <p:tgtEl>
                                          <p:spTgt spid="14"/>
                                        </p:tgtEl>
                                        <p:attrNameLst>
                                          <p:attrName>ppt_h</p:attrName>
                                        </p:attrNameLst>
                                      </p:cBhvr>
                                      <p:tavLst>
                                        <p:tav tm="0">
                                          <p:val>
                                            <p:fltVal val="0"/>
                                          </p:val>
                                        </p:tav>
                                        <p:tav tm="100000">
                                          <p:val>
                                            <p:strVal val="#ppt_h"/>
                                          </p:val>
                                        </p:tav>
                                      </p:tavLst>
                                    </p:anim>
                                    <p:animEffect transition="in" filter="fade">
                                      <p:cBhvr>
                                        <p:cTn id="41" dur="6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p:cTn id="46" dur="600" fill="hold"/>
                                        <p:tgtEl>
                                          <p:spTgt spid="15"/>
                                        </p:tgtEl>
                                        <p:attrNameLst>
                                          <p:attrName>ppt_w</p:attrName>
                                        </p:attrNameLst>
                                      </p:cBhvr>
                                      <p:tavLst>
                                        <p:tav tm="0">
                                          <p:val>
                                            <p:fltVal val="0"/>
                                          </p:val>
                                        </p:tav>
                                        <p:tav tm="100000">
                                          <p:val>
                                            <p:strVal val="#ppt_w"/>
                                          </p:val>
                                        </p:tav>
                                      </p:tavLst>
                                    </p:anim>
                                    <p:anim calcmode="lin" valueType="num">
                                      <p:cBhvr>
                                        <p:cTn id="47" dur="600" fill="hold"/>
                                        <p:tgtEl>
                                          <p:spTgt spid="15"/>
                                        </p:tgtEl>
                                        <p:attrNameLst>
                                          <p:attrName>ppt_h</p:attrName>
                                        </p:attrNameLst>
                                      </p:cBhvr>
                                      <p:tavLst>
                                        <p:tav tm="0">
                                          <p:val>
                                            <p:fltVal val="0"/>
                                          </p:val>
                                        </p:tav>
                                        <p:tav tm="100000">
                                          <p:val>
                                            <p:strVal val="#ppt_h"/>
                                          </p:val>
                                        </p:tav>
                                      </p:tavLst>
                                    </p:anim>
                                    <p:animEffect transition="in" filter="fade">
                                      <p:cBhvr>
                                        <p:cTn id="48" dur="600"/>
                                        <p:tgtEl>
                                          <p:spTgt spid="15"/>
                                        </p:tgtEl>
                                      </p:cBhvr>
                                    </p:animEffect>
                                  </p:childTnLst>
                                </p:cTn>
                              </p:par>
                              <p:par>
                                <p:cTn id="49" presetID="53" presetClass="entr" presetSubtype="16" fill="hold" grpId="0" nodeType="withEffect">
                                  <p:stCondLst>
                                    <p:cond delay="150"/>
                                  </p:stCondLst>
                                  <p:childTnLst>
                                    <p:set>
                                      <p:cBhvr>
                                        <p:cTn id="50" dur="1" fill="hold">
                                          <p:stCondLst>
                                            <p:cond delay="0"/>
                                          </p:stCondLst>
                                        </p:cTn>
                                        <p:tgtEl>
                                          <p:spTgt spid="16"/>
                                        </p:tgtEl>
                                        <p:attrNameLst>
                                          <p:attrName>style.visibility</p:attrName>
                                        </p:attrNameLst>
                                      </p:cBhvr>
                                      <p:to>
                                        <p:strVal val="visible"/>
                                      </p:to>
                                    </p:set>
                                    <p:anim calcmode="lin" valueType="num">
                                      <p:cBhvr>
                                        <p:cTn id="51" dur="600" fill="hold"/>
                                        <p:tgtEl>
                                          <p:spTgt spid="16"/>
                                        </p:tgtEl>
                                        <p:attrNameLst>
                                          <p:attrName>ppt_w</p:attrName>
                                        </p:attrNameLst>
                                      </p:cBhvr>
                                      <p:tavLst>
                                        <p:tav tm="0">
                                          <p:val>
                                            <p:fltVal val="0"/>
                                          </p:val>
                                        </p:tav>
                                        <p:tav tm="100000">
                                          <p:val>
                                            <p:strVal val="#ppt_w"/>
                                          </p:val>
                                        </p:tav>
                                      </p:tavLst>
                                    </p:anim>
                                    <p:anim calcmode="lin" valueType="num">
                                      <p:cBhvr>
                                        <p:cTn id="52" dur="600" fill="hold"/>
                                        <p:tgtEl>
                                          <p:spTgt spid="16"/>
                                        </p:tgtEl>
                                        <p:attrNameLst>
                                          <p:attrName>ppt_h</p:attrName>
                                        </p:attrNameLst>
                                      </p:cBhvr>
                                      <p:tavLst>
                                        <p:tav tm="0">
                                          <p:val>
                                            <p:fltVal val="0"/>
                                          </p:val>
                                        </p:tav>
                                        <p:tav tm="100000">
                                          <p:val>
                                            <p:strVal val="#ppt_h"/>
                                          </p:val>
                                        </p:tav>
                                      </p:tavLst>
                                    </p:anim>
                                    <p:animEffect transition="in" filter="fade">
                                      <p:cBhvr>
                                        <p:cTn id="53" dur="600"/>
                                        <p:tgtEl>
                                          <p:spTgt spid="16"/>
                                        </p:tgtEl>
                                      </p:cBhvr>
                                    </p:animEffect>
                                  </p:childTnLst>
                                </p:cTn>
                              </p:par>
                              <p:par>
                                <p:cTn id="54" presetID="53" presetClass="entr" presetSubtype="16" fill="hold" nodeType="withEffect">
                                  <p:stCondLst>
                                    <p:cond delay="150"/>
                                  </p:stCondLst>
                                  <p:childTnLst>
                                    <p:set>
                                      <p:cBhvr>
                                        <p:cTn id="55" dur="1" fill="hold">
                                          <p:stCondLst>
                                            <p:cond delay="0"/>
                                          </p:stCondLst>
                                        </p:cTn>
                                        <p:tgtEl>
                                          <p:spTgt spid="17"/>
                                        </p:tgtEl>
                                        <p:attrNameLst>
                                          <p:attrName>style.visibility</p:attrName>
                                        </p:attrNameLst>
                                      </p:cBhvr>
                                      <p:to>
                                        <p:strVal val="visible"/>
                                      </p:to>
                                    </p:set>
                                    <p:anim calcmode="lin" valueType="num">
                                      <p:cBhvr>
                                        <p:cTn id="56" dur="600" fill="hold"/>
                                        <p:tgtEl>
                                          <p:spTgt spid="17"/>
                                        </p:tgtEl>
                                        <p:attrNameLst>
                                          <p:attrName>ppt_w</p:attrName>
                                        </p:attrNameLst>
                                      </p:cBhvr>
                                      <p:tavLst>
                                        <p:tav tm="0">
                                          <p:val>
                                            <p:fltVal val="0"/>
                                          </p:val>
                                        </p:tav>
                                        <p:tav tm="100000">
                                          <p:val>
                                            <p:strVal val="#ppt_w"/>
                                          </p:val>
                                        </p:tav>
                                      </p:tavLst>
                                    </p:anim>
                                    <p:anim calcmode="lin" valueType="num">
                                      <p:cBhvr>
                                        <p:cTn id="57" dur="600" fill="hold"/>
                                        <p:tgtEl>
                                          <p:spTgt spid="17"/>
                                        </p:tgtEl>
                                        <p:attrNameLst>
                                          <p:attrName>ppt_h</p:attrName>
                                        </p:attrNameLst>
                                      </p:cBhvr>
                                      <p:tavLst>
                                        <p:tav tm="0">
                                          <p:val>
                                            <p:fltVal val="0"/>
                                          </p:val>
                                        </p:tav>
                                        <p:tav tm="100000">
                                          <p:val>
                                            <p:strVal val="#ppt_h"/>
                                          </p:val>
                                        </p:tav>
                                      </p:tavLst>
                                    </p:anim>
                                    <p:animEffect transition="in" filter="fade">
                                      <p:cBhvr>
                                        <p:cTn id="58" dur="600"/>
                                        <p:tgtEl>
                                          <p:spTgt spid="17"/>
                                        </p:tgtEl>
                                      </p:cBhvr>
                                    </p:animEffect>
                                  </p:childTnLst>
                                </p:cTn>
                              </p:par>
                              <p:par>
                                <p:cTn id="59" presetID="53" presetClass="entr" presetSubtype="16" fill="hold" grpId="0" nodeType="withEffect">
                                  <p:stCondLst>
                                    <p:cond delay="150"/>
                                  </p:stCondLst>
                                  <p:childTnLst>
                                    <p:set>
                                      <p:cBhvr>
                                        <p:cTn id="60" dur="1" fill="hold">
                                          <p:stCondLst>
                                            <p:cond delay="0"/>
                                          </p:stCondLst>
                                        </p:cTn>
                                        <p:tgtEl>
                                          <p:spTgt spid="18"/>
                                        </p:tgtEl>
                                        <p:attrNameLst>
                                          <p:attrName>style.visibility</p:attrName>
                                        </p:attrNameLst>
                                      </p:cBhvr>
                                      <p:to>
                                        <p:strVal val="visible"/>
                                      </p:to>
                                    </p:set>
                                    <p:anim calcmode="lin" valueType="num">
                                      <p:cBhvr>
                                        <p:cTn id="61" dur="600" fill="hold"/>
                                        <p:tgtEl>
                                          <p:spTgt spid="18"/>
                                        </p:tgtEl>
                                        <p:attrNameLst>
                                          <p:attrName>ppt_w</p:attrName>
                                        </p:attrNameLst>
                                      </p:cBhvr>
                                      <p:tavLst>
                                        <p:tav tm="0">
                                          <p:val>
                                            <p:fltVal val="0"/>
                                          </p:val>
                                        </p:tav>
                                        <p:tav tm="100000">
                                          <p:val>
                                            <p:strVal val="#ppt_w"/>
                                          </p:val>
                                        </p:tav>
                                      </p:tavLst>
                                    </p:anim>
                                    <p:anim calcmode="lin" valueType="num">
                                      <p:cBhvr>
                                        <p:cTn id="62" dur="600" fill="hold"/>
                                        <p:tgtEl>
                                          <p:spTgt spid="18"/>
                                        </p:tgtEl>
                                        <p:attrNameLst>
                                          <p:attrName>ppt_h</p:attrName>
                                        </p:attrNameLst>
                                      </p:cBhvr>
                                      <p:tavLst>
                                        <p:tav tm="0">
                                          <p:val>
                                            <p:fltVal val="0"/>
                                          </p:val>
                                        </p:tav>
                                        <p:tav tm="100000">
                                          <p:val>
                                            <p:strVal val="#ppt_h"/>
                                          </p:val>
                                        </p:tav>
                                      </p:tavLst>
                                    </p:anim>
                                    <p:animEffect transition="in" filter="fade">
                                      <p:cBhvr>
                                        <p:cTn id="63" dur="600"/>
                                        <p:tgtEl>
                                          <p:spTgt spid="18"/>
                                        </p:tgtEl>
                                      </p:cBhvr>
                                    </p:animEffect>
                                  </p:childTnLst>
                                </p:cTn>
                              </p:par>
                              <p:par>
                                <p:cTn id="64" presetID="42" presetClass="entr" presetSubtype="0" fill="hold" grpId="0" nodeType="withEffect">
                                  <p:stCondLst>
                                    <p:cond delay="90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700"/>
                                        <p:tgtEl>
                                          <p:spTgt spid="19"/>
                                        </p:tgtEl>
                                      </p:cBhvr>
                                    </p:animEffect>
                                    <p:anim calcmode="lin" valueType="num">
                                      <p:cBhvr>
                                        <p:cTn id="67" dur="700" fill="hold"/>
                                        <p:tgtEl>
                                          <p:spTgt spid="19"/>
                                        </p:tgtEl>
                                        <p:attrNameLst>
                                          <p:attrName>ppt_x</p:attrName>
                                        </p:attrNameLst>
                                      </p:cBhvr>
                                      <p:tavLst>
                                        <p:tav tm="0">
                                          <p:val>
                                            <p:strVal val="#ppt_x"/>
                                          </p:val>
                                        </p:tav>
                                        <p:tav tm="100000">
                                          <p:val>
                                            <p:strVal val="#ppt_x"/>
                                          </p:val>
                                        </p:tav>
                                      </p:tavLst>
                                    </p:anim>
                                    <p:anim calcmode="lin" valueType="num">
                                      <p:cBhvr>
                                        <p:cTn id="68" dur="7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8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0" y="0"/>
            <a:ext cx="152400" cy="5143500"/>
          </a:xfrm>
          <a:prstGeom prst="rect">
            <a:avLst/>
          </a:prstGeom>
          <a:solidFill>
            <a:srgbClr val="0969DA"/>
          </a:solidFill>
          <a:ln/>
        </p:spPr>
        <p:txBody>
          <a:bodyPr wrap="square" rtlCol="0" anchor="ctr"/>
          <a:lstStyle/>
          <a:p>
            <a:pPr marL="0" indent="0">
              <a:buNone/>
            </a:pPr>
            <a:endParaRPr lang="en-US" dirty="0"/>
          </a:p>
        </p:txBody>
      </p:sp>
      <p:pic>
        <p:nvPicPr>
          <p:cNvPr id="7" name="Image 2" descr="/Users/danwahlin/.copilot/session-state/e7427b9a-9d65-4aa2-953c-14cedea46cbc/files/talkdeck/assets/icons/GoQuote-0969DA.png"/>
          <p:cNvPicPr>
            <a:picLocks noChangeAspect="1"/>
          </p:cNvPicPr>
          <p:nvPr/>
        </p:nvPicPr>
        <p:blipFill>
          <a:blip r:embed="rId5"/>
          <a:stretch>
            <a:fillRect/>
          </a:stretch>
        </p:blipFill>
        <p:spPr>
          <a:xfrm>
            <a:off x="888950" y="1015901"/>
            <a:ext cx="685800" cy="685800"/>
          </a:xfrm>
          <a:prstGeom prst="rect">
            <a:avLst/>
          </a:prstGeom>
        </p:spPr>
      </p:pic>
      <p:sp>
        <p:nvSpPr>
          <p:cNvPr id="8" name="Text 3"/>
          <p:cNvSpPr/>
          <p:nvPr/>
        </p:nvSpPr>
        <p:spPr>
          <a:xfrm>
            <a:off x="888950" y="1905000"/>
            <a:ext cx="7254139" cy="1036141"/>
          </a:xfrm>
          <a:prstGeom prst="rect">
            <a:avLst/>
          </a:prstGeom>
          <a:noFill/>
          <a:ln/>
        </p:spPr>
        <p:txBody>
          <a:bodyPr wrap="square" lIns="0" tIns="0" rIns="0" bIns="0" rtlCol="0" anchor="t"/>
          <a:lstStyle/>
          <a:p>
            <a:pPr marL="0" indent="0" algn="l">
              <a:lnSpc>
                <a:spcPts val="4080"/>
              </a:lnSpc>
              <a:buNone/>
            </a:pPr>
            <a:r>
              <a:rPr lang="en-US" sz="3400" b="1" dirty="0">
                <a:solidFill>
                  <a:srgbClr val="1F2328"/>
                </a:solidFill>
                <a:latin typeface="Arial" pitchFamily="34" charset="0"/>
                <a:ea typeface="Arial" pitchFamily="34" charset="-122"/>
                <a:cs typeface="Arial" pitchFamily="34" charset="-120"/>
              </a:rPr>
              <a:t>“Ideas are just a multiplier of execution.”</a:t>
            </a:r>
            <a:endParaRPr lang="en-US" sz="3400" dirty="0"/>
          </a:p>
        </p:txBody>
      </p:sp>
      <p:sp>
        <p:nvSpPr>
          <p:cNvPr id="9" name="Text 4"/>
          <p:cNvSpPr/>
          <p:nvPr/>
        </p:nvSpPr>
        <p:spPr>
          <a:xfrm>
            <a:off x="888950" y="3403550"/>
            <a:ext cx="609600" cy="50750"/>
          </a:xfrm>
          <a:prstGeom prst="rect">
            <a:avLst/>
          </a:prstGeom>
          <a:solidFill>
            <a:srgbClr val="0969DA"/>
          </a:solidFill>
          <a:ln/>
        </p:spPr>
        <p:txBody>
          <a:bodyPr wrap="square" rtlCol="0" anchor="ctr"/>
          <a:lstStyle/>
          <a:p>
            <a:pPr marL="0" indent="0">
              <a:buNone/>
            </a:pPr>
            <a:endParaRPr lang="en-US" dirty="0"/>
          </a:p>
        </p:txBody>
      </p:sp>
      <p:sp>
        <p:nvSpPr>
          <p:cNvPr id="10" name="Text 5"/>
          <p:cNvSpPr/>
          <p:nvPr/>
        </p:nvSpPr>
        <p:spPr>
          <a:xfrm>
            <a:off x="888950" y="3632150"/>
            <a:ext cx="7254139" cy="238125"/>
          </a:xfrm>
          <a:prstGeom prst="rect">
            <a:avLst/>
          </a:prstGeom>
          <a:noFill/>
          <a:ln/>
        </p:spPr>
        <p:txBody>
          <a:bodyPr wrap="square" lIns="0" tIns="0" rIns="0" bIns="0" rtlCol="0" anchor="t"/>
          <a:lstStyle/>
          <a:p>
            <a:pPr marL="0" indent="0" algn="l">
              <a:buNone/>
            </a:pPr>
            <a:r>
              <a:rPr lang="en-US" sz="1600" b="1" dirty="0">
                <a:solidFill>
                  <a:srgbClr val="1F2328"/>
                </a:solidFill>
                <a:latin typeface="Arial" pitchFamily="34" charset="0"/>
                <a:ea typeface="Arial" pitchFamily="34" charset="-122"/>
                <a:cs typeface="Arial" pitchFamily="34" charset="-120"/>
              </a:rPr>
              <a:t>Derek Sivers</a:t>
            </a:r>
            <a:endParaRPr lang="en-US" sz="1600" dirty="0"/>
          </a:p>
        </p:txBody>
      </p:sp>
      <p:sp>
        <p:nvSpPr>
          <p:cNvPr id="11" name="Text 6"/>
          <p:cNvSpPr/>
          <p:nvPr/>
        </p:nvSpPr>
        <p:spPr>
          <a:xfrm>
            <a:off x="888950" y="3911501"/>
            <a:ext cx="7254139" cy="200025"/>
          </a:xfrm>
          <a:prstGeom prst="rect">
            <a:avLst/>
          </a:prstGeom>
          <a:noFill/>
          <a:ln/>
        </p:spPr>
        <p:txBody>
          <a:bodyPr wrap="square" lIns="0" tIns="0" rIns="0" bIns="0" rtlCol="0" anchor="t"/>
          <a:lstStyle/>
          <a:p>
            <a:pPr marL="0" indent="0" algn="l">
              <a:buNone/>
            </a:pPr>
            <a:r>
              <a:rPr lang="en-US" sz="1300" dirty="0">
                <a:solidFill>
                  <a:srgbClr val="59636E"/>
                </a:solidFill>
                <a:latin typeface="Arial" pitchFamily="34" charset="0"/>
                <a:ea typeface="Arial" pitchFamily="34" charset="-122"/>
                <a:cs typeface="Arial" pitchFamily="34" charset="-120"/>
              </a:rPr>
              <a:t>Entrepreneur and author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THE GITHUB COPILOT APP</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One desktop workspace for many agents</a:t>
            </a:r>
            <a:endParaRPr lang="en-US" sz="2400" dirty="0"/>
          </a:p>
        </p:txBody>
      </p:sp>
      <p:sp>
        <p:nvSpPr>
          <p:cNvPr id="8" name="Text 4"/>
          <p:cNvSpPr/>
          <p:nvPr/>
        </p:nvSpPr>
        <p:spPr>
          <a:xfrm>
            <a:off x="507950" y="1625501"/>
            <a:ext cx="558701" cy="558701"/>
          </a:xfrm>
          <a:prstGeom prst="roundRect">
            <a:avLst>
              <a:gd name="adj" fmla="val 22731"/>
            </a:avLst>
          </a:prstGeom>
          <a:solidFill>
            <a:srgbClr val="DDF4FF"/>
          </a:solidFill>
          <a:ln/>
        </p:spPr>
        <p:txBody>
          <a:bodyPr wrap="square" rtlCol="0" anchor="ctr"/>
          <a:lstStyle/>
          <a:p>
            <a:pPr marL="0" indent="0">
              <a:buNone/>
            </a:pPr>
            <a:endParaRPr lang="en-US" dirty="0"/>
          </a:p>
        </p:txBody>
      </p:sp>
      <p:pic>
        <p:nvPicPr>
          <p:cNvPr id="9" name="Image 2" descr="/Users/danwahlin/.copilot/session-state/e7427b9a-9d65-4aa2-953c-14cedea46cbc/files/talkdeck/assets/icons/GoTasklist-0969DA.png"/>
          <p:cNvPicPr>
            <a:picLocks noChangeAspect="1"/>
          </p:cNvPicPr>
          <p:nvPr/>
        </p:nvPicPr>
        <p:blipFill>
          <a:blip r:embed="rId5"/>
          <a:stretch>
            <a:fillRect/>
          </a:stretch>
        </p:blipFill>
        <p:spPr>
          <a:xfrm>
            <a:off x="647700" y="1765250"/>
            <a:ext cx="279350" cy="279350"/>
          </a:xfrm>
          <a:prstGeom prst="rect">
            <a:avLst/>
          </a:prstGeom>
        </p:spPr>
      </p:pic>
      <p:sp>
        <p:nvSpPr>
          <p:cNvPr id="10" name="Text 5"/>
          <p:cNvSpPr/>
          <p:nvPr/>
        </p:nvSpPr>
        <p:spPr>
          <a:xfrm>
            <a:off x="1244501" y="1676400"/>
            <a:ext cx="2849829"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Hand off a task</a:t>
            </a:r>
            <a:endParaRPr lang="en-US" sz="1500" dirty="0"/>
          </a:p>
        </p:txBody>
      </p:sp>
      <p:sp>
        <p:nvSpPr>
          <p:cNvPr id="11" name="Text 6"/>
          <p:cNvSpPr/>
          <p:nvPr/>
        </p:nvSpPr>
        <p:spPr>
          <a:xfrm>
            <a:off x="1244501" y="1943100"/>
            <a:ext cx="2849829" cy="171450"/>
          </a:xfrm>
          <a:prstGeom prst="rect">
            <a:avLst/>
          </a:prstGeom>
          <a:noFill/>
          <a:ln/>
        </p:spPr>
        <p:txBody>
          <a:bodyPr wrap="square" lIns="0" tIns="0" rIns="0" bIns="0" rtlCol="0" anchor="t"/>
          <a:lstStyle/>
          <a:p>
            <a:pPr marL="0" indent="0" algn="l">
              <a:buNone/>
            </a:pPr>
            <a:r>
              <a:rPr lang="en-US" sz="1150" dirty="0">
                <a:solidFill>
                  <a:srgbClr val="59636E"/>
                </a:solidFill>
                <a:latin typeface="Arial" pitchFamily="34" charset="0"/>
                <a:ea typeface="Arial" pitchFamily="34" charset="-122"/>
                <a:cs typeface="Arial" pitchFamily="34" charset="-120"/>
              </a:rPr>
              <a:t>Describe the outcome you want.</a:t>
            </a:r>
            <a:endParaRPr lang="en-US" sz="1150" dirty="0"/>
          </a:p>
        </p:txBody>
      </p:sp>
      <p:sp>
        <p:nvSpPr>
          <p:cNvPr id="12" name="Text 7"/>
          <p:cNvSpPr/>
          <p:nvPr/>
        </p:nvSpPr>
        <p:spPr>
          <a:xfrm>
            <a:off x="507950" y="2590800"/>
            <a:ext cx="558701" cy="558701"/>
          </a:xfrm>
          <a:prstGeom prst="roundRect">
            <a:avLst>
              <a:gd name="adj" fmla="val 22731"/>
            </a:avLst>
          </a:prstGeom>
          <a:solidFill>
            <a:srgbClr val="FBEFFF"/>
          </a:solidFill>
          <a:ln/>
        </p:spPr>
        <p:txBody>
          <a:bodyPr wrap="square" rtlCol="0" anchor="ctr"/>
          <a:lstStyle/>
          <a:p>
            <a:pPr marL="0" indent="0">
              <a:buNone/>
            </a:pPr>
            <a:endParaRPr lang="en-US" dirty="0"/>
          </a:p>
        </p:txBody>
      </p:sp>
      <p:pic>
        <p:nvPicPr>
          <p:cNvPr id="13" name="Image 3" descr="/Users/danwahlin/.copilot/session-state/e7427b9a-9d65-4aa2-953c-14cedea46cbc/files/talkdeck/assets/icons/GoStack-8250DF.png"/>
          <p:cNvPicPr>
            <a:picLocks noChangeAspect="1"/>
          </p:cNvPicPr>
          <p:nvPr/>
        </p:nvPicPr>
        <p:blipFill>
          <a:blip r:embed="rId6"/>
          <a:stretch>
            <a:fillRect/>
          </a:stretch>
        </p:blipFill>
        <p:spPr>
          <a:xfrm>
            <a:off x="647700" y="2730401"/>
            <a:ext cx="279350" cy="279350"/>
          </a:xfrm>
          <a:prstGeom prst="rect">
            <a:avLst/>
          </a:prstGeom>
        </p:spPr>
      </p:pic>
      <p:sp>
        <p:nvSpPr>
          <p:cNvPr id="14" name="Text 8"/>
          <p:cNvSpPr/>
          <p:nvPr/>
        </p:nvSpPr>
        <p:spPr>
          <a:xfrm>
            <a:off x="1244501" y="2641550"/>
            <a:ext cx="2849829"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Run several at once</a:t>
            </a:r>
            <a:endParaRPr lang="en-US" sz="1500" dirty="0"/>
          </a:p>
        </p:txBody>
      </p:sp>
      <p:sp>
        <p:nvSpPr>
          <p:cNvPr id="15" name="Text 9"/>
          <p:cNvSpPr/>
          <p:nvPr/>
        </p:nvSpPr>
        <p:spPr>
          <a:xfrm>
            <a:off x="1244501" y="2908250"/>
            <a:ext cx="2849829" cy="171450"/>
          </a:xfrm>
          <a:prstGeom prst="rect">
            <a:avLst/>
          </a:prstGeom>
          <a:noFill/>
          <a:ln/>
        </p:spPr>
        <p:txBody>
          <a:bodyPr wrap="square" lIns="0" tIns="0" rIns="0" bIns="0" rtlCol="0" anchor="t"/>
          <a:lstStyle/>
          <a:p>
            <a:pPr marL="0" indent="0" algn="l">
              <a:buNone/>
            </a:pPr>
            <a:r>
              <a:rPr lang="en-US" sz="1150" dirty="0">
                <a:solidFill>
                  <a:srgbClr val="59636E"/>
                </a:solidFill>
                <a:latin typeface="Arial" pitchFamily="34" charset="0"/>
                <a:ea typeface="Arial" pitchFamily="34" charset="-122"/>
                <a:cs typeface="Arial" pitchFamily="34" charset="-120"/>
              </a:rPr>
              <a:t>Each agent has its own session.</a:t>
            </a:r>
            <a:endParaRPr lang="en-US" sz="1150" dirty="0"/>
          </a:p>
        </p:txBody>
      </p:sp>
      <p:sp>
        <p:nvSpPr>
          <p:cNvPr id="16" name="Text 10"/>
          <p:cNvSpPr/>
          <p:nvPr/>
        </p:nvSpPr>
        <p:spPr>
          <a:xfrm>
            <a:off x="507950" y="3555950"/>
            <a:ext cx="558701" cy="558701"/>
          </a:xfrm>
          <a:prstGeom prst="roundRect">
            <a:avLst>
              <a:gd name="adj" fmla="val 22731"/>
            </a:avLst>
          </a:prstGeom>
          <a:solidFill>
            <a:srgbClr val="DAFBE1"/>
          </a:solidFill>
          <a:ln/>
        </p:spPr>
        <p:txBody>
          <a:bodyPr wrap="square" rtlCol="0" anchor="ctr"/>
          <a:lstStyle/>
          <a:p>
            <a:pPr marL="0" indent="0">
              <a:buNone/>
            </a:pPr>
            <a:endParaRPr lang="en-US" dirty="0"/>
          </a:p>
        </p:txBody>
      </p:sp>
      <p:pic>
        <p:nvPicPr>
          <p:cNvPr id="17" name="Image 4" descr="/Users/danwahlin/.copilot/session-state/e7427b9a-9d65-4aa2-953c-14cedea46cbc/files/talkdeck/assets/icons/GoEye-1A7F37.png"/>
          <p:cNvPicPr>
            <a:picLocks noChangeAspect="1"/>
          </p:cNvPicPr>
          <p:nvPr/>
        </p:nvPicPr>
        <p:blipFill>
          <a:blip r:embed="rId7"/>
          <a:stretch>
            <a:fillRect/>
          </a:stretch>
        </p:blipFill>
        <p:spPr>
          <a:xfrm>
            <a:off x="647700" y="3695700"/>
            <a:ext cx="279350" cy="279350"/>
          </a:xfrm>
          <a:prstGeom prst="rect">
            <a:avLst/>
          </a:prstGeom>
        </p:spPr>
      </p:pic>
      <p:sp>
        <p:nvSpPr>
          <p:cNvPr id="18" name="Text 11"/>
          <p:cNvSpPr/>
          <p:nvPr/>
        </p:nvSpPr>
        <p:spPr>
          <a:xfrm>
            <a:off x="1244501" y="3606701"/>
            <a:ext cx="2849829"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Review the results</a:t>
            </a:r>
            <a:endParaRPr lang="en-US" sz="1500" dirty="0"/>
          </a:p>
        </p:txBody>
      </p:sp>
      <p:sp>
        <p:nvSpPr>
          <p:cNvPr id="19" name="Text 12"/>
          <p:cNvSpPr/>
          <p:nvPr/>
        </p:nvSpPr>
        <p:spPr>
          <a:xfrm>
            <a:off x="1244501" y="3873401"/>
            <a:ext cx="2849829" cy="171450"/>
          </a:xfrm>
          <a:prstGeom prst="rect">
            <a:avLst/>
          </a:prstGeom>
          <a:noFill/>
          <a:ln/>
        </p:spPr>
        <p:txBody>
          <a:bodyPr wrap="square" lIns="0" tIns="0" rIns="0" bIns="0" rtlCol="0" anchor="t"/>
          <a:lstStyle/>
          <a:p>
            <a:pPr marL="0" indent="0" algn="l">
              <a:buNone/>
            </a:pPr>
            <a:r>
              <a:rPr lang="en-US" sz="1150" dirty="0">
                <a:solidFill>
                  <a:srgbClr val="59636E"/>
                </a:solidFill>
                <a:latin typeface="Arial" pitchFamily="34" charset="0"/>
                <a:ea typeface="Arial" pitchFamily="34" charset="-122"/>
                <a:cs typeface="Arial" pitchFamily="34" charset="-120"/>
              </a:rPr>
              <a:t>Accept only what you trust.</a:t>
            </a:r>
            <a:endParaRPr lang="en-US" sz="1150" dirty="0"/>
          </a:p>
        </p:txBody>
      </p:sp>
      <p:sp>
        <p:nvSpPr>
          <p:cNvPr id="20" name="Text 13"/>
          <p:cNvSpPr/>
          <p:nvPr/>
        </p:nvSpPr>
        <p:spPr>
          <a:xfrm>
            <a:off x="4317950" y="1498550"/>
            <a:ext cx="4337000" cy="3016151"/>
          </a:xfrm>
          <a:prstGeom prst="roundRect">
            <a:avLst>
              <a:gd name="adj" fmla="val 4211"/>
            </a:avLst>
          </a:prstGeom>
          <a:solidFill>
            <a:srgbClr val="FFFFFF"/>
          </a:solidFill>
          <a:ln w="9525">
            <a:solidFill>
              <a:srgbClr val="D0D7DE"/>
            </a:solidFill>
          </a:ln>
          <a:effectLst>
            <a:outerShdw blurRad="171450" dist="57150" dir="5400000" algn="bl" rotWithShape="0">
              <a:srgbClr val="1F2328">
                <a:alpha val="12000"/>
              </a:srgbClr>
            </a:outerShdw>
          </a:effectLst>
        </p:spPr>
        <p:txBody>
          <a:bodyPr wrap="square" rtlCol="0" anchor="ctr"/>
          <a:lstStyle/>
          <a:p>
            <a:pPr marL="0" indent="0">
              <a:buNone/>
            </a:pPr>
            <a:endParaRPr lang="en-US" dirty="0"/>
          </a:p>
        </p:txBody>
      </p:sp>
      <p:sp>
        <p:nvSpPr>
          <p:cNvPr id="21" name="Text 14"/>
          <p:cNvSpPr/>
          <p:nvPr/>
        </p:nvSpPr>
        <p:spPr>
          <a:xfrm>
            <a:off x="4330601" y="1511201"/>
            <a:ext cx="4292501" cy="304800"/>
          </a:xfrm>
          <a:prstGeom prst="roundRect">
            <a:avLst>
              <a:gd name="adj" fmla="val 41667"/>
            </a:avLst>
          </a:prstGeom>
          <a:solidFill>
            <a:srgbClr val="F6F8FA"/>
          </a:solidFill>
          <a:ln/>
        </p:spPr>
        <p:txBody>
          <a:bodyPr wrap="square" rtlCol="0" anchor="ctr"/>
          <a:lstStyle/>
          <a:p>
            <a:pPr marL="0" indent="0">
              <a:buNone/>
            </a:pPr>
            <a:endParaRPr lang="en-US" dirty="0"/>
          </a:p>
        </p:txBody>
      </p:sp>
      <p:sp>
        <p:nvSpPr>
          <p:cNvPr id="22" name="Text 15"/>
          <p:cNvSpPr/>
          <p:nvPr/>
        </p:nvSpPr>
        <p:spPr>
          <a:xfrm>
            <a:off x="4470350" y="1612850"/>
            <a:ext cx="101501" cy="101501"/>
          </a:xfrm>
          <a:prstGeom prst="roundRect">
            <a:avLst>
              <a:gd name="adj" fmla="val 900878"/>
            </a:avLst>
          </a:prstGeom>
          <a:solidFill>
            <a:srgbClr val="FF5F57"/>
          </a:solidFill>
          <a:ln/>
        </p:spPr>
        <p:txBody>
          <a:bodyPr wrap="square" rtlCol="0" anchor="ctr"/>
          <a:lstStyle/>
          <a:p>
            <a:pPr marL="0" indent="0">
              <a:buNone/>
            </a:pPr>
            <a:endParaRPr lang="en-US" dirty="0"/>
          </a:p>
        </p:txBody>
      </p:sp>
      <p:sp>
        <p:nvSpPr>
          <p:cNvPr id="23" name="Text 16"/>
          <p:cNvSpPr/>
          <p:nvPr/>
        </p:nvSpPr>
        <p:spPr>
          <a:xfrm>
            <a:off x="4622750" y="1612850"/>
            <a:ext cx="101501" cy="101501"/>
          </a:xfrm>
          <a:prstGeom prst="roundRect">
            <a:avLst>
              <a:gd name="adj" fmla="val 900878"/>
            </a:avLst>
          </a:prstGeom>
          <a:solidFill>
            <a:srgbClr val="FEBC2E"/>
          </a:solidFill>
          <a:ln/>
        </p:spPr>
        <p:txBody>
          <a:bodyPr wrap="square" rtlCol="0" anchor="ctr"/>
          <a:lstStyle/>
          <a:p>
            <a:pPr marL="0" indent="0">
              <a:buNone/>
            </a:pPr>
            <a:endParaRPr lang="en-US" dirty="0"/>
          </a:p>
        </p:txBody>
      </p:sp>
      <p:sp>
        <p:nvSpPr>
          <p:cNvPr id="24" name="Text 17"/>
          <p:cNvSpPr/>
          <p:nvPr/>
        </p:nvSpPr>
        <p:spPr>
          <a:xfrm>
            <a:off x="4775150" y="1612850"/>
            <a:ext cx="101501" cy="101501"/>
          </a:xfrm>
          <a:prstGeom prst="roundRect">
            <a:avLst>
              <a:gd name="adj" fmla="val 900878"/>
            </a:avLst>
          </a:prstGeom>
          <a:solidFill>
            <a:srgbClr val="28C840"/>
          </a:solidFill>
          <a:ln/>
        </p:spPr>
        <p:txBody>
          <a:bodyPr wrap="square" rtlCol="0" anchor="ctr"/>
          <a:lstStyle/>
          <a:p>
            <a:pPr marL="0" indent="0">
              <a:buNone/>
            </a:pPr>
            <a:endParaRPr lang="en-US" dirty="0"/>
          </a:p>
        </p:txBody>
      </p:sp>
      <p:sp>
        <p:nvSpPr>
          <p:cNvPr id="25" name="Text 18"/>
          <p:cNvSpPr/>
          <p:nvPr/>
        </p:nvSpPr>
        <p:spPr>
          <a:xfrm>
            <a:off x="5079950" y="1587401"/>
            <a:ext cx="2590699" cy="114300"/>
          </a:xfrm>
          <a:prstGeom prst="rect">
            <a:avLst/>
          </a:prstGeom>
          <a:noFill/>
          <a:ln/>
        </p:spPr>
        <p:txBody>
          <a:bodyPr wrap="square" lIns="0" tIns="0" rIns="0" bIns="0" rtlCol="0" anchor="t"/>
          <a:lstStyle/>
          <a:p>
            <a:pPr marL="0" indent="0" algn="l">
              <a:buNone/>
            </a:pPr>
            <a:r>
              <a:rPr lang="en-US" sz="800" dirty="0">
                <a:solidFill>
                  <a:srgbClr val="59636E"/>
                </a:solidFill>
                <a:latin typeface="Arial" pitchFamily="34" charset="0"/>
                <a:ea typeface="Arial" pitchFamily="34" charset="-122"/>
                <a:cs typeface="Arial" pitchFamily="34" charset="-120"/>
              </a:rPr>
              <a:t>GitHub Copilot app</a:t>
            </a:r>
            <a:endParaRPr lang="en-US" sz="800" dirty="0"/>
          </a:p>
        </p:txBody>
      </p:sp>
      <p:sp>
        <p:nvSpPr>
          <p:cNvPr id="26" name="Text 19"/>
          <p:cNvSpPr/>
          <p:nvPr/>
        </p:nvSpPr>
        <p:spPr>
          <a:xfrm>
            <a:off x="4394150" y="1854101"/>
            <a:ext cx="1625501" cy="2565350"/>
          </a:xfrm>
          <a:prstGeom prst="roundRect">
            <a:avLst>
              <a:gd name="adj" fmla="val 4688"/>
            </a:avLst>
          </a:prstGeom>
          <a:solidFill>
            <a:srgbClr val="F6F8FA"/>
          </a:solidFill>
          <a:ln/>
        </p:spPr>
        <p:txBody>
          <a:bodyPr wrap="square" rtlCol="0" anchor="ctr"/>
          <a:lstStyle/>
          <a:p>
            <a:pPr marL="0" indent="0">
              <a:buNone/>
            </a:pPr>
            <a:endParaRPr lang="en-US" dirty="0"/>
          </a:p>
        </p:txBody>
      </p:sp>
      <p:sp>
        <p:nvSpPr>
          <p:cNvPr id="27" name="Text 20"/>
          <p:cNvSpPr/>
          <p:nvPr/>
        </p:nvSpPr>
        <p:spPr>
          <a:xfrm>
            <a:off x="4470350" y="1930301"/>
            <a:ext cx="1498550" cy="355550"/>
          </a:xfrm>
          <a:prstGeom prst="roundRect">
            <a:avLst>
              <a:gd name="adj" fmla="val 17860"/>
            </a:avLst>
          </a:prstGeom>
          <a:solidFill>
            <a:srgbClr val="DDF4FF"/>
          </a:solidFill>
          <a:ln/>
        </p:spPr>
        <p:txBody>
          <a:bodyPr wrap="square" rtlCol="0" anchor="ctr"/>
          <a:lstStyle/>
          <a:p>
            <a:pPr marL="0" indent="0">
              <a:buNone/>
            </a:pPr>
            <a:endParaRPr lang="en-US" dirty="0"/>
          </a:p>
        </p:txBody>
      </p:sp>
      <p:sp>
        <p:nvSpPr>
          <p:cNvPr id="28" name="Text 21"/>
          <p:cNvSpPr/>
          <p:nvPr/>
        </p:nvSpPr>
        <p:spPr>
          <a:xfrm>
            <a:off x="4572000" y="2070050"/>
            <a:ext cx="88850" cy="88850"/>
          </a:xfrm>
          <a:prstGeom prst="roundRect">
            <a:avLst>
              <a:gd name="adj" fmla="val 1029150"/>
            </a:avLst>
          </a:prstGeom>
          <a:solidFill>
            <a:srgbClr val="1A7F37"/>
          </a:solidFill>
          <a:ln/>
        </p:spPr>
        <p:txBody>
          <a:bodyPr wrap="square" rtlCol="0" anchor="ctr"/>
          <a:lstStyle/>
          <a:p>
            <a:pPr marL="0" indent="0">
              <a:buNone/>
            </a:pPr>
            <a:endParaRPr lang="en-US" dirty="0"/>
          </a:p>
        </p:txBody>
      </p:sp>
      <p:sp>
        <p:nvSpPr>
          <p:cNvPr id="29" name="Text 22"/>
          <p:cNvSpPr/>
          <p:nvPr/>
        </p:nvSpPr>
        <p:spPr>
          <a:xfrm>
            <a:off x="4737050" y="1981200"/>
            <a:ext cx="1230529" cy="114300"/>
          </a:xfrm>
          <a:prstGeom prst="rect">
            <a:avLst/>
          </a:prstGeom>
          <a:noFill/>
          <a:ln/>
        </p:spPr>
        <p:txBody>
          <a:bodyPr wrap="square" lIns="0" tIns="0" rIns="0" bIns="0" rtlCol="0" anchor="t"/>
          <a:lstStyle/>
          <a:p>
            <a:pPr marL="0" indent="0" algn="l">
              <a:buNone/>
            </a:pPr>
            <a:r>
              <a:rPr lang="en-US" sz="850" b="1" dirty="0">
                <a:solidFill>
                  <a:srgbClr val="1F2328"/>
                </a:solidFill>
                <a:latin typeface="Arial" pitchFamily="34" charset="0"/>
                <a:ea typeface="Arial" pitchFamily="34" charset="-122"/>
                <a:cs typeface="Arial" pitchFamily="34" charset="-120"/>
              </a:rPr>
              <a:t>Housing website</a:t>
            </a:r>
            <a:endParaRPr lang="en-US" sz="850" dirty="0"/>
          </a:p>
        </p:txBody>
      </p:sp>
      <p:sp>
        <p:nvSpPr>
          <p:cNvPr id="30" name="Text 23"/>
          <p:cNvSpPr/>
          <p:nvPr/>
        </p:nvSpPr>
        <p:spPr>
          <a:xfrm>
            <a:off x="4737050" y="2120801"/>
            <a:ext cx="1230529"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Running</a:t>
            </a:r>
            <a:endParaRPr lang="en-US" sz="750" dirty="0"/>
          </a:p>
        </p:txBody>
      </p:sp>
      <p:sp>
        <p:nvSpPr>
          <p:cNvPr id="31" name="Text 24"/>
          <p:cNvSpPr/>
          <p:nvPr/>
        </p:nvSpPr>
        <p:spPr>
          <a:xfrm>
            <a:off x="4470350" y="2362200"/>
            <a:ext cx="1498550" cy="355550"/>
          </a:xfrm>
          <a:prstGeom prst="roundRect">
            <a:avLst>
              <a:gd name="adj" fmla="val 17860"/>
            </a:avLst>
          </a:prstGeom>
          <a:solidFill>
            <a:srgbClr val="FFFFFF"/>
          </a:solidFill>
          <a:ln/>
        </p:spPr>
        <p:txBody>
          <a:bodyPr wrap="square" rtlCol="0" anchor="ctr"/>
          <a:lstStyle/>
          <a:p>
            <a:pPr marL="0" indent="0">
              <a:buNone/>
            </a:pPr>
            <a:endParaRPr lang="en-US" dirty="0"/>
          </a:p>
        </p:txBody>
      </p:sp>
      <p:sp>
        <p:nvSpPr>
          <p:cNvPr id="32" name="Text 25"/>
          <p:cNvSpPr/>
          <p:nvPr/>
        </p:nvSpPr>
        <p:spPr>
          <a:xfrm>
            <a:off x="4572000" y="2501801"/>
            <a:ext cx="88850" cy="88850"/>
          </a:xfrm>
          <a:prstGeom prst="roundRect">
            <a:avLst>
              <a:gd name="adj" fmla="val 1029150"/>
            </a:avLst>
          </a:prstGeom>
          <a:solidFill>
            <a:srgbClr val="1A7F37"/>
          </a:solidFill>
          <a:ln/>
        </p:spPr>
        <p:txBody>
          <a:bodyPr wrap="square" rtlCol="0" anchor="ctr"/>
          <a:lstStyle/>
          <a:p>
            <a:pPr marL="0" indent="0">
              <a:buNone/>
            </a:pPr>
            <a:endParaRPr lang="en-US" dirty="0"/>
          </a:p>
        </p:txBody>
      </p:sp>
      <p:sp>
        <p:nvSpPr>
          <p:cNvPr id="33" name="Text 26"/>
          <p:cNvSpPr/>
          <p:nvPr/>
        </p:nvSpPr>
        <p:spPr>
          <a:xfrm>
            <a:off x="4737050" y="2412950"/>
            <a:ext cx="1230529" cy="114300"/>
          </a:xfrm>
          <a:prstGeom prst="rect">
            <a:avLst/>
          </a:prstGeom>
          <a:noFill/>
          <a:ln/>
        </p:spPr>
        <p:txBody>
          <a:bodyPr wrap="square" lIns="0" tIns="0" rIns="0" bIns="0" rtlCol="0" anchor="t"/>
          <a:lstStyle/>
          <a:p>
            <a:pPr marL="0" indent="0" algn="l">
              <a:buNone/>
            </a:pPr>
            <a:r>
              <a:rPr lang="en-US" sz="850" b="1" dirty="0">
                <a:solidFill>
                  <a:srgbClr val="1F2328"/>
                </a:solidFill>
                <a:latin typeface="Arial" pitchFamily="34" charset="0"/>
                <a:ea typeface="Arial" pitchFamily="34" charset="-122"/>
                <a:cs typeface="Arial" pitchFamily="34" charset="-120"/>
              </a:rPr>
              <a:t>Excel analysis</a:t>
            </a:r>
            <a:endParaRPr lang="en-US" sz="850" dirty="0"/>
          </a:p>
        </p:txBody>
      </p:sp>
      <p:sp>
        <p:nvSpPr>
          <p:cNvPr id="34" name="Text 27"/>
          <p:cNvSpPr/>
          <p:nvPr/>
        </p:nvSpPr>
        <p:spPr>
          <a:xfrm>
            <a:off x="4737050" y="2552700"/>
            <a:ext cx="1230529"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Running</a:t>
            </a:r>
            <a:endParaRPr lang="en-US" sz="750" dirty="0"/>
          </a:p>
        </p:txBody>
      </p:sp>
      <p:sp>
        <p:nvSpPr>
          <p:cNvPr id="35" name="Text 28"/>
          <p:cNvSpPr/>
          <p:nvPr/>
        </p:nvSpPr>
        <p:spPr>
          <a:xfrm>
            <a:off x="4470350" y="2793950"/>
            <a:ext cx="1498550" cy="355550"/>
          </a:xfrm>
          <a:prstGeom prst="roundRect">
            <a:avLst>
              <a:gd name="adj" fmla="val 17860"/>
            </a:avLst>
          </a:prstGeom>
          <a:solidFill>
            <a:srgbClr val="FFFFFF"/>
          </a:solidFill>
          <a:ln/>
        </p:spPr>
        <p:txBody>
          <a:bodyPr wrap="square" rtlCol="0" anchor="ctr"/>
          <a:lstStyle/>
          <a:p>
            <a:pPr marL="0" indent="0">
              <a:buNone/>
            </a:pPr>
            <a:endParaRPr lang="en-US" dirty="0"/>
          </a:p>
        </p:txBody>
      </p:sp>
      <p:sp>
        <p:nvSpPr>
          <p:cNvPr id="36" name="Text 29"/>
          <p:cNvSpPr/>
          <p:nvPr/>
        </p:nvSpPr>
        <p:spPr>
          <a:xfrm>
            <a:off x="4572000" y="2933700"/>
            <a:ext cx="88850" cy="88850"/>
          </a:xfrm>
          <a:prstGeom prst="roundRect">
            <a:avLst>
              <a:gd name="adj" fmla="val 1029150"/>
            </a:avLst>
          </a:prstGeom>
          <a:solidFill>
            <a:srgbClr val="1A7F37"/>
          </a:solidFill>
          <a:ln/>
        </p:spPr>
        <p:txBody>
          <a:bodyPr wrap="square" rtlCol="0" anchor="ctr"/>
          <a:lstStyle/>
          <a:p>
            <a:pPr marL="0" indent="0">
              <a:buNone/>
            </a:pPr>
            <a:endParaRPr lang="en-US" dirty="0"/>
          </a:p>
        </p:txBody>
      </p:sp>
      <p:sp>
        <p:nvSpPr>
          <p:cNvPr id="37" name="Text 30"/>
          <p:cNvSpPr/>
          <p:nvPr/>
        </p:nvSpPr>
        <p:spPr>
          <a:xfrm>
            <a:off x="4737050" y="2844701"/>
            <a:ext cx="1230529" cy="114300"/>
          </a:xfrm>
          <a:prstGeom prst="rect">
            <a:avLst/>
          </a:prstGeom>
          <a:noFill/>
          <a:ln/>
        </p:spPr>
        <p:txBody>
          <a:bodyPr wrap="square" lIns="0" tIns="0" rIns="0" bIns="0" rtlCol="0" anchor="t"/>
          <a:lstStyle/>
          <a:p>
            <a:pPr marL="0" indent="0" algn="l">
              <a:buNone/>
            </a:pPr>
            <a:r>
              <a:rPr lang="en-US" sz="850" b="1" dirty="0">
                <a:solidFill>
                  <a:srgbClr val="1F2328"/>
                </a:solidFill>
                <a:latin typeface="Arial" pitchFamily="34" charset="0"/>
                <a:ea typeface="Arial" pitchFamily="34" charset="-122"/>
                <a:cs typeface="Arial" pitchFamily="34" charset="-120"/>
              </a:rPr>
              <a:t>PowerPoint briefing</a:t>
            </a:r>
            <a:endParaRPr lang="en-US" sz="850" dirty="0"/>
          </a:p>
        </p:txBody>
      </p:sp>
      <p:sp>
        <p:nvSpPr>
          <p:cNvPr id="38" name="Text 31"/>
          <p:cNvSpPr/>
          <p:nvPr/>
        </p:nvSpPr>
        <p:spPr>
          <a:xfrm>
            <a:off x="4737050" y="2984450"/>
            <a:ext cx="1230529"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Running</a:t>
            </a:r>
            <a:endParaRPr lang="en-US" sz="750" dirty="0"/>
          </a:p>
        </p:txBody>
      </p:sp>
      <p:sp>
        <p:nvSpPr>
          <p:cNvPr id="39" name="Text 32"/>
          <p:cNvSpPr/>
          <p:nvPr/>
        </p:nvSpPr>
        <p:spPr>
          <a:xfrm>
            <a:off x="4470350" y="3225701"/>
            <a:ext cx="1498550" cy="355550"/>
          </a:xfrm>
          <a:prstGeom prst="roundRect">
            <a:avLst>
              <a:gd name="adj" fmla="val 17860"/>
            </a:avLst>
          </a:prstGeom>
          <a:solidFill>
            <a:srgbClr val="FFFFFF"/>
          </a:solidFill>
          <a:ln/>
        </p:spPr>
        <p:txBody>
          <a:bodyPr wrap="square" rtlCol="0" anchor="ctr"/>
          <a:lstStyle/>
          <a:p>
            <a:pPr marL="0" indent="0">
              <a:buNone/>
            </a:pPr>
            <a:endParaRPr lang="en-US" dirty="0"/>
          </a:p>
        </p:txBody>
      </p:sp>
      <p:sp>
        <p:nvSpPr>
          <p:cNvPr id="40" name="Text 33"/>
          <p:cNvSpPr/>
          <p:nvPr/>
        </p:nvSpPr>
        <p:spPr>
          <a:xfrm>
            <a:off x="4572000" y="3365450"/>
            <a:ext cx="88850" cy="88850"/>
          </a:xfrm>
          <a:prstGeom prst="roundRect">
            <a:avLst>
              <a:gd name="adj" fmla="val 1029150"/>
            </a:avLst>
          </a:prstGeom>
          <a:solidFill>
            <a:srgbClr val="0969DA"/>
          </a:solidFill>
          <a:ln/>
        </p:spPr>
        <p:txBody>
          <a:bodyPr wrap="square" rtlCol="0" anchor="ctr"/>
          <a:lstStyle/>
          <a:p>
            <a:pPr marL="0" indent="0">
              <a:buNone/>
            </a:pPr>
            <a:endParaRPr lang="en-US" dirty="0"/>
          </a:p>
        </p:txBody>
      </p:sp>
      <p:sp>
        <p:nvSpPr>
          <p:cNvPr id="41" name="Text 34"/>
          <p:cNvSpPr/>
          <p:nvPr/>
        </p:nvSpPr>
        <p:spPr>
          <a:xfrm>
            <a:off x="4737050" y="3276600"/>
            <a:ext cx="1230529" cy="114300"/>
          </a:xfrm>
          <a:prstGeom prst="rect">
            <a:avLst/>
          </a:prstGeom>
          <a:noFill/>
          <a:ln/>
        </p:spPr>
        <p:txBody>
          <a:bodyPr wrap="square" lIns="0" tIns="0" rIns="0" bIns="0" rtlCol="0" anchor="t"/>
          <a:lstStyle/>
          <a:p>
            <a:pPr marL="0" indent="0" algn="l">
              <a:buNone/>
            </a:pPr>
            <a:r>
              <a:rPr lang="en-US" sz="850" b="1" dirty="0">
                <a:solidFill>
                  <a:srgbClr val="1F2328"/>
                </a:solidFill>
                <a:latin typeface="Arial" pitchFamily="34" charset="0"/>
                <a:ea typeface="Arial" pitchFamily="34" charset="-122"/>
                <a:cs typeface="Arial" pitchFamily="34" charset="-120"/>
              </a:rPr>
              <a:t>WorkIQ session brief</a:t>
            </a:r>
            <a:endParaRPr lang="en-US" sz="850" dirty="0"/>
          </a:p>
        </p:txBody>
      </p:sp>
      <p:sp>
        <p:nvSpPr>
          <p:cNvPr id="42" name="Text 35"/>
          <p:cNvSpPr/>
          <p:nvPr/>
        </p:nvSpPr>
        <p:spPr>
          <a:xfrm>
            <a:off x="4737050" y="3416201"/>
            <a:ext cx="1230529"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Done</a:t>
            </a:r>
            <a:endParaRPr lang="en-US" sz="750" dirty="0"/>
          </a:p>
        </p:txBody>
      </p:sp>
      <p:sp>
        <p:nvSpPr>
          <p:cNvPr id="43" name="Text 36"/>
          <p:cNvSpPr/>
          <p:nvPr/>
        </p:nvSpPr>
        <p:spPr>
          <a:xfrm>
            <a:off x="6121301" y="1955750"/>
            <a:ext cx="2461209" cy="142875"/>
          </a:xfrm>
          <a:prstGeom prst="rect">
            <a:avLst/>
          </a:prstGeom>
          <a:noFill/>
          <a:ln/>
        </p:spPr>
        <p:txBody>
          <a:bodyPr wrap="square" lIns="0" tIns="0" rIns="0" bIns="0" rtlCol="0" anchor="t"/>
          <a:lstStyle/>
          <a:p>
            <a:pPr marL="0" indent="0" algn="l">
              <a:buNone/>
            </a:pPr>
            <a:r>
              <a:rPr lang="en-US" sz="1000" b="1" dirty="0">
                <a:solidFill>
                  <a:srgbClr val="1F2328"/>
                </a:solidFill>
                <a:latin typeface="Arial" pitchFamily="34" charset="0"/>
                <a:ea typeface="Arial" pitchFamily="34" charset="-122"/>
                <a:cs typeface="Arial" pitchFamily="34" charset="-120"/>
              </a:rPr>
              <a:t>Housing website</a:t>
            </a:r>
            <a:endParaRPr lang="en-US" sz="1000" dirty="0"/>
          </a:p>
        </p:txBody>
      </p:sp>
      <p:sp>
        <p:nvSpPr>
          <p:cNvPr id="44" name="Text 37"/>
          <p:cNvSpPr/>
          <p:nvPr/>
        </p:nvSpPr>
        <p:spPr>
          <a:xfrm>
            <a:off x="6121301" y="2184350"/>
            <a:ext cx="2362200" cy="812750"/>
          </a:xfrm>
          <a:prstGeom prst="roundRect">
            <a:avLst>
              <a:gd name="adj" fmla="val 9376"/>
            </a:avLst>
          </a:prstGeom>
          <a:solidFill>
            <a:srgbClr val="F1F8FF"/>
          </a:solidFill>
          <a:ln/>
        </p:spPr>
        <p:txBody>
          <a:bodyPr wrap="square" rtlCol="0" anchor="ctr"/>
          <a:lstStyle/>
          <a:p>
            <a:pPr marL="0" indent="0">
              <a:buNone/>
            </a:pPr>
            <a:endParaRPr lang="en-US" dirty="0"/>
          </a:p>
        </p:txBody>
      </p:sp>
      <p:sp>
        <p:nvSpPr>
          <p:cNvPr id="45" name="Text 38"/>
          <p:cNvSpPr/>
          <p:nvPr/>
        </p:nvSpPr>
        <p:spPr>
          <a:xfrm>
            <a:off x="6222950" y="2260550"/>
            <a:ext cx="2228037" cy="264021"/>
          </a:xfrm>
          <a:prstGeom prst="rect">
            <a:avLst/>
          </a:prstGeom>
          <a:noFill/>
          <a:ln/>
        </p:spPr>
        <p:txBody>
          <a:bodyPr wrap="square" lIns="0" tIns="0" rIns="0" bIns="0" rtlCol="0" anchor="t"/>
          <a:lstStyle/>
          <a:p>
            <a:pPr marL="0" indent="0" algn="l">
              <a:lnSpc>
                <a:spcPts val="1040"/>
              </a:lnSpc>
              <a:buNone/>
            </a:pPr>
            <a:r>
              <a:rPr lang="en-US" sz="800" dirty="0">
                <a:solidFill>
                  <a:srgbClr val="1F2328"/>
                </a:solidFill>
                <a:latin typeface="Arial" pitchFamily="34" charset="0"/>
                <a:ea typeface="Arial" pitchFamily="34" charset="-122"/>
                <a:cs typeface="Arial" pitchFamily="34" charset="-120"/>
              </a:rPr>
              <a:t>Plan approved. Tests pass. Build done. Deploying to Azure Static Web Apps.</a:t>
            </a:r>
            <a:endParaRPr lang="en-US" sz="800" dirty="0"/>
          </a:p>
        </p:txBody>
      </p:sp>
      <p:sp>
        <p:nvSpPr>
          <p:cNvPr id="46" name="Text 39"/>
          <p:cNvSpPr/>
          <p:nvPr/>
        </p:nvSpPr>
        <p:spPr>
          <a:xfrm>
            <a:off x="6121301" y="3174950"/>
            <a:ext cx="481310"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47" name="Text 40"/>
          <p:cNvSpPr/>
          <p:nvPr/>
        </p:nvSpPr>
        <p:spPr>
          <a:xfrm>
            <a:off x="6116678" y="3225701"/>
            <a:ext cx="471505"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Plan</a:t>
            </a:r>
            <a:endParaRPr lang="en-US" sz="750" dirty="0"/>
          </a:p>
        </p:txBody>
      </p:sp>
      <p:sp>
        <p:nvSpPr>
          <p:cNvPr id="48" name="Text 41"/>
          <p:cNvSpPr/>
          <p:nvPr/>
        </p:nvSpPr>
        <p:spPr>
          <a:xfrm>
            <a:off x="6659761" y="3174950"/>
            <a:ext cx="773311"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49" name="Text 42"/>
          <p:cNvSpPr/>
          <p:nvPr/>
        </p:nvSpPr>
        <p:spPr>
          <a:xfrm>
            <a:off x="6652218" y="3225701"/>
            <a:ext cx="769346"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Autopilot</a:t>
            </a:r>
            <a:endParaRPr lang="en-US" sz="750" dirty="0"/>
          </a:p>
        </p:txBody>
      </p:sp>
      <p:sp>
        <p:nvSpPr>
          <p:cNvPr id="50" name="Text 43"/>
          <p:cNvSpPr/>
          <p:nvPr/>
        </p:nvSpPr>
        <p:spPr>
          <a:xfrm>
            <a:off x="7490371" y="3174950"/>
            <a:ext cx="773311"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51" name="Text 44"/>
          <p:cNvSpPr/>
          <p:nvPr/>
        </p:nvSpPr>
        <p:spPr>
          <a:xfrm>
            <a:off x="7482828" y="3225701"/>
            <a:ext cx="769346"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Worktrees</a:t>
            </a:r>
            <a:endParaRPr lang="en-US" sz="750" dirty="0"/>
          </a:p>
        </p:txBody>
      </p:sp>
      <p:sp>
        <p:nvSpPr>
          <p:cNvPr id="52" name="Text 45"/>
          <p:cNvSpPr/>
          <p:nvPr/>
        </p:nvSpPr>
        <p:spPr>
          <a:xfrm>
            <a:off x="6121301" y="3479750"/>
            <a:ext cx="1123950"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53" name="Text 46"/>
          <p:cNvSpPr/>
          <p:nvPr/>
        </p:nvSpPr>
        <p:spPr>
          <a:xfrm>
            <a:off x="6110252" y="3530501"/>
            <a:ext cx="1126998"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Browser preview</a:t>
            </a:r>
            <a:endParaRPr lang="en-US" sz="750" dirty="0"/>
          </a:p>
        </p:txBody>
      </p:sp>
      <p:sp>
        <p:nvSpPr>
          <p:cNvPr id="54" name="Text 47"/>
          <p:cNvSpPr/>
          <p:nvPr/>
        </p:nvSpPr>
        <p:spPr>
          <a:xfrm>
            <a:off x="7302401" y="3479750"/>
            <a:ext cx="1065461"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55" name="Text 48"/>
          <p:cNvSpPr/>
          <p:nvPr/>
        </p:nvSpPr>
        <p:spPr>
          <a:xfrm>
            <a:off x="7291937" y="3530501"/>
            <a:ext cx="1067339"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MCP and WorkIQ</a:t>
            </a:r>
            <a:endParaRPr lang="en-US" sz="750" dirty="0"/>
          </a:p>
        </p:txBody>
      </p:sp>
      <p:sp>
        <p:nvSpPr>
          <p:cNvPr id="56" name="Text 49"/>
          <p:cNvSpPr/>
          <p:nvPr/>
        </p:nvSpPr>
        <p:spPr>
          <a:xfrm>
            <a:off x="6121301" y="3784550"/>
            <a:ext cx="890141" cy="247650"/>
          </a:xfrm>
          <a:prstGeom prst="roundRect">
            <a:avLst>
              <a:gd name="adj" fmla="val 46154"/>
            </a:avLst>
          </a:prstGeom>
          <a:solidFill>
            <a:srgbClr val="F6F8FA"/>
          </a:solidFill>
          <a:ln w="9525">
            <a:solidFill>
              <a:srgbClr val="D0D7DE"/>
            </a:solidFill>
          </a:ln>
        </p:spPr>
        <p:txBody>
          <a:bodyPr wrap="square" rtlCol="0" anchor="ctr"/>
          <a:lstStyle/>
          <a:p>
            <a:pPr marL="0" indent="0">
              <a:buNone/>
            </a:pPr>
            <a:endParaRPr lang="en-US" dirty="0"/>
          </a:p>
        </p:txBody>
      </p:sp>
      <p:sp>
        <p:nvSpPr>
          <p:cNvPr id="57" name="Text 50"/>
          <p:cNvSpPr/>
          <p:nvPr/>
        </p:nvSpPr>
        <p:spPr>
          <a:xfrm>
            <a:off x="6112590" y="3835301"/>
            <a:ext cx="888513" cy="104775"/>
          </a:xfrm>
          <a:prstGeom prst="rect">
            <a:avLst/>
          </a:prstGeom>
          <a:noFill/>
          <a:ln/>
        </p:spPr>
        <p:txBody>
          <a:bodyPr wrap="square" lIns="0" tIns="0" rIns="0" bIns="0" rtlCol="0" anchor="t"/>
          <a:lstStyle/>
          <a:p>
            <a:pPr marL="0" indent="0" algn="ctr">
              <a:buNone/>
            </a:pPr>
            <a:r>
              <a:rPr lang="en-US" sz="750" b="1" dirty="0">
                <a:solidFill>
                  <a:srgbClr val="1F2328"/>
                </a:solidFill>
                <a:latin typeface="Arial" pitchFamily="34" charset="0"/>
                <a:ea typeface="Arial" pitchFamily="34" charset="-122"/>
                <a:cs typeface="Arial" pitchFamily="34" charset="-120"/>
              </a:rPr>
              <a:t>Automations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orchestra" descr="/Users/danwahlin/.copilot/session-state/e7427b9a-9d65-4aa2-953c-14cedea46cbc/files/talkdeck/assets/orchestra-base.png"/>
          <p:cNvPicPr>
            <a:picLocks noChangeAspect="1"/>
          </p:cNvPicPr>
          <p:nvPr/>
        </p:nvPicPr>
        <p:blipFill>
          <a:blip r:embed="rId3"/>
          <a:stretch>
            <a:fillRect/>
          </a:stretch>
        </p:blipFill>
        <p:spPr>
          <a:xfrm>
            <a:off x="939701" y="990600"/>
            <a:ext cx="7251650" cy="4152900"/>
          </a:xfrm>
          <a:prstGeom prst="rect">
            <a:avLst/>
          </a:prstGeom>
        </p:spPr>
      </p:pic>
      <p:pic>
        <p:nvPicPr>
          <p:cNvPr id="3" name="Image 1" descr="/Users/danwahlin/.copilot/session-state/e7427b9a-9d65-4aa2-953c-14cedea46cbc/files/talkdeck/assets/corner.png"/>
          <p:cNvPicPr>
            <a:picLocks noChangeAspect="1"/>
          </p:cNvPicPr>
          <p:nvPr/>
        </p:nvPicPr>
        <p:blipFill>
          <a:blip r:embed="rId4"/>
          <a:stretch>
            <a:fillRect/>
          </a:stretch>
        </p:blipFill>
        <p:spPr>
          <a:xfrm>
            <a:off x="6349901" y="0"/>
            <a:ext cx="2793950" cy="1308050"/>
          </a:xfrm>
          <a:prstGeom prst="rect">
            <a:avLst/>
          </a:prstGeom>
        </p:spPr>
      </p:pic>
      <p:sp>
        <p:nvSpPr>
          <p:cNvPr id="4"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5"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6" name="Image 2" descr="/Users/danwahlin/.copilot/session-state/e7427b9a-9d65-4aa2-953c-14cedea46cbc/files/talkdeck/assets/mark-dark.png"/>
          <p:cNvPicPr>
            <a:picLocks noChangeAspect="1"/>
          </p:cNvPicPr>
          <p:nvPr/>
        </p:nvPicPr>
        <p:blipFill>
          <a:blip r:embed="rId5"/>
          <a:stretch>
            <a:fillRect/>
          </a:stretch>
        </p:blipFill>
        <p:spPr>
          <a:xfrm>
            <a:off x="8610600" y="165050"/>
            <a:ext cx="304800" cy="304800"/>
          </a:xfrm>
          <a:prstGeom prst="rect">
            <a:avLst/>
          </a:prstGeom>
        </p:spPr>
      </p:pic>
      <p:sp>
        <p:nvSpPr>
          <p:cNvPr id="7" name="!!eyebrow"/>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ORCHESTRATE YOUR WORK</a:t>
            </a:r>
            <a:endParaRPr lang="en-US" sz="950" dirty="0"/>
          </a:p>
        </p:txBody>
      </p:sp>
      <p:sp>
        <p:nvSpPr>
          <p:cNvPr id="8" name="!!title"/>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You are the conductor</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orchestra" descr="/Users/danwahlin/.copilot/session-state/e7427b9a-9d65-4aa2-953c-14cedea46cbc/files/talkdeck/assets/orchestra-base.png"/>
          <p:cNvPicPr>
            <a:picLocks noChangeAspect="1"/>
          </p:cNvPicPr>
          <p:nvPr/>
        </p:nvPicPr>
        <p:blipFill>
          <a:blip r:embed="rId3"/>
          <a:stretch>
            <a:fillRect/>
          </a:stretch>
        </p:blipFill>
        <p:spPr>
          <a:xfrm>
            <a:off x="939701" y="990600"/>
            <a:ext cx="7251650" cy="4152900"/>
          </a:xfrm>
          <a:prstGeom prst="rect">
            <a:avLst/>
          </a:prstGeom>
        </p:spPr>
      </p:pic>
      <p:pic>
        <p:nvPicPr>
          <p:cNvPr id="3" name="!!spotlight" descr="/Users/danwahlin/.copilot/session-state/e7427b9a-9d65-4aa2-953c-14cedea46cbc/files/talkdeck/assets/orchestra-overlay.png"/>
          <p:cNvPicPr>
            <a:picLocks noChangeAspect="1"/>
          </p:cNvPicPr>
          <p:nvPr/>
        </p:nvPicPr>
        <p:blipFill>
          <a:blip r:embed="rId4"/>
          <a:stretch>
            <a:fillRect/>
          </a:stretch>
        </p:blipFill>
        <p:spPr>
          <a:xfrm>
            <a:off x="939701" y="990600"/>
            <a:ext cx="7251650" cy="4152900"/>
          </a:xfrm>
          <a:prstGeom prst="rect">
            <a:avLst/>
          </a:prstGeom>
        </p:spPr>
      </p:pic>
      <p:sp>
        <p:nvSpPr>
          <p:cNvPr id="4" name="Text 0"/>
          <p:cNvSpPr/>
          <p:nvPr/>
        </p:nvSpPr>
        <p:spPr>
          <a:xfrm>
            <a:off x="1145679" y="2073027"/>
            <a:ext cx="1854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5" name="Text 1"/>
          <p:cNvSpPr/>
          <p:nvPr/>
        </p:nvSpPr>
        <p:spPr>
          <a:xfrm>
            <a:off x="1145679" y="2073027"/>
            <a:ext cx="63401" cy="431750"/>
          </a:xfrm>
          <a:prstGeom prst="rect">
            <a:avLst/>
          </a:prstGeom>
          <a:solidFill>
            <a:srgbClr val="8250DF"/>
          </a:solidFill>
          <a:ln/>
        </p:spPr>
        <p:txBody>
          <a:bodyPr wrap="square" rtlCol="0" anchor="ctr"/>
          <a:lstStyle/>
          <a:p>
            <a:pPr marL="0" indent="0">
              <a:buNone/>
            </a:pPr>
            <a:endParaRPr lang="en-US" dirty="0"/>
          </a:p>
        </p:txBody>
      </p:sp>
      <p:sp>
        <p:nvSpPr>
          <p:cNvPr id="6" name="Text 2"/>
          <p:cNvSpPr/>
          <p:nvPr/>
        </p:nvSpPr>
        <p:spPr>
          <a:xfrm>
            <a:off x="1285429" y="2149227"/>
            <a:ext cx="279350" cy="279350"/>
          </a:xfrm>
          <a:prstGeom prst="roundRect">
            <a:avLst>
              <a:gd name="adj" fmla="val 22731"/>
            </a:avLst>
          </a:prstGeom>
          <a:solidFill>
            <a:srgbClr val="FBEFFF"/>
          </a:solidFill>
          <a:ln/>
        </p:spPr>
        <p:txBody>
          <a:bodyPr wrap="square" rtlCol="0" anchor="ctr"/>
          <a:lstStyle/>
          <a:p>
            <a:pPr marL="0" indent="0">
              <a:buNone/>
            </a:pPr>
            <a:endParaRPr lang="en-US" dirty="0"/>
          </a:p>
        </p:txBody>
      </p:sp>
      <p:pic>
        <p:nvPicPr>
          <p:cNvPr id="7" name="Image 2" descr="/Users/danwahlin/.copilot/session-state/e7427b9a-9d65-4aa2-953c-14cedea46cbc/files/talkdeck/assets/icons/PiMicrosoftOutlookLogo-8250DF.png"/>
          <p:cNvPicPr>
            <a:picLocks noChangeAspect="1"/>
          </p:cNvPicPr>
          <p:nvPr/>
        </p:nvPicPr>
        <p:blipFill>
          <a:blip r:embed="rId5"/>
          <a:stretch>
            <a:fillRect/>
          </a:stretch>
        </p:blipFill>
        <p:spPr>
          <a:xfrm>
            <a:off x="1336179" y="2199977"/>
            <a:ext cx="177701" cy="177701"/>
          </a:xfrm>
          <a:prstGeom prst="rect">
            <a:avLst/>
          </a:prstGeom>
        </p:spPr>
      </p:pic>
      <p:sp>
        <p:nvSpPr>
          <p:cNvPr id="8" name="Text 3"/>
          <p:cNvSpPr/>
          <p:nvPr/>
        </p:nvSpPr>
        <p:spPr>
          <a:xfrm>
            <a:off x="1653778" y="2136428"/>
            <a:ext cx="132130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WorkIQ session brief</a:t>
            </a:r>
            <a:endParaRPr lang="en-US" sz="950" dirty="0"/>
          </a:p>
        </p:txBody>
      </p:sp>
      <p:sp>
        <p:nvSpPr>
          <p:cNvPr id="9" name="Text 4"/>
          <p:cNvSpPr/>
          <p:nvPr/>
        </p:nvSpPr>
        <p:spPr>
          <a:xfrm>
            <a:off x="1653778" y="2301627"/>
            <a:ext cx="132130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Project managers</a:t>
            </a:r>
            <a:endParaRPr lang="en-US" sz="750" dirty="0"/>
          </a:p>
        </p:txBody>
      </p:sp>
      <p:sp>
        <p:nvSpPr>
          <p:cNvPr id="10" name="Text 5"/>
          <p:cNvSpPr/>
          <p:nvPr/>
        </p:nvSpPr>
        <p:spPr>
          <a:xfrm>
            <a:off x="5583734" y="2025700"/>
            <a:ext cx="1854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11" name="Text 6"/>
          <p:cNvSpPr/>
          <p:nvPr/>
        </p:nvSpPr>
        <p:spPr>
          <a:xfrm>
            <a:off x="5583734" y="2025700"/>
            <a:ext cx="63401" cy="431750"/>
          </a:xfrm>
          <a:prstGeom prst="rect">
            <a:avLst/>
          </a:prstGeom>
          <a:solidFill>
            <a:srgbClr val="BC4C00"/>
          </a:solidFill>
          <a:ln/>
        </p:spPr>
        <p:txBody>
          <a:bodyPr wrap="square" rtlCol="0" anchor="ctr"/>
          <a:lstStyle/>
          <a:p>
            <a:pPr marL="0" indent="0">
              <a:buNone/>
            </a:pPr>
            <a:endParaRPr lang="en-US" dirty="0"/>
          </a:p>
        </p:txBody>
      </p:sp>
      <p:sp>
        <p:nvSpPr>
          <p:cNvPr id="12" name="Text 7"/>
          <p:cNvSpPr/>
          <p:nvPr/>
        </p:nvSpPr>
        <p:spPr>
          <a:xfrm>
            <a:off x="5723334" y="2101900"/>
            <a:ext cx="279350" cy="279350"/>
          </a:xfrm>
          <a:prstGeom prst="roundRect">
            <a:avLst>
              <a:gd name="adj" fmla="val 22731"/>
            </a:avLst>
          </a:prstGeom>
          <a:solidFill>
            <a:srgbClr val="FFF1E5"/>
          </a:solidFill>
          <a:ln/>
        </p:spPr>
        <p:txBody>
          <a:bodyPr wrap="square" rtlCol="0" anchor="ctr"/>
          <a:lstStyle/>
          <a:p>
            <a:pPr marL="0" indent="0">
              <a:buNone/>
            </a:pPr>
            <a:endParaRPr lang="en-US" dirty="0"/>
          </a:p>
        </p:txBody>
      </p:sp>
      <p:pic>
        <p:nvPicPr>
          <p:cNvPr id="13" name="Image 3" descr="/Users/danwahlin/.copilot/session-state/e7427b9a-9d65-4aa2-953c-14cedea46cbc/files/talkdeck/assets/icons/PiMicrosoftPowerpointLogo-BC4C00.png"/>
          <p:cNvPicPr>
            <a:picLocks noChangeAspect="1"/>
          </p:cNvPicPr>
          <p:nvPr/>
        </p:nvPicPr>
        <p:blipFill>
          <a:blip r:embed="rId6"/>
          <a:stretch>
            <a:fillRect/>
          </a:stretch>
        </p:blipFill>
        <p:spPr>
          <a:xfrm>
            <a:off x="5774234" y="2152799"/>
            <a:ext cx="177701" cy="177701"/>
          </a:xfrm>
          <a:prstGeom prst="rect">
            <a:avLst/>
          </a:prstGeom>
        </p:spPr>
      </p:pic>
      <p:sp>
        <p:nvSpPr>
          <p:cNvPr id="14" name="Text 8"/>
          <p:cNvSpPr/>
          <p:nvPr/>
        </p:nvSpPr>
        <p:spPr>
          <a:xfrm>
            <a:off x="6091684" y="2089249"/>
            <a:ext cx="132130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PowerPoint briefing</a:t>
            </a:r>
            <a:endParaRPr lang="en-US" sz="950" dirty="0"/>
          </a:p>
        </p:txBody>
      </p:sp>
      <p:sp>
        <p:nvSpPr>
          <p:cNvPr id="15" name="Text 9"/>
          <p:cNvSpPr/>
          <p:nvPr/>
        </p:nvSpPr>
        <p:spPr>
          <a:xfrm>
            <a:off x="6091684" y="2254300"/>
            <a:ext cx="132130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Leaders</a:t>
            </a:r>
            <a:endParaRPr lang="en-US" sz="750" dirty="0"/>
          </a:p>
        </p:txBody>
      </p:sp>
      <p:sp>
        <p:nvSpPr>
          <p:cNvPr id="16" name="Text 10"/>
          <p:cNvSpPr/>
          <p:nvPr/>
        </p:nvSpPr>
        <p:spPr>
          <a:xfrm>
            <a:off x="3600748" y="2686794"/>
            <a:ext cx="1854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17" name="Text 11"/>
          <p:cNvSpPr/>
          <p:nvPr/>
        </p:nvSpPr>
        <p:spPr>
          <a:xfrm>
            <a:off x="3600748" y="2686794"/>
            <a:ext cx="63401" cy="431750"/>
          </a:xfrm>
          <a:prstGeom prst="rect">
            <a:avLst/>
          </a:prstGeom>
          <a:solidFill>
            <a:srgbClr val="0969DA"/>
          </a:solidFill>
          <a:ln/>
        </p:spPr>
        <p:txBody>
          <a:bodyPr wrap="square" rtlCol="0" anchor="ctr"/>
          <a:lstStyle/>
          <a:p>
            <a:pPr marL="0" indent="0">
              <a:buNone/>
            </a:pPr>
            <a:endParaRPr lang="en-US" dirty="0"/>
          </a:p>
        </p:txBody>
      </p:sp>
      <p:sp>
        <p:nvSpPr>
          <p:cNvPr id="18" name="Text 12"/>
          <p:cNvSpPr/>
          <p:nvPr/>
        </p:nvSpPr>
        <p:spPr>
          <a:xfrm>
            <a:off x="3740497" y="2762994"/>
            <a:ext cx="279350" cy="279350"/>
          </a:xfrm>
          <a:prstGeom prst="roundRect">
            <a:avLst>
              <a:gd name="adj" fmla="val 22731"/>
            </a:avLst>
          </a:prstGeom>
          <a:solidFill>
            <a:srgbClr val="DDF4FF"/>
          </a:solidFill>
          <a:ln/>
        </p:spPr>
        <p:txBody>
          <a:bodyPr wrap="square" rtlCol="0" anchor="ctr"/>
          <a:lstStyle/>
          <a:p>
            <a:pPr marL="0" indent="0">
              <a:buNone/>
            </a:pPr>
            <a:endParaRPr lang="en-US" dirty="0"/>
          </a:p>
        </p:txBody>
      </p:sp>
      <p:pic>
        <p:nvPicPr>
          <p:cNvPr id="19" name="Image 4" descr="/Users/danwahlin/.copilot/session-state/e7427b9a-9d65-4aa2-953c-14cedea46cbc/files/talkdeck/assets/icons/PiBrowser-0969DA.png"/>
          <p:cNvPicPr>
            <a:picLocks noChangeAspect="1"/>
          </p:cNvPicPr>
          <p:nvPr/>
        </p:nvPicPr>
        <p:blipFill>
          <a:blip r:embed="rId7"/>
          <a:stretch>
            <a:fillRect/>
          </a:stretch>
        </p:blipFill>
        <p:spPr>
          <a:xfrm>
            <a:off x="3791248" y="2813745"/>
            <a:ext cx="177701" cy="177701"/>
          </a:xfrm>
          <a:prstGeom prst="rect">
            <a:avLst/>
          </a:prstGeom>
        </p:spPr>
      </p:pic>
      <p:sp>
        <p:nvSpPr>
          <p:cNvPr id="20" name="Text 13"/>
          <p:cNvSpPr/>
          <p:nvPr/>
        </p:nvSpPr>
        <p:spPr>
          <a:xfrm>
            <a:off x="4108698" y="2750195"/>
            <a:ext cx="132130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Housing website</a:t>
            </a:r>
            <a:endParaRPr lang="en-US" sz="950" dirty="0"/>
          </a:p>
        </p:txBody>
      </p:sp>
      <p:sp>
        <p:nvSpPr>
          <p:cNvPr id="21" name="Text 14"/>
          <p:cNvSpPr/>
          <p:nvPr/>
        </p:nvSpPr>
        <p:spPr>
          <a:xfrm>
            <a:off x="4108698" y="2915394"/>
            <a:ext cx="132130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Developers and IT managers</a:t>
            </a:r>
            <a:endParaRPr lang="en-US" sz="750" dirty="0"/>
          </a:p>
        </p:txBody>
      </p:sp>
      <p:sp>
        <p:nvSpPr>
          <p:cNvPr id="22" name="Text 15"/>
          <p:cNvSpPr/>
          <p:nvPr/>
        </p:nvSpPr>
        <p:spPr>
          <a:xfrm>
            <a:off x="956816" y="4480768"/>
            <a:ext cx="1854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23" name="Text 16"/>
          <p:cNvSpPr/>
          <p:nvPr/>
        </p:nvSpPr>
        <p:spPr>
          <a:xfrm>
            <a:off x="956816" y="4480768"/>
            <a:ext cx="63401" cy="431750"/>
          </a:xfrm>
          <a:prstGeom prst="rect">
            <a:avLst/>
          </a:prstGeom>
          <a:solidFill>
            <a:srgbClr val="1A7F37"/>
          </a:solidFill>
          <a:ln/>
        </p:spPr>
        <p:txBody>
          <a:bodyPr wrap="square" rtlCol="0" anchor="ctr"/>
          <a:lstStyle/>
          <a:p>
            <a:pPr marL="0" indent="0">
              <a:buNone/>
            </a:pPr>
            <a:endParaRPr lang="en-US" dirty="0"/>
          </a:p>
        </p:txBody>
      </p:sp>
      <p:sp>
        <p:nvSpPr>
          <p:cNvPr id="24" name="Text 17"/>
          <p:cNvSpPr/>
          <p:nvPr/>
        </p:nvSpPr>
        <p:spPr>
          <a:xfrm>
            <a:off x="1096566" y="4556968"/>
            <a:ext cx="279350" cy="279350"/>
          </a:xfrm>
          <a:prstGeom prst="roundRect">
            <a:avLst>
              <a:gd name="adj" fmla="val 22731"/>
            </a:avLst>
          </a:prstGeom>
          <a:solidFill>
            <a:srgbClr val="DAFBE1"/>
          </a:solidFill>
          <a:ln/>
        </p:spPr>
        <p:txBody>
          <a:bodyPr wrap="square" rtlCol="0" anchor="ctr"/>
          <a:lstStyle/>
          <a:p>
            <a:pPr marL="0" indent="0">
              <a:buNone/>
            </a:pPr>
            <a:endParaRPr lang="en-US" dirty="0"/>
          </a:p>
        </p:txBody>
      </p:sp>
      <p:pic>
        <p:nvPicPr>
          <p:cNvPr id="25" name="Image 5" descr="/Users/danwahlin/.copilot/session-state/e7427b9a-9d65-4aa2-953c-14cedea46cbc/files/talkdeck/assets/icons/PiMicrosoftExcelLogo-1A7F37.png"/>
          <p:cNvPicPr>
            <a:picLocks noChangeAspect="1"/>
          </p:cNvPicPr>
          <p:nvPr/>
        </p:nvPicPr>
        <p:blipFill>
          <a:blip r:embed="rId8"/>
          <a:stretch>
            <a:fillRect/>
          </a:stretch>
        </p:blipFill>
        <p:spPr>
          <a:xfrm>
            <a:off x="1147316" y="4607719"/>
            <a:ext cx="177701" cy="177701"/>
          </a:xfrm>
          <a:prstGeom prst="rect">
            <a:avLst/>
          </a:prstGeom>
        </p:spPr>
      </p:pic>
      <p:sp>
        <p:nvSpPr>
          <p:cNvPr id="26" name="Text 18"/>
          <p:cNvSpPr/>
          <p:nvPr/>
        </p:nvSpPr>
        <p:spPr>
          <a:xfrm>
            <a:off x="1464915" y="4544318"/>
            <a:ext cx="132130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Excel workbook</a:t>
            </a:r>
            <a:endParaRPr lang="en-US" sz="950" dirty="0"/>
          </a:p>
        </p:txBody>
      </p:sp>
      <p:sp>
        <p:nvSpPr>
          <p:cNvPr id="27" name="Text 19"/>
          <p:cNvSpPr/>
          <p:nvPr/>
        </p:nvSpPr>
        <p:spPr>
          <a:xfrm>
            <a:off x="1464915" y="4709368"/>
            <a:ext cx="132130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Business analysts</a:t>
            </a:r>
            <a:endParaRPr lang="en-US" sz="750" dirty="0"/>
          </a:p>
        </p:txBody>
      </p:sp>
      <p:sp>
        <p:nvSpPr>
          <p:cNvPr id="28" name="Text 20"/>
          <p:cNvSpPr/>
          <p:nvPr/>
        </p:nvSpPr>
        <p:spPr>
          <a:xfrm>
            <a:off x="6339036" y="4480768"/>
            <a:ext cx="1854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29" name="Text 21"/>
          <p:cNvSpPr/>
          <p:nvPr/>
        </p:nvSpPr>
        <p:spPr>
          <a:xfrm>
            <a:off x="6339036" y="4480768"/>
            <a:ext cx="63401" cy="431750"/>
          </a:xfrm>
          <a:prstGeom prst="rect">
            <a:avLst/>
          </a:prstGeom>
          <a:solidFill>
            <a:srgbClr val="9A6700"/>
          </a:solidFill>
          <a:ln/>
        </p:spPr>
        <p:txBody>
          <a:bodyPr wrap="square" rtlCol="0" anchor="ctr"/>
          <a:lstStyle/>
          <a:p>
            <a:pPr marL="0" indent="0">
              <a:buNone/>
            </a:pPr>
            <a:endParaRPr lang="en-US" dirty="0"/>
          </a:p>
        </p:txBody>
      </p:sp>
      <p:sp>
        <p:nvSpPr>
          <p:cNvPr id="30" name="Text 22"/>
          <p:cNvSpPr/>
          <p:nvPr/>
        </p:nvSpPr>
        <p:spPr>
          <a:xfrm>
            <a:off x="6478786" y="4556968"/>
            <a:ext cx="279350" cy="279350"/>
          </a:xfrm>
          <a:prstGeom prst="roundRect">
            <a:avLst>
              <a:gd name="adj" fmla="val 22731"/>
            </a:avLst>
          </a:prstGeom>
          <a:solidFill>
            <a:srgbClr val="FFF8C5"/>
          </a:solidFill>
          <a:ln/>
        </p:spPr>
        <p:txBody>
          <a:bodyPr wrap="square" rtlCol="0" anchor="ctr"/>
          <a:lstStyle/>
          <a:p>
            <a:pPr marL="0" indent="0">
              <a:buNone/>
            </a:pPr>
            <a:endParaRPr lang="en-US" dirty="0"/>
          </a:p>
        </p:txBody>
      </p:sp>
      <p:pic>
        <p:nvPicPr>
          <p:cNvPr id="31" name="Image 6" descr="/Users/danwahlin/.copilot/session-state/e7427b9a-9d65-4aa2-953c-14cedea46cbc/files/talkdeck/assets/icons/PiClockClockwise-9A6700.png"/>
          <p:cNvPicPr>
            <a:picLocks noChangeAspect="1"/>
          </p:cNvPicPr>
          <p:nvPr/>
        </p:nvPicPr>
        <p:blipFill>
          <a:blip r:embed="rId9"/>
          <a:stretch>
            <a:fillRect/>
          </a:stretch>
        </p:blipFill>
        <p:spPr>
          <a:xfrm>
            <a:off x="6529536" y="4607719"/>
            <a:ext cx="177701" cy="177701"/>
          </a:xfrm>
          <a:prstGeom prst="rect">
            <a:avLst/>
          </a:prstGeom>
        </p:spPr>
      </p:pic>
      <p:sp>
        <p:nvSpPr>
          <p:cNvPr id="32" name="Text 23"/>
          <p:cNvSpPr/>
          <p:nvPr/>
        </p:nvSpPr>
        <p:spPr>
          <a:xfrm>
            <a:off x="6847136" y="4544318"/>
            <a:ext cx="132130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Weekly automation</a:t>
            </a:r>
            <a:endParaRPr lang="en-US" sz="950" dirty="0"/>
          </a:p>
        </p:txBody>
      </p:sp>
      <p:sp>
        <p:nvSpPr>
          <p:cNvPr id="33" name="Text 24"/>
          <p:cNvSpPr/>
          <p:nvPr/>
        </p:nvSpPr>
        <p:spPr>
          <a:xfrm>
            <a:off x="6847136" y="4709368"/>
            <a:ext cx="132130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Runs every Monday</a:t>
            </a:r>
            <a:endParaRPr lang="en-US" sz="750" dirty="0"/>
          </a:p>
        </p:txBody>
      </p:sp>
      <p:sp>
        <p:nvSpPr>
          <p:cNvPr id="34" name="Text 25"/>
          <p:cNvSpPr/>
          <p:nvPr/>
        </p:nvSpPr>
        <p:spPr>
          <a:xfrm>
            <a:off x="2776240" y="4362748"/>
            <a:ext cx="1473101" cy="431750"/>
          </a:xfrm>
          <a:prstGeom prst="roundRect">
            <a:avLst>
              <a:gd name="adj" fmla="val 17649"/>
            </a:avLst>
          </a:prstGeom>
          <a:solidFill>
            <a:srgbClr val="FFFFFF"/>
          </a:solidFill>
          <a:ln/>
          <a:effectLst>
            <a:outerShdw blurRad="95250" dist="28575" dir="5400000" algn="bl" rotWithShape="0">
              <a:srgbClr val="0D1117">
                <a:alpha val="35000"/>
              </a:srgbClr>
            </a:outerShdw>
          </a:effectLst>
        </p:spPr>
        <p:txBody>
          <a:bodyPr wrap="square" rtlCol="0" anchor="ctr"/>
          <a:lstStyle/>
          <a:p>
            <a:pPr marL="0" indent="0">
              <a:buNone/>
            </a:pPr>
            <a:endParaRPr lang="en-US" dirty="0"/>
          </a:p>
        </p:txBody>
      </p:sp>
      <p:sp>
        <p:nvSpPr>
          <p:cNvPr id="35" name="Text 26"/>
          <p:cNvSpPr/>
          <p:nvPr/>
        </p:nvSpPr>
        <p:spPr>
          <a:xfrm>
            <a:off x="2776240" y="4362748"/>
            <a:ext cx="63401" cy="431750"/>
          </a:xfrm>
          <a:prstGeom prst="rect">
            <a:avLst/>
          </a:prstGeom>
          <a:solidFill>
            <a:srgbClr val="1F2328"/>
          </a:solidFill>
          <a:ln/>
        </p:spPr>
        <p:txBody>
          <a:bodyPr wrap="square" rtlCol="0" anchor="ctr"/>
          <a:lstStyle/>
          <a:p>
            <a:pPr marL="0" indent="0">
              <a:buNone/>
            </a:pPr>
            <a:endParaRPr lang="en-US" dirty="0"/>
          </a:p>
        </p:txBody>
      </p:sp>
      <p:sp>
        <p:nvSpPr>
          <p:cNvPr id="36" name="Text 27"/>
          <p:cNvSpPr/>
          <p:nvPr/>
        </p:nvSpPr>
        <p:spPr>
          <a:xfrm>
            <a:off x="2915841" y="4438948"/>
            <a:ext cx="279350" cy="279350"/>
          </a:xfrm>
          <a:prstGeom prst="roundRect">
            <a:avLst>
              <a:gd name="adj" fmla="val 22731"/>
            </a:avLst>
          </a:prstGeom>
          <a:solidFill>
            <a:srgbClr val="F6F8FA"/>
          </a:solidFill>
          <a:ln/>
        </p:spPr>
        <p:txBody>
          <a:bodyPr wrap="square" rtlCol="0" anchor="ctr"/>
          <a:lstStyle/>
          <a:p>
            <a:pPr marL="0" indent="0">
              <a:buNone/>
            </a:pPr>
            <a:endParaRPr lang="en-US" dirty="0"/>
          </a:p>
        </p:txBody>
      </p:sp>
      <p:pic>
        <p:nvPicPr>
          <p:cNvPr id="37" name="Image 7" descr="/Users/danwahlin/.copilot/session-state/e7427b9a-9d65-4aa2-953c-14cedea46cbc/files/talkdeck/assets/icons/PiUser-1F2328.png"/>
          <p:cNvPicPr>
            <a:picLocks noChangeAspect="1"/>
          </p:cNvPicPr>
          <p:nvPr/>
        </p:nvPicPr>
        <p:blipFill>
          <a:blip r:embed="rId10"/>
          <a:stretch>
            <a:fillRect/>
          </a:stretch>
        </p:blipFill>
        <p:spPr>
          <a:xfrm>
            <a:off x="2966740" y="4489698"/>
            <a:ext cx="177701" cy="177701"/>
          </a:xfrm>
          <a:prstGeom prst="rect">
            <a:avLst/>
          </a:prstGeom>
        </p:spPr>
      </p:pic>
      <p:sp>
        <p:nvSpPr>
          <p:cNvPr id="38" name="Text 28"/>
          <p:cNvSpPr/>
          <p:nvPr/>
        </p:nvSpPr>
        <p:spPr>
          <a:xfrm>
            <a:off x="3284190" y="4426297"/>
            <a:ext cx="932688" cy="133350"/>
          </a:xfrm>
          <a:prstGeom prst="rect">
            <a:avLst/>
          </a:prstGeom>
          <a:noFill/>
          <a:ln/>
        </p:spPr>
        <p:txBody>
          <a:bodyPr wrap="square" lIns="0" tIns="0" rIns="0" bIns="0" rtlCol="0" anchor="t"/>
          <a:lstStyle/>
          <a:p>
            <a:pPr marL="0" indent="0" algn="l">
              <a:buNone/>
            </a:pPr>
            <a:r>
              <a:rPr lang="en-US" sz="950" b="1" dirty="0">
                <a:solidFill>
                  <a:srgbClr val="1F2328"/>
                </a:solidFill>
                <a:latin typeface="Arial" pitchFamily="34" charset="0"/>
                <a:ea typeface="Arial" pitchFamily="34" charset="-122"/>
                <a:cs typeface="Arial" pitchFamily="34" charset="-120"/>
              </a:rPr>
              <a:t>You</a:t>
            </a:r>
            <a:endParaRPr lang="en-US" sz="950" dirty="0"/>
          </a:p>
        </p:txBody>
      </p:sp>
      <p:sp>
        <p:nvSpPr>
          <p:cNvPr id="39" name="Text 29"/>
          <p:cNvSpPr/>
          <p:nvPr/>
        </p:nvSpPr>
        <p:spPr>
          <a:xfrm>
            <a:off x="3284190" y="4591348"/>
            <a:ext cx="932688" cy="104775"/>
          </a:xfrm>
          <a:prstGeom prst="rect">
            <a:avLst/>
          </a:prstGeom>
          <a:noFill/>
          <a:ln/>
        </p:spPr>
        <p:txBody>
          <a:bodyPr wrap="square" lIns="0" tIns="0" rIns="0" bIns="0" rtlCol="0" anchor="t"/>
          <a:lstStyle/>
          <a:p>
            <a:pPr marL="0" indent="0" algn="l">
              <a:buNone/>
            </a:pPr>
            <a:r>
              <a:rPr lang="en-US" sz="750" dirty="0">
                <a:solidFill>
                  <a:srgbClr val="59636E"/>
                </a:solidFill>
                <a:latin typeface="Arial" pitchFamily="34" charset="0"/>
                <a:ea typeface="Arial" pitchFamily="34" charset="-122"/>
                <a:cs typeface="Arial" pitchFamily="34" charset="-120"/>
              </a:rPr>
              <a:t>Plan, review, approve</a:t>
            </a:r>
            <a:endParaRPr lang="en-US" sz="750" dirty="0"/>
          </a:p>
        </p:txBody>
      </p:sp>
      <p:pic>
        <p:nvPicPr>
          <p:cNvPr id="40" name="Image 8" descr="/Users/danwahlin/.copilot/session-state/e7427b9a-9d65-4aa2-953c-14cedea46cbc/files/talkdeck/assets/corner.png"/>
          <p:cNvPicPr>
            <a:picLocks noChangeAspect="1"/>
          </p:cNvPicPr>
          <p:nvPr/>
        </p:nvPicPr>
        <p:blipFill>
          <a:blip r:embed="rId11"/>
          <a:stretch>
            <a:fillRect/>
          </a:stretch>
        </p:blipFill>
        <p:spPr>
          <a:xfrm>
            <a:off x="6349901" y="0"/>
            <a:ext cx="2793950" cy="1308050"/>
          </a:xfrm>
          <a:prstGeom prst="rect">
            <a:avLst/>
          </a:prstGeom>
        </p:spPr>
      </p:pic>
      <p:sp>
        <p:nvSpPr>
          <p:cNvPr id="41" name="Text 3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2" name="Text 3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43" name="Image 9" descr="/Users/danwahlin/.copilot/session-state/e7427b9a-9d65-4aa2-953c-14cedea46cbc/files/talkdeck/assets/mark-dark.png"/>
          <p:cNvPicPr>
            <a:picLocks noChangeAspect="1"/>
          </p:cNvPicPr>
          <p:nvPr/>
        </p:nvPicPr>
        <p:blipFill>
          <a:blip r:embed="rId12"/>
          <a:stretch>
            <a:fillRect/>
          </a:stretch>
        </p:blipFill>
        <p:spPr>
          <a:xfrm>
            <a:off x="8610600" y="165050"/>
            <a:ext cx="304800" cy="304800"/>
          </a:xfrm>
          <a:prstGeom prst="rect">
            <a:avLst/>
          </a:prstGeom>
        </p:spPr>
      </p:pic>
      <p:sp>
        <p:nvSpPr>
          <p:cNvPr id="44" name="!!eyebrow"/>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TODAY’S ORCHESTRA</a:t>
            </a:r>
            <a:endParaRPr lang="en-US" sz="950" dirty="0"/>
          </a:p>
        </p:txBody>
      </p:sp>
      <p:sp>
        <p:nvSpPr>
          <p:cNvPr id="45" name="!!title"/>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Each session plays its own part</a:t>
            </a:r>
            <a:endParaRPr lang="en-US" sz="2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700"/>
                                        <p:tgtEl>
                                          <p:spTgt spid="34"/>
                                        </p:tgtEl>
                                      </p:cBhvr>
                                    </p:animEffect>
                                    <p:anim calcmode="lin" valueType="num">
                                      <p:cBhvr>
                                        <p:cTn id="8" dur="700" fill="hold"/>
                                        <p:tgtEl>
                                          <p:spTgt spid="34"/>
                                        </p:tgtEl>
                                        <p:attrNameLst>
                                          <p:attrName>ppt_x</p:attrName>
                                        </p:attrNameLst>
                                      </p:cBhvr>
                                      <p:tavLst>
                                        <p:tav tm="0">
                                          <p:val>
                                            <p:strVal val="#ppt_x"/>
                                          </p:val>
                                        </p:tav>
                                        <p:tav tm="100000">
                                          <p:val>
                                            <p:strVal val="#ppt_x"/>
                                          </p:val>
                                        </p:tav>
                                      </p:tavLst>
                                    </p:anim>
                                    <p:anim calcmode="lin" valueType="num">
                                      <p:cBhvr>
                                        <p:cTn id="9" dur="7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700"/>
                                        <p:tgtEl>
                                          <p:spTgt spid="35"/>
                                        </p:tgtEl>
                                      </p:cBhvr>
                                    </p:animEffect>
                                    <p:anim calcmode="lin" valueType="num">
                                      <p:cBhvr>
                                        <p:cTn id="13" dur="700" fill="hold"/>
                                        <p:tgtEl>
                                          <p:spTgt spid="35"/>
                                        </p:tgtEl>
                                        <p:attrNameLst>
                                          <p:attrName>ppt_x</p:attrName>
                                        </p:attrNameLst>
                                      </p:cBhvr>
                                      <p:tavLst>
                                        <p:tav tm="0">
                                          <p:val>
                                            <p:strVal val="#ppt_x"/>
                                          </p:val>
                                        </p:tav>
                                        <p:tav tm="100000">
                                          <p:val>
                                            <p:strVal val="#ppt_x"/>
                                          </p:val>
                                        </p:tav>
                                      </p:tavLst>
                                    </p:anim>
                                    <p:anim calcmode="lin" valueType="num">
                                      <p:cBhvr>
                                        <p:cTn id="14" dur="7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700"/>
                                        <p:tgtEl>
                                          <p:spTgt spid="36"/>
                                        </p:tgtEl>
                                      </p:cBhvr>
                                    </p:animEffect>
                                    <p:anim calcmode="lin" valueType="num">
                                      <p:cBhvr>
                                        <p:cTn id="18" dur="700" fill="hold"/>
                                        <p:tgtEl>
                                          <p:spTgt spid="36"/>
                                        </p:tgtEl>
                                        <p:attrNameLst>
                                          <p:attrName>ppt_x</p:attrName>
                                        </p:attrNameLst>
                                      </p:cBhvr>
                                      <p:tavLst>
                                        <p:tav tm="0">
                                          <p:val>
                                            <p:strVal val="#ppt_x"/>
                                          </p:val>
                                        </p:tav>
                                        <p:tav tm="100000">
                                          <p:val>
                                            <p:strVal val="#ppt_x"/>
                                          </p:val>
                                        </p:tav>
                                      </p:tavLst>
                                    </p:anim>
                                    <p:anim calcmode="lin" valueType="num">
                                      <p:cBhvr>
                                        <p:cTn id="19" dur="700" fill="hold"/>
                                        <p:tgtEl>
                                          <p:spTgt spid="3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700"/>
                                        <p:tgtEl>
                                          <p:spTgt spid="37"/>
                                        </p:tgtEl>
                                      </p:cBhvr>
                                    </p:animEffect>
                                    <p:anim calcmode="lin" valueType="num">
                                      <p:cBhvr>
                                        <p:cTn id="23" dur="700" fill="hold"/>
                                        <p:tgtEl>
                                          <p:spTgt spid="37"/>
                                        </p:tgtEl>
                                        <p:attrNameLst>
                                          <p:attrName>ppt_x</p:attrName>
                                        </p:attrNameLst>
                                      </p:cBhvr>
                                      <p:tavLst>
                                        <p:tav tm="0">
                                          <p:val>
                                            <p:strVal val="#ppt_x"/>
                                          </p:val>
                                        </p:tav>
                                        <p:tav tm="100000">
                                          <p:val>
                                            <p:strVal val="#ppt_x"/>
                                          </p:val>
                                        </p:tav>
                                      </p:tavLst>
                                    </p:anim>
                                    <p:anim calcmode="lin" valueType="num">
                                      <p:cBhvr>
                                        <p:cTn id="24" dur="700" fill="hold"/>
                                        <p:tgtEl>
                                          <p:spTgt spid="3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700"/>
                                        <p:tgtEl>
                                          <p:spTgt spid="38"/>
                                        </p:tgtEl>
                                      </p:cBhvr>
                                    </p:animEffect>
                                    <p:anim calcmode="lin" valueType="num">
                                      <p:cBhvr>
                                        <p:cTn id="28" dur="700" fill="hold"/>
                                        <p:tgtEl>
                                          <p:spTgt spid="38"/>
                                        </p:tgtEl>
                                        <p:attrNameLst>
                                          <p:attrName>ppt_x</p:attrName>
                                        </p:attrNameLst>
                                      </p:cBhvr>
                                      <p:tavLst>
                                        <p:tav tm="0">
                                          <p:val>
                                            <p:strVal val="#ppt_x"/>
                                          </p:val>
                                        </p:tav>
                                        <p:tav tm="100000">
                                          <p:val>
                                            <p:strVal val="#ppt_x"/>
                                          </p:val>
                                        </p:tav>
                                      </p:tavLst>
                                    </p:anim>
                                    <p:anim calcmode="lin" valueType="num">
                                      <p:cBhvr>
                                        <p:cTn id="29" dur="7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700"/>
                                        <p:tgtEl>
                                          <p:spTgt spid="39"/>
                                        </p:tgtEl>
                                      </p:cBhvr>
                                    </p:animEffect>
                                    <p:anim calcmode="lin" valueType="num">
                                      <p:cBhvr>
                                        <p:cTn id="33" dur="700" fill="hold"/>
                                        <p:tgtEl>
                                          <p:spTgt spid="39"/>
                                        </p:tgtEl>
                                        <p:attrNameLst>
                                          <p:attrName>ppt_x</p:attrName>
                                        </p:attrNameLst>
                                      </p:cBhvr>
                                      <p:tavLst>
                                        <p:tav tm="0">
                                          <p:val>
                                            <p:strVal val="#ppt_x"/>
                                          </p:val>
                                        </p:tav>
                                        <p:tav tm="100000">
                                          <p:val>
                                            <p:strVal val="#ppt_x"/>
                                          </p:val>
                                        </p:tav>
                                      </p:tavLst>
                                    </p:anim>
                                    <p:anim calcmode="lin" valueType="num">
                                      <p:cBhvr>
                                        <p:cTn id="34" dur="700" fill="hold"/>
                                        <p:tgtEl>
                                          <p:spTgt spid="3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700"/>
                                        <p:tgtEl>
                                          <p:spTgt spid="16"/>
                                        </p:tgtEl>
                                      </p:cBhvr>
                                    </p:animEffect>
                                    <p:anim calcmode="lin" valueType="num">
                                      <p:cBhvr>
                                        <p:cTn id="38" dur="700" fill="hold"/>
                                        <p:tgtEl>
                                          <p:spTgt spid="16"/>
                                        </p:tgtEl>
                                        <p:attrNameLst>
                                          <p:attrName>ppt_x</p:attrName>
                                        </p:attrNameLst>
                                      </p:cBhvr>
                                      <p:tavLst>
                                        <p:tav tm="0">
                                          <p:val>
                                            <p:strVal val="#ppt_x"/>
                                          </p:val>
                                        </p:tav>
                                        <p:tav tm="100000">
                                          <p:val>
                                            <p:strVal val="#ppt_x"/>
                                          </p:val>
                                        </p:tav>
                                      </p:tavLst>
                                    </p:anim>
                                    <p:anim calcmode="lin" valueType="num">
                                      <p:cBhvr>
                                        <p:cTn id="39" dur="7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700"/>
                                        <p:tgtEl>
                                          <p:spTgt spid="17"/>
                                        </p:tgtEl>
                                      </p:cBhvr>
                                    </p:animEffect>
                                    <p:anim calcmode="lin" valueType="num">
                                      <p:cBhvr>
                                        <p:cTn id="43" dur="700" fill="hold"/>
                                        <p:tgtEl>
                                          <p:spTgt spid="17"/>
                                        </p:tgtEl>
                                        <p:attrNameLst>
                                          <p:attrName>ppt_x</p:attrName>
                                        </p:attrNameLst>
                                      </p:cBhvr>
                                      <p:tavLst>
                                        <p:tav tm="0">
                                          <p:val>
                                            <p:strVal val="#ppt_x"/>
                                          </p:val>
                                        </p:tav>
                                        <p:tav tm="100000">
                                          <p:val>
                                            <p:strVal val="#ppt_x"/>
                                          </p:val>
                                        </p:tav>
                                      </p:tavLst>
                                    </p:anim>
                                    <p:anim calcmode="lin" valueType="num">
                                      <p:cBhvr>
                                        <p:cTn id="44" dur="700" fill="hold"/>
                                        <p:tgtEl>
                                          <p:spTgt spid="1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00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700"/>
                                        <p:tgtEl>
                                          <p:spTgt spid="18"/>
                                        </p:tgtEl>
                                      </p:cBhvr>
                                    </p:animEffect>
                                    <p:anim calcmode="lin" valueType="num">
                                      <p:cBhvr>
                                        <p:cTn id="48" dur="700" fill="hold"/>
                                        <p:tgtEl>
                                          <p:spTgt spid="18"/>
                                        </p:tgtEl>
                                        <p:attrNameLst>
                                          <p:attrName>ppt_x</p:attrName>
                                        </p:attrNameLst>
                                      </p:cBhvr>
                                      <p:tavLst>
                                        <p:tav tm="0">
                                          <p:val>
                                            <p:strVal val="#ppt_x"/>
                                          </p:val>
                                        </p:tav>
                                        <p:tav tm="100000">
                                          <p:val>
                                            <p:strVal val="#ppt_x"/>
                                          </p:val>
                                        </p:tav>
                                      </p:tavLst>
                                    </p:anim>
                                    <p:anim calcmode="lin" valueType="num">
                                      <p:cBhvr>
                                        <p:cTn id="49" dur="7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20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700"/>
                                        <p:tgtEl>
                                          <p:spTgt spid="19"/>
                                        </p:tgtEl>
                                      </p:cBhvr>
                                    </p:animEffect>
                                    <p:anim calcmode="lin" valueType="num">
                                      <p:cBhvr>
                                        <p:cTn id="53" dur="700" fill="hold"/>
                                        <p:tgtEl>
                                          <p:spTgt spid="19"/>
                                        </p:tgtEl>
                                        <p:attrNameLst>
                                          <p:attrName>ppt_x</p:attrName>
                                        </p:attrNameLst>
                                      </p:cBhvr>
                                      <p:tavLst>
                                        <p:tav tm="0">
                                          <p:val>
                                            <p:strVal val="#ppt_x"/>
                                          </p:val>
                                        </p:tav>
                                        <p:tav tm="100000">
                                          <p:val>
                                            <p:strVal val="#ppt_x"/>
                                          </p:val>
                                        </p:tav>
                                      </p:tavLst>
                                    </p:anim>
                                    <p:anim calcmode="lin" valueType="num">
                                      <p:cBhvr>
                                        <p:cTn id="54" dur="7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20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700"/>
                                        <p:tgtEl>
                                          <p:spTgt spid="20"/>
                                        </p:tgtEl>
                                      </p:cBhvr>
                                    </p:animEffect>
                                    <p:anim calcmode="lin" valueType="num">
                                      <p:cBhvr>
                                        <p:cTn id="58" dur="700" fill="hold"/>
                                        <p:tgtEl>
                                          <p:spTgt spid="20"/>
                                        </p:tgtEl>
                                        <p:attrNameLst>
                                          <p:attrName>ppt_x</p:attrName>
                                        </p:attrNameLst>
                                      </p:cBhvr>
                                      <p:tavLst>
                                        <p:tav tm="0">
                                          <p:val>
                                            <p:strVal val="#ppt_x"/>
                                          </p:val>
                                        </p:tav>
                                        <p:tav tm="100000">
                                          <p:val>
                                            <p:strVal val="#ppt_x"/>
                                          </p:val>
                                        </p:tav>
                                      </p:tavLst>
                                    </p:anim>
                                    <p:anim calcmode="lin" valueType="num">
                                      <p:cBhvr>
                                        <p:cTn id="59" dur="700" fill="hold"/>
                                        <p:tgtEl>
                                          <p:spTgt spid="2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0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700"/>
                                        <p:tgtEl>
                                          <p:spTgt spid="21"/>
                                        </p:tgtEl>
                                      </p:cBhvr>
                                    </p:animEffect>
                                    <p:anim calcmode="lin" valueType="num">
                                      <p:cBhvr>
                                        <p:cTn id="63" dur="700" fill="hold"/>
                                        <p:tgtEl>
                                          <p:spTgt spid="21"/>
                                        </p:tgtEl>
                                        <p:attrNameLst>
                                          <p:attrName>ppt_x</p:attrName>
                                        </p:attrNameLst>
                                      </p:cBhvr>
                                      <p:tavLst>
                                        <p:tav tm="0">
                                          <p:val>
                                            <p:strVal val="#ppt_x"/>
                                          </p:val>
                                        </p:tav>
                                        <p:tav tm="100000">
                                          <p:val>
                                            <p:strVal val="#ppt_x"/>
                                          </p:val>
                                        </p:tav>
                                      </p:tavLst>
                                    </p:anim>
                                    <p:anim calcmode="lin" valueType="num">
                                      <p:cBhvr>
                                        <p:cTn id="64" dur="700" fill="hold"/>
                                        <p:tgtEl>
                                          <p:spTgt spid="2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0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p:cTn id="68" dur="700" fill="hold"/>
                                        <p:tgtEl>
                                          <p:spTgt spid="22"/>
                                        </p:tgtEl>
                                        <p:attrNameLst>
                                          <p:attrName>ppt_x</p:attrName>
                                        </p:attrNameLst>
                                      </p:cBhvr>
                                      <p:tavLst>
                                        <p:tav tm="0">
                                          <p:val>
                                            <p:strVal val="#ppt_x"/>
                                          </p:val>
                                        </p:tav>
                                        <p:tav tm="100000">
                                          <p:val>
                                            <p:strVal val="#ppt_x"/>
                                          </p:val>
                                        </p:tav>
                                      </p:tavLst>
                                    </p:anim>
                                    <p:anim calcmode="lin" valueType="num">
                                      <p:cBhvr>
                                        <p:cTn id="69" dur="700" fill="hold"/>
                                        <p:tgtEl>
                                          <p:spTgt spid="2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00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700"/>
                                        <p:tgtEl>
                                          <p:spTgt spid="23"/>
                                        </p:tgtEl>
                                      </p:cBhvr>
                                    </p:animEffect>
                                    <p:anim calcmode="lin" valueType="num">
                                      <p:cBhvr>
                                        <p:cTn id="73" dur="700" fill="hold"/>
                                        <p:tgtEl>
                                          <p:spTgt spid="23"/>
                                        </p:tgtEl>
                                        <p:attrNameLst>
                                          <p:attrName>ppt_x</p:attrName>
                                        </p:attrNameLst>
                                      </p:cBhvr>
                                      <p:tavLst>
                                        <p:tav tm="0">
                                          <p:val>
                                            <p:strVal val="#ppt_x"/>
                                          </p:val>
                                        </p:tav>
                                        <p:tav tm="100000">
                                          <p:val>
                                            <p:strVal val="#ppt_x"/>
                                          </p:val>
                                        </p:tav>
                                      </p:tavLst>
                                    </p:anim>
                                    <p:anim calcmode="lin" valueType="num">
                                      <p:cBhvr>
                                        <p:cTn id="74" dur="700" fill="hold"/>
                                        <p:tgtEl>
                                          <p:spTgt spid="2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00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700"/>
                                        <p:tgtEl>
                                          <p:spTgt spid="24"/>
                                        </p:tgtEl>
                                      </p:cBhvr>
                                    </p:animEffect>
                                    <p:anim calcmode="lin" valueType="num">
                                      <p:cBhvr>
                                        <p:cTn id="78" dur="700" fill="hold"/>
                                        <p:tgtEl>
                                          <p:spTgt spid="24"/>
                                        </p:tgtEl>
                                        <p:attrNameLst>
                                          <p:attrName>ppt_x</p:attrName>
                                        </p:attrNameLst>
                                      </p:cBhvr>
                                      <p:tavLst>
                                        <p:tav tm="0">
                                          <p:val>
                                            <p:strVal val="#ppt_x"/>
                                          </p:val>
                                        </p:tav>
                                        <p:tav tm="100000">
                                          <p:val>
                                            <p:strVal val="#ppt_x"/>
                                          </p:val>
                                        </p:tav>
                                      </p:tavLst>
                                    </p:anim>
                                    <p:anim calcmode="lin" valueType="num">
                                      <p:cBhvr>
                                        <p:cTn id="79" dur="700" fill="hold"/>
                                        <p:tgtEl>
                                          <p:spTgt spid="24"/>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40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700"/>
                                        <p:tgtEl>
                                          <p:spTgt spid="25"/>
                                        </p:tgtEl>
                                      </p:cBhvr>
                                    </p:animEffect>
                                    <p:anim calcmode="lin" valueType="num">
                                      <p:cBhvr>
                                        <p:cTn id="83" dur="700" fill="hold"/>
                                        <p:tgtEl>
                                          <p:spTgt spid="25"/>
                                        </p:tgtEl>
                                        <p:attrNameLst>
                                          <p:attrName>ppt_x</p:attrName>
                                        </p:attrNameLst>
                                      </p:cBhvr>
                                      <p:tavLst>
                                        <p:tav tm="0">
                                          <p:val>
                                            <p:strVal val="#ppt_x"/>
                                          </p:val>
                                        </p:tav>
                                        <p:tav tm="100000">
                                          <p:val>
                                            <p:strVal val="#ppt_x"/>
                                          </p:val>
                                        </p:tav>
                                      </p:tavLst>
                                    </p:anim>
                                    <p:anim calcmode="lin" valueType="num">
                                      <p:cBhvr>
                                        <p:cTn id="84" dur="700" fill="hold"/>
                                        <p:tgtEl>
                                          <p:spTgt spid="25"/>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400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700"/>
                                        <p:tgtEl>
                                          <p:spTgt spid="26"/>
                                        </p:tgtEl>
                                      </p:cBhvr>
                                    </p:animEffect>
                                    <p:anim calcmode="lin" valueType="num">
                                      <p:cBhvr>
                                        <p:cTn id="88" dur="700" fill="hold"/>
                                        <p:tgtEl>
                                          <p:spTgt spid="26"/>
                                        </p:tgtEl>
                                        <p:attrNameLst>
                                          <p:attrName>ppt_x</p:attrName>
                                        </p:attrNameLst>
                                      </p:cBhvr>
                                      <p:tavLst>
                                        <p:tav tm="0">
                                          <p:val>
                                            <p:strVal val="#ppt_x"/>
                                          </p:val>
                                        </p:tav>
                                        <p:tav tm="100000">
                                          <p:val>
                                            <p:strVal val="#ppt_x"/>
                                          </p:val>
                                        </p:tav>
                                      </p:tavLst>
                                    </p:anim>
                                    <p:anim calcmode="lin" valueType="num">
                                      <p:cBhvr>
                                        <p:cTn id="89" dur="700" fill="hold"/>
                                        <p:tgtEl>
                                          <p:spTgt spid="2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400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700"/>
                                        <p:tgtEl>
                                          <p:spTgt spid="27"/>
                                        </p:tgtEl>
                                      </p:cBhvr>
                                    </p:animEffect>
                                    <p:anim calcmode="lin" valueType="num">
                                      <p:cBhvr>
                                        <p:cTn id="93" dur="700" fill="hold"/>
                                        <p:tgtEl>
                                          <p:spTgt spid="27"/>
                                        </p:tgtEl>
                                        <p:attrNameLst>
                                          <p:attrName>ppt_x</p:attrName>
                                        </p:attrNameLst>
                                      </p:cBhvr>
                                      <p:tavLst>
                                        <p:tav tm="0">
                                          <p:val>
                                            <p:strVal val="#ppt_x"/>
                                          </p:val>
                                        </p:tav>
                                        <p:tav tm="100000">
                                          <p:val>
                                            <p:strVal val="#ppt_x"/>
                                          </p:val>
                                        </p:tav>
                                      </p:tavLst>
                                    </p:anim>
                                    <p:anim calcmode="lin" valueType="num">
                                      <p:cBhvr>
                                        <p:cTn id="94" dur="700" fill="hold"/>
                                        <p:tgtEl>
                                          <p:spTgt spid="2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6000"/>
                                  </p:stCondLst>
                                  <p:childTnLst>
                                    <p:set>
                                      <p:cBhvr>
                                        <p:cTn id="96" dur="1" fill="hold">
                                          <p:stCondLst>
                                            <p:cond delay="0"/>
                                          </p:stCondLst>
                                        </p:cTn>
                                        <p:tgtEl>
                                          <p:spTgt spid="10"/>
                                        </p:tgtEl>
                                        <p:attrNameLst>
                                          <p:attrName>style.visibility</p:attrName>
                                        </p:attrNameLst>
                                      </p:cBhvr>
                                      <p:to>
                                        <p:strVal val="visible"/>
                                      </p:to>
                                    </p:set>
                                    <p:animEffect transition="in" filter="fade">
                                      <p:cBhvr>
                                        <p:cTn id="97" dur="700"/>
                                        <p:tgtEl>
                                          <p:spTgt spid="10"/>
                                        </p:tgtEl>
                                      </p:cBhvr>
                                    </p:animEffect>
                                    <p:anim calcmode="lin" valueType="num">
                                      <p:cBhvr>
                                        <p:cTn id="98" dur="700" fill="hold"/>
                                        <p:tgtEl>
                                          <p:spTgt spid="10"/>
                                        </p:tgtEl>
                                        <p:attrNameLst>
                                          <p:attrName>ppt_x</p:attrName>
                                        </p:attrNameLst>
                                      </p:cBhvr>
                                      <p:tavLst>
                                        <p:tav tm="0">
                                          <p:val>
                                            <p:strVal val="#ppt_x"/>
                                          </p:val>
                                        </p:tav>
                                        <p:tav tm="100000">
                                          <p:val>
                                            <p:strVal val="#ppt_x"/>
                                          </p:val>
                                        </p:tav>
                                      </p:tavLst>
                                    </p:anim>
                                    <p:anim calcmode="lin" valueType="num">
                                      <p:cBhvr>
                                        <p:cTn id="99" dur="700" fill="hold"/>
                                        <p:tgtEl>
                                          <p:spTgt spid="1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6000"/>
                                  </p:stCondLst>
                                  <p:childTnLst>
                                    <p:set>
                                      <p:cBhvr>
                                        <p:cTn id="101" dur="1" fill="hold">
                                          <p:stCondLst>
                                            <p:cond delay="0"/>
                                          </p:stCondLst>
                                        </p:cTn>
                                        <p:tgtEl>
                                          <p:spTgt spid="11"/>
                                        </p:tgtEl>
                                        <p:attrNameLst>
                                          <p:attrName>style.visibility</p:attrName>
                                        </p:attrNameLst>
                                      </p:cBhvr>
                                      <p:to>
                                        <p:strVal val="visible"/>
                                      </p:to>
                                    </p:set>
                                    <p:animEffect transition="in" filter="fade">
                                      <p:cBhvr>
                                        <p:cTn id="102" dur="700"/>
                                        <p:tgtEl>
                                          <p:spTgt spid="11"/>
                                        </p:tgtEl>
                                      </p:cBhvr>
                                    </p:animEffect>
                                    <p:anim calcmode="lin" valueType="num">
                                      <p:cBhvr>
                                        <p:cTn id="103" dur="700" fill="hold"/>
                                        <p:tgtEl>
                                          <p:spTgt spid="11"/>
                                        </p:tgtEl>
                                        <p:attrNameLst>
                                          <p:attrName>ppt_x</p:attrName>
                                        </p:attrNameLst>
                                      </p:cBhvr>
                                      <p:tavLst>
                                        <p:tav tm="0">
                                          <p:val>
                                            <p:strVal val="#ppt_x"/>
                                          </p:val>
                                        </p:tav>
                                        <p:tav tm="100000">
                                          <p:val>
                                            <p:strVal val="#ppt_x"/>
                                          </p:val>
                                        </p:tav>
                                      </p:tavLst>
                                    </p:anim>
                                    <p:anim calcmode="lin" valueType="num">
                                      <p:cBhvr>
                                        <p:cTn id="104" dur="700" fill="hold"/>
                                        <p:tgtEl>
                                          <p:spTgt spid="1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6000"/>
                                  </p:stCondLst>
                                  <p:childTnLst>
                                    <p:set>
                                      <p:cBhvr>
                                        <p:cTn id="106" dur="1" fill="hold">
                                          <p:stCondLst>
                                            <p:cond delay="0"/>
                                          </p:stCondLst>
                                        </p:cTn>
                                        <p:tgtEl>
                                          <p:spTgt spid="12"/>
                                        </p:tgtEl>
                                        <p:attrNameLst>
                                          <p:attrName>style.visibility</p:attrName>
                                        </p:attrNameLst>
                                      </p:cBhvr>
                                      <p:to>
                                        <p:strVal val="visible"/>
                                      </p:to>
                                    </p:set>
                                    <p:animEffect transition="in" filter="fade">
                                      <p:cBhvr>
                                        <p:cTn id="107" dur="700"/>
                                        <p:tgtEl>
                                          <p:spTgt spid="12"/>
                                        </p:tgtEl>
                                      </p:cBhvr>
                                    </p:animEffect>
                                    <p:anim calcmode="lin" valueType="num">
                                      <p:cBhvr>
                                        <p:cTn id="108" dur="700" fill="hold"/>
                                        <p:tgtEl>
                                          <p:spTgt spid="12"/>
                                        </p:tgtEl>
                                        <p:attrNameLst>
                                          <p:attrName>ppt_x</p:attrName>
                                        </p:attrNameLst>
                                      </p:cBhvr>
                                      <p:tavLst>
                                        <p:tav tm="0">
                                          <p:val>
                                            <p:strVal val="#ppt_x"/>
                                          </p:val>
                                        </p:tav>
                                        <p:tav tm="100000">
                                          <p:val>
                                            <p:strVal val="#ppt_x"/>
                                          </p:val>
                                        </p:tav>
                                      </p:tavLst>
                                    </p:anim>
                                    <p:anim calcmode="lin" valueType="num">
                                      <p:cBhvr>
                                        <p:cTn id="109" dur="700" fill="hold"/>
                                        <p:tgtEl>
                                          <p:spTgt spid="1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6000"/>
                                  </p:stCondLst>
                                  <p:childTnLst>
                                    <p:set>
                                      <p:cBhvr>
                                        <p:cTn id="111" dur="1" fill="hold">
                                          <p:stCondLst>
                                            <p:cond delay="0"/>
                                          </p:stCondLst>
                                        </p:cTn>
                                        <p:tgtEl>
                                          <p:spTgt spid="13"/>
                                        </p:tgtEl>
                                        <p:attrNameLst>
                                          <p:attrName>style.visibility</p:attrName>
                                        </p:attrNameLst>
                                      </p:cBhvr>
                                      <p:to>
                                        <p:strVal val="visible"/>
                                      </p:to>
                                    </p:set>
                                    <p:animEffect transition="in" filter="fade">
                                      <p:cBhvr>
                                        <p:cTn id="112" dur="700"/>
                                        <p:tgtEl>
                                          <p:spTgt spid="13"/>
                                        </p:tgtEl>
                                      </p:cBhvr>
                                    </p:animEffect>
                                    <p:anim calcmode="lin" valueType="num">
                                      <p:cBhvr>
                                        <p:cTn id="113" dur="700" fill="hold"/>
                                        <p:tgtEl>
                                          <p:spTgt spid="13"/>
                                        </p:tgtEl>
                                        <p:attrNameLst>
                                          <p:attrName>ppt_x</p:attrName>
                                        </p:attrNameLst>
                                      </p:cBhvr>
                                      <p:tavLst>
                                        <p:tav tm="0">
                                          <p:val>
                                            <p:strVal val="#ppt_x"/>
                                          </p:val>
                                        </p:tav>
                                        <p:tav tm="100000">
                                          <p:val>
                                            <p:strVal val="#ppt_x"/>
                                          </p:val>
                                        </p:tav>
                                      </p:tavLst>
                                    </p:anim>
                                    <p:anim calcmode="lin" valueType="num">
                                      <p:cBhvr>
                                        <p:cTn id="114" dur="700" fill="hold"/>
                                        <p:tgtEl>
                                          <p:spTgt spid="1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6000"/>
                                  </p:stCondLst>
                                  <p:childTnLst>
                                    <p:set>
                                      <p:cBhvr>
                                        <p:cTn id="116" dur="1" fill="hold">
                                          <p:stCondLst>
                                            <p:cond delay="0"/>
                                          </p:stCondLst>
                                        </p:cTn>
                                        <p:tgtEl>
                                          <p:spTgt spid="14"/>
                                        </p:tgtEl>
                                        <p:attrNameLst>
                                          <p:attrName>style.visibility</p:attrName>
                                        </p:attrNameLst>
                                      </p:cBhvr>
                                      <p:to>
                                        <p:strVal val="visible"/>
                                      </p:to>
                                    </p:set>
                                    <p:animEffect transition="in" filter="fade">
                                      <p:cBhvr>
                                        <p:cTn id="117" dur="700"/>
                                        <p:tgtEl>
                                          <p:spTgt spid="14"/>
                                        </p:tgtEl>
                                      </p:cBhvr>
                                    </p:animEffect>
                                    <p:anim calcmode="lin" valueType="num">
                                      <p:cBhvr>
                                        <p:cTn id="118" dur="700" fill="hold"/>
                                        <p:tgtEl>
                                          <p:spTgt spid="14"/>
                                        </p:tgtEl>
                                        <p:attrNameLst>
                                          <p:attrName>ppt_x</p:attrName>
                                        </p:attrNameLst>
                                      </p:cBhvr>
                                      <p:tavLst>
                                        <p:tav tm="0">
                                          <p:val>
                                            <p:strVal val="#ppt_x"/>
                                          </p:val>
                                        </p:tav>
                                        <p:tav tm="100000">
                                          <p:val>
                                            <p:strVal val="#ppt_x"/>
                                          </p:val>
                                        </p:tav>
                                      </p:tavLst>
                                    </p:anim>
                                    <p:anim calcmode="lin" valueType="num">
                                      <p:cBhvr>
                                        <p:cTn id="119" dur="700" fill="hold"/>
                                        <p:tgtEl>
                                          <p:spTgt spid="1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6000"/>
                                  </p:stCondLst>
                                  <p:childTnLst>
                                    <p:set>
                                      <p:cBhvr>
                                        <p:cTn id="121" dur="1" fill="hold">
                                          <p:stCondLst>
                                            <p:cond delay="0"/>
                                          </p:stCondLst>
                                        </p:cTn>
                                        <p:tgtEl>
                                          <p:spTgt spid="15"/>
                                        </p:tgtEl>
                                        <p:attrNameLst>
                                          <p:attrName>style.visibility</p:attrName>
                                        </p:attrNameLst>
                                      </p:cBhvr>
                                      <p:to>
                                        <p:strVal val="visible"/>
                                      </p:to>
                                    </p:set>
                                    <p:animEffect transition="in" filter="fade">
                                      <p:cBhvr>
                                        <p:cTn id="122" dur="700"/>
                                        <p:tgtEl>
                                          <p:spTgt spid="15"/>
                                        </p:tgtEl>
                                      </p:cBhvr>
                                    </p:animEffect>
                                    <p:anim calcmode="lin" valueType="num">
                                      <p:cBhvr>
                                        <p:cTn id="123" dur="700" fill="hold"/>
                                        <p:tgtEl>
                                          <p:spTgt spid="15"/>
                                        </p:tgtEl>
                                        <p:attrNameLst>
                                          <p:attrName>ppt_x</p:attrName>
                                        </p:attrNameLst>
                                      </p:cBhvr>
                                      <p:tavLst>
                                        <p:tav tm="0">
                                          <p:val>
                                            <p:strVal val="#ppt_x"/>
                                          </p:val>
                                        </p:tav>
                                        <p:tav tm="100000">
                                          <p:val>
                                            <p:strVal val="#ppt_x"/>
                                          </p:val>
                                        </p:tav>
                                      </p:tavLst>
                                    </p:anim>
                                    <p:anim calcmode="lin" valueType="num">
                                      <p:cBhvr>
                                        <p:cTn id="124" dur="700" fill="hold"/>
                                        <p:tgtEl>
                                          <p:spTgt spid="1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8000"/>
                                  </p:stCondLst>
                                  <p:childTnLst>
                                    <p:set>
                                      <p:cBhvr>
                                        <p:cTn id="126" dur="1" fill="hold">
                                          <p:stCondLst>
                                            <p:cond delay="0"/>
                                          </p:stCondLst>
                                        </p:cTn>
                                        <p:tgtEl>
                                          <p:spTgt spid="4"/>
                                        </p:tgtEl>
                                        <p:attrNameLst>
                                          <p:attrName>style.visibility</p:attrName>
                                        </p:attrNameLst>
                                      </p:cBhvr>
                                      <p:to>
                                        <p:strVal val="visible"/>
                                      </p:to>
                                    </p:set>
                                    <p:animEffect transition="in" filter="fade">
                                      <p:cBhvr>
                                        <p:cTn id="127" dur="700"/>
                                        <p:tgtEl>
                                          <p:spTgt spid="4"/>
                                        </p:tgtEl>
                                      </p:cBhvr>
                                    </p:animEffect>
                                    <p:anim calcmode="lin" valueType="num">
                                      <p:cBhvr>
                                        <p:cTn id="128" dur="700" fill="hold"/>
                                        <p:tgtEl>
                                          <p:spTgt spid="4"/>
                                        </p:tgtEl>
                                        <p:attrNameLst>
                                          <p:attrName>ppt_x</p:attrName>
                                        </p:attrNameLst>
                                      </p:cBhvr>
                                      <p:tavLst>
                                        <p:tav tm="0">
                                          <p:val>
                                            <p:strVal val="#ppt_x"/>
                                          </p:val>
                                        </p:tav>
                                        <p:tav tm="100000">
                                          <p:val>
                                            <p:strVal val="#ppt_x"/>
                                          </p:val>
                                        </p:tav>
                                      </p:tavLst>
                                    </p:anim>
                                    <p:anim calcmode="lin" valueType="num">
                                      <p:cBhvr>
                                        <p:cTn id="129" dur="700" fill="hold"/>
                                        <p:tgtEl>
                                          <p:spTgt spid="4"/>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8000"/>
                                  </p:stCondLst>
                                  <p:childTnLst>
                                    <p:set>
                                      <p:cBhvr>
                                        <p:cTn id="131" dur="1" fill="hold">
                                          <p:stCondLst>
                                            <p:cond delay="0"/>
                                          </p:stCondLst>
                                        </p:cTn>
                                        <p:tgtEl>
                                          <p:spTgt spid="5"/>
                                        </p:tgtEl>
                                        <p:attrNameLst>
                                          <p:attrName>style.visibility</p:attrName>
                                        </p:attrNameLst>
                                      </p:cBhvr>
                                      <p:to>
                                        <p:strVal val="visible"/>
                                      </p:to>
                                    </p:set>
                                    <p:animEffect transition="in" filter="fade">
                                      <p:cBhvr>
                                        <p:cTn id="132" dur="700"/>
                                        <p:tgtEl>
                                          <p:spTgt spid="5"/>
                                        </p:tgtEl>
                                      </p:cBhvr>
                                    </p:animEffect>
                                    <p:anim calcmode="lin" valueType="num">
                                      <p:cBhvr>
                                        <p:cTn id="133" dur="700" fill="hold"/>
                                        <p:tgtEl>
                                          <p:spTgt spid="5"/>
                                        </p:tgtEl>
                                        <p:attrNameLst>
                                          <p:attrName>ppt_x</p:attrName>
                                        </p:attrNameLst>
                                      </p:cBhvr>
                                      <p:tavLst>
                                        <p:tav tm="0">
                                          <p:val>
                                            <p:strVal val="#ppt_x"/>
                                          </p:val>
                                        </p:tav>
                                        <p:tav tm="100000">
                                          <p:val>
                                            <p:strVal val="#ppt_x"/>
                                          </p:val>
                                        </p:tav>
                                      </p:tavLst>
                                    </p:anim>
                                    <p:anim calcmode="lin" valueType="num">
                                      <p:cBhvr>
                                        <p:cTn id="134" dur="700" fill="hold"/>
                                        <p:tgtEl>
                                          <p:spTgt spid="5"/>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8000"/>
                                  </p:stCondLst>
                                  <p:childTnLst>
                                    <p:set>
                                      <p:cBhvr>
                                        <p:cTn id="136" dur="1" fill="hold">
                                          <p:stCondLst>
                                            <p:cond delay="0"/>
                                          </p:stCondLst>
                                        </p:cTn>
                                        <p:tgtEl>
                                          <p:spTgt spid="6"/>
                                        </p:tgtEl>
                                        <p:attrNameLst>
                                          <p:attrName>style.visibility</p:attrName>
                                        </p:attrNameLst>
                                      </p:cBhvr>
                                      <p:to>
                                        <p:strVal val="visible"/>
                                      </p:to>
                                    </p:set>
                                    <p:animEffect transition="in" filter="fade">
                                      <p:cBhvr>
                                        <p:cTn id="137" dur="700"/>
                                        <p:tgtEl>
                                          <p:spTgt spid="6"/>
                                        </p:tgtEl>
                                      </p:cBhvr>
                                    </p:animEffect>
                                    <p:anim calcmode="lin" valueType="num">
                                      <p:cBhvr>
                                        <p:cTn id="138" dur="700" fill="hold"/>
                                        <p:tgtEl>
                                          <p:spTgt spid="6"/>
                                        </p:tgtEl>
                                        <p:attrNameLst>
                                          <p:attrName>ppt_x</p:attrName>
                                        </p:attrNameLst>
                                      </p:cBhvr>
                                      <p:tavLst>
                                        <p:tav tm="0">
                                          <p:val>
                                            <p:strVal val="#ppt_x"/>
                                          </p:val>
                                        </p:tav>
                                        <p:tav tm="100000">
                                          <p:val>
                                            <p:strVal val="#ppt_x"/>
                                          </p:val>
                                        </p:tav>
                                      </p:tavLst>
                                    </p:anim>
                                    <p:anim calcmode="lin" valueType="num">
                                      <p:cBhvr>
                                        <p:cTn id="139" dur="700" fill="hold"/>
                                        <p:tgtEl>
                                          <p:spTgt spid="6"/>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8000"/>
                                  </p:stCondLst>
                                  <p:childTnLst>
                                    <p:set>
                                      <p:cBhvr>
                                        <p:cTn id="141" dur="1" fill="hold">
                                          <p:stCondLst>
                                            <p:cond delay="0"/>
                                          </p:stCondLst>
                                        </p:cTn>
                                        <p:tgtEl>
                                          <p:spTgt spid="7"/>
                                        </p:tgtEl>
                                        <p:attrNameLst>
                                          <p:attrName>style.visibility</p:attrName>
                                        </p:attrNameLst>
                                      </p:cBhvr>
                                      <p:to>
                                        <p:strVal val="visible"/>
                                      </p:to>
                                    </p:set>
                                    <p:animEffect transition="in" filter="fade">
                                      <p:cBhvr>
                                        <p:cTn id="142" dur="700"/>
                                        <p:tgtEl>
                                          <p:spTgt spid="7"/>
                                        </p:tgtEl>
                                      </p:cBhvr>
                                    </p:animEffect>
                                    <p:anim calcmode="lin" valueType="num">
                                      <p:cBhvr>
                                        <p:cTn id="143" dur="700" fill="hold"/>
                                        <p:tgtEl>
                                          <p:spTgt spid="7"/>
                                        </p:tgtEl>
                                        <p:attrNameLst>
                                          <p:attrName>ppt_x</p:attrName>
                                        </p:attrNameLst>
                                      </p:cBhvr>
                                      <p:tavLst>
                                        <p:tav tm="0">
                                          <p:val>
                                            <p:strVal val="#ppt_x"/>
                                          </p:val>
                                        </p:tav>
                                        <p:tav tm="100000">
                                          <p:val>
                                            <p:strVal val="#ppt_x"/>
                                          </p:val>
                                        </p:tav>
                                      </p:tavLst>
                                    </p:anim>
                                    <p:anim calcmode="lin" valueType="num">
                                      <p:cBhvr>
                                        <p:cTn id="144" dur="700" fill="hold"/>
                                        <p:tgtEl>
                                          <p:spTgt spid="7"/>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8000"/>
                                  </p:stCondLst>
                                  <p:childTnLst>
                                    <p:set>
                                      <p:cBhvr>
                                        <p:cTn id="146" dur="1" fill="hold">
                                          <p:stCondLst>
                                            <p:cond delay="0"/>
                                          </p:stCondLst>
                                        </p:cTn>
                                        <p:tgtEl>
                                          <p:spTgt spid="8"/>
                                        </p:tgtEl>
                                        <p:attrNameLst>
                                          <p:attrName>style.visibility</p:attrName>
                                        </p:attrNameLst>
                                      </p:cBhvr>
                                      <p:to>
                                        <p:strVal val="visible"/>
                                      </p:to>
                                    </p:set>
                                    <p:animEffect transition="in" filter="fade">
                                      <p:cBhvr>
                                        <p:cTn id="147" dur="700"/>
                                        <p:tgtEl>
                                          <p:spTgt spid="8"/>
                                        </p:tgtEl>
                                      </p:cBhvr>
                                    </p:animEffect>
                                    <p:anim calcmode="lin" valueType="num">
                                      <p:cBhvr>
                                        <p:cTn id="148" dur="700" fill="hold"/>
                                        <p:tgtEl>
                                          <p:spTgt spid="8"/>
                                        </p:tgtEl>
                                        <p:attrNameLst>
                                          <p:attrName>ppt_x</p:attrName>
                                        </p:attrNameLst>
                                      </p:cBhvr>
                                      <p:tavLst>
                                        <p:tav tm="0">
                                          <p:val>
                                            <p:strVal val="#ppt_x"/>
                                          </p:val>
                                        </p:tav>
                                        <p:tav tm="100000">
                                          <p:val>
                                            <p:strVal val="#ppt_x"/>
                                          </p:val>
                                        </p:tav>
                                      </p:tavLst>
                                    </p:anim>
                                    <p:anim calcmode="lin" valueType="num">
                                      <p:cBhvr>
                                        <p:cTn id="149" dur="700" fill="hold"/>
                                        <p:tgtEl>
                                          <p:spTgt spid="8"/>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8000"/>
                                  </p:stCondLst>
                                  <p:childTnLst>
                                    <p:set>
                                      <p:cBhvr>
                                        <p:cTn id="151" dur="1" fill="hold">
                                          <p:stCondLst>
                                            <p:cond delay="0"/>
                                          </p:stCondLst>
                                        </p:cTn>
                                        <p:tgtEl>
                                          <p:spTgt spid="9"/>
                                        </p:tgtEl>
                                        <p:attrNameLst>
                                          <p:attrName>style.visibility</p:attrName>
                                        </p:attrNameLst>
                                      </p:cBhvr>
                                      <p:to>
                                        <p:strVal val="visible"/>
                                      </p:to>
                                    </p:set>
                                    <p:animEffect transition="in" filter="fade">
                                      <p:cBhvr>
                                        <p:cTn id="152" dur="700"/>
                                        <p:tgtEl>
                                          <p:spTgt spid="9"/>
                                        </p:tgtEl>
                                      </p:cBhvr>
                                    </p:animEffect>
                                    <p:anim calcmode="lin" valueType="num">
                                      <p:cBhvr>
                                        <p:cTn id="153" dur="700" fill="hold"/>
                                        <p:tgtEl>
                                          <p:spTgt spid="9"/>
                                        </p:tgtEl>
                                        <p:attrNameLst>
                                          <p:attrName>ppt_x</p:attrName>
                                        </p:attrNameLst>
                                      </p:cBhvr>
                                      <p:tavLst>
                                        <p:tav tm="0">
                                          <p:val>
                                            <p:strVal val="#ppt_x"/>
                                          </p:val>
                                        </p:tav>
                                        <p:tav tm="100000">
                                          <p:val>
                                            <p:strVal val="#ppt_x"/>
                                          </p:val>
                                        </p:tav>
                                      </p:tavLst>
                                    </p:anim>
                                    <p:anim calcmode="lin" valueType="num">
                                      <p:cBhvr>
                                        <p:cTn id="154" dur="700" fill="hold"/>
                                        <p:tgtEl>
                                          <p:spTgt spid="9"/>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10000"/>
                                  </p:stCondLst>
                                  <p:childTnLst>
                                    <p:set>
                                      <p:cBhvr>
                                        <p:cTn id="156" dur="1" fill="hold">
                                          <p:stCondLst>
                                            <p:cond delay="0"/>
                                          </p:stCondLst>
                                        </p:cTn>
                                        <p:tgtEl>
                                          <p:spTgt spid="28"/>
                                        </p:tgtEl>
                                        <p:attrNameLst>
                                          <p:attrName>style.visibility</p:attrName>
                                        </p:attrNameLst>
                                      </p:cBhvr>
                                      <p:to>
                                        <p:strVal val="visible"/>
                                      </p:to>
                                    </p:set>
                                    <p:animEffect transition="in" filter="fade">
                                      <p:cBhvr>
                                        <p:cTn id="157" dur="700"/>
                                        <p:tgtEl>
                                          <p:spTgt spid="28"/>
                                        </p:tgtEl>
                                      </p:cBhvr>
                                    </p:animEffect>
                                    <p:anim calcmode="lin" valueType="num">
                                      <p:cBhvr>
                                        <p:cTn id="158" dur="700" fill="hold"/>
                                        <p:tgtEl>
                                          <p:spTgt spid="28"/>
                                        </p:tgtEl>
                                        <p:attrNameLst>
                                          <p:attrName>ppt_x</p:attrName>
                                        </p:attrNameLst>
                                      </p:cBhvr>
                                      <p:tavLst>
                                        <p:tav tm="0">
                                          <p:val>
                                            <p:strVal val="#ppt_x"/>
                                          </p:val>
                                        </p:tav>
                                        <p:tav tm="100000">
                                          <p:val>
                                            <p:strVal val="#ppt_x"/>
                                          </p:val>
                                        </p:tav>
                                      </p:tavLst>
                                    </p:anim>
                                    <p:anim calcmode="lin" valueType="num">
                                      <p:cBhvr>
                                        <p:cTn id="159" dur="700" fill="hold"/>
                                        <p:tgtEl>
                                          <p:spTgt spid="28"/>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10000"/>
                                  </p:stCondLst>
                                  <p:childTnLst>
                                    <p:set>
                                      <p:cBhvr>
                                        <p:cTn id="161" dur="1" fill="hold">
                                          <p:stCondLst>
                                            <p:cond delay="0"/>
                                          </p:stCondLst>
                                        </p:cTn>
                                        <p:tgtEl>
                                          <p:spTgt spid="29"/>
                                        </p:tgtEl>
                                        <p:attrNameLst>
                                          <p:attrName>style.visibility</p:attrName>
                                        </p:attrNameLst>
                                      </p:cBhvr>
                                      <p:to>
                                        <p:strVal val="visible"/>
                                      </p:to>
                                    </p:set>
                                    <p:animEffect transition="in" filter="fade">
                                      <p:cBhvr>
                                        <p:cTn id="162" dur="700"/>
                                        <p:tgtEl>
                                          <p:spTgt spid="29"/>
                                        </p:tgtEl>
                                      </p:cBhvr>
                                    </p:animEffect>
                                    <p:anim calcmode="lin" valueType="num">
                                      <p:cBhvr>
                                        <p:cTn id="163" dur="700" fill="hold"/>
                                        <p:tgtEl>
                                          <p:spTgt spid="29"/>
                                        </p:tgtEl>
                                        <p:attrNameLst>
                                          <p:attrName>ppt_x</p:attrName>
                                        </p:attrNameLst>
                                      </p:cBhvr>
                                      <p:tavLst>
                                        <p:tav tm="0">
                                          <p:val>
                                            <p:strVal val="#ppt_x"/>
                                          </p:val>
                                        </p:tav>
                                        <p:tav tm="100000">
                                          <p:val>
                                            <p:strVal val="#ppt_x"/>
                                          </p:val>
                                        </p:tav>
                                      </p:tavLst>
                                    </p:anim>
                                    <p:anim calcmode="lin" valueType="num">
                                      <p:cBhvr>
                                        <p:cTn id="164" dur="700" fill="hold"/>
                                        <p:tgtEl>
                                          <p:spTgt spid="29"/>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10000"/>
                                  </p:stCondLst>
                                  <p:childTnLst>
                                    <p:set>
                                      <p:cBhvr>
                                        <p:cTn id="166" dur="1" fill="hold">
                                          <p:stCondLst>
                                            <p:cond delay="0"/>
                                          </p:stCondLst>
                                        </p:cTn>
                                        <p:tgtEl>
                                          <p:spTgt spid="30"/>
                                        </p:tgtEl>
                                        <p:attrNameLst>
                                          <p:attrName>style.visibility</p:attrName>
                                        </p:attrNameLst>
                                      </p:cBhvr>
                                      <p:to>
                                        <p:strVal val="visible"/>
                                      </p:to>
                                    </p:set>
                                    <p:animEffect transition="in" filter="fade">
                                      <p:cBhvr>
                                        <p:cTn id="167" dur="700"/>
                                        <p:tgtEl>
                                          <p:spTgt spid="30"/>
                                        </p:tgtEl>
                                      </p:cBhvr>
                                    </p:animEffect>
                                    <p:anim calcmode="lin" valueType="num">
                                      <p:cBhvr>
                                        <p:cTn id="168" dur="700" fill="hold"/>
                                        <p:tgtEl>
                                          <p:spTgt spid="30"/>
                                        </p:tgtEl>
                                        <p:attrNameLst>
                                          <p:attrName>ppt_x</p:attrName>
                                        </p:attrNameLst>
                                      </p:cBhvr>
                                      <p:tavLst>
                                        <p:tav tm="0">
                                          <p:val>
                                            <p:strVal val="#ppt_x"/>
                                          </p:val>
                                        </p:tav>
                                        <p:tav tm="100000">
                                          <p:val>
                                            <p:strVal val="#ppt_x"/>
                                          </p:val>
                                        </p:tav>
                                      </p:tavLst>
                                    </p:anim>
                                    <p:anim calcmode="lin" valueType="num">
                                      <p:cBhvr>
                                        <p:cTn id="169" dur="700" fill="hold"/>
                                        <p:tgtEl>
                                          <p:spTgt spid="30"/>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10000"/>
                                  </p:stCondLst>
                                  <p:childTnLst>
                                    <p:set>
                                      <p:cBhvr>
                                        <p:cTn id="171" dur="1" fill="hold">
                                          <p:stCondLst>
                                            <p:cond delay="0"/>
                                          </p:stCondLst>
                                        </p:cTn>
                                        <p:tgtEl>
                                          <p:spTgt spid="31"/>
                                        </p:tgtEl>
                                        <p:attrNameLst>
                                          <p:attrName>style.visibility</p:attrName>
                                        </p:attrNameLst>
                                      </p:cBhvr>
                                      <p:to>
                                        <p:strVal val="visible"/>
                                      </p:to>
                                    </p:set>
                                    <p:animEffect transition="in" filter="fade">
                                      <p:cBhvr>
                                        <p:cTn id="172" dur="700"/>
                                        <p:tgtEl>
                                          <p:spTgt spid="31"/>
                                        </p:tgtEl>
                                      </p:cBhvr>
                                    </p:animEffect>
                                    <p:anim calcmode="lin" valueType="num">
                                      <p:cBhvr>
                                        <p:cTn id="173" dur="700" fill="hold"/>
                                        <p:tgtEl>
                                          <p:spTgt spid="31"/>
                                        </p:tgtEl>
                                        <p:attrNameLst>
                                          <p:attrName>ppt_x</p:attrName>
                                        </p:attrNameLst>
                                      </p:cBhvr>
                                      <p:tavLst>
                                        <p:tav tm="0">
                                          <p:val>
                                            <p:strVal val="#ppt_x"/>
                                          </p:val>
                                        </p:tav>
                                        <p:tav tm="100000">
                                          <p:val>
                                            <p:strVal val="#ppt_x"/>
                                          </p:val>
                                        </p:tav>
                                      </p:tavLst>
                                    </p:anim>
                                    <p:anim calcmode="lin" valueType="num">
                                      <p:cBhvr>
                                        <p:cTn id="174" dur="700" fill="hold"/>
                                        <p:tgtEl>
                                          <p:spTgt spid="31"/>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0000"/>
                                  </p:stCondLst>
                                  <p:childTnLst>
                                    <p:set>
                                      <p:cBhvr>
                                        <p:cTn id="176" dur="1" fill="hold">
                                          <p:stCondLst>
                                            <p:cond delay="0"/>
                                          </p:stCondLst>
                                        </p:cTn>
                                        <p:tgtEl>
                                          <p:spTgt spid="32"/>
                                        </p:tgtEl>
                                        <p:attrNameLst>
                                          <p:attrName>style.visibility</p:attrName>
                                        </p:attrNameLst>
                                      </p:cBhvr>
                                      <p:to>
                                        <p:strVal val="visible"/>
                                      </p:to>
                                    </p:set>
                                    <p:animEffect transition="in" filter="fade">
                                      <p:cBhvr>
                                        <p:cTn id="177" dur="700"/>
                                        <p:tgtEl>
                                          <p:spTgt spid="32"/>
                                        </p:tgtEl>
                                      </p:cBhvr>
                                    </p:animEffect>
                                    <p:anim calcmode="lin" valueType="num">
                                      <p:cBhvr>
                                        <p:cTn id="178" dur="700" fill="hold"/>
                                        <p:tgtEl>
                                          <p:spTgt spid="32"/>
                                        </p:tgtEl>
                                        <p:attrNameLst>
                                          <p:attrName>ppt_x</p:attrName>
                                        </p:attrNameLst>
                                      </p:cBhvr>
                                      <p:tavLst>
                                        <p:tav tm="0">
                                          <p:val>
                                            <p:strVal val="#ppt_x"/>
                                          </p:val>
                                        </p:tav>
                                        <p:tav tm="100000">
                                          <p:val>
                                            <p:strVal val="#ppt_x"/>
                                          </p:val>
                                        </p:tav>
                                      </p:tavLst>
                                    </p:anim>
                                    <p:anim calcmode="lin" valueType="num">
                                      <p:cBhvr>
                                        <p:cTn id="179" dur="700" fill="hold"/>
                                        <p:tgtEl>
                                          <p:spTgt spid="32"/>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10000"/>
                                  </p:stCondLst>
                                  <p:childTnLst>
                                    <p:set>
                                      <p:cBhvr>
                                        <p:cTn id="181" dur="1" fill="hold">
                                          <p:stCondLst>
                                            <p:cond delay="0"/>
                                          </p:stCondLst>
                                        </p:cTn>
                                        <p:tgtEl>
                                          <p:spTgt spid="33"/>
                                        </p:tgtEl>
                                        <p:attrNameLst>
                                          <p:attrName>style.visibility</p:attrName>
                                        </p:attrNameLst>
                                      </p:cBhvr>
                                      <p:to>
                                        <p:strVal val="visible"/>
                                      </p:to>
                                    </p:set>
                                    <p:animEffect transition="in" filter="fade">
                                      <p:cBhvr>
                                        <p:cTn id="182" dur="700"/>
                                        <p:tgtEl>
                                          <p:spTgt spid="33"/>
                                        </p:tgtEl>
                                      </p:cBhvr>
                                    </p:animEffect>
                                    <p:anim calcmode="lin" valueType="num">
                                      <p:cBhvr>
                                        <p:cTn id="183" dur="700" fill="hold"/>
                                        <p:tgtEl>
                                          <p:spTgt spid="33"/>
                                        </p:tgtEl>
                                        <p:attrNameLst>
                                          <p:attrName>ppt_x</p:attrName>
                                        </p:attrNameLst>
                                      </p:cBhvr>
                                      <p:tavLst>
                                        <p:tav tm="0">
                                          <p:val>
                                            <p:strVal val="#ppt_x"/>
                                          </p:val>
                                        </p:tav>
                                        <p:tav tm="100000">
                                          <p:val>
                                            <p:strVal val="#ppt_x"/>
                                          </p:val>
                                        </p:tav>
                                      </p:tavLst>
                                    </p:anim>
                                    <p:anim calcmode="lin" valueType="num">
                                      <p:cBhvr>
                                        <p:cTn id="184" dur="7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TODAY’S STORY</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One dataset. Four roles. Four agents.</a:t>
            </a:r>
            <a:endParaRPr lang="en-US" sz="2400" dirty="0"/>
          </a:p>
        </p:txBody>
      </p:sp>
      <p:sp>
        <p:nvSpPr>
          <p:cNvPr id="8" name="Text 4"/>
          <p:cNvSpPr/>
          <p:nvPr/>
        </p:nvSpPr>
        <p:spPr>
          <a:xfrm>
            <a:off x="507950" y="1498550"/>
            <a:ext cx="2686050" cy="2813000"/>
          </a:xfrm>
          <a:prstGeom prst="roundRect">
            <a:avLst>
              <a:gd name="adj" fmla="val 4728"/>
            </a:avLst>
          </a:prstGeom>
          <a:solidFill>
            <a:srgbClr val="F1F8FF"/>
          </a:solidFill>
          <a:ln w="9525">
            <a:solidFill>
              <a:srgbClr val="B6E3FF"/>
            </a:solidFill>
          </a:ln>
        </p:spPr>
        <p:txBody>
          <a:bodyPr wrap="square" rtlCol="0" anchor="ctr"/>
          <a:lstStyle/>
          <a:p>
            <a:pPr marL="0" indent="0">
              <a:buNone/>
            </a:pPr>
            <a:endParaRPr lang="en-US" dirty="0"/>
          </a:p>
        </p:txBody>
      </p:sp>
      <p:sp>
        <p:nvSpPr>
          <p:cNvPr id="9" name="Text 5"/>
          <p:cNvSpPr/>
          <p:nvPr/>
        </p:nvSpPr>
        <p:spPr>
          <a:xfrm>
            <a:off x="736550" y="1727150"/>
            <a:ext cx="558701" cy="558701"/>
          </a:xfrm>
          <a:prstGeom prst="roundRect">
            <a:avLst>
              <a:gd name="adj" fmla="val 22731"/>
            </a:avLst>
          </a:prstGeom>
          <a:solidFill>
            <a:srgbClr val="DDF4FF"/>
          </a:solidFill>
          <a:ln/>
        </p:spPr>
        <p:txBody>
          <a:bodyPr wrap="square" rtlCol="0" anchor="ctr"/>
          <a:lstStyle/>
          <a:p>
            <a:pPr marL="0" indent="0">
              <a:buNone/>
            </a:pPr>
            <a:endParaRPr lang="en-US" dirty="0"/>
          </a:p>
        </p:txBody>
      </p:sp>
      <p:pic>
        <p:nvPicPr>
          <p:cNvPr id="10" name="Image 2" descr="/Users/danwahlin/.copilot/session-state/e7427b9a-9d65-4aa2-953c-14cedea46cbc/files/talkdeck/assets/icons/GoDatabase-0969DA.png"/>
          <p:cNvPicPr>
            <a:picLocks noChangeAspect="1"/>
          </p:cNvPicPr>
          <p:nvPr/>
        </p:nvPicPr>
        <p:blipFill>
          <a:blip r:embed="rId5"/>
          <a:stretch>
            <a:fillRect/>
          </a:stretch>
        </p:blipFill>
        <p:spPr>
          <a:xfrm>
            <a:off x="876300" y="1866900"/>
            <a:ext cx="279350" cy="279350"/>
          </a:xfrm>
          <a:prstGeom prst="rect">
            <a:avLst/>
          </a:prstGeom>
        </p:spPr>
      </p:pic>
      <p:sp>
        <p:nvSpPr>
          <p:cNvPr id="11" name="Text 6"/>
          <p:cNvSpPr/>
          <p:nvPr/>
        </p:nvSpPr>
        <p:spPr>
          <a:xfrm>
            <a:off x="736550" y="2463701"/>
            <a:ext cx="2331720" cy="238125"/>
          </a:xfrm>
          <a:prstGeom prst="rect">
            <a:avLst/>
          </a:prstGeom>
          <a:noFill/>
          <a:ln/>
        </p:spPr>
        <p:txBody>
          <a:bodyPr wrap="square" lIns="0" tIns="0" rIns="0" bIns="0" rtlCol="0" anchor="t"/>
          <a:lstStyle/>
          <a:p>
            <a:pPr marL="0" indent="0" algn="l">
              <a:buNone/>
            </a:pPr>
            <a:r>
              <a:rPr lang="en-US" sz="1600" b="1" dirty="0">
                <a:solidFill>
                  <a:srgbClr val="1F2328"/>
                </a:solidFill>
                <a:latin typeface="Arial" pitchFamily="34" charset="0"/>
                <a:ea typeface="Arial" pitchFamily="34" charset="-122"/>
                <a:cs typeface="Arial" pitchFamily="34" charset="-120"/>
              </a:rPr>
              <a:t>Public housing data</a:t>
            </a:r>
            <a:endParaRPr lang="en-US" sz="1600" dirty="0"/>
          </a:p>
        </p:txBody>
      </p:sp>
      <p:sp>
        <p:nvSpPr>
          <p:cNvPr id="12" name="Text 7"/>
          <p:cNvSpPr/>
          <p:nvPr/>
        </p:nvSpPr>
        <p:spPr>
          <a:xfrm>
            <a:off x="736550" y="2793950"/>
            <a:ext cx="2331720" cy="152400"/>
          </a:xfrm>
          <a:prstGeom prst="rect">
            <a:avLst/>
          </a:prstGeom>
          <a:noFill/>
          <a:ln/>
        </p:spPr>
        <p:txBody>
          <a:bodyPr wrap="square" lIns="0" tIns="0" rIns="0" bIns="0" rtlCol="0" anchor="t"/>
          <a:lstStyle/>
          <a:p>
            <a:pPr marL="0" indent="0" algn="l">
              <a:buNone/>
            </a:pPr>
            <a:r>
              <a:rPr lang="en-US" sz="1100" dirty="0">
                <a:solidFill>
                  <a:srgbClr val="1F2328"/>
                </a:solidFill>
                <a:latin typeface="Arial" pitchFamily="34" charset="0"/>
                <a:ea typeface="Arial" pitchFamily="34" charset="-122"/>
                <a:cs typeface="Arial" pitchFamily="34" charset="-120"/>
              </a:rPr>
              <a:t>FHFA House Price Index</a:t>
            </a:r>
            <a:endParaRPr lang="en-US" sz="1100" dirty="0"/>
          </a:p>
        </p:txBody>
      </p:sp>
      <p:sp>
        <p:nvSpPr>
          <p:cNvPr id="13" name="Text 8"/>
          <p:cNvSpPr/>
          <p:nvPr/>
        </p:nvSpPr>
        <p:spPr>
          <a:xfrm>
            <a:off x="736550" y="3022550"/>
            <a:ext cx="2331720" cy="152400"/>
          </a:xfrm>
          <a:prstGeom prst="rect">
            <a:avLst/>
          </a:prstGeom>
          <a:noFill/>
          <a:ln/>
        </p:spPr>
        <p:txBody>
          <a:bodyPr wrap="square" lIns="0" tIns="0" rIns="0" bIns="0" rtlCol="0" anchor="t"/>
          <a:lstStyle/>
          <a:p>
            <a:pPr marL="0" indent="0" algn="l">
              <a:buNone/>
            </a:pPr>
            <a:r>
              <a:rPr lang="en-US" sz="1100" dirty="0">
                <a:solidFill>
                  <a:srgbClr val="1F2328"/>
                </a:solidFill>
                <a:latin typeface="Arial" pitchFamily="34" charset="0"/>
                <a:ea typeface="Arial" pitchFamily="34" charset="-122"/>
                <a:cs typeface="Arial" pitchFamily="34" charset="-120"/>
              </a:rPr>
              <a:t>CFPB HMDA mortgage data</a:t>
            </a:r>
            <a:endParaRPr lang="en-US" sz="1100" dirty="0"/>
          </a:p>
        </p:txBody>
      </p:sp>
      <p:sp>
        <p:nvSpPr>
          <p:cNvPr id="14" name="Text 9"/>
          <p:cNvSpPr/>
          <p:nvPr/>
        </p:nvSpPr>
        <p:spPr>
          <a:xfrm>
            <a:off x="736550" y="3378101"/>
            <a:ext cx="2331720" cy="342602"/>
          </a:xfrm>
          <a:prstGeom prst="rect">
            <a:avLst/>
          </a:prstGeom>
          <a:noFill/>
          <a:ln/>
        </p:spPr>
        <p:txBody>
          <a:bodyPr wrap="square" lIns="0" tIns="0" rIns="0" bIns="0" rtlCol="0" anchor="t"/>
          <a:lstStyle/>
          <a:p>
            <a:pPr marL="0" indent="0" algn="l">
              <a:lnSpc>
                <a:spcPts val="1350"/>
              </a:lnSpc>
              <a:buNone/>
            </a:pPr>
            <a:r>
              <a:rPr lang="en-US" sz="1000" dirty="0">
                <a:solidFill>
                  <a:srgbClr val="59636E"/>
                </a:solidFill>
                <a:latin typeface="Arial" pitchFamily="34" charset="0"/>
                <a:ea typeface="Arial" pitchFamily="34" charset="-122"/>
                <a:cs typeface="Arial" pitchFamily="34" charset="-120"/>
              </a:rPr>
              <a:t>50 states and DC, 100 metros, 1991 to 2026</a:t>
            </a:r>
            <a:endParaRPr lang="en-US" sz="1000" dirty="0"/>
          </a:p>
        </p:txBody>
      </p:sp>
      <p:sp>
        <p:nvSpPr>
          <p:cNvPr id="15" name="Text 10"/>
          <p:cNvSpPr/>
          <p:nvPr/>
        </p:nvSpPr>
        <p:spPr>
          <a:xfrm>
            <a:off x="3174950" y="2870150"/>
            <a:ext cx="634901" cy="38100"/>
          </a:xfrm>
          <a:prstGeom prst="rect">
            <a:avLst/>
          </a:prstGeom>
          <a:solidFill>
            <a:srgbClr val="0969DA"/>
          </a:solidFill>
          <a:ln/>
        </p:spPr>
        <p:txBody>
          <a:bodyPr wrap="square" rtlCol="0" anchor="ctr"/>
          <a:lstStyle/>
          <a:p>
            <a:pPr marL="0" indent="0">
              <a:buNone/>
            </a:pPr>
            <a:endParaRPr lang="en-US" dirty="0"/>
          </a:p>
        </p:txBody>
      </p:sp>
      <p:sp>
        <p:nvSpPr>
          <p:cNvPr id="16" name="Text 11"/>
          <p:cNvSpPr/>
          <p:nvPr/>
        </p:nvSpPr>
        <p:spPr>
          <a:xfrm>
            <a:off x="3810000" y="1498550"/>
            <a:ext cx="2305050" cy="1339751"/>
          </a:xfrm>
          <a:prstGeom prst="roundRect">
            <a:avLst>
              <a:gd name="adj" fmla="val 7584"/>
            </a:avLst>
          </a:prstGeom>
          <a:solidFill>
            <a:srgbClr val="FFFFFF"/>
          </a:solidFill>
          <a:ln w="9525">
            <a:solidFill>
              <a:srgbClr val="D0D7DE"/>
            </a:solidFill>
          </a:ln>
        </p:spPr>
        <p:txBody>
          <a:bodyPr wrap="square" rtlCol="0" anchor="ctr"/>
          <a:lstStyle/>
          <a:p>
            <a:pPr marL="0" indent="0">
              <a:buNone/>
            </a:pPr>
            <a:endParaRPr lang="en-US" dirty="0"/>
          </a:p>
        </p:txBody>
      </p:sp>
      <p:sp>
        <p:nvSpPr>
          <p:cNvPr id="17" name="Text 12"/>
          <p:cNvSpPr/>
          <p:nvPr/>
        </p:nvSpPr>
        <p:spPr>
          <a:xfrm>
            <a:off x="3987701" y="1676400"/>
            <a:ext cx="431750" cy="431750"/>
          </a:xfrm>
          <a:prstGeom prst="roundRect">
            <a:avLst>
              <a:gd name="adj" fmla="val 23532"/>
            </a:avLst>
          </a:prstGeom>
          <a:solidFill>
            <a:srgbClr val="DDF4FF"/>
          </a:solidFill>
          <a:ln/>
        </p:spPr>
        <p:txBody>
          <a:bodyPr wrap="square" rtlCol="0" anchor="ctr"/>
          <a:lstStyle/>
          <a:p>
            <a:pPr marL="0" indent="0">
              <a:buNone/>
            </a:pPr>
            <a:endParaRPr lang="en-US" dirty="0"/>
          </a:p>
        </p:txBody>
      </p:sp>
      <p:pic>
        <p:nvPicPr>
          <p:cNvPr id="18" name="Image 3" descr="/Users/danwahlin/.copilot/session-state/e7427b9a-9d65-4aa2-953c-14cedea46cbc/files/talkdeck/assets/icons/GoBrowser-0969DA.png"/>
          <p:cNvPicPr>
            <a:picLocks noChangeAspect="1"/>
          </p:cNvPicPr>
          <p:nvPr/>
        </p:nvPicPr>
        <p:blipFill>
          <a:blip r:embed="rId6"/>
          <a:stretch>
            <a:fillRect/>
          </a:stretch>
        </p:blipFill>
        <p:spPr>
          <a:xfrm>
            <a:off x="4095750" y="1784300"/>
            <a:ext cx="215801" cy="215801"/>
          </a:xfrm>
          <a:prstGeom prst="rect">
            <a:avLst/>
          </a:prstGeom>
        </p:spPr>
      </p:pic>
      <p:sp>
        <p:nvSpPr>
          <p:cNvPr id="19" name="Text 13"/>
          <p:cNvSpPr/>
          <p:nvPr/>
        </p:nvSpPr>
        <p:spPr>
          <a:xfrm>
            <a:off x="3987701" y="2209800"/>
            <a:ext cx="2020824"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Interactive website</a:t>
            </a:r>
            <a:endParaRPr lang="en-US" sz="1250" dirty="0"/>
          </a:p>
        </p:txBody>
      </p:sp>
      <p:sp>
        <p:nvSpPr>
          <p:cNvPr id="20" name="Text 14"/>
          <p:cNvSpPr/>
          <p:nvPr/>
        </p:nvSpPr>
        <p:spPr>
          <a:xfrm>
            <a:off x="3987701" y="2463701"/>
            <a:ext cx="2020824"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Developers and IT managers</a:t>
            </a:r>
            <a:endParaRPr lang="en-US" sz="950" dirty="0"/>
          </a:p>
        </p:txBody>
      </p:sp>
      <p:sp>
        <p:nvSpPr>
          <p:cNvPr id="21" name="Text 15"/>
          <p:cNvSpPr/>
          <p:nvPr/>
        </p:nvSpPr>
        <p:spPr>
          <a:xfrm>
            <a:off x="6248400" y="1498550"/>
            <a:ext cx="2305050" cy="1339751"/>
          </a:xfrm>
          <a:prstGeom prst="roundRect">
            <a:avLst>
              <a:gd name="adj" fmla="val 7584"/>
            </a:avLst>
          </a:prstGeom>
          <a:solidFill>
            <a:srgbClr val="FFFFFF"/>
          </a:solidFill>
          <a:ln w="9525">
            <a:solidFill>
              <a:srgbClr val="D0D7DE"/>
            </a:solidFill>
          </a:ln>
        </p:spPr>
        <p:txBody>
          <a:bodyPr wrap="square" rtlCol="0" anchor="ctr"/>
          <a:lstStyle/>
          <a:p>
            <a:pPr marL="0" indent="0">
              <a:buNone/>
            </a:pPr>
            <a:endParaRPr lang="en-US" dirty="0"/>
          </a:p>
        </p:txBody>
      </p:sp>
      <p:sp>
        <p:nvSpPr>
          <p:cNvPr id="22" name="Text 16"/>
          <p:cNvSpPr/>
          <p:nvPr/>
        </p:nvSpPr>
        <p:spPr>
          <a:xfrm>
            <a:off x="6426101" y="1676400"/>
            <a:ext cx="431750" cy="431750"/>
          </a:xfrm>
          <a:prstGeom prst="roundRect">
            <a:avLst>
              <a:gd name="adj" fmla="val 23532"/>
            </a:avLst>
          </a:prstGeom>
          <a:solidFill>
            <a:srgbClr val="DAFBE1"/>
          </a:solidFill>
          <a:ln/>
        </p:spPr>
        <p:txBody>
          <a:bodyPr wrap="square" rtlCol="0" anchor="ctr"/>
          <a:lstStyle/>
          <a:p>
            <a:pPr marL="0" indent="0">
              <a:buNone/>
            </a:pPr>
            <a:endParaRPr lang="en-US" dirty="0"/>
          </a:p>
        </p:txBody>
      </p:sp>
      <p:pic>
        <p:nvPicPr>
          <p:cNvPr id="23" name="Image 4" descr="/Users/danwahlin/.copilot/session-state/e7427b9a-9d65-4aa2-953c-14cedea46cbc/files/talkdeck/assets/icons/GoTable-1A7F37.png"/>
          <p:cNvPicPr>
            <a:picLocks noChangeAspect="1"/>
          </p:cNvPicPr>
          <p:nvPr/>
        </p:nvPicPr>
        <p:blipFill>
          <a:blip r:embed="rId7"/>
          <a:stretch>
            <a:fillRect/>
          </a:stretch>
        </p:blipFill>
        <p:spPr>
          <a:xfrm>
            <a:off x="6534150" y="1784300"/>
            <a:ext cx="215801" cy="215801"/>
          </a:xfrm>
          <a:prstGeom prst="rect">
            <a:avLst/>
          </a:prstGeom>
        </p:spPr>
      </p:pic>
      <p:sp>
        <p:nvSpPr>
          <p:cNvPr id="24" name="Text 17"/>
          <p:cNvSpPr/>
          <p:nvPr/>
        </p:nvSpPr>
        <p:spPr>
          <a:xfrm>
            <a:off x="6426101" y="2209800"/>
            <a:ext cx="2020824"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Excel workbook</a:t>
            </a:r>
            <a:endParaRPr lang="en-US" sz="1250" dirty="0"/>
          </a:p>
        </p:txBody>
      </p:sp>
      <p:sp>
        <p:nvSpPr>
          <p:cNvPr id="25" name="Text 18"/>
          <p:cNvSpPr/>
          <p:nvPr/>
        </p:nvSpPr>
        <p:spPr>
          <a:xfrm>
            <a:off x="6426101" y="2463701"/>
            <a:ext cx="2020824"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Business analysts</a:t>
            </a:r>
            <a:endParaRPr lang="en-US" sz="950" dirty="0"/>
          </a:p>
        </p:txBody>
      </p:sp>
      <p:sp>
        <p:nvSpPr>
          <p:cNvPr id="26" name="Text 19"/>
          <p:cNvSpPr/>
          <p:nvPr/>
        </p:nvSpPr>
        <p:spPr>
          <a:xfrm>
            <a:off x="3810000" y="2971800"/>
            <a:ext cx="2305050" cy="1339751"/>
          </a:xfrm>
          <a:prstGeom prst="roundRect">
            <a:avLst>
              <a:gd name="adj" fmla="val 7584"/>
            </a:avLst>
          </a:prstGeom>
          <a:solidFill>
            <a:srgbClr val="FFFFFF"/>
          </a:solidFill>
          <a:ln w="9525">
            <a:solidFill>
              <a:srgbClr val="D0D7DE"/>
            </a:solidFill>
          </a:ln>
        </p:spPr>
        <p:txBody>
          <a:bodyPr wrap="square" rtlCol="0" anchor="ctr"/>
          <a:lstStyle/>
          <a:p>
            <a:pPr marL="0" indent="0">
              <a:buNone/>
            </a:pPr>
            <a:endParaRPr lang="en-US" dirty="0"/>
          </a:p>
        </p:txBody>
      </p:sp>
      <p:sp>
        <p:nvSpPr>
          <p:cNvPr id="27" name="Text 20"/>
          <p:cNvSpPr/>
          <p:nvPr/>
        </p:nvSpPr>
        <p:spPr>
          <a:xfrm>
            <a:off x="3987701" y="3149501"/>
            <a:ext cx="431750" cy="431750"/>
          </a:xfrm>
          <a:prstGeom prst="roundRect">
            <a:avLst>
              <a:gd name="adj" fmla="val 23532"/>
            </a:avLst>
          </a:prstGeom>
          <a:solidFill>
            <a:srgbClr val="FFF1E5"/>
          </a:solidFill>
          <a:ln/>
        </p:spPr>
        <p:txBody>
          <a:bodyPr wrap="square" rtlCol="0" anchor="ctr"/>
          <a:lstStyle/>
          <a:p>
            <a:pPr marL="0" indent="0">
              <a:buNone/>
            </a:pPr>
            <a:endParaRPr lang="en-US" dirty="0"/>
          </a:p>
        </p:txBody>
      </p:sp>
      <p:pic>
        <p:nvPicPr>
          <p:cNvPr id="28" name="Image 5" descr="/Users/danwahlin/.copilot/session-state/e7427b9a-9d65-4aa2-953c-14cedea46cbc/files/talkdeck/assets/icons/GoGraph-BC4C00.png"/>
          <p:cNvPicPr>
            <a:picLocks noChangeAspect="1"/>
          </p:cNvPicPr>
          <p:nvPr/>
        </p:nvPicPr>
        <p:blipFill>
          <a:blip r:embed="rId8"/>
          <a:stretch>
            <a:fillRect/>
          </a:stretch>
        </p:blipFill>
        <p:spPr>
          <a:xfrm>
            <a:off x="4095750" y="3257550"/>
            <a:ext cx="215801" cy="215801"/>
          </a:xfrm>
          <a:prstGeom prst="rect">
            <a:avLst/>
          </a:prstGeom>
        </p:spPr>
      </p:pic>
      <p:sp>
        <p:nvSpPr>
          <p:cNvPr id="29" name="Text 21"/>
          <p:cNvSpPr/>
          <p:nvPr/>
        </p:nvSpPr>
        <p:spPr>
          <a:xfrm>
            <a:off x="3987701" y="3682901"/>
            <a:ext cx="2020824"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Executive briefing</a:t>
            </a:r>
            <a:endParaRPr lang="en-US" sz="1250" dirty="0"/>
          </a:p>
        </p:txBody>
      </p:sp>
      <p:sp>
        <p:nvSpPr>
          <p:cNvPr id="30" name="Text 22"/>
          <p:cNvSpPr/>
          <p:nvPr/>
        </p:nvSpPr>
        <p:spPr>
          <a:xfrm>
            <a:off x="3987701" y="3936950"/>
            <a:ext cx="2020824"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Leaders and project managers</a:t>
            </a:r>
            <a:endParaRPr lang="en-US" sz="950" dirty="0"/>
          </a:p>
        </p:txBody>
      </p:sp>
      <p:sp>
        <p:nvSpPr>
          <p:cNvPr id="31" name="Text 23"/>
          <p:cNvSpPr/>
          <p:nvPr/>
        </p:nvSpPr>
        <p:spPr>
          <a:xfrm>
            <a:off x="6248400" y="2971800"/>
            <a:ext cx="2305050" cy="1339751"/>
          </a:xfrm>
          <a:prstGeom prst="roundRect">
            <a:avLst>
              <a:gd name="adj" fmla="val 7584"/>
            </a:avLst>
          </a:prstGeom>
          <a:solidFill>
            <a:srgbClr val="FFFFFF"/>
          </a:solidFill>
          <a:ln w="9525">
            <a:solidFill>
              <a:srgbClr val="D0D7DE"/>
            </a:solidFill>
          </a:ln>
        </p:spPr>
        <p:txBody>
          <a:bodyPr wrap="square" rtlCol="0" anchor="ctr"/>
          <a:lstStyle/>
          <a:p>
            <a:pPr marL="0" indent="0">
              <a:buNone/>
            </a:pPr>
            <a:endParaRPr lang="en-US" dirty="0"/>
          </a:p>
        </p:txBody>
      </p:sp>
      <p:sp>
        <p:nvSpPr>
          <p:cNvPr id="32" name="Text 24"/>
          <p:cNvSpPr/>
          <p:nvPr/>
        </p:nvSpPr>
        <p:spPr>
          <a:xfrm>
            <a:off x="6426101" y="3149501"/>
            <a:ext cx="431750" cy="431750"/>
          </a:xfrm>
          <a:prstGeom prst="roundRect">
            <a:avLst>
              <a:gd name="adj" fmla="val 23532"/>
            </a:avLst>
          </a:prstGeom>
          <a:solidFill>
            <a:srgbClr val="FBEFFF"/>
          </a:solidFill>
          <a:ln/>
        </p:spPr>
        <p:txBody>
          <a:bodyPr wrap="square" rtlCol="0" anchor="ctr"/>
          <a:lstStyle/>
          <a:p>
            <a:pPr marL="0" indent="0">
              <a:buNone/>
            </a:pPr>
            <a:endParaRPr lang="en-US" dirty="0"/>
          </a:p>
        </p:txBody>
      </p:sp>
      <p:pic>
        <p:nvPicPr>
          <p:cNvPr id="33" name="Image 6" descr="/Users/danwahlin/.copilot/session-state/e7427b9a-9d65-4aa2-953c-14cedea46cbc/files/talkdeck/assets/icons/GoMail-8250DF.png"/>
          <p:cNvPicPr>
            <a:picLocks noChangeAspect="1"/>
          </p:cNvPicPr>
          <p:nvPr/>
        </p:nvPicPr>
        <p:blipFill>
          <a:blip r:embed="rId9"/>
          <a:stretch>
            <a:fillRect/>
          </a:stretch>
        </p:blipFill>
        <p:spPr>
          <a:xfrm>
            <a:off x="6534150" y="3257550"/>
            <a:ext cx="215801" cy="215801"/>
          </a:xfrm>
          <a:prstGeom prst="rect">
            <a:avLst/>
          </a:prstGeom>
        </p:spPr>
      </p:pic>
      <p:sp>
        <p:nvSpPr>
          <p:cNvPr id="34" name="Text 25"/>
          <p:cNvSpPr/>
          <p:nvPr/>
        </p:nvSpPr>
        <p:spPr>
          <a:xfrm>
            <a:off x="6426101" y="3682901"/>
            <a:ext cx="2020824"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Microsoft 365 brief</a:t>
            </a:r>
            <a:endParaRPr lang="en-US" sz="1250" dirty="0"/>
          </a:p>
        </p:txBody>
      </p:sp>
      <p:sp>
        <p:nvSpPr>
          <p:cNvPr id="35" name="Text 26"/>
          <p:cNvSpPr/>
          <p:nvPr/>
        </p:nvSpPr>
        <p:spPr>
          <a:xfrm>
            <a:off x="6426101" y="3936950"/>
            <a:ext cx="2020824"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Project managers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HOW YOU WORK WITH AGENTS</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Plan first. Then hand it off.</a:t>
            </a:r>
            <a:endParaRPr lang="en-US" sz="2400" dirty="0"/>
          </a:p>
        </p:txBody>
      </p:sp>
      <p:sp>
        <p:nvSpPr>
          <p:cNvPr id="8" name="Text 4"/>
          <p:cNvSpPr/>
          <p:nvPr/>
        </p:nvSpPr>
        <p:spPr>
          <a:xfrm>
            <a:off x="507950" y="1625501"/>
            <a:ext cx="1517600" cy="2152650"/>
          </a:xfrm>
          <a:prstGeom prst="roundRect">
            <a:avLst>
              <a:gd name="adj" fmla="val 6695"/>
            </a:avLst>
          </a:prstGeom>
          <a:solidFill>
            <a:srgbClr val="FFFFFF"/>
          </a:solidFill>
          <a:ln w="9525">
            <a:solidFill>
              <a:srgbClr val="D0D7DE"/>
            </a:solidFill>
          </a:ln>
        </p:spPr>
        <p:txBody>
          <a:bodyPr wrap="square" rtlCol="0" anchor="ctr"/>
          <a:lstStyle/>
          <a:p>
            <a:pPr marL="0" indent="0">
              <a:buNone/>
            </a:pPr>
            <a:endParaRPr lang="en-US" dirty="0"/>
          </a:p>
        </p:txBody>
      </p:sp>
      <p:sp>
        <p:nvSpPr>
          <p:cNvPr id="9" name="Text 5"/>
          <p:cNvSpPr/>
          <p:nvPr/>
        </p:nvSpPr>
        <p:spPr>
          <a:xfrm>
            <a:off x="685800" y="1828800"/>
            <a:ext cx="507950" cy="507950"/>
          </a:xfrm>
          <a:prstGeom prst="roundRect">
            <a:avLst>
              <a:gd name="adj" fmla="val 180018"/>
            </a:avLst>
          </a:prstGeom>
          <a:solidFill>
            <a:srgbClr val="DDF4FF"/>
          </a:solidFill>
          <a:ln/>
        </p:spPr>
        <p:txBody>
          <a:bodyPr wrap="square" rtlCol="0" anchor="ctr"/>
          <a:lstStyle/>
          <a:p>
            <a:pPr marL="0" indent="0">
              <a:buNone/>
            </a:pPr>
            <a:endParaRPr lang="en-US" dirty="0"/>
          </a:p>
        </p:txBody>
      </p:sp>
      <p:pic>
        <p:nvPicPr>
          <p:cNvPr id="10" name="Image 2" descr="/Users/danwahlin/.copilot/session-state/e7427b9a-9d65-4aa2-953c-14cedea46cbc/files/talkdeck/assets/icons/GoCommentDiscussion-0969DA.png"/>
          <p:cNvPicPr>
            <a:picLocks noChangeAspect="1"/>
          </p:cNvPicPr>
          <p:nvPr/>
        </p:nvPicPr>
        <p:blipFill>
          <a:blip r:embed="rId5"/>
          <a:stretch>
            <a:fillRect/>
          </a:stretch>
        </p:blipFill>
        <p:spPr>
          <a:xfrm>
            <a:off x="812750" y="1955750"/>
            <a:ext cx="253901" cy="253901"/>
          </a:xfrm>
          <a:prstGeom prst="rect">
            <a:avLst/>
          </a:prstGeom>
        </p:spPr>
      </p:pic>
      <p:sp>
        <p:nvSpPr>
          <p:cNvPr id="11" name="Text 6"/>
          <p:cNvSpPr/>
          <p:nvPr/>
        </p:nvSpPr>
        <p:spPr>
          <a:xfrm>
            <a:off x="685800" y="2489150"/>
            <a:ext cx="1243584"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Prompt</a:t>
            </a:r>
            <a:endParaRPr lang="en-US" sz="1500" dirty="0"/>
          </a:p>
        </p:txBody>
      </p:sp>
      <p:sp>
        <p:nvSpPr>
          <p:cNvPr id="12" name="Text 7"/>
          <p:cNvSpPr/>
          <p:nvPr/>
        </p:nvSpPr>
        <p:spPr>
          <a:xfrm>
            <a:off x="685800" y="2793950"/>
            <a:ext cx="1217625" cy="346472"/>
          </a:xfrm>
          <a:prstGeom prst="rect">
            <a:avLst/>
          </a:prstGeom>
          <a:noFill/>
          <a:ln/>
        </p:spPr>
        <p:txBody>
          <a:bodyPr wrap="square" lIns="0" tIns="0" rIns="0" bIns="0" rtlCol="0" anchor="t"/>
          <a:lstStyle/>
          <a:p>
            <a:pPr marL="0" indent="0" algn="l">
              <a:lnSpc>
                <a:spcPts val="1365"/>
              </a:lnSpc>
              <a:buNone/>
            </a:pPr>
            <a:r>
              <a:rPr lang="en-US" sz="1050" dirty="0">
                <a:solidFill>
                  <a:srgbClr val="59636E"/>
                </a:solidFill>
                <a:latin typeface="Arial" pitchFamily="34" charset="0"/>
                <a:ea typeface="Arial" pitchFamily="34" charset="-122"/>
                <a:cs typeface="Arial" pitchFamily="34" charset="-120"/>
              </a:rPr>
              <a:t>Describe the outcome you want.</a:t>
            </a:r>
            <a:endParaRPr lang="en-US" sz="1050" dirty="0"/>
          </a:p>
        </p:txBody>
      </p:sp>
      <p:sp>
        <p:nvSpPr>
          <p:cNvPr id="13" name="Text 8"/>
          <p:cNvSpPr/>
          <p:nvPr/>
        </p:nvSpPr>
        <p:spPr>
          <a:xfrm>
            <a:off x="2158901" y="1625501"/>
            <a:ext cx="1517600" cy="2152650"/>
          </a:xfrm>
          <a:prstGeom prst="roundRect">
            <a:avLst>
              <a:gd name="adj" fmla="val 6695"/>
            </a:avLst>
          </a:prstGeom>
          <a:solidFill>
            <a:srgbClr val="FFFFFF"/>
          </a:solidFill>
          <a:ln w="9525">
            <a:solidFill>
              <a:srgbClr val="D0D7DE"/>
            </a:solidFill>
          </a:ln>
        </p:spPr>
        <p:txBody>
          <a:bodyPr wrap="square" rtlCol="0" anchor="ctr"/>
          <a:lstStyle/>
          <a:p>
            <a:pPr marL="0" indent="0">
              <a:buNone/>
            </a:pPr>
            <a:endParaRPr lang="en-US" dirty="0"/>
          </a:p>
        </p:txBody>
      </p:sp>
      <p:sp>
        <p:nvSpPr>
          <p:cNvPr id="14" name="Text 9"/>
          <p:cNvSpPr/>
          <p:nvPr/>
        </p:nvSpPr>
        <p:spPr>
          <a:xfrm>
            <a:off x="2336750" y="1828800"/>
            <a:ext cx="507950" cy="507950"/>
          </a:xfrm>
          <a:prstGeom prst="roundRect">
            <a:avLst>
              <a:gd name="adj" fmla="val 180018"/>
            </a:avLst>
          </a:prstGeom>
          <a:solidFill>
            <a:srgbClr val="FBEFFF"/>
          </a:solidFill>
          <a:ln/>
        </p:spPr>
        <p:txBody>
          <a:bodyPr wrap="square" rtlCol="0" anchor="ctr"/>
          <a:lstStyle/>
          <a:p>
            <a:pPr marL="0" indent="0">
              <a:buNone/>
            </a:pPr>
            <a:endParaRPr lang="en-US" dirty="0"/>
          </a:p>
        </p:txBody>
      </p:sp>
      <p:pic>
        <p:nvPicPr>
          <p:cNvPr id="15" name="Image 3" descr="/Users/danwahlin/.copilot/session-state/e7427b9a-9d65-4aa2-953c-14cedea46cbc/files/talkdeck/assets/icons/GoChecklist-8250DF.png"/>
          <p:cNvPicPr>
            <a:picLocks noChangeAspect="1"/>
          </p:cNvPicPr>
          <p:nvPr/>
        </p:nvPicPr>
        <p:blipFill>
          <a:blip r:embed="rId6"/>
          <a:stretch>
            <a:fillRect/>
          </a:stretch>
        </p:blipFill>
        <p:spPr>
          <a:xfrm>
            <a:off x="2463701" y="1955750"/>
            <a:ext cx="253901" cy="253901"/>
          </a:xfrm>
          <a:prstGeom prst="rect">
            <a:avLst/>
          </a:prstGeom>
        </p:spPr>
      </p:pic>
      <p:sp>
        <p:nvSpPr>
          <p:cNvPr id="16" name="Text 10"/>
          <p:cNvSpPr/>
          <p:nvPr/>
        </p:nvSpPr>
        <p:spPr>
          <a:xfrm>
            <a:off x="2336750" y="2489150"/>
            <a:ext cx="1243584"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Plan</a:t>
            </a:r>
            <a:endParaRPr lang="en-US" sz="1500" dirty="0"/>
          </a:p>
        </p:txBody>
      </p:sp>
      <p:sp>
        <p:nvSpPr>
          <p:cNvPr id="17" name="Text 11"/>
          <p:cNvSpPr/>
          <p:nvPr/>
        </p:nvSpPr>
        <p:spPr>
          <a:xfrm>
            <a:off x="2336750" y="2793950"/>
            <a:ext cx="1217625" cy="346472"/>
          </a:xfrm>
          <a:prstGeom prst="rect">
            <a:avLst/>
          </a:prstGeom>
          <a:noFill/>
          <a:ln/>
        </p:spPr>
        <p:txBody>
          <a:bodyPr wrap="square" lIns="0" tIns="0" rIns="0" bIns="0" rtlCol="0" anchor="t"/>
          <a:lstStyle/>
          <a:p>
            <a:pPr marL="0" indent="0" algn="l">
              <a:lnSpc>
                <a:spcPts val="1365"/>
              </a:lnSpc>
              <a:buNone/>
            </a:pPr>
            <a:r>
              <a:rPr lang="en-US" sz="1050" dirty="0">
                <a:solidFill>
                  <a:srgbClr val="59636E"/>
                </a:solidFill>
                <a:latin typeface="Arial" pitchFamily="34" charset="0"/>
                <a:ea typeface="Arial" pitchFamily="34" charset="-122"/>
                <a:cs typeface="Arial" pitchFamily="34" charset="-120"/>
              </a:rPr>
              <a:t>Read the plan and approve it.</a:t>
            </a:r>
            <a:endParaRPr lang="en-US" sz="1050" dirty="0"/>
          </a:p>
        </p:txBody>
      </p:sp>
      <p:sp>
        <p:nvSpPr>
          <p:cNvPr id="18" name="Text 12"/>
          <p:cNvSpPr/>
          <p:nvPr/>
        </p:nvSpPr>
        <p:spPr>
          <a:xfrm>
            <a:off x="2336750" y="3378101"/>
            <a:ext cx="888950" cy="228600"/>
          </a:xfrm>
          <a:prstGeom prst="roundRect">
            <a:avLst>
              <a:gd name="adj" fmla="val 50000"/>
            </a:avLst>
          </a:prstGeom>
          <a:solidFill>
            <a:srgbClr val="FFF8C5"/>
          </a:solidFill>
          <a:ln/>
        </p:spPr>
        <p:txBody>
          <a:bodyPr wrap="square" rtlCol="0" anchor="ctr"/>
          <a:lstStyle/>
          <a:p>
            <a:pPr marL="0" indent="0">
              <a:buNone/>
            </a:pPr>
            <a:endParaRPr lang="en-US" dirty="0"/>
          </a:p>
        </p:txBody>
      </p:sp>
      <p:sp>
        <p:nvSpPr>
          <p:cNvPr id="19" name="Text 13"/>
          <p:cNvSpPr/>
          <p:nvPr/>
        </p:nvSpPr>
        <p:spPr>
          <a:xfrm>
            <a:off x="2327861" y="3429000"/>
            <a:ext cx="906729" cy="114300"/>
          </a:xfrm>
          <a:prstGeom prst="rect">
            <a:avLst/>
          </a:prstGeom>
          <a:noFill/>
          <a:ln/>
        </p:spPr>
        <p:txBody>
          <a:bodyPr wrap="square" lIns="0" tIns="0" rIns="0" bIns="0" rtlCol="0" anchor="t"/>
          <a:lstStyle/>
          <a:p>
            <a:pPr marL="0" indent="0" algn="ctr">
              <a:buNone/>
            </a:pPr>
            <a:r>
              <a:rPr lang="en-US" sz="800" b="1" dirty="0">
                <a:solidFill>
                  <a:srgbClr val="9A6700"/>
                </a:solidFill>
                <a:latin typeface="Arial" pitchFamily="34" charset="0"/>
                <a:ea typeface="Arial" pitchFamily="34" charset="-122"/>
                <a:cs typeface="Arial" pitchFamily="34" charset="-120"/>
              </a:rPr>
              <a:t>YOU DECIDE</a:t>
            </a:r>
            <a:endParaRPr lang="en-US" sz="800" dirty="0"/>
          </a:p>
        </p:txBody>
      </p:sp>
      <p:sp>
        <p:nvSpPr>
          <p:cNvPr id="20" name="Text 14"/>
          <p:cNvSpPr/>
          <p:nvPr/>
        </p:nvSpPr>
        <p:spPr>
          <a:xfrm>
            <a:off x="3810000" y="1625501"/>
            <a:ext cx="1517600" cy="2152650"/>
          </a:xfrm>
          <a:prstGeom prst="roundRect">
            <a:avLst>
              <a:gd name="adj" fmla="val 6695"/>
            </a:avLst>
          </a:prstGeom>
          <a:solidFill>
            <a:srgbClr val="FFFFFF"/>
          </a:solidFill>
          <a:ln w="9525">
            <a:solidFill>
              <a:srgbClr val="D0D7DE"/>
            </a:solidFill>
          </a:ln>
        </p:spPr>
        <p:txBody>
          <a:bodyPr wrap="square" rtlCol="0" anchor="ctr"/>
          <a:lstStyle/>
          <a:p>
            <a:pPr marL="0" indent="0">
              <a:buNone/>
            </a:pPr>
            <a:endParaRPr lang="en-US" dirty="0"/>
          </a:p>
        </p:txBody>
      </p:sp>
      <p:sp>
        <p:nvSpPr>
          <p:cNvPr id="21" name="Text 15"/>
          <p:cNvSpPr/>
          <p:nvPr/>
        </p:nvSpPr>
        <p:spPr>
          <a:xfrm>
            <a:off x="3987701" y="1828800"/>
            <a:ext cx="507950" cy="507950"/>
          </a:xfrm>
          <a:prstGeom prst="roundRect">
            <a:avLst>
              <a:gd name="adj" fmla="val 180018"/>
            </a:avLst>
          </a:prstGeom>
          <a:solidFill>
            <a:srgbClr val="FFF1E5"/>
          </a:solidFill>
          <a:ln/>
        </p:spPr>
        <p:txBody>
          <a:bodyPr wrap="square" rtlCol="0" anchor="ctr"/>
          <a:lstStyle/>
          <a:p>
            <a:pPr marL="0" indent="0">
              <a:buNone/>
            </a:pPr>
            <a:endParaRPr lang="en-US" dirty="0"/>
          </a:p>
        </p:txBody>
      </p:sp>
      <p:pic>
        <p:nvPicPr>
          <p:cNvPr id="22" name="Image 4" descr="/Users/danwahlin/.copilot/session-state/e7427b9a-9d65-4aa2-953c-14cedea46cbc/files/talkdeck/assets/icons/GoZap-BC4C00.png"/>
          <p:cNvPicPr>
            <a:picLocks noChangeAspect="1"/>
          </p:cNvPicPr>
          <p:nvPr/>
        </p:nvPicPr>
        <p:blipFill>
          <a:blip r:embed="rId7"/>
          <a:stretch>
            <a:fillRect/>
          </a:stretch>
        </p:blipFill>
        <p:spPr>
          <a:xfrm>
            <a:off x="4114800" y="1955750"/>
            <a:ext cx="253901" cy="253901"/>
          </a:xfrm>
          <a:prstGeom prst="rect">
            <a:avLst/>
          </a:prstGeom>
        </p:spPr>
      </p:pic>
      <p:sp>
        <p:nvSpPr>
          <p:cNvPr id="23" name="Text 16"/>
          <p:cNvSpPr/>
          <p:nvPr/>
        </p:nvSpPr>
        <p:spPr>
          <a:xfrm>
            <a:off x="3987701" y="2489150"/>
            <a:ext cx="1243584"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Autopilot</a:t>
            </a:r>
            <a:endParaRPr lang="en-US" sz="1500" dirty="0"/>
          </a:p>
        </p:txBody>
      </p:sp>
      <p:sp>
        <p:nvSpPr>
          <p:cNvPr id="24" name="Text 17"/>
          <p:cNvSpPr/>
          <p:nvPr/>
        </p:nvSpPr>
        <p:spPr>
          <a:xfrm>
            <a:off x="3987701" y="2793950"/>
            <a:ext cx="1217625" cy="346472"/>
          </a:xfrm>
          <a:prstGeom prst="rect">
            <a:avLst/>
          </a:prstGeom>
          <a:noFill/>
          <a:ln/>
        </p:spPr>
        <p:txBody>
          <a:bodyPr wrap="square" lIns="0" tIns="0" rIns="0" bIns="0" rtlCol="0" anchor="t"/>
          <a:lstStyle/>
          <a:p>
            <a:pPr marL="0" indent="0" algn="l">
              <a:lnSpc>
                <a:spcPts val="1365"/>
              </a:lnSpc>
              <a:buNone/>
            </a:pPr>
            <a:r>
              <a:rPr lang="en-US" sz="1050" dirty="0">
                <a:solidFill>
                  <a:srgbClr val="59636E"/>
                </a:solidFill>
                <a:latin typeface="Arial" pitchFamily="34" charset="0"/>
                <a:ea typeface="Arial" pitchFamily="34" charset="-122"/>
                <a:cs typeface="Arial" pitchFamily="34" charset="-120"/>
              </a:rPr>
              <a:t>Agents work at the same time.</a:t>
            </a:r>
            <a:endParaRPr lang="en-US" sz="1050" dirty="0"/>
          </a:p>
        </p:txBody>
      </p:sp>
      <p:sp>
        <p:nvSpPr>
          <p:cNvPr id="25" name="Text 18"/>
          <p:cNvSpPr/>
          <p:nvPr/>
        </p:nvSpPr>
        <p:spPr>
          <a:xfrm>
            <a:off x="5460950" y="1625501"/>
            <a:ext cx="1517600" cy="2152650"/>
          </a:xfrm>
          <a:prstGeom prst="roundRect">
            <a:avLst>
              <a:gd name="adj" fmla="val 6695"/>
            </a:avLst>
          </a:prstGeom>
          <a:solidFill>
            <a:srgbClr val="FFFFFF"/>
          </a:solidFill>
          <a:ln w="9525">
            <a:solidFill>
              <a:srgbClr val="D0D7DE"/>
            </a:solidFill>
          </a:ln>
        </p:spPr>
        <p:txBody>
          <a:bodyPr wrap="square" rtlCol="0" anchor="ctr"/>
          <a:lstStyle/>
          <a:p>
            <a:pPr marL="0" indent="0">
              <a:buNone/>
            </a:pPr>
            <a:endParaRPr lang="en-US" dirty="0"/>
          </a:p>
        </p:txBody>
      </p:sp>
      <p:sp>
        <p:nvSpPr>
          <p:cNvPr id="26" name="Text 19"/>
          <p:cNvSpPr/>
          <p:nvPr/>
        </p:nvSpPr>
        <p:spPr>
          <a:xfrm>
            <a:off x="5638800" y="1828800"/>
            <a:ext cx="507950" cy="507950"/>
          </a:xfrm>
          <a:prstGeom prst="roundRect">
            <a:avLst>
              <a:gd name="adj" fmla="val 180018"/>
            </a:avLst>
          </a:prstGeom>
          <a:solidFill>
            <a:srgbClr val="DAFBE1"/>
          </a:solidFill>
          <a:ln/>
        </p:spPr>
        <p:txBody>
          <a:bodyPr wrap="square" rtlCol="0" anchor="ctr"/>
          <a:lstStyle/>
          <a:p>
            <a:pPr marL="0" indent="0">
              <a:buNone/>
            </a:pPr>
            <a:endParaRPr lang="en-US" dirty="0"/>
          </a:p>
        </p:txBody>
      </p:sp>
      <p:pic>
        <p:nvPicPr>
          <p:cNvPr id="27" name="Image 5" descr="/Users/danwahlin/.copilot/session-state/e7427b9a-9d65-4aa2-953c-14cedea46cbc/files/talkdeck/assets/icons/GoEye-1A7F37.png"/>
          <p:cNvPicPr>
            <a:picLocks noChangeAspect="1"/>
          </p:cNvPicPr>
          <p:nvPr/>
        </p:nvPicPr>
        <p:blipFill>
          <a:blip r:embed="rId8"/>
          <a:stretch>
            <a:fillRect/>
          </a:stretch>
        </p:blipFill>
        <p:spPr>
          <a:xfrm>
            <a:off x="5765750" y="1955750"/>
            <a:ext cx="253901" cy="253901"/>
          </a:xfrm>
          <a:prstGeom prst="rect">
            <a:avLst/>
          </a:prstGeom>
        </p:spPr>
      </p:pic>
      <p:sp>
        <p:nvSpPr>
          <p:cNvPr id="28" name="Text 20"/>
          <p:cNvSpPr/>
          <p:nvPr/>
        </p:nvSpPr>
        <p:spPr>
          <a:xfrm>
            <a:off x="5638800" y="2489150"/>
            <a:ext cx="1243584"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Review</a:t>
            </a:r>
            <a:endParaRPr lang="en-US" sz="1500" dirty="0"/>
          </a:p>
        </p:txBody>
      </p:sp>
      <p:sp>
        <p:nvSpPr>
          <p:cNvPr id="29" name="Text 21"/>
          <p:cNvSpPr/>
          <p:nvPr/>
        </p:nvSpPr>
        <p:spPr>
          <a:xfrm>
            <a:off x="5638800" y="2793950"/>
            <a:ext cx="1217625" cy="346472"/>
          </a:xfrm>
          <a:prstGeom prst="rect">
            <a:avLst/>
          </a:prstGeom>
          <a:noFill/>
          <a:ln/>
        </p:spPr>
        <p:txBody>
          <a:bodyPr wrap="square" lIns="0" tIns="0" rIns="0" bIns="0" rtlCol="0" anchor="t"/>
          <a:lstStyle/>
          <a:p>
            <a:pPr marL="0" indent="0" algn="l">
              <a:lnSpc>
                <a:spcPts val="1365"/>
              </a:lnSpc>
              <a:buNone/>
            </a:pPr>
            <a:r>
              <a:rPr lang="en-US" sz="1050" dirty="0">
                <a:solidFill>
                  <a:srgbClr val="59636E"/>
                </a:solidFill>
                <a:latin typeface="Arial" pitchFamily="34" charset="0"/>
                <a:ea typeface="Arial" pitchFamily="34" charset="-122"/>
                <a:cs typeface="Arial" pitchFamily="34" charset="-120"/>
              </a:rPr>
              <a:t>Check diffs, previews, and files.</a:t>
            </a:r>
            <a:endParaRPr lang="en-US" sz="1050" dirty="0"/>
          </a:p>
        </p:txBody>
      </p:sp>
      <p:sp>
        <p:nvSpPr>
          <p:cNvPr id="30" name="Text 22"/>
          <p:cNvSpPr/>
          <p:nvPr/>
        </p:nvSpPr>
        <p:spPr>
          <a:xfrm>
            <a:off x="5638800" y="3378101"/>
            <a:ext cx="888950" cy="228600"/>
          </a:xfrm>
          <a:prstGeom prst="roundRect">
            <a:avLst>
              <a:gd name="adj" fmla="val 50000"/>
            </a:avLst>
          </a:prstGeom>
          <a:solidFill>
            <a:srgbClr val="FFF8C5"/>
          </a:solidFill>
          <a:ln/>
        </p:spPr>
        <p:txBody>
          <a:bodyPr wrap="square" rtlCol="0" anchor="ctr"/>
          <a:lstStyle/>
          <a:p>
            <a:pPr marL="0" indent="0">
              <a:buNone/>
            </a:pPr>
            <a:endParaRPr lang="en-US" dirty="0"/>
          </a:p>
        </p:txBody>
      </p:sp>
      <p:sp>
        <p:nvSpPr>
          <p:cNvPr id="31" name="Text 23"/>
          <p:cNvSpPr/>
          <p:nvPr/>
        </p:nvSpPr>
        <p:spPr>
          <a:xfrm>
            <a:off x="5629910" y="3429000"/>
            <a:ext cx="906729" cy="114300"/>
          </a:xfrm>
          <a:prstGeom prst="rect">
            <a:avLst/>
          </a:prstGeom>
          <a:noFill/>
          <a:ln/>
        </p:spPr>
        <p:txBody>
          <a:bodyPr wrap="square" lIns="0" tIns="0" rIns="0" bIns="0" rtlCol="0" anchor="t"/>
          <a:lstStyle/>
          <a:p>
            <a:pPr marL="0" indent="0" algn="ctr">
              <a:buNone/>
            </a:pPr>
            <a:r>
              <a:rPr lang="en-US" sz="800" b="1" dirty="0">
                <a:solidFill>
                  <a:srgbClr val="9A6700"/>
                </a:solidFill>
                <a:latin typeface="Arial" pitchFamily="34" charset="0"/>
                <a:ea typeface="Arial" pitchFamily="34" charset="-122"/>
                <a:cs typeface="Arial" pitchFamily="34" charset="-120"/>
              </a:rPr>
              <a:t>YOU DECIDE</a:t>
            </a:r>
            <a:endParaRPr lang="en-US" sz="800" dirty="0"/>
          </a:p>
        </p:txBody>
      </p:sp>
      <p:sp>
        <p:nvSpPr>
          <p:cNvPr id="32" name="Text 24"/>
          <p:cNvSpPr/>
          <p:nvPr/>
        </p:nvSpPr>
        <p:spPr>
          <a:xfrm>
            <a:off x="7111901" y="1625501"/>
            <a:ext cx="1517600" cy="2152650"/>
          </a:xfrm>
          <a:prstGeom prst="roundRect">
            <a:avLst>
              <a:gd name="adj" fmla="val 6695"/>
            </a:avLst>
          </a:prstGeom>
          <a:solidFill>
            <a:srgbClr val="FFFFFF"/>
          </a:solidFill>
          <a:ln w="9525">
            <a:solidFill>
              <a:srgbClr val="D0D7DE"/>
            </a:solidFill>
          </a:ln>
        </p:spPr>
        <p:txBody>
          <a:bodyPr wrap="square" rtlCol="0" anchor="ctr"/>
          <a:lstStyle/>
          <a:p>
            <a:pPr marL="0" indent="0">
              <a:buNone/>
            </a:pPr>
            <a:endParaRPr lang="en-US" dirty="0"/>
          </a:p>
        </p:txBody>
      </p:sp>
      <p:sp>
        <p:nvSpPr>
          <p:cNvPr id="33" name="Text 25"/>
          <p:cNvSpPr/>
          <p:nvPr/>
        </p:nvSpPr>
        <p:spPr>
          <a:xfrm>
            <a:off x="7289750" y="1828800"/>
            <a:ext cx="507950" cy="507950"/>
          </a:xfrm>
          <a:prstGeom prst="roundRect">
            <a:avLst>
              <a:gd name="adj" fmla="val 180018"/>
            </a:avLst>
          </a:prstGeom>
          <a:solidFill>
            <a:srgbClr val="DDF4FF"/>
          </a:solidFill>
          <a:ln/>
        </p:spPr>
        <p:txBody>
          <a:bodyPr wrap="square" rtlCol="0" anchor="ctr"/>
          <a:lstStyle/>
          <a:p>
            <a:pPr marL="0" indent="0">
              <a:buNone/>
            </a:pPr>
            <a:endParaRPr lang="en-US" dirty="0"/>
          </a:p>
        </p:txBody>
      </p:sp>
      <p:pic>
        <p:nvPicPr>
          <p:cNvPr id="34" name="Image 6" descr="/Users/danwahlin/.copilot/session-state/e7427b9a-9d65-4aa2-953c-14cedea46cbc/files/talkdeck/assets/icons/GoRocket-0969DA.png"/>
          <p:cNvPicPr>
            <a:picLocks noChangeAspect="1"/>
          </p:cNvPicPr>
          <p:nvPr/>
        </p:nvPicPr>
        <p:blipFill>
          <a:blip r:embed="rId9"/>
          <a:stretch>
            <a:fillRect/>
          </a:stretch>
        </p:blipFill>
        <p:spPr>
          <a:xfrm>
            <a:off x="7416701" y="1955750"/>
            <a:ext cx="253901" cy="253901"/>
          </a:xfrm>
          <a:prstGeom prst="rect">
            <a:avLst/>
          </a:prstGeom>
        </p:spPr>
      </p:pic>
      <p:sp>
        <p:nvSpPr>
          <p:cNvPr id="35" name="Text 26"/>
          <p:cNvSpPr/>
          <p:nvPr/>
        </p:nvSpPr>
        <p:spPr>
          <a:xfrm>
            <a:off x="7289750" y="2489150"/>
            <a:ext cx="1243584"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Ship</a:t>
            </a:r>
            <a:endParaRPr lang="en-US" sz="1500" dirty="0"/>
          </a:p>
        </p:txBody>
      </p:sp>
      <p:sp>
        <p:nvSpPr>
          <p:cNvPr id="36" name="Text 27"/>
          <p:cNvSpPr/>
          <p:nvPr/>
        </p:nvSpPr>
        <p:spPr>
          <a:xfrm>
            <a:off x="7289750" y="2793950"/>
            <a:ext cx="1217625" cy="346472"/>
          </a:xfrm>
          <a:prstGeom prst="rect">
            <a:avLst/>
          </a:prstGeom>
          <a:noFill/>
          <a:ln/>
        </p:spPr>
        <p:txBody>
          <a:bodyPr wrap="square" lIns="0" tIns="0" rIns="0" bIns="0" rtlCol="0" anchor="t"/>
          <a:lstStyle/>
          <a:p>
            <a:pPr marL="0" indent="0" algn="l">
              <a:lnSpc>
                <a:spcPts val="1365"/>
              </a:lnSpc>
              <a:buNone/>
            </a:pPr>
            <a:r>
              <a:rPr lang="en-US" sz="1050" dirty="0">
                <a:solidFill>
                  <a:srgbClr val="59636E"/>
                </a:solidFill>
                <a:latin typeface="Arial" pitchFamily="34" charset="0"/>
                <a:ea typeface="Arial" pitchFamily="34" charset="-122"/>
                <a:cs typeface="Arial" pitchFamily="34" charset="-120"/>
              </a:rPr>
              <a:t>Merge, share, or deploy.</a:t>
            </a:r>
            <a:endParaRPr lang="en-US" sz="1050" dirty="0"/>
          </a:p>
        </p:txBody>
      </p:sp>
      <p:sp>
        <p:nvSpPr>
          <p:cNvPr id="37" name="Text 28"/>
          <p:cNvSpPr/>
          <p:nvPr/>
        </p:nvSpPr>
        <p:spPr>
          <a:xfrm>
            <a:off x="507950" y="4089350"/>
            <a:ext cx="8290509" cy="200025"/>
          </a:xfrm>
          <a:prstGeom prst="rect">
            <a:avLst/>
          </a:prstGeom>
          <a:noFill/>
          <a:ln/>
        </p:spPr>
        <p:txBody>
          <a:bodyPr wrap="square" lIns="0" tIns="0" rIns="0" bIns="0" rtlCol="0" anchor="t"/>
          <a:lstStyle/>
          <a:p>
            <a:pPr marL="0" indent="0" algn="l">
              <a:buNone/>
            </a:pPr>
            <a:r>
              <a:rPr lang="en-US" sz="1350" dirty="0">
                <a:solidFill>
                  <a:srgbClr val="1F2328"/>
                </a:solidFill>
                <a:latin typeface="Arial" pitchFamily="34" charset="0"/>
                <a:ea typeface="Arial" pitchFamily="34" charset="-122"/>
                <a:cs typeface="Arial" pitchFamily="34" charset="-120"/>
              </a:rPr>
              <a:t>Use </a:t>
            </a:r>
            <a:r>
              <a:rPr lang="en-US" sz="1350" b="1" dirty="0">
                <a:solidFill>
                  <a:srgbClr val="1F2328"/>
                </a:solidFill>
                <a:latin typeface="Arial" pitchFamily="34" charset="0"/>
                <a:ea typeface="Arial" pitchFamily="34" charset="-122"/>
                <a:cs typeface="Arial" pitchFamily="34" charset="-120"/>
              </a:rPr>
              <a:t>Plan</a:t>
            </a:r>
            <a:r>
              <a:rPr lang="en-US" sz="1350" dirty="0">
                <a:solidFill>
                  <a:srgbClr val="1F2328"/>
                </a:solidFill>
                <a:latin typeface="Arial" pitchFamily="34" charset="0"/>
                <a:ea typeface="Arial" pitchFamily="34" charset="-122"/>
                <a:cs typeface="Arial" pitchFamily="34" charset="-120"/>
              </a:rPr>
              <a:t> when the task is big or new. Use </a:t>
            </a:r>
            <a:r>
              <a:rPr lang="en-US" sz="1350" b="1" dirty="0">
                <a:solidFill>
                  <a:srgbClr val="1F2328"/>
                </a:solidFill>
                <a:latin typeface="Arial" pitchFamily="34" charset="0"/>
                <a:ea typeface="Arial" pitchFamily="34" charset="-122"/>
                <a:cs typeface="Arial" pitchFamily="34" charset="-120"/>
              </a:rPr>
              <a:t>Autopilot</a:t>
            </a:r>
            <a:r>
              <a:rPr lang="en-US" sz="1350" dirty="0">
                <a:solidFill>
                  <a:srgbClr val="1F2328"/>
                </a:solidFill>
                <a:latin typeface="Arial" pitchFamily="34" charset="0"/>
                <a:ea typeface="Arial" pitchFamily="34" charset="-122"/>
                <a:cs typeface="Arial" pitchFamily="34" charset="-120"/>
              </a:rPr>
              <a:t> when the task is clear.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BF3"/>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LIVE DEMO</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0" y="0"/>
            <a:ext cx="152400" cy="5143500"/>
          </a:xfrm>
          <a:prstGeom prst="rect">
            <a:avLst/>
          </a:prstGeom>
          <a:solidFill>
            <a:srgbClr val="1A7F37"/>
          </a:solidFill>
          <a:ln/>
        </p:spPr>
        <p:txBody>
          <a:bodyPr wrap="square" rtlCol="0" anchor="ctr"/>
          <a:lstStyle/>
          <a:p>
            <a:pPr marL="0" indent="0">
              <a:buNone/>
            </a:pPr>
            <a:endParaRPr lang="en-US" dirty="0"/>
          </a:p>
        </p:txBody>
      </p:sp>
      <p:sp>
        <p:nvSpPr>
          <p:cNvPr id="7" name="Text 3"/>
          <p:cNvSpPr/>
          <p:nvPr/>
        </p:nvSpPr>
        <p:spPr>
          <a:xfrm>
            <a:off x="5910483" y="1219200"/>
            <a:ext cx="2979319" cy="2924175"/>
          </a:xfrm>
          <a:prstGeom prst="rect">
            <a:avLst/>
          </a:prstGeom>
          <a:noFill/>
          <a:ln/>
        </p:spPr>
        <p:txBody>
          <a:bodyPr wrap="square" lIns="0" tIns="0" rIns="0" bIns="0" rtlCol="0" anchor="t"/>
          <a:lstStyle/>
          <a:p>
            <a:pPr marL="0" indent="0" algn="r">
              <a:buNone/>
            </a:pPr>
            <a:r>
              <a:rPr lang="en-US" sz="20000" b="1" dirty="0">
                <a:solidFill>
                  <a:srgbClr val="8CE7A5"/>
                </a:solidFill>
                <a:latin typeface="Arial" pitchFamily="34" charset="0"/>
                <a:ea typeface="Arial" pitchFamily="34" charset="-122"/>
                <a:cs typeface="Arial" pitchFamily="34" charset="-120"/>
              </a:rPr>
              <a:t>4</a:t>
            </a:r>
            <a:endParaRPr lang="en-US" sz="20000" dirty="0"/>
          </a:p>
        </p:txBody>
      </p:sp>
      <p:sp>
        <p:nvSpPr>
          <p:cNvPr id="8" name="Text 4"/>
          <p:cNvSpPr/>
          <p:nvPr/>
        </p:nvSpPr>
        <p:spPr>
          <a:xfrm>
            <a:off x="711101" y="1498550"/>
            <a:ext cx="5440680" cy="171450"/>
          </a:xfrm>
          <a:prstGeom prst="rect">
            <a:avLst/>
          </a:prstGeom>
          <a:noFill/>
          <a:ln/>
        </p:spPr>
        <p:txBody>
          <a:bodyPr wrap="square" lIns="0" tIns="0" rIns="0" bIns="0" rtlCol="0" anchor="t"/>
          <a:lstStyle/>
          <a:p>
            <a:pPr marL="0" indent="0" algn="l">
              <a:buNone/>
            </a:pPr>
            <a:r>
              <a:rPr lang="en-US" sz="1200" b="1" dirty="0">
                <a:solidFill>
                  <a:srgbClr val="1A7F37"/>
                </a:solidFill>
                <a:latin typeface="Arial" pitchFamily="34" charset="0"/>
                <a:ea typeface="Arial" pitchFamily="34" charset="-122"/>
                <a:cs typeface="Arial" pitchFamily="34" charset="-120"/>
              </a:rPr>
              <a:t>LIVE DEMO</a:t>
            </a:r>
            <a:endParaRPr lang="en-US" sz="1200" dirty="0"/>
          </a:p>
        </p:txBody>
      </p:sp>
      <p:sp>
        <p:nvSpPr>
          <p:cNvPr id="9" name="Text 5"/>
          <p:cNvSpPr/>
          <p:nvPr/>
        </p:nvSpPr>
        <p:spPr>
          <a:xfrm>
            <a:off x="711101" y="1777901"/>
            <a:ext cx="5440680" cy="1168003"/>
          </a:xfrm>
          <a:prstGeom prst="rect">
            <a:avLst/>
          </a:prstGeom>
          <a:noFill/>
          <a:ln/>
        </p:spPr>
        <p:txBody>
          <a:bodyPr wrap="square" lIns="0" tIns="0" rIns="0" bIns="0" rtlCol="0" anchor="t"/>
          <a:lstStyle/>
          <a:p>
            <a:pPr marL="0" indent="0" algn="l">
              <a:lnSpc>
                <a:spcPts val="4600"/>
              </a:lnSpc>
              <a:buNone/>
            </a:pPr>
            <a:r>
              <a:rPr lang="en-US" sz="4000" b="1" dirty="0">
                <a:solidFill>
                  <a:srgbClr val="1F2328"/>
                </a:solidFill>
                <a:latin typeface="Arial" pitchFamily="34" charset="0"/>
                <a:ea typeface="Arial" pitchFamily="34" charset="-122"/>
                <a:cs typeface="Arial" pitchFamily="34" charset="-120"/>
              </a:rPr>
              <a:t>Four agents. Starting now.</a:t>
            </a:r>
            <a:endParaRPr lang="en-US" sz="4000" dirty="0"/>
          </a:p>
        </p:txBody>
      </p:sp>
      <p:sp>
        <p:nvSpPr>
          <p:cNvPr id="10" name="Text 6"/>
          <p:cNvSpPr/>
          <p:nvPr/>
        </p:nvSpPr>
        <p:spPr>
          <a:xfrm>
            <a:off x="711101" y="3124200"/>
            <a:ext cx="609600" cy="63401"/>
          </a:xfrm>
          <a:prstGeom prst="rect">
            <a:avLst/>
          </a:prstGeom>
          <a:solidFill>
            <a:srgbClr val="1A7F37"/>
          </a:solidFill>
          <a:ln/>
        </p:spPr>
        <p:txBody>
          <a:bodyPr wrap="square" rtlCol="0" anchor="ctr"/>
          <a:lstStyle/>
          <a:p>
            <a:pPr marL="0" indent="0">
              <a:buNone/>
            </a:pPr>
            <a:endParaRPr lang="en-US" dirty="0"/>
          </a:p>
        </p:txBody>
      </p:sp>
      <p:sp>
        <p:nvSpPr>
          <p:cNvPr id="11" name="Text 7"/>
          <p:cNvSpPr/>
          <p:nvPr/>
        </p:nvSpPr>
        <p:spPr>
          <a:xfrm>
            <a:off x="711101" y="3378101"/>
            <a:ext cx="5181549" cy="548283"/>
          </a:xfrm>
          <a:prstGeom prst="rect">
            <a:avLst/>
          </a:prstGeom>
          <a:noFill/>
          <a:ln/>
        </p:spPr>
        <p:txBody>
          <a:bodyPr wrap="square" lIns="0" tIns="0" rIns="0" bIns="0" rtlCol="0" anchor="t"/>
          <a:lstStyle/>
          <a:p>
            <a:pPr marL="0" indent="0" algn="l">
              <a:lnSpc>
                <a:spcPts val="2160"/>
              </a:lnSpc>
              <a:buNone/>
            </a:pPr>
            <a:r>
              <a:rPr lang="en-US" sz="1600" dirty="0">
                <a:solidFill>
                  <a:srgbClr val="59636E"/>
                </a:solidFill>
                <a:latin typeface="Arial" pitchFamily="34" charset="0"/>
                <a:ea typeface="Arial" pitchFamily="34" charset="-122"/>
                <a:cs typeface="Arial" pitchFamily="34" charset="-120"/>
              </a:rPr>
              <a:t>Watch the sidebar. Each session is a separate agent that works on its own branch.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WHAT THE AGENTS BUILT</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Four results, built at the same time</a:t>
            </a:r>
            <a:endParaRPr lang="en-US" sz="2400" dirty="0"/>
          </a:p>
        </p:txBody>
      </p:sp>
      <p:sp>
        <p:nvSpPr>
          <p:cNvPr id="8" name="Text 4"/>
          <p:cNvSpPr/>
          <p:nvPr/>
        </p:nvSpPr>
        <p:spPr>
          <a:xfrm>
            <a:off x="507950" y="1371600"/>
            <a:ext cx="3981450" cy="1593800"/>
          </a:xfrm>
          <a:prstGeom prst="roundRect">
            <a:avLst>
              <a:gd name="adj" fmla="val 6375"/>
            </a:avLst>
          </a:prstGeom>
          <a:solidFill>
            <a:srgbClr val="FFFFFF"/>
          </a:solidFill>
          <a:ln w="9525">
            <a:solidFill>
              <a:srgbClr val="D0D7DE"/>
            </a:solidFill>
          </a:ln>
        </p:spPr>
        <p:txBody>
          <a:bodyPr wrap="square" rtlCol="0" anchor="ctr"/>
          <a:lstStyle/>
          <a:p>
            <a:pPr marL="0" indent="0">
              <a:buNone/>
            </a:pPr>
            <a:endParaRPr lang="en-US" dirty="0"/>
          </a:p>
        </p:txBody>
      </p:sp>
      <p:pic>
        <p:nvPicPr>
          <p:cNvPr id="9" name="Image 2" descr="website result screenshot"/>
          <p:cNvPicPr>
            <a:picLocks noChangeAspect="1"/>
          </p:cNvPicPr>
          <p:nvPr/>
        </p:nvPicPr>
        <p:blipFill>
          <a:blip r:embed="rId9"/>
          <a:stretch>
            <a:fillRect/>
          </a:stretch>
        </p:blipFill>
        <p:spPr>
          <a:xfrm>
            <a:off x="609600" y="1473101"/>
            <a:ext cx="2438400" cy="1371600"/>
          </a:xfrm>
          <a:prstGeom prst="rect">
            <a:avLst/>
          </a:prstGeom>
        </p:spPr>
      </p:pic>
      <p:sp>
        <p:nvSpPr>
          <p:cNvPr id="10" name="Text 5"/>
          <p:cNvSpPr/>
          <p:nvPr/>
        </p:nvSpPr>
        <p:spPr>
          <a:xfrm>
            <a:off x="3200400" y="1650950"/>
            <a:ext cx="50750" cy="507950"/>
          </a:xfrm>
          <a:prstGeom prst="rect">
            <a:avLst/>
          </a:prstGeom>
          <a:solidFill>
            <a:srgbClr val="0969DA"/>
          </a:solidFill>
          <a:ln/>
        </p:spPr>
        <p:txBody>
          <a:bodyPr wrap="square" rtlCol="0" anchor="ctr"/>
          <a:lstStyle/>
          <a:p>
            <a:pPr marL="0" indent="0">
              <a:buNone/>
            </a:pPr>
            <a:endParaRPr lang="en-US" dirty="0"/>
          </a:p>
        </p:txBody>
      </p:sp>
      <p:sp>
        <p:nvSpPr>
          <p:cNvPr id="11" name="Text 6"/>
          <p:cNvSpPr/>
          <p:nvPr/>
        </p:nvSpPr>
        <p:spPr>
          <a:xfrm>
            <a:off x="3327350" y="1625501"/>
            <a:ext cx="1113943" cy="342900"/>
          </a:xfrm>
          <a:prstGeom prst="rect">
            <a:avLst/>
          </a:prstGeom>
          <a:noFill/>
          <a:ln/>
        </p:spPr>
        <p:txBody>
          <a:bodyPr wrap="square" lIns="0" tIns="0" rIns="0" bIns="0" rtlCol="0" anchor="t"/>
          <a:lstStyle/>
          <a:p>
            <a:pPr marL="0" indent="0" algn="l">
              <a:buNone/>
            </a:pPr>
            <a:r>
              <a:rPr lang="en-US" sz="1200" b="1" dirty="0">
                <a:solidFill>
                  <a:srgbClr val="1F2328"/>
                </a:solidFill>
                <a:latin typeface="Arial" pitchFamily="34" charset="0"/>
                <a:ea typeface="Arial" pitchFamily="34" charset="-122"/>
                <a:cs typeface="Arial" pitchFamily="34" charset="-120"/>
              </a:rPr>
              <a:t>Interactive website</a:t>
            </a:r>
            <a:endParaRPr lang="en-US" sz="1200" dirty="0"/>
          </a:p>
        </p:txBody>
      </p:sp>
      <p:sp>
        <p:nvSpPr>
          <p:cNvPr id="12" name="Text 7"/>
          <p:cNvSpPr/>
          <p:nvPr/>
        </p:nvSpPr>
        <p:spPr>
          <a:xfrm>
            <a:off x="3327350" y="2031950"/>
            <a:ext cx="1113943" cy="26670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Developers and IT managers</a:t>
            </a:r>
            <a:endParaRPr lang="en-US" sz="950" dirty="0"/>
          </a:p>
        </p:txBody>
      </p:sp>
      <p:sp>
        <p:nvSpPr>
          <p:cNvPr id="13" name="Text 8"/>
          <p:cNvSpPr/>
          <p:nvPr/>
        </p:nvSpPr>
        <p:spPr>
          <a:xfrm>
            <a:off x="4622750" y="1371600"/>
            <a:ext cx="3981450" cy="1593800"/>
          </a:xfrm>
          <a:prstGeom prst="roundRect">
            <a:avLst>
              <a:gd name="adj" fmla="val 6375"/>
            </a:avLst>
          </a:prstGeom>
          <a:solidFill>
            <a:srgbClr val="FFFFFF"/>
          </a:solidFill>
          <a:ln w="9525">
            <a:solidFill>
              <a:srgbClr val="D0D7DE"/>
            </a:solidFill>
          </a:ln>
        </p:spPr>
        <p:txBody>
          <a:bodyPr wrap="square" rtlCol="0" anchor="ctr"/>
          <a:lstStyle/>
          <a:p>
            <a:pPr marL="0" indent="0">
              <a:buNone/>
            </a:pPr>
            <a:endParaRPr lang="en-US" dirty="0"/>
          </a:p>
        </p:txBody>
      </p:sp>
      <p:pic>
        <p:nvPicPr>
          <p:cNvPr id="14" name="Image 3" descr="excel result screenshot"/>
          <p:cNvPicPr>
            <a:picLocks noChangeAspect="1"/>
          </p:cNvPicPr>
          <p:nvPr/>
        </p:nvPicPr>
        <p:blipFill>
          <a:blip r:embed="rId13"/>
          <a:stretch>
            <a:fillRect/>
          </a:stretch>
        </p:blipFill>
        <p:spPr>
          <a:xfrm>
            <a:off x="4724400" y="1473101"/>
            <a:ext cx="2438400" cy="1371600"/>
          </a:xfrm>
          <a:prstGeom prst="rect">
            <a:avLst/>
          </a:prstGeom>
        </p:spPr>
      </p:pic>
      <p:sp>
        <p:nvSpPr>
          <p:cNvPr id="15" name="Text 9"/>
          <p:cNvSpPr/>
          <p:nvPr/>
        </p:nvSpPr>
        <p:spPr>
          <a:xfrm>
            <a:off x="7315200" y="1650950"/>
            <a:ext cx="50750" cy="507950"/>
          </a:xfrm>
          <a:prstGeom prst="rect">
            <a:avLst/>
          </a:prstGeom>
          <a:solidFill>
            <a:srgbClr val="1A7F37"/>
          </a:solidFill>
          <a:ln/>
        </p:spPr>
        <p:txBody>
          <a:bodyPr wrap="square" rtlCol="0" anchor="ctr"/>
          <a:lstStyle/>
          <a:p>
            <a:pPr marL="0" indent="0">
              <a:buNone/>
            </a:pPr>
            <a:endParaRPr lang="en-US" dirty="0"/>
          </a:p>
        </p:txBody>
      </p:sp>
      <p:sp>
        <p:nvSpPr>
          <p:cNvPr id="16" name="Text 10"/>
          <p:cNvSpPr/>
          <p:nvPr/>
        </p:nvSpPr>
        <p:spPr>
          <a:xfrm>
            <a:off x="7442150" y="1625501"/>
            <a:ext cx="1113943" cy="342900"/>
          </a:xfrm>
          <a:prstGeom prst="rect">
            <a:avLst/>
          </a:prstGeom>
          <a:noFill/>
          <a:ln/>
        </p:spPr>
        <p:txBody>
          <a:bodyPr wrap="square" lIns="0" tIns="0" rIns="0" bIns="0" rtlCol="0" anchor="t"/>
          <a:lstStyle/>
          <a:p>
            <a:pPr marL="0" indent="0" algn="l">
              <a:buNone/>
            </a:pPr>
            <a:r>
              <a:rPr lang="en-US" sz="1200" b="1" dirty="0">
                <a:solidFill>
                  <a:srgbClr val="1F2328"/>
                </a:solidFill>
                <a:latin typeface="Arial" pitchFamily="34" charset="0"/>
                <a:ea typeface="Arial" pitchFamily="34" charset="-122"/>
                <a:cs typeface="Arial" pitchFamily="34" charset="-120"/>
              </a:rPr>
              <a:t>Excel workbook</a:t>
            </a:r>
            <a:endParaRPr lang="en-US" sz="1200" dirty="0"/>
          </a:p>
        </p:txBody>
      </p:sp>
      <p:sp>
        <p:nvSpPr>
          <p:cNvPr id="17" name="Text 11"/>
          <p:cNvSpPr/>
          <p:nvPr/>
        </p:nvSpPr>
        <p:spPr>
          <a:xfrm>
            <a:off x="7442150" y="2031950"/>
            <a:ext cx="1113943"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Business analysts</a:t>
            </a:r>
            <a:endParaRPr lang="en-US" sz="950" dirty="0"/>
          </a:p>
        </p:txBody>
      </p:sp>
      <p:sp>
        <p:nvSpPr>
          <p:cNvPr id="18" name="Text 12"/>
          <p:cNvSpPr/>
          <p:nvPr/>
        </p:nvSpPr>
        <p:spPr>
          <a:xfrm>
            <a:off x="507950" y="3149501"/>
            <a:ext cx="3981450" cy="1593800"/>
          </a:xfrm>
          <a:prstGeom prst="roundRect">
            <a:avLst>
              <a:gd name="adj" fmla="val 6375"/>
            </a:avLst>
          </a:prstGeom>
          <a:solidFill>
            <a:srgbClr val="FFFFFF"/>
          </a:solidFill>
          <a:ln w="9525">
            <a:solidFill>
              <a:srgbClr val="D0D7DE"/>
            </a:solidFill>
          </a:ln>
        </p:spPr>
        <p:txBody>
          <a:bodyPr wrap="square" rtlCol="0" anchor="ctr"/>
          <a:lstStyle/>
          <a:p>
            <a:pPr marL="0" indent="0">
              <a:buNone/>
            </a:pPr>
            <a:endParaRPr lang="en-US" dirty="0"/>
          </a:p>
        </p:txBody>
      </p:sp>
      <p:pic>
        <p:nvPicPr>
          <p:cNvPr id="19" name="Image 4" descr="briefing result screenshot"/>
          <p:cNvPicPr>
            <a:picLocks noChangeAspect="1"/>
          </p:cNvPicPr>
          <p:nvPr/>
        </p:nvPicPr>
        <p:blipFill>
          <a:blip r:embed="rId11"/>
          <a:stretch>
            <a:fillRect/>
          </a:stretch>
        </p:blipFill>
        <p:spPr>
          <a:xfrm>
            <a:off x="609600" y="3251150"/>
            <a:ext cx="2438400" cy="1371600"/>
          </a:xfrm>
          <a:prstGeom prst="rect">
            <a:avLst/>
          </a:prstGeom>
        </p:spPr>
      </p:pic>
      <p:sp>
        <p:nvSpPr>
          <p:cNvPr id="20" name="Text 13"/>
          <p:cNvSpPr/>
          <p:nvPr/>
        </p:nvSpPr>
        <p:spPr>
          <a:xfrm>
            <a:off x="3200400" y="3429000"/>
            <a:ext cx="50750" cy="507950"/>
          </a:xfrm>
          <a:prstGeom prst="rect">
            <a:avLst/>
          </a:prstGeom>
          <a:solidFill>
            <a:srgbClr val="BC4C00"/>
          </a:solidFill>
          <a:ln/>
        </p:spPr>
        <p:txBody>
          <a:bodyPr wrap="square" rtlCol="0" anchor="ctr"/>
          <a:lstStyle/>
          <a:p>
            <a:pPr marL="0" indent="0">
              <a:buNone/>
            </a:pPr>
            <a:endParaRPr lang="en-US" dirty="0"/>
          </a:p>
        </p:txBody>
      </p:sp>
      <p:sp>
        <p:nvSpPr>
          <p:cNvPr id="21" name="Text 14"/>
          <p:cNvSpPr/>
          <p:nvPr/>
        </p:nvSpPr>
        <p:spPr>
          <a:xfrm>
            <a:off x="3327350" y="3403550"/>
            <a:ext cx="1113943" cy="342900"/>
          </a:xfrm>
          <a:prstGeom prst="rect">
            <a:avLst/>
          </a:prstGeom>
          <a:noFill/>
          <a:ln/>
        </p:spPr>
        <p:txBody>
          <a:bodyPr wrap="square" lIns="0" tIns="0" rIns="0" bIns="0" rtlCol="0" anchor="t"/>
          <a:lstStyle/>
          <a:p>
            <a:pPr marL="0" indent="0" algn="l">
              <a:buNone/>
            </a:pPr>
            <a:r>
              <a:rPr lang="en-US" sz="1200" b="1" dirty="0">
                <a:solidFill>
                  <a:srgbClr val="1F2328"/>
                </a:solidFill>
                <a:latin typeface="Arial" pitchFamily="34" charset="0"/>
                <a:ea typeface="Arial" pitchFamily="34" charset="-122"/>
                <a:cs typeface="Arial" pitchFamily="34" charset="-120"/>
              </a:rPr>
              <a:t>Executive briefing</a:t>
            </a:r>
            <a:endParaRPr lang="en-US" sz="1200" dirty="0"/>
          </a:p>
        </p:txBody>
      </p:sp>
      <p:sp>
        <p:nvSpPr>
          <p:cNvPr id="22" name="Text 15"/>
          <p:cNvSpPr/>
          <p:nvPr/>
        </p:nvSpPr>
        <p:spPr>
          <a:xfrm>
            <a:off x="3327350" y="3810000"/>
            <a:ext cx="1113943" cy="26670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Leaders and project managers</a:t>
            </a:r>
            <a:endParaRPr lang="en-US" sz="950" dirty="0"/>
          </a:p>
        </p:txBody>
      </p:sp>
      <p:sp>
        <p:nvSpPr>
          <p:cNvPr id="23" name="Text 16"/>
          <p:cNvSpPr/>
          <p:nvPr/>
        </p:nvSpPr>
        <p:spPr>
          <a:xfrm>
            <a:off x="4622750" y="3149501"/>
            <a:ext cx="3981450" cy="1593800"/>
          </a:xfrm>
          <a:prstGeom prst="roundRect">
            <a:avLst>
              <a:gd name="adj" fmla="val 6375"/>
            </a:avLst>
          </a:prstGeom>
          <a:solidFill>
            <a:srgbClr val="FFFFFF"/>
          </a:solidFill>
          <a:ln w="9525">
            <a:solidFill>
              <a:srgbClr val="D0D7DE"/>
            </a:solidFill>
          </a:ln>
        </p:spPr>
        <p:txBody>
          <a:bodyPr wrap="square" rtlCol="0" anchor="ctr"/>
          <a:lstStyle/>
          <a:p>
            <a:pPr marL="0" indent="0">
              <a:buNone/>
            </a:pPr>
            <a:endParaRPr lang="en-US" dirty="0"/>
          </a:p>
        </p:txBody>
      </p:sp>
      <p:pic>
        <p:nvPicPr>
          <p:cNvPr id="24" name="Image 5" descr="brief result screenshot"/>
          <p:cNvPicPr>
            <a:picLocks noChangeAspect="1"/>
          </p:cNvPicPr>
          <p:nvPr/>
        </p:nvPicPr>
        <p:blipFill>
          <a:blip r:embed="rId8"/>
          <a:stretch>
            <a:fillRect/>
          </a:stretch>
        </p:blipFill>
        <p:spPr>
          <a:xfrm>
            <a:off x="4724400" y="3251150"/>
            <a:ext cx="2438400" cy="1371600"/>
          </a:xfrm>
          <a:prstGeom prst="rect">
            <a:avLst/>
          </a:prstGeom>
        </p:spPr>
      </p:pic>
      <p:sp>
        <p:nvSpPr>
          <p:cNvPr id="25" name="Text 17"/>
          <p:cNvSpPr/>
          <p:nvPr/>
        </p:nvSpPr>
        <p:spPr>
          <a:xfrm>
            <a:off x="7315200" y="3429000"/>
            <a:ext cx="50750" cy="507950"/>
          </a:xfrm>
          <a:prstGeom prst="rect">
            <a:avLst/>
          </a:prstGeom>
          <a:solidFill>
            <a:srgbClr val="8250DF"/>
          </a:solidFill>
          <a:ln/>
        </p:spPr>
        <p:txBody>
          <a:bodyPr wrap="square" rtlCol="0" anchor="ctr"/>
          <a:lstStyle/>
          <a:p>
            <a:pPr marL="0" indent="0">
              <a:buNone/>
            </a:pPr>
            <a:endParaRPr lang="en-US" dirty="0"/>
          </a:p>
        </p:txBody>
      </p:sp>
      <p:sp>
        <p:nvSpPr>
          <p:cNvPr id="26" name="Text 18"/>
          <p:cNvSpPr/>
          <p:nvPr/>
        </p:nvSpPr>
        <p:spPr>
          <a:xfrm>
            <a:off x="7442150" y="3403550"/>
            <a:ext cx="1113943" cy="171450"/>
          </a:xfrm>
          <a:prstGeom prst="rect">
            <a:avLst/>
          </a:prstGeom>
          <a:noFill/>
          <a:ln/>
        </p:spPr>
        <p:txBody>
          <a:bodyPr wrap="square" lIns="0" tIns="0" rIns="0" bIns="0" rtlCol="0" anchor="t"/>
          <a:lstStyle/>
          <a:p>
            <a:pPr marL="0" indent="0" algn="l">
              <a:buNone/>
            </a:pPr>
            <a:r>
              <a:rPr lang="en-US" sz="1200" b="1" dirty="0">
                <a:solidFill>
                  <a:srgbClr val="1F2328"/>
                </a:solidFill>
                <a:latin typeface="Arial" pitchFamily="34" charset="0"/>
                <a:ea typeface="Arial" pitchFamily="34" charset="-122"/>
                <a:cs typeface="Arial" pitchFamily="34" charset="-120"/>
              </a:rPr>
              <a:t>Session brief</a:t>
            </a:r>
            <a:endParaRPr lang="en-US" sz="1200" dirty="0"/>
          </a:p>
        </p:txBody>
      </p:sp>
      <p:sp>
        <p:nvSpPr>
          <p:cNvPr id="27" name="Text 19"/>
          <p:cNvSpPr/>
          <p:nvPr/>
        </p:nvSpPr>
        <p:spPr>
          <a:xfrm>
            <a:off x="7442150" y="3810000"/>
            <a:ext cx="1113943" cy="133350"/>
          </a:xfrm>
          <a:prstGeom prst="rect">
            <a:avLst/>
          </a:prstGeom>
          <a:noFill/>
          <a:ln/>
        </p:spPr>
        <p:txBody>
          <a:bodyPr wrap="square" lIns="0" tIns="0" rIns="0" bIns="0" rtlCol="0" anchor="t"/>
          <a:lstStyle/>
          <a:p>
            <a:pPr marL="0" indent="0" algn="l">
              <a:buNone/>
            </a:pPr>
            <a:r>
              <a:rPr lang="en-US" sz="950" dirty="0">
                <a:solidFill>
                  <a:srgbClr val="59636E"/>
                </a:solidFill>
                <a:latin typeface="Arial" pitchFamily="34" charset="0"/>
                <a:ea typeface="Arial" pitchFamily="34" charset="-122"/>
                <a:cs typeface="Arial" pitchFamily="34" charset="-120"/>
              </a:rPr>
              <a:t>Project managers</a:t>
            </a:r>
            <a:endParaRPr lang="en-US" sz="950" dirty="0"/>
          </a:p>
        </p:txBody>
      </p:sp>
      <p:pic>
        <p:nvPicPr>
          <p:cNvPr id="28" name="Live site QR" descr="QR code for the live U.S. Housing Market Explorer site"/>
          <p:cNvPicPr>
            <a:picLocks noChangeAspect="1"/>
          </p:cNvPicPr>
          <p:nvPr/>
        </p:nvPicPr>
        <p:blipFill>
          <a:blip r:embed="rId12"/>
          <a:stretch>
            <a:fillRect/>
          </a:stretch>
        </p:blipFill>
        <p:spPr>
          <a:xfrm>
            <a:off x="8001000" y="584200"/>
            <a:ext cx="635000" cy="635000"/>
          </a:xfrm>
          <a:prstGeom prst="rect">
            <a:avLst/>
          </a:prstGeom>
        </p:spPr>
      </p:pic>
      <p:sp>
        <p:nvSpPr>
          <p:cNvPr id="29" name="Live site QR caption"/>
          <p:cNvSpPr txBox="1"/>
          <p:nvPr/>
        </p:nvSpPr>
        <p:spPr>
          <a:xfrm>
            <a:off x="5969000" y="736600"/>
            <a:ext cx="1930400" cy="381000"/>
          </a:xfrm>
          <a:prstGeom prst="rect">
            <a:avLst/>
          </a:prstGeom>
          <a:noFill/>
        </p:spPr>
        <p:txBody>
          <a:bodyPr wrap="square">
            <a:spAutoFit/>
          </a:bodyPr>
          <a:lstStyle/>
          <a:p>
            <a:pPr algn="r"/>
            <a:r>
              <a:rPr sz="900" b="1">
                <a:solidFill>
                  <a:srgbClr val="1F2328"/>
                </a:solidFill>
                <a:latin typeface="Arial"/>
              </a:rPr>
              <a:t>Scan to open the live site</a:t>
            </a:r>
          </a:p>
          <a:p>
            <a:pPr algn="r"/>
            <a:r>
              <a:rPr sz="800" b="0">
                <a:solidFill>
                  <a:srgbClr val="59636E"/>
                </a:solidFill>
                <a:latin typeface="Arial"/>
              </a:rPr>
              <a:t>Works on your phone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0969DA"/>
                </a:solidFill>
                <a:latin typeface="Arial" pitchFamily="34" charset="0"/>
                <a:ea typeface="Arial" pitchFamily="34" charset="-122"/>
                <a:cs typeface="Arial" pitchFamily="34" charset="-120"/>
              </a:rPr>
              <a:t>TRUST AND CONTROL</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You stay in control</a:t>
            </a:r>
            <a:endParaRPr lang="en-US" sz="2400" dirty="0"/>
          </a:p>
        </p:txBody>
      </p:sp>
      <p:sp>
        <p:nvSpPr>
          <p:cNvPr id="8" name="Text 4"/>
          <p:cNvSpPr/>
          <p:nvPr/>
        </p:nvSpPr>
        <p:spPr>
          <a:xfrm>
            <a:off x="507950" y="1422350"/>
            <a:ext cx="3981450" cy="1314450"/>
          </a:xfrm>
          <a:prstGeom prst="roundRect">
            <a:avLst>
              <a:gd name="adj" fmla="val 7729"/>
            </a:avLst>
          </a:prstGeom>
          <a:solidFill>
            <a:srgbClr val="FFFFFF"/>
          </a:solidFill>
          <a:ln w="9525">
            <a:solidFill>
              <a:srgbClr val="D0D7DE"/>
            </a:solidFill>
          </a:ln>
        </p:spPr>
        <p:txBody>
          <a:bodyPr wrap="square" rtlCol="0" anchor="ctr"/>
          <a:lstStyle/>
          <a:p>
            <a:pPr marL="0" indent="0">
              <a:buNone/>
            </a:pPr>
            <a:endParaRPr lang="en-US" dirty="0"/>
          </a:p>
        </p:txBody>
      </p:sp>
      <p:sp>
        <p:nvSpPr>
          <p:cNvPr id="9" name="Text 5"/>
          <p:cNvSpPr/>
          <p:nvPr/>
        </p:nvSpPr>
        <p:spPr>
          <a:xfrm>
            <a:off x="736550" y="1701701"/>
            <a:ext cx="685800" cy="685800"/>
          </a:xfrm>
          <a:prstGeom prst="roundRect">
            <a:avLst>
              <a:gd name="adj" fmla="val 22222"/>
            </a:avLst>
          </a:prstGeom>
          <a:solidFill>
            <a:srgbClr val="FBEFFF"/>
          </a:solidFill>
          <a:ln/>
        </p:spPr>
        <p:txBody>
          <a:bodyPr wrap="square" rtlCol="0" anchor="ctr"/>
          <a:lstStyle/>
          <a:p>
            <a:pPr marL="0" indent="0">
              <a:buNone/>
            </a:pPr>
            <a:endParaRPr lang="en-US" dirty="0"/>
          </a:p>
        </p:txBody>
      </p:sp>
      <p:pic>
        <p:nvPicPr>
          <p:cNvPr id="10" name="Image 2" descr="/Users/danwahlin/.copilot/session-state/e7427b9a-9d65-4aa2-953c-14cedea46cbc/files/talkdeck/assets/icons/GoChecklist-8250DF.png"/>
          <p:cNvPicPr>
            <a:picLocks noChangeAspect="1"/>
          </p:cNvPicPr>
          <p:nvPr/>
        </p:nvPicPr>
        <p:blipFill>
          <a:blip r:embed="rId5"/>
          <a:stretch>
            <a:fillRect/>
          </a:stretch>
        </p:blipFill>
        <p:spPr>
          <a:xfrm>
            <a:off x="908000" y="1873151"/>
            <a:ext cx="342900" cy="342900"/>
          </a:xfrm>
          <a:prstGeom prst="rect">
            <a:avLst/>
          </a:prstGeom>
        </p:spPr>
      </p:pic>
      <p:sp>
        <p:nvSpPr>
          <p:cNvPr id="11" name="Text 6"/>
          <p:cNvSpPr/>
          <p:nvPr/>
        </p:nvSpPr>
        <p:spPr>
          <a:xfrm>
            <a:off x="1650950" y="1727150"/>
            <a:ext cx="2668423"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Plan before work</a:t>
            </a:r>
            <a:endParaRPr lang="en-US" sz="1500" dirty="0"/>
          </a:p>
        </p:txBody>
      </p:sp>
      <p:sp>
        <p:nvSpPr>
          <p:cNvPr id="12" name="Text 7"/>
          <p:cNvSpPr/>
          <p:nvPr/>
        </p:nvSpPr>
        <p:spPr>
          <a:xfrm>
            <a:off x="1650950" y="2031950"/>
            <a:ext cx="2668423" cy="363141"/>
          </a:xfrm>
          <a:prstGeom prst="rect">
            <a:avLst/>
          </a:prstGeom>
          <a:noFill/>
          <a:ln/>
        </p:spPr>
        <p:txBody>
          <a:bodyPr wrap="square" lIns="0" tIns="0" rIns="0" bIns="0" rtlCol="0" anchor="t"/>
          <a:lstStyle/>
          <a:p>
            <a:pPr marL="0" indent="0" algn="l">
              <a:lnSpc>
                <a:spcPts val="1430"/>
              </a:lnSpc>
              <a:buNone/>
            </a:pPr>
            <a:r>
              <a:rPr lang="en-US" sz="1100" dirty="0">
                <a:solidFill>
                  <a:srgbClr val="59636E"/>
                </a:solidFill>
                <a:latin typeface="Arial" pitchFamily="34" charset="0"/>
                <a:ea typeface="Arial" pitchFamily="34" charset="-122"/>
                <a:cs typeface="Arial" pitchFamily="34" charset="-120"/>
              </a:rPr>
              <a:t>Read the plan before the agent changes anything.</a:t>
            </a:r>
            <a:endParaRPr lang="en-US" sz="1100" dirty="0"/>
          </a:p>
        </p:txBody>
      </p:sp>
      <p:sp>
        <p:nvSpPr>
          <p:cNvPr id="13" name="Text 8"/>
          <p:cNvSpPr/>
          <p:nvPr/>
        </p:nvSpPr>
        <p:spPr>
          <a:xfrm>
            <a:off x="4622750" y="1422350"/>
            <a:ext cx="3981450" cy="1314450"/>
          </a:xfrm>
          <a:prstGeom prst="roundRect">
            <a:avLst>
              <a:gd name="adj" fmla="val 7729"/>
            </a:avLst>
          </a:prstGeom>
          <a:solidFill>
            <a:srgbClr val="FFFFFF"/>
          </a:solidFill>
          <a:ln w="9525">
            <a:solidFill>
              <a:srgbClr val="D0D7DE"/>
            </a:solidFill>
          </a:ln>
        </p:spPr>
        <p:txBody>
          <a:bodyPr wrap="square" rtlCol="0" anchor="ctr"/>
          <a:lstStyle/>
          <a:p>
            <a:pPr marL="0" indent="0">
              <a:buNone/>
            </a:pPr>
            <a:endParaRPr lang="en-US" dirty="0"/>
          </a:p>
        </p:txBody>
      </p:sp>
      <p:sp>
        <p:nvSpPr>
          <p:cNvPr id="14" name="Text 9"/>
          <p:cNvSpPr/>
          <p:nvPr/>
        </p:nvSpPr>
        <p:spPr>
          <a:xfrm>
            <a:off x="4851350" y="1701701"/>
            <a:ext cx="685800" cy="685800"/>
          </a:xfrm>
          <a:prstGeom prst="roundRect">
            <a:avLst>
              <a:gd name="adj" fmla="val 22222"/>
            </a:avLst>
          </a:prstGeom>
          <a:solidFill>
            <a:srgbClr val="DDF4FF"/>
          </a:solidFill>
          <a:ln/>
        </p:spPr>
        <p:txBody>
          <a:bodyPr wrap="square" rtlCol="0" anchor="ctr"/>
          <a:lstStyle/>
          <a:p>
            <a:pPr marL="0" indent="0">
              <a:buNone/>
            </a:pPr>
            <a:endParaRPr lang="en-US" dirty="0"/>
          </a:p>
        </p:txBody>
      </p:sp>
      <p:pic>
        <p:nvPicPr>
          <p:cNvPr id="15" name="Image 3" descr="/Users/danwahlin/.copilot/session-state/e7427b9a-9d65-4aa2-953c-14cedea46cbc/files/talkdeck/assets/icons/GoGitBranch-0969DA.png"/>
          <p:cNvPicPr>
            <a:picLocks noChangeAspect="1"/>
          </p:cNvPicPr>
          <p:nvPr/>
        </p:nvPicPr>
        <p:blipFill>
          <a:blip r:embed="rId6"/>
          <a:stretch>
            <a:fillRect/>
          </a:stretch>
        </p:blipFill>
        <p:spPr>
          <a:xfrm>
            <a:off x="5022800" y="1873151"/>
            <a:ext cx="342900" cy="342900"/>
          </a:xfrm>
          <a:prstGeom prst="rect">
            <a:avLst/>
          </a:prstGeom>
        </p:spPr>
      </p:pic>
      <p:sp>
        <p:nvSpPr>
          <p:cNvPr id="16" name="Text 10"/>
          <p:cNvSpPr/>
          <p:nvPr/>
        </p:nvSpPr>
        <p:spPr>
          <a:xfrm>
            <a:off x="5765750" y="1727150"/>
            <a:ext cx="2668423"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Isolated worktrees</a:t>
            </a:r>
            <a:endParaRPr lang="en-US" sz="1500" dirty="0"/>
          </a:p>
        </p:txBody>
      </p:sp>
      <p:sp>
        <p:nvSpPr>
          <p:cNvPr id="17" name="Text 11"/>
          <p:cNvSpPr/>
          <p:nvPr/>
        </p:nvSpPr>
        <p:spPr>
          <a:xfrm>
            <a:off x="5765750" y="2031950"/>
            <a:ext cx="2668423" cy="363141"/>
          </a:xfrm>
          <a:prstGeom prst="rect">
            <a:avLst/>
          </a:prstGeom>
          <a:noFill/>
          <a:ln/>
        </p:spPr>
        <p:txBody>
          <a:bodyPr wrap="square" lIns="0" tIns="0" rIns="0" bIns="0" rtlCol="0" anchor="t"/>
          <a:lstStyle/>
          <a:p>
            <a:pPr marL="0" indent="0" algn="l">
              <a:lnSpc>
                <a:spcPts val="1430"/>
              </a:lnSpc>
              <a:buNone/>
            </a:pPr>
            <a:r>
              <a:rPr lang="en-US" sz="1100" dirty="0">
                <a:solidFill>
                  <a:srgbClr val="59636E"/>
                </a:solidFill>
                <a:latin typeface="Arial" pitchFamily="34" charset="0"/>
                <a:ea typeface="Arial" pitchFamily="34" charset="-122"/>
                <a:cs typeface="Arial" pitchFamily="34" charset="-120"/>
              </a:rPr>
              <a:t>Each agent works on its own branch, so agents do not collide.</a:t>
            </a:r>
            <a:endParaRPr lang="en-US" sz="1100" dirty="0"/>
          </a:p>
        </p:txBody>
      </p:sp>
      <p:sp>
        <p:nvSpPr>
          <p:cNvPr id="18" name="Text 12"/>
          <p:cNvSpPr/>
          <p:nvPr/>
        </p:nvSpPr>
        <p:spPr>
          <a:xfrm>
            <a:off x="507950" y="2895600"/>
            <a:ext cx="3981450" cy="1314450"/>
          </a:xfrm>
          <a:prstGeom prst="roundRect">
            <a:avLst>
              <a:gd name="adj" fmla="val 7729"/>
            </a:avLst>
          </a:prstGeom>
          <a:solidFill>
            <a:srgbClr val="FFFFFF"/>
          </a:solidFill>
          <a:ln w="9525">
            <a:solidFill>
              <a:srgbClr val="D0D7DE"/>
            </a:solidFill>
          </a:ln>
        </p:spPr>
        <p:txBody>
          <a:bodyPr wrap="square" rtlCol="0" anchor="ctr"/>
          <a:lstStyle/>
          <a:p>
            <a:pPr marL="0" indent="0">
              <a:buNone/>
            </a:pPr>
            <a:endParaRPr lang="en-US" dirty="0"/>
          </a:p>
        </p:txBody>
      </p:sp>
      <p:sp>
        <p:nvSpPr>
          <p:cNvPr id="19" name="Text 13"/>
          <p:cNvSpPr/>
          <p:nvPr/>
        </p:nvSpPr>
        <p:spPr>
          <a:xfrm>
            <a:off x="736550" y="3174950"/>
            <a:ext cx="685800" cy="685800"/>
          </a:xfrm>
          <a:prstGeom prst="roundRect">
            <a:avLst>
              <a:gd name="adj" fmla="val 22222"/>
            </a:avLst>
          </a:prstGeom>
          <a:solidFill>
            <a:srgbClr val="FFF1E5"/>
          </a:solidFill>
          <a:ln/>
        </p:spPr>
        <p:txBody>
          <a:bodyPr wrap="square" rtlCol="0" anchor="ctr"/>
          <a:lstStyle/>
          <a:p>
            <a:pPr marL="0" indent="0">
              <a:buNone/>
            </a:pPr>
            <a:endParaRPr lang="en-US" dirty="0"/>
          </a:p>
        </p:txBody>
      </p:sp>
      <p:pic>
        <p:nvPicPr>
          <p:cNvPr id="20" name="Image 4" descr="/Users/danwahlin/.copilot/session-state/e7427b9a-9d65-4aa2-953c-14cedea46cbc/files/talkdeck/assets/icons/GoShieldCheck-BC4C00.png"/>
          <p:cNvPicPr>
            <a:picLocks noChangeAspect="1"/>
          </p:cNvPicPr>
          <p:nvPr/>
        </p:nvPicPr>
        <p:blipFill>
          <a:blip r:embed="rId7"/>
          <a:stretch>
            <a:fillRect/>
          </a:stretch>
        </p:blipFill>
        <p:spPr>
          <a:xfrm>
            <a:off x="908000" y="3346400"/>
            <a:ext cx="342900" cy="342900"/>
          </a:xfrm>
          <a:prstGeom prst="rect">
            <a:avLst/>
          </a:prstGeom>
        </p:spPr>
      </p:pic>
      <p:sp>
        <p:nvSpPr>
          <p:cNvPr id="21" name="Text 14"/>
          <p:cNvSpPr/>
          <p:nvPr/>
        </p:nvSpPr>
        <p:spPr>
          <a:xfrm>
            <a:off x="1650950" y="3200400"/>
            <a:ext cx="2668423"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Tool permissions</a:t>
            </a:r>
            <a:endParaRPr lang="en-US" sz="1500" dirty="0"/>
          </a:p>
        </p:txBody>
      </p:sp>
      <p:sp>
        <p:nvSpPr>
          <p:cNvPr id="22" name="Text 15"/>
          <p:cNvSpPr/>
          <p:nvPr/>
        </p:nvSpPr>
        <p:spPr>
          <a:xfrm>
            <a:off x="1650950" y="3505200"/>
            <a:ext cx="2668423" cy="363141"/>
          </a:xfrm>
          <a:prstGeom prst="rect">
            <a:avLst/>
          </a:prstGeom>
          <a:noFill/>
          <a:ln/>
        </p:spPr>
        <p:txBody>
          <a:bodyPr wrap="square" lIns="0" tIns="0" rIns="0" bIns="0" rtlCol="0" anchor="t"/>
          <a:lstStyle/>
          <a:p>
            <a:pPr marL="0" indent="0" algn="l">
              <a:lnSpc>
                <a:spcPts val="1430"/>
              </a:lnSpc>
              <a:buNone/>
            </a:pPr>
            <a:r>
              <a:rPr lang="en-US" sz="1100" dirty="0">
                <a:solidFill>
                  <a:srgbClr val="59636E"/>
                </a:solidFill>
                <a:latin typeface="Arial" pitchFamily="34" charset="0"/>
                <a:ea typeface="Arial" pitchFamily="34" charset="-122"/>
                <a:cs typeface="Arial" pitchFamily="34" charset="-120"/>
              </a:rPr>
              <a:t>Choose when the agent must ask before it runs a tool.</a:t>
            </a:r>
            <a:endParaRPr lang="en-US" sz="1100" dirty="0"/>
          </a:p>
        </p:txBody>
      </p:sp>
      <p:sp>
        <p:nvSpPr>
          <p:cNvPr id="23" name="Text 16"/>
          <p:cNvSpPr/>
          <p:nvPr/>
        </p:nvSpPr>
        <p:spPr>
          <a:xfrm>
            <a:off x="4622750" y="2895600"/>
            <a:ext cx="3981450" cy="1314450"/>
          </a:xfrm>
          <a:prstGeom prst="roundRect">
            <a:avLst>
              <a:gd name="adj" fmla="val 7729"/>
            </a:avLst>
          </a:prstGeom>
          <a:solidFill>
            <a:srgbClr val="FFFFFF"/>
          </a:solidFill>
          <a:ln w="9525">
            <a:solidFill>
              <a:srgbClr val="D0D7DE"/>
            </a:solidFill>
          </a:ln>
        </p:spPr>
        <p:txBody>
          <a:bodyPr wrap="square" rtlCol="0" anchor="ctr"/>
          <a:lstStyle/>
          <a:p>
            <a:pPr marL="0" indent="0">
              <a:buNone/>
            </a:pPr>
            <a:endParaRPr lang="en-US" dirty="0"/>
          </a:p>
        </p:txBody>
      </p:sp>
      <p:sp>
        <p:nvSpPr>
          <p:cNvPr id="24" name="Text 17"/>
          <p:cNvSpPr/>
          <p:nvPr/>
        </p:nvSpPr>
        <p:spPr>
          <a:xfrm>
            <a:off x="4851350" y="3174950"/>
            <a:ext cx="685800" cy="685800"/>
          </a:xfrm>
          <a:prstGeom prst="roundRect">
            <a:avLst>
              <a:gd name="adj" fmla="val 22222"/>
            </a:avLst>
          </a:prstGeom>
          <a:solidFill>
            <a:srgbClr val="DAFBE1"/>
          </a:solidFill>
          <a:ln/>
        </p:spPr>
        <p:txBody>
          <a:bodyPr wrap="square" rtlCol="0" anchor="ctr"/>
          <a:lstStyle/>
          <a:p>
            <a:pPr marL="0" indent="0">
              <a:buNone/>
            </a:pPr>
            <a:endParaRPr lang="en-US" dirty="0"/>
          </a:p>
        </p:txBody>
      </p:sp>
      <p:pic>
        <p:nvPicPr>
          <p:cNvPr id="25" name="Image 5" descr="/Users/danwahlin/.copilot/session-state/e7427b9a-9d65-4aa2-953c-14cedea46cbc/files/talkdeck/assets/icons/GoGitPullRequest-1A7F37.png"/>
          <p:cNvPicPr>
            <a:picLocks noChangeAspect="1"/>
          </p:cNvPicPr>
          <p:nvPr/>
        </p:nvPicPr>
        <p:blipFill>
          <a:blip r:embed="rId8"/>
          <a:stretch>
            <a:fillRect/>
          </a:stretch>
        </p:blipFill>
        <p:spPr>
          <a:xfrm>
            <a:off x="5022800" y="3346400"/>
            <a:ext cx="342900" cy="342900"/>
          </a:xfrm>
          <a:prstGeom prst="rect">
            <a:avLst/>
          </a:prstGeom>
        </p:spPr>
      </p:pic>
      <p:sp>
        <p:nvSpPr>
          <p:cNvPr id="26" name="Text 18"/>
          <p:cNvSpPr/>
          <p:nvPr/>
        </p:nvSpPr>
        <p:spPr>
          <a:xfrm>
            <a:off x="5765750" y="3200400"/>
            <a:ext cx="2668423" cy="219075"/>
          </a:xfrm>
          <a:prstGeom prst="rect">
            <a:avLst/>
          </a:prstGeom>
          <a:noFill/>
          <a:ln/>
        </p:spPr>
        <p:txBody>
          <a:bodyPr wrap="square" lIns="0" tIns="0" rIns="0" bIns="0" rtlCol="0" anchor="t"/>
          <a:lstStyle/>
          <a:p>
            <a:pPr marL="0" indent="0" algn="l">
              <a:buNone/>
            </a:pPr>
            <a:r>
              <a:rPr lang="en-US" sz="1500" b="1" dirty="0">
                <a:solidFill>
                  <a:srgbClr val="1F2328"/>
                </a:solidFill>
                <a:latin typeface="Arial" pitchFamily="34" charset="0"/>
                <a:ea typeface="Arial" pitchFamily="34" charset="-122"/>
                <a:cs typeface="Arial" pitchFamily="34" charset="-120"/>
              </a:rPr>
              <a:t>Review before you accept</a:t>
            </a:r>
            <a:endParaRPr lang="en-US" sz="1500" dirty="0"/>
          </a:p>
        </p:txBody>
      </p:sp>
      <p:sp>
        <p:nvSpPr>
          <p:cNvPr id="27" name="Text 19"/>
          <p:cNvSpPr/>
          <p:nvPr/>
        </p:nvSpPr>
        <p:spPr>
          <a:xfrm>
            <a:off x="5765750" y="3505200"/>
            <a:ext cx="2668423" cy="363141"/>
          </a:xfrm>
          <a:prstGeom prst="rect">
            <a:avLst/>
          </a:prstGeom>
          <a:noFill/>
          <a:ln/>
        </p:spPr>
        <p:txBody>
          <a:bodyPr wrap="square" lIns="0" tIns="0" rIns="0" bIns="0" rtlCol="0" anchor="t"/>
          <a:lstStyle/>
          <a:p>
            <a:pPr marL="0" indent="0" algn="l">
              <a:lnSpc>
                <a:spcPts val="1430"/>
              </a:lnSpc>
              <a:buNone/>
            </a:pPr>
            <a:r>
              <a:rPr lang="en-US" sz="1100" dirty="0">
                <a:solidFill>
                  <a:srgbClr val="59636E"/>
                </a:solidFill>
                <a:latin typeface="Arial" pitchFamily="34" charset="0"/>
                <a:ea typeface="Arial" pitchFamily="34" charset="-122"/>
                <a:cs typeface="Arial" pitchFamily="34" charset="-120"/>
              </a:rPr>
              <a:t>Check diffs, previews, and files. Then merge.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0" y="0"/>
            <a:ext cx="152400" cy="5143500"/>
          </a:xfrm>
          <a:prstGeom prst="rect">
            <a:avLst/>
          </a:prstGeom>
          <a:solidFill>
            <a:srgbClr val="8250DF"/>
          </a:solidFill>
          <a:ln/>
        </p:spPr>
        <p:txBody>
          <a:bodyPr wrap="square" rtlCol="0" anchor="ctr"/>
          <a:lstStyle/>
          <a:p>
            <a:pPr marL="0" indent="0">
              <a:buNone/>
            </a:pPr>
            <a:endParaRPr lang="en-US" dirty="0"/>
          </a:p>
        </p:txBody>
      </p:sp>
      <p:pic>
        <p:nvPicPr>
          <p:cNvPr id="7" name="Image 2" descr="/Users/danwahlin/.copilot/session-state/e7427b9a-9d65-4aa2-953c-14cedea46cbc/files/talkdeck/assets/icons/GoQuote-8250DF.png"/>
          <p:cNvPicPr>
            <a:picLocks noChangeAspect="1"/>
          </p:cNvPicPr>
          <p:nvPr/>
        </p:nvPicPr>
        <p:blipFill>
          <a:blip r:embed="rId5"/>
          <a:stretch>
            <a:fillRect/>
          </a:stretch>
        </p:blipFill>
        <p:spPr>
          <a:xfrm>
            <a:off x="888950" y="1015901"/>
            <a:ext cx="685800" cy="685800"/>
          </a:xfrm>
          <a:prstGeom prst="rect">
            <a:avLst/>
          </a:prstGeom>
        </p:spPr>
      </p:pic>
      <p:sp>
        <p:nvSpPr>
          <p:cNvPr id="8" name="Text 3"/>
          <p:cNvSpPr/>
          <p:nvPr/>
        </p:nvSpPr>
        <p:spPr>
          <a:xfrm>
            <a:off x="888950" y="1905000"/>
            <a:ext cx="7254139" cy="1036141"/>
          </a:xfrm>
          <a:prstGeom prst="rect">
            <a:avLst/>
          </a:prstGeom>
          <a:noFill/>
          <a:ln/>
        </p:spPr>
        <p:txBody>
          <a:bodyPr wrap="square" lIns="0" tIns="0" rIns="0" bIns="0" rtlCol="0" anchor="t"/>
          <a:lstStyle/>
          <a:p>
            <a:pPr marL="0" indent="0" algn="l">
              <a:lnSpc>
                <a:spcPts val="4080"/>
              </a:lnSpc>
              <a:buNone/>
            </a:pPr>
            <a:r>
              <a:rPr lang="en-US" sz="3400" b="1" dirty="0">
                <a:solidFill>
                  <a:srgbClr val="1F2328"/>
                </a:solidFill>
                <a:latin typeface="Arial" pitchFamily="34" charset="0"/>
                <a:ea typeface="Arial" pitchFamily="34" charset="-122"/>
                <a:cs typeface="Arial" pitchFamily="34" charset="-120"/>
              </a:rPr>
              <a:t>“The best way to predict the future is to invent it.”</a:t>
            </a:r>
            <a:endParaRPr lang="en-US" sz="3400" dirty="0"/>
          </a:p>
        </p:txBody>
      </p:sp>
      <p:sp>
        <p:nvSpPr>
          <p:cNvPr id="9" name="Text 4"/>
          <p:cNvSpPr/>
          <p:nvPr/>
        </p:nvSpPr>
        <p:spPr>
          <a:xfrm>
            <a:off x="888950" y="3403550"/>
            <a:ext cx="609600" cy="50750"/>
          </a:xfrm>
          <a:prstGeom prst="rect">
            <a:avLst/>
          </a:prstGeom>
          <a:solidFill>
            <a:srgbClr val="8250DF"/>
          </a:solidFill>
          <a:ln/>
        </p:spPr>
        <p:txBody>
          <a:bodyPr wrap="square" rtlCol="0" anchor="ctr"/>
          <a:lstStyle/>
          <a:p>
            <a:pPr marL="0" indent="0">
              <a:buNone/>
            </a:pPr>
            <a:endParaRPr lang="en-US" dirty="0"/>
          </a:p>
        </p:txBody>
      </p:sp>
      <p:sp>
        <p:nvSpPr>
          <p:cNvPr id="10" name="Text 5"/>
          <p:cNvSpPr/>
          <p:nvPr/>
        </p:nvSpPr>
        <p:spPr>
          <a:xfrm>
            <a:off x="888950" y="3632150"/>
            <a:ext cx="7254139" cy="238125"/>
          </a:xfrm>
          <a:prstGeom prst="rect">
            <a:avLst/>
          </a:prstGeom>
          <a:noFill/>
          <a:ln/>
        </p:spPr>
        <p:txBody>
          <a:bodyPr wrap="square" lIns="0" tIns="0" rIns="0" bIns="0" rtlCol="0" anchor="t"/>
          <a:lstStyle/>
          <a:p>
            <a:pPr marL="0" indent="0" algn="l">
              <a:buNone/>
            </a:pPr>
            <a:r>
              <a:rPr lang="en-US" sz="1600" b="1" dirty="0">
                <a:solidFill>
                  <a:srgbClr val="1F2328"/>
                </a:solidFill>
                <a:latin typeface="Arial" pitchFamily="34" charset="0"/>
                <a:ea typeface="Arial" pitchFamily="34" charset="-122"/>
                <a:cs typeface="Arial" pitchFamily="34" charset="-120"/>
              </a:rPr>
              <a:t>Alan Kay</a:t>
            </a:r>
            <a:endParaRPr lang="en-US" sz="1600" dirty="0"/>
          </a:p>
        </p:txBody>
      </p:sp>
      <p:sp>
        <p:nvSpPr>
          <p:cNvPr id="11" name="Text 6"/>
          <p:cNvSpPr/>
          <p:nvPr/>
        </p:nvSpPr>
        <p:spPr>
          <a:xfrm>
            <a:off x="888950" y="3911501"/>
            <a:ext cx="7254139" cy="200025"/>
          </a:xfrm>
          <a:prstGeom prst="rect">
            <a:avLst/>
          </a:prstGeom>
          <a:noFill/>
          <a:ln/>
        </p:spPr>
        <p:txBody>
          <a:bodyPr wrap="square" lIns="0" tIns="0" rIns="0" bIns="0" rtlCol="0" anchor="t"/>
          <a:lstStyle/>
          <a:p>
            <a:pPr marL="0" indent="0" algn="l">
              <a:buNone/>
            </a:pPr>
            <a:r>
              <a:rPr lang="en-US" sz="1300" dirty="0">
                <a:solidFill>
                  <a:srgbClr val="59636E"/>
                </a:solidFill>
                <a:latin typeface="Arial" pitchFamily="34" charset="0"/>
                <a:ea typeface="Arial" pitchFamily="34" charset="-122"/>
                <a:cs typeface="Arial" pitchFamily="34" charset="-120"/>
              </a:rPr>
              <a:t>Computer scientist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corner.png"/>
          <p:cNvPicPr>
            <a:picLocks noChangeAspect="1"/>
          </p:cNvPicPr>
          <p:nvPr/>
        </p:nvPicPr>
        <p:blipFill>
          <a:blip r:embed="rId3"/>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50009"/>
            </a:avLst>
          </a:prstGeom>
          <a:solidFill>
            <a:srgbClr val="1A7F37"/>
          </a:solidFill>
          <a:ln/>
        </p:spPr>
        <p:txBody>
          <a:bodyPr wrap="square" rtlCol="0" anchor="ctr"/>
          <a:lstStyle/>
          <a:p>
            <a:pPr marL="0" indent="0">
              <a:buNone/>
            </a:pPr>
            <a:endParaRPr lang="en-US" dirty="0"/>
          </a:p>
        </p:txBody>
      </p:sp>
      <p:sp>
        <p:nvSpPr>
          <p:cNvPr id="4" name="Text 1"/>
          <p:cNvSpPr/>
          <p:nvPr/>
        </p:nvSpPr>
        <p:spPr>
          <a:xfrm>
            <a:off x="7328818" y="241250"/>
            <a:ext cx="1191667" cy="114300"/>
          </a:xfrm>
          <a:prstGeom prst="rect">
            <a:avLst/>
          </a:prstGeom>
          <a:noFill/>
          <a:ln/>
        </p:spPr>
        <p:txBody>
          <a:bodyPr wrap="square" lIns="0" tIns="0" rIns="0" bIns="0" rtlCol="0" anchor="t"/>
          <a:lstStyle/>
          <a:p>
            <a:pPr marL="0" indent="0" algn="ctr">
              <a:buNone/>
            </a:pPr>
            <a:r>
              <a:rPr lang="en-US" sz="850" b="1" dirty="0">
                <a:solidFill>
                  <a:srgbClr val="FFFFFF"/>
                </a:solidFill>
                <a:latin typeface="Arial" pitchFamily="34" charset="0"/>
                <a:ea typeface="Arial" pitchFamily="34" charset="-122"/>
                <a:cs typeface="Arial" pitchFamily="34" charset="-120"/>
              </a:rPr>
              <a:t>COPILOT APP</a:t>
            </a:r>
            <a:endParaRPr lang="en-US" sz="850" dirty="0"/>
          </a:p>
        </p:txBody>
      </p:sp>
      <p:pic>
        <p:nvPicPr>
          <p:cNvPr id="5" name="Image 1" descr="/Users/danwahlin/.copilot/session-state/e7427b9a-9d65-4aa2-953c-14cedea46cbc/files/talkdeck/assets/mark-dark.png"/>
          <p:cNvPicPr>
            <a:picLocks noChangeAspect="1"/>
          </p:cNvPicPr>
          <p:nvPr/>
        </p:nvPicPr>
        <p:blipFill>
          <a:blip r:embed="rId4"/>
          <a:stretch>
            <a:fillRect/>
          </a:stretch>
        </p:blipFill>
        <p:spPr>
          <a:xfrm>
            <a:off x="8610600" y="165050"/>
            <a:ext cx="304800" cy="304800"/>
          </a:xfrm>
          <a:prstGeom prst="rect">
            <a:avLst/>
          </a:prstGeom>
        </p:spPr>
      </p:pic>
      <p:sp>
        <p:nvSpPr>
          <p:cNvPr id="6" name="Text 2"/>
          <p:cNvSpPr/>
          <p:nvPr/>
        </p:nvSpPr>
        <p:spPr>
          <a:xfrm>
            <a:off x="507950" y="381000"/>
            <a:ext cx="6736029" cy="133350"/>
          </a:xfrm>
          <a:prstGeom prst="rect">
            <a:avLst/>
          </a:prstGeom>
          <a:noFill/>
          <a:ln/>
        </p:spPr>
        <p:txBody>
          <a:bodyPr wrap="square" lIns="0" tIns="0" rIns="0" bIns="0" rtlCol="0" anchor="t"/>
          <a:lstStyle/>
          <a:p>
            <a:pPr marL="0" indent="0" algn="l">
              <a:buNone/>
            </a:pPr>
            <a:r>
              <a:rPr lang="en-US" sz="950" b="1" dirty="0">
                <a:solidFill>
                  <a:srgbClr val="1A7F37"/>
                </a:solidFill>
                <a:latin typeface="Arial" pitchFamily="34" charset="0"/>
                <a:ea typeface="Arial" pitchFamily="34" charset="-122"/>
                <a:cs typeface="Arial" pitchFamily="34" charset="-120"/>
              </a:rPr>
              <a:t>START TODAY</a:t>
            </a:r>
            <a:endParaRPr lang="en-US" sz="950" dirty="0"/>
          </a:p>
        </p:txBody>
      </p:sp>
      <p:sp>
        <p:nvSpPr>
          <p:cNvPr id="7" name="Text 3"/>
          <p:cNvSpPr/>
          <p:nvPr/>
        </p:nvSpPr>
        <p:spPr>
          <a:xfrm>
            <a:off x="507950" y="596801"/>
            <a:ext cx="6995160" cy="352425"/>
          </a:xfrm>
          <a:prstGeom prst="rect">
            <a:avLst/>
          </a:prstGeom>
          <a:noFill/>
          <a:ln/>
        </p:spPr>
        <p:txBody>
          <a:bodyPr wrap="square" lIns="0" tIns="0" rIns="0" bIns="0" rtlCol="0" anchor="t"/>
          <a:lstStyle/>
          <a:p>
            <a:pPr marL="0" indent="0" algn="l">
              <a:buNone/>
            </a:pPr>
            <a:r>
              <a:rPr lang="en-US" sz="2400" b="1" dirty="0">
                <a:solidFill>
                  <a:srgbClr val="1F2328"/>
                </a:solidFill>
                <a:latin typeface="Arial" pitchFamily="34" charset="0"/>
                <a:ea typeface="Arial" pitchFamily="34" charset="-122"/>
                <a:cs typeface="Arial" pitchFamily="34" charset="-120"/>
              </a:rPr>
              <a:t>Hand off one task this week</a:t>
            </a:r>
            <a:endParaRPr lang="en-US" sz="2400" dirty="0"/>
          </a:p>
        </p:txBody>
      </p:sp>
      <p:sp>
        <p:nvSpPr>
          <p:cNvPr id="8" name="Text 4"/>
          <p:cNvSpPr/>
          <p:nvPr/>
        </p:nvSpPr>
        <p:spPr>
          <a:xfrm>
            <a:off x="507950" y="1422350"/>
            <a:ext cx="1924050" cy="215265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9" name="Text 5"/>
          <p:cNvSpPr/>
          <p:nvPr/>
        </p:nvSpPr>
        <p:spPr>
          <a:xfrm>
            <a:off x="685800" y="1600200"/>
            <a:ext cx="457200" cy="457200"/>
          </a:xfrm>
          <a:prstGeom prst="roundRect">
            <a:avLst>
              <a:gd name="adj" fmla="val 200000"/>
            </a:avLst>
          </a:prstGeom>
          <a:solidFill>
            <a:srgbClr val="DDF4FF"/>
          </a:solidFill>
          <a:ln/>
        </p:spPr>
        <p:txBody>
          <a:bodyPr wrap="square" rtlCol="0" anchor="ctr"/>
          <a:lstStyle/>
          <a:p>
            <a:pPr marL="0" indent="0">
              <a:buNone/>
            </a:pPr>
            <a:endParaRPr lang="en-US" dirty="0"/>
          </a:p>
        </p:txBody>
      </p:sp>
      <p:pic>
        <p:nvPicPr>
          <p:cNvPr id="10" name="Image 2" descr="/Users/danwahlin/.copilot/session-state/e7427b9a-9d65-4aa2-953c-14cedea46cbc/files/talkdeck/assets/icons/GoCode-0969DA.png"/>
          <p:cNvPicPr>
            <a:picLocks noChangeAspect="1"/>
          </p:cNvPicPr>
          <p:nvPr/>
        </p:nvPicPr>
        <p:blipFill>
          <a:blip r:embed="rId5"/>
          <a:stretch>
            <a:fillRect/>
          </a:stretch>
        </p:blipFill>
        <p:spPr>
          <a:xfrm>
            <a:off x="800100" y="1714500"/>
            <a:ext cx="228600" cy="228600"/>
          </a:xfrm>
          <a:prstGeom prst="rect">
            <a:avLst/>
          </a:prstGeom>
        </p:spPr>
      </p:pic>
      <p:sp>
        <p:nvSpPr>
          <p:cNvPr id="11" name="Text 6"/>
          <p:cNvSpPr/>
          <p:nvPr/>
        </p:nvSpPr>
        <p:spPr>
          <a:xfrm>
            <a:off x="685800" y="2184350"/>
            <a:ext cx="1683969"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Developers</a:t>
            </a:r>
            <a:endParaRPr lang="en-US" sz="1250" dirty="0"/>
          </a:p>
        </p:txBody>
      </p:sp>
      <p:sp>
        <p:nvSpPr>
          <p:cNvPr id="12" name="Text 7"/>
          <p:cNvSpPr/>
          <p:nvPr/>
        </p:nvSpPr>
        <p:spPr>
          <a:xfrm>
            <a:off x="660350" y="2489150"/>
            <a:ext cx="1600200" cy="914400"/>
          </a:xfrm>
          <a:prstGeom prst="roundRect">
            <a:avLst>
              <a:gd name="adj" fmla="val 8333"/>
            </a:avLst>
          </a:prstGeom>
          <a:solidFill>
            <a:srgbClr val="F6F8FA"/>
          </a:solidFill>
          <a:ln/>
        </p:spPr>
        <p:txBody>
          <a:bodyPr wrap="square" rtlCol="0" anchor="ctr"/>
          <a:lstStyle/>
          <a:p>
            <a:pPr marL="0" indent="0">
              <a:buNone/>
            </a:pPr>
            <a:endParaRPr lang="en-US" dirty="0"/>
          </a:p>
        </p:txBody>
      </p:sp>
      <p:sp>
        <p:nvSpPr>
          <p:cNvPr id="13" name="Text 8"/>
          <p:cNvSpPr/>
          <p:nvPr/>
        </p:nvSpPr>
        <p:spPr>
          <a:xfrm>
            <a:off x="762000" y="2578001"/>
            <a:ext cx="1450797" cy="494705"/>
          </a:xfrm>
          <a:prstGeom prst="rect">
            <a:avLst/>
          </a:prstGeom>
          <a:noFill/>
          <a:ln/>
        </p:spPr>
        <p:txBody>
          <a:bodyPr wrap="square" lIns="0" tIns="0" rIns="0" bIns="0" rtlCol="0" anchor="t"/>
          <a:lstStyle/>
          <a:p>
            <a:pPr marL="0" indent="0" algn="l">
              <a:lnSpc>
                <a:spcPts val="1300"/>
              </a:lnSpc>
              <a:buNone/>
            </a:pPr>
            <a:r>
              <a:rPr lang="en-US" sz="1000" dirty="0">
                <a:solidFill>
                  <a:srgbClr val="1F2328"/>
                </a:solidFill>
                <a:latin typeface="Courier New" pitchFamily="34" charset="0"/>
                <a:ea typeface="Courier New" pitchFamily="34" charset="-122"/>
                <a:cs typeface="Courier New" pitchFamily="34" charset="-120"/>
              </a:rPr>
              <a:t>Fix the bug in issue 42 and add a test.</a:t>
            </a:r>
            <a:endParaRPr lang="en-US" sz="1000" dirty="0"/>
          </a:p>
        </p:txBody>
      </p:sp>
      <p:sp>
        <p:nvSpPr>
          <p:cNvPr id="14" name="Text 9"/>
          <p:cNvSpPr/>
          <p:nvPr/>
        </p:nvSpPr>
        <p:spPr>
          <a:xfrm>
            <a:off x="2565350" y="1422350"/>
            <a:ext cx="1924050" cy="215265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15" name="Text 10"/>
          <p:cNvSpPr/>
          <p:nvPr/>
        </p:nvSpPr>
        <p:spPr>
          <a:xfrm>
            <a:off x="2743200" y="1600200"/>
            <a:ext cx="457200" cy="457200"/>
          </a:xfrm>
          <a:prstGeom prst="roundRect">
            <a:avLst>
              <a:gd name="adj" fmla="val 200000"/>
            </a:avLst>
          </a:prstGeom>
          <a:solidFill>
            <a:srgbClr val="FBEFFF"/>
          </a:solidFill>
          <a:ln/>
        </p:spPr>
        <p:txBody>
          <a:bodyPr wrap="square" rtlCol="0" anchor="ctr"/>
          <a:lstStyle/>
          <a:p>
            <a:pPr marL="0" indent="0">
              <a:buNone/>
            </a:pPr>
            <a:endParaRPr lang="en-US" dirty="0"/>
          </a:p>
        </p:txBody>
      </p:sp>
      <p:pic>
        <p:nvPicPr>
          <p:cNvPr id="16" name="Image 3" descr="/Users/danwahlin/.copilot/session-state/e7427b9a-9d65-4aa2-953c-14cedea46cbc/files/talkdeck/assets/icons/GoProject-8250DF.png"/>
          <p:cNvPicPr>
            <a:picLocks noChangeAspect="1"/>
          </p:cNvPicPr>
          <p:nvPr/>
        </p:nvPicPr>
        <p:blipFill>
          <a:blip r:embed="rId6"/>
          <a:stretch>
            <a:fillRect/>
          </a:stretch>
        </p:blipFill>
        <p:spPr>
          <a:xfrm>
            <a:off x="2857500" y="1714500"/>
            <a:ext cx="228600" cy="228600"/>
          </a:xfrm>
          <a:prstGeom prst="rect">
            <a:avLst/>
          </a:prstGeom>
        </p:spPr>
      </p:pic>
      <p:sp>
        <p:nvSpPr>
          <p:cNvPr id="17" name="Text 11"/>
          <p:cNvSpPr/>
          <p:nvPr/>
        </p:nvSpPr>
        <p:spPr>
          <a:xfrm>
            <a:off x="2743200" y="2184350"/>
            <a:ext cx="1683969"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Project managers</a:t>
            </a:r>
            <a:endParaRPr lang="en-US" sz="1250" dirty="0"/>
          </a:p>
        </p:txBody>
      </p:sp>
      <p:sp>
        <p:nvSpPr>
          <p:cNvPr id="18" name="Text 12"/>
          <p:cNvSpPr/>
          <p:nvPr/>
        </p:nvSpPr>
        <p:spPr>
          <a:xfrm>
            <a:off x="2717750" y="2489150"/>
            <a:ext cx="1600200" cy="914400"/>
          </a:xfrm>
          <a:prstGeom prst="roundRect">
            <a:avLst>
              <a:gd name="adj" fmla="val 8333"/>
            </a:avLst>
          </a:prstGeom>
          <a:solidFill>
            <a:srgbClr val="F6F8FA"/>
          </a:solidFill>
          <a:ln/>
        </p:spPr>
        <p:txBody>
          <a:bodyPr wrap="square" rtlCol="0" anchor="ctr"/>
          <a:lstStyle/>
          <a:p>
            <a:pPr marL="0" indent="0">
              <a:buNone/>
            </a:pPr>
            <a:endParaRPr lang="en-US" dirty="0"/>
          </a:p>
        </p:txBody>
      </p:sp>
      <p:sp>
        <p:nvSpPr>
          <p:cNvPr id="19" name="Text 13"/>
          <p:cNvSpPr/>
          <p:nvPr/>
        </p:nvSpPr>
        <p:spPr>
          <a:xfrm>
            <a:off x="2819400" y="2578001"/>
            <a:ext cx="1450797" cy="659606"/>
          </a:xfrm>
          <a:prstGeom prst="rect">
            <a:avLst/>
          </a:prstGeom>
          <a:noFill/>
          <a:ln/>
        </p:spPr>
        <p:txBody>
          <a:bodyPr wrap="square" lIns="0" tIns="0" rIns="0" bIns="0" rtlCol="0" anchor="t"/>
          <a:lstStyle/>
          <a:p>
            <a:pPr marL="0" indent="0" algn="l">
              <a:lnSpc>
                <a:spcPts val="1300"/>
              </a:lnSpc>
              <a:buNone/>
            </a:pPr>
            <a:r>
              <a:rPr lang="en-US" sz="1000" dirty="0">
                <a:solidFill>
                  <a:srgbClr val="1F2328"/>
                </a:solidFill>
                <a:latin typeface="Courier New" pitchFamily="34" charset="0"/>
                <a:ea typeface="Courier New" pitchFamily="34" charset="-122"/>
                <a:cs typeface="Courier New" pitchFamily="34" charset="-120"/>
              </a:rPr>
              <a:t>Make a status brief from this week’s project email.</a:t>
            </a:r>
            <a:endParaRPr lang="en-US" sz="1000" dirty="0"/>
          </a:p>
        </p:txBody>
      </p:sp>
      <p:sp>
        <p:nvSpPr>
          <p:cNvPr id="20" name="Text 14"/>
          <p:cNvSpPr/>
          <p:nvPr/>
        </p:nvSpPr>
        <p:spPr>
          <a:xfrm>
            <a:off x="4622750" y="1422350"/>
            <a:ext cx="1924050" cy="215265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21" name="Text 15"/>
          <p:cNvSpPr/>
          <p:nvPr/>
        </p:nvSpPr>
        <p:spPr>
          <a:xfrm>
            <a:off x="4800600" y="1600200"/>
            <a:ext cx="457200" cy="457200"/>
          </a:xfrm>
          <a:prstGeom prst="roundRect">
            <a:avLst>
              <a:gd name="adj" fmla="val 200000"/>
            </a:avLst>
          </a:prstGeom>
          <a:solidFill>
            <a:srgbClr val="DAFBE1"/>
          </a:solidFill>
          <a:ln/>
        </p:spPr>
        <p:txBody>
          <a:bodyPr wrap="square" rtlCol="0" anchor="ctr"/>
          <a:lstStyle/>
          <a:p>
            <a:pPr marL="0" indent="0">
              <a:buNone/>
            </a:pPr>
            <a:endParaRPr lang="en-US" dirty="0"/>
          </a:p>
        </p:txBody>
      </p:sp>
      <p:pic>
        <p:nvPicPr>
          <p:cNvPr id="22" name="Image 4" descr="/Users/danwahlin/.copilot/session-state/e7427b9a-9d65-4aa2-953c-14cedea46cbc/files/talkdeck/assets/icons/GoTable-1A7F37.png"/>
          <p:cNvPicPr>
            <a:picLocks noChangeAspect="1"/>
          </p:cNvPicPr>
          <p:nvPr/>
        </p:nvPicPr>
        <p:blipFill>
          <a:blip r:embed="rId7"/>
          <a:stretch>
            <a:fillRect/>
          </a:stretch>
        </p:blipFill>
        <p:spPr>
          <a:xfrm>
            <a:off x="4914900" y="1714500"/>
            <a:ext cx="228600" cy="228600"/>
          </a:xfrm>
          <a:prstGeom prst="rect">
            <a:avLst/>
          </a:prstGeom>
        </p:spPr>
      </p:pic>
      <p:sp>
        <p:nvSpPr>
          <p:cNvPr id="23" name="Text 16"/>
          <p:cNvSpPr/>
          <p:nvPr/>
        </p:nvSpPr>
        <p:spPr>
          <a:xfrm>
            <a:off x="4800600" y="2184350"/>
            <a:ext cx="1683969"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Business analysts</a:t>
            </a:r>
            <a:endParaRPr lang="en-US" sz="1250" dirty="0"/>
          </a:p>
        </p:txBody>
      </p:sp>
      <p:sp>
        <p:nvSpPr>
          <p:cNvPr id="24" name="Text 17"/>
          <p:cNvSpPr/>
          <p:nvPr/>
        </p:nvSpPr>
        <p:spPr>
          <a:xfrm>
            <a:off x="4775150" y="2489150"/>
            <a:ext cx="1600200" cy="914400"/>
          </a:xfrm>
          <a:prstGeom prst="roundRect">
            <a:avLst>
              <a:gd name="adj" fmla="val 8333"/>
            </a:avLst>
          </a:prstGeom>
          <a:solidFill>
            <a:srgbClr val="F6F8FA"/>
          </a:solidFill>
          <a:ln/>
        </p:spPr>
        <p:txBody>
          <a:bodyPr wrap="square" rtlCol="0" anchor="ctr"/>
          <a:lstStyle/>
          <a:p>
            <a:pPr marL="0" indent="0">
              <a:buNone/>
            </a:pPr>
            <a:endParaRPr lang="en-US" dirty="0"/>
          </a:p>
        </p:txBody>
      </p:sp>
      <p:sp>
        <p:nvSpPr>
          <p:cNvPr id="25" name="Text 18"/>
          <p:cNvSpPr/>
          <p:nvPr/>
        </p:nvSpPr>
        <p:spPr>
          <a:xfrm>
            <a:off x="4876800" y="2578001"/>
            <a:ext cx="1450797" cy="494705"/>
          </a:xfrm>
          <a:prstGeom prst="rect">
            <a:avLst/>
          </a:prstGeom>
          <a:noFill/>
          <a:ln/>
        </p:spPr>
        <p:txBody>
          <a:bodyPr wrap="square" lIns="0" tIns="0" rIns="0" bIns="0" rtlCol="0" anchor="t"/>
          <a:lstStyle/>
          <a:p>
            <a:pPr marL="0" indent="0" algn="l">
              <a:lnSpc>
                <a:spcPts val="1300"/>
              </a:lnSpc>
              <a:buNone/>
            </a:pPr>
            <a:r>
              <a:rPr lang="en-US" sz="1000" dirty="0">
                <a:solidFill>
                  <a:srgbClr val="1F2328"/>
                </a:solidFill>
                <a:latin typeface="Courier New" pitchFamily="34" charset="0"/>
                <a:ea typeface="Courier New" pitchFamily="34" charset="-122"/>
                <a:cs typeface="Courier New" pitchFamily="34" charset="-120"/>
              </a:rPr>
              <a:t>Turn this CSV into a workbook with a PivotTable.</a:t>
            </a:r>
            <a:endParaRPr lang="en-US" sz="1000" dirty="0"/>
          </a:p>
        </p:txBody>
      </p:sp>
      <p:sp>
        <p:nvSpPr>
          <p:cNvPr id="26" name="Text 19"/>
          <p:cNvSpPr/>
          <p:nvPr/>
        </p:nvSpPr>
        <p:spPr>
          <a:xfrm>
            <a:off x="6680150" y="1422350"/>
            <a:ext cx="1924050" cy="2152650"/>
          </a:xfrm>
          <a:prstGeom prst="roundRect">
            <a:avLst>
              <a:gd name="adj" fmla="val 5281"/>
            </a:avLst>
          </a:prstGeom>
          <a:solidFill>
            <a:srgbClr val="FFFFFF"/>
          </a:solidFill>
          <a:ln w="9525">
            <a:solidFill>
              <a:srgbClr val="D0D7DE"/>
            </a:solidFill>
          </a:ln>
        </p:spPr>
        <p:txBody>
          <a:bodyPr wrap="square" rtlCol="0" anchor="ctr"/>
          <a:lstStyle/>
          <a:p>
            <a:pPr marL="0" indent="0">
              <a:buNone/>
            </a:pPr>
            <a:endParaRPr lang="en-US" dirty="0"/>
          </a:p>
        </p:txBody>
      </p:sp>
      <p:sp>
        <p:nvSpPr>
          <p:cNvPr id="27" name="Text 20"/>
          <p:cNvSpPr/>
          <p:nvPr/>
        </p:nvSpPr>
        <p:spPr>
          <a:xfrm>
            <a:off x="6858000" y="1600200"/>
            <a:ext cx="457200" cy="457200"/>
          </a:xfrm>
          <a:prstGeom prst="roundRect">
            <a:avLst>
              <a:gd name="adj" fmla="val 200000"/>
            </a:avLst>
          </a:prstGeom>
          <a:solidFill>
            <a:srgbClr val="FFF1E5"/>
          </a:solidFill>
          <a:ln/>
        </p:spPr>
        <p:txBody>
          <a:bodyPr wrap="square" rtlCol="0" anchor="ctr"/>
          <a:lstStyle/>
          <a:p>
            <a:pPr marL="0" indent="0">
              <a:buNone/>
            </a:pPr>
            <a:endParaRPr lang="en-US" dirty="0"/>
          </a:p>
        </p:txBody>
      </p:sp>
      <p:pic>
        <p:nvPicPr>
          <p:cNvPr id="28" name="Image 5" descr="/Users/danwahlin/.copilot/session-state/e7427b9a-9d65-4aa2-953c-14cedea46cbc/files/talkdeck/assets/icons/GoGraph-BC4C00.png"/>
          <p:cNvPicPr>
            <a:picLocks noChangeAspect="1"/>
          </p:cNvPicPr>
          <p:nvPr/>
        </p:nvPicPr>
        <p:blipFill>
          <a:blip r:embed="rId8"/>
          <a:stretch>
            <a:fillRect/>
          </a:stretch>
        </p:blipFill>
        <p:spPr>
          <a:xfrm>
            <a:off x="6972300" y="1714500"/>
            <a:ext cx="228600" cy="228600"/>
          </a:xfrm>
          <a:prstGeom prst="rect">
            <a:avLst/>
          </a:prstGeom>
        </p:spPr>
      </p:pic>
      <p:sp>
        <p:nvSpPr>
          <p:cNvPr id="29" name="Text 21"/>
          <p:cNvSpPr/>
          <p:nvPr/>
        </p:nvSpPr>
        <p:spPr>
          <a:xfrm>
            <a:off x="6858000" y="2184350"/>
            <a:ext cx="1683969" cy="190500"/>
          </a:xfrm>
          <a:prstGeom prst="rect">
            <a:avLst/>
          </a:prstGeom>
          <a:noFill/>
          <a:ln/>
        </p:spPr>
        <p:txBody>
          <a:bodyPr wrap="square" lIns="0" tIns="0" rIns="0" bIns="0" rtlCol="0" anchor="t"/>
          <a:lstStyle/>
          <a:p>
            <a:pPr marL="0" indent="0" algn="l">
              <a:buNone/>
            </a:pPr>
            <a:r>
              <a:rPr lang="en-US" sz="1250" b="1" dirty="0">
                <a:solidFill>
                  <a:srgbClr val="1F2328"/>
                </a:solidFill>
                <a:latin typeface="Arial" pitchFamily="34" charset="0"/>
                <a:ea typeface="Arial" pitchFamily="34" charset="-122"/>
                <a:cs typeface="Arial" pitchFamily="34" charset="-120"/>
              </a:rPr>
              <a:t>Leaders</a:t>
            </a:r>
            <a:endParaRPr lang="en-US" sz="1250" dirty="0"/>
          </a:p>
        </p:txBody>
      </p:sp>
      <p:sp>
        <p:nvSpPr>
          <p:cNvPr id="30" name="Text 22"/>
          <p:cNvSpPr/>
          <p:nvPr/>
        </p:nvSpPr>
        <p:spPr>
          <a:xfrm>
            <a:off x="6832550" y="2489150"/>
            <a:ext cx="1600200" cy="914400"/>
          </a:xfrm>
          <a:prstGeom prst="roundRect">
            <a:avLst>
              <a:gd name="adj" fmla="val 8333"/>
            </a:avLst>
          </a:prstGeom>
          <a:solidFill>
            <a:srgbClr val="F6F8FA"/>
          </a:solidFill>
          <a:ln/>
        </p:spPr>
        <p:txBody>
          <a:bodyPr wrap="square" rtlCol="0" anchor="ctr"/>
          <a:lstStyle/>
          <a:p>
            <a:pPr marL="0" indent="0">
              <a:buNone/>
            </a:pPr>
            <a:endParaRPr lang="en-US" dirty="0"/>
          </a:p>
        </p:txBody>
      </p:sp>
      <p:sp>
        <p:nvSpPr>
          <p:cNvPr id="31" name="Text 23"/>
          <p:cNvSpPr/>
          <p:nvPr/>
        </p:nvSpPr>
        <p:spPr>
          <a:xfrm>
            <a:off x="6934200" y="2578001"/>
            <a:ext cx="1450797" cy="494705"/>
          </a:xfrm>
          <a:prstGeom prst="rect">
            <a:avLst/>
          </a:prstGeom>
          <a:noFill/>
          <a:ln/>
        </p:spPr>
        <p:txBody>
          <a:bodyPr wrap="square" lIns="0" tIns="0" rIns="0" bIns="0" rtlCol="0" anchor="t"/>
          <a:lstStyle/>
          <a:p>
            <a:pPr marL="0" indent="0" algn="l">
              <a:lnSpc>
                <a:spcPts val="1300"/>
              </a:lnSpc>
              <a:buNone/>
            </a:pPr>
            <a:r>
              <a:rPr lang="en-US" sz="1000" dirty="0">
                <a:solidFill>
                  <a:srgbClr val="1F2328"/>
                </a:solidFill>
                <a:latin typeface="Courier New" pitchFamily="34" charset="0"/>
                <a:ea typeface="Courier New" pitchFamily="34" charset="-122"/>
                <a:cs typeface="Courier New" pitchFamily="34" charset="-120"/>
              </a:rPr>
              <a:t>Make a one-page briefing on this topic.</a:t>
            </a:r>
            <a:endParaRPr lang="en-US" sz="1000" dirty="0"/>
          </a:p>
        </p:txBody>
      </p:sp>
      <p:pic>
        <p:nvPicPr>
          <p:cNvPr id="32" name="Image 6" descr="/Users/danwahlin/.copilot/session-state/e7427b9a-9d65-4aa2-953c-14cedea46cbc/files/talkdeck/assets/qr-course.png"/>
          <p:cNvPicPr>
            <a:picLocks noChangeAspect="1"/>
          </p:cNvPicPr>
          <p:nvPr/>
        </p:nvPicPr>
        <p:blipFill>
          <a:blip r:embed="rId9"/>
          <a:stretch>
            <a:fillRect/>
          </a:stretch>
        </p:blipFill>
        <p:spPr>
          <a:xfrm>
            <a:off x="507950" y="3784550"/>
            <a:ext cx="914400" cy="914400"/>
          </a:xfrm>
          <a:prstGeom prst="rect">
            <a:avLst/>
          </a:prstGeom>
        </p:spPr>
      </p:pic>
      <p:sp>
        <p:nvSpPr>
          <p:cNvPr id="33" name="Text 24"/>
          <p:cNvSpPr/>
          <p:nvPr/>
        </p:nvSpPr>
        <p:spPr>
          <a:xfrm>
            <a:off x="1600200" y="3936950"/>
            <a:ext cx="6476899" cy="200025"/>
          </a:xfrm>
          <a:prstGeom prst="rect">
            <a:avLst/>
          </a:prstGeom>
          <a:noFill/>
          <a:ln/>
        </p:spPr>
        <p:txBody>
          <a:bodyPr wrap="square" lIns="0" tIns="0" rIns="0" bIns="0" rtlCol="0" anchor="t"/>
          <a:lstStyle/>
          <a:p>
            <a:pPr marL="0" indent="0" algn="l">
              <a:buNone/>
            </a:pPr>
            <a:r>
              <a:rPr lang="en-US" sz="1300" b="1" dirty="0">
                <a:solidFill>
                  <a:srgbClr val="1F2328"/>
                </a:solidFill>
                <a:latin typeface="Arial" pitchFamily="34" charset="0"/>
                <a:ea typeface="Arial" pitchFamily="34" charset="-122"/>
                <a:cs typeface="Arial" pitchFamily="34" charset="-120"/>
              </a:rPr>
              <a:t>Free course: GitHub Copilot app for beginners</a:t>
            </a:r>
            <a:endParaRPr lang="en-US" sz="1300" dirty="0"/>
          </a:p>
        </p:txBody>
      </p:sp>
      <p:sp>
        <p:nvSpPr>
          <p:cNvPr id="34" name="Text 25"/>
          <p:cNvSpPr/>
          <p:nvPr/>
        </p:nvSpPr>
        <p:spPr>
          <a:xfrm>
            <a:off x="1600200" y="4216301"/>
            <a:ext cx="6476899" cy="171450"/>
          </a:xfrm>
          <a:prstGeom prst="rect">
            <a:avLst/>
          </a:prstGeom>
          <a:noFill/>
          <a:ln/>
        </p:spPr>
        <p:txBody>
          <a:bodyPr wrap="square" lIns="0" tIns="0" rIns="0" bIns="0" rtlCol="0" anchor="t"/>
          <a:lstStyle/>
          <a:p>
            <a:pPr marL="0" indent="0" algn="l">
              <a:buNone/>
            </a:pPr>
            <a:r>
              <a:rPr lang="en-US" sz="1200" dirty="0">
                <a:solidFill>
                  <a:srgbClr val="0969DA"/>
                </a:solidFill>
                <a:latin typeface="Arial" pitchFamily="34" charset="0"/>
                <a:ea typeface="Arial" pitchFamily="34" charset="-122"/>
                <a:cs typeface="Arial" pitchFamily="34" charset="-120"/>
              </a:rPr>
              <a:t>github.com/github/copilot-app-for-beginners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Users/danwahlin/.copilot/session-state/e7427b9a-9d65-4aa2-953c-14cedea46cbc/files/talkdeck/assets/bg-hero.jpg"/>
          <p:cNvPicPr>
            <a:picLocks noChangeAspect="1"/>
          </p:cNvPicPr>
          <p:nvPr/>
        </p:nvPicPr>
        <p:blipFill>
          <a:blip r:embed="rId3"/>
          <a:stretch>
            <a:fillRect/>
          </a:stretch>
        </p:blipFill>
        <p:spPr>
          <a:xfrm>
            <a:off x="0" y="0"/>
            <a:ext cx="9144000" cy="5143500"/>
          </a:xfrm>
          <a:prstGeom prst="rect">
            <a:avLst/>
          </a:prstGeom>
        </p:spPr>
      </p:pic>
      <p:pic>
        <p:nvPicPr>
          <p:cNvPr id="3" name="Image 1" descr="/Users/danwahlin/.copilot/session-state/e7427b9a-9d65-4aa2-953c-14cedea46cbc/files/talkdeck/assets/mark-dark.png"/>
          <p:cNvPicPr>
            <a:picLocks noChangeAspect="1"/>
          </p:cNvPicPr>
          <p:nvPr/>
        </p:nvPicPr>
        <p:blipFill>
          <a:blip r:embed="rId4"/>
          <a:stretch>
            <a:fillRect/>
          </a:stretch>
        </p:blipFill>
        <p:spPr>
          <a:xfrm>
            <a:off x="8610600" y="203150"/>
            <a:ext cx="304800" cy="304800"/>
          </a:xfrm>
          <a:prstGeom prst="rect">
            <a:avLst/>
          </a:prstGeom>
        </p:spPr>
      </p:pic>
      <p:sp>
        <p:nvSpPr>
          <p:cNvPr id="4" name="Text 0"/>
          <p:cNvSpPr/>
          <p:nvPr/>
        </p:nvSpPr>
        <p:spPr>
          <a:xfrm>
            <a:off x="1015901" y="1396901"/>
            <a:ext cx="6217920" cy="152400"/>
          </a:xfrm>
          <a:prstGeom prst="rect">
            <a:avLst/>
          </a:prstGeom>
          <a:noFill/>
          <a:ln/>
        </p:spPr>
        <p:txBody>
          <a:bodyPr wrap="square" lIns="0" tIns="0" rIns="0" bIns="0" rtlCol="0" anchor="t"/>
          <a:lstStyle/>
          <a:p>
            <a:pPr marL="0" indent="0" algn="l">
              <a:buNone/>
            </a:pPr>
            <a:r>
              <a:rPr lang="en-US" sz="1100" b="1" dirty="0">
                <a:solidFill>
                  <a:srgbClr val="1A7F37"/>
                </a:solidFill>
                <a:latin typeface="Arial" pitchFamily="34" charset="0"/>
                <a:ea typeface="Arial" pitchFamily="34" charset="-122"/>
                <a:cs typeface="Arial" pitchFamily="34" charset="-120"/>
              </a:rPr>
              <a:t>THANK YOU</a:t>
            </a:r>
            <a:endParaRPr lang="en-US" sz="1100" dirty="0"/>
          </a:p>
        </p:txBody>
      </p:sp>
      <p:sp>
        <p:nvSpPr>
          <p:cNvPr id="5" name="Text 1"/>
          <p:cNvSpPr/>
          <p:nvPr/>
        </p:nvSpPr>
        <p:spPr>
          <a:xfrm>
            <a:off x="1015901" y="1650950"/>
            <a:ext cx="6217920" cy="704850"/>
          </a:xfrm>
          <a:prstGeom prst="rect">
            <a:avLst/>
          </a:prstGeom>
          <a:noFill/>
          <a:ln/>
        </p:spPr>
        <p:txBody>
          <a:bodyPr wrap="square" lIns="0" tIns="0" rIns="0" bIns="0" rtlCol="0" anchor="t"/>
          <a:lstStyle/>
          <a:p>
            <a:pPr marL="0" indent="0" algn="l">
              <a:buNone/>
            </a:pPr>
            <a:r>
              <a:rPr lang="en-US" sz="4800" b="1" dirty="0">
                <a:solidFill>
                  <a:srgbClr val="1F2328"/>
                </a:solidFill>
                <a:latin typeface="Arial" pitchFamily="34" charset="0"/>
                <a:ea typeface="Arial" pitchFamily="34" charset="-122"/>
                <a:cs typeface="Arial" pitchFamily="34" charset="-120"/>
              </a:rPr>
              <a:t>Questions?</a:t>
            </a:r>
            <a:endParaRPr lang="en-US" sz="4800" dirty="0"/>
          </a:p>
        </p:txBody>
      </p:sp>
      <p:sp>
        <p:nvSpPr>
          <p:cNvPr id="6" name="Text 2"/>
          <p:cNvSpPr/>
          <p:nvPr/>
        </p:nvSpPr>
        <p:spPr>
          <a:xfrm>
            <a:off x="1015901" y="2565350"/>
            <a:ext cx="609600" cy="63401"/>
          </a:xfrm>
          <a:prstGeom prst="rect">
            <a:avLst/>
          </a:prstGeom>
          <a:solidFill>
            <a:srgbClr val="1A7F37"/>
          </a:solidFill>
          <a:ln/>
        </p:spPr>
        <p:txBody>
          <a:bodyPr wrap="square" rtlCol="0" anchor="ctr"/>
          <a:lstStyle/>
          <a:p>
            <a:pPr marL="0" indent="0">
              <a:buNone/>
            </a:pPr>
            <a:endParaRPr lang="en-US" dirty="0"/>
          </a:p>
        </p:txBody>
      </p:sp>
      <p:sp>
        <p:nvSpPr>
          <p:cNvPr id="7" name="Text 3"/>
          <p:cNvSpPr/>
          <p:nvPr/>
        </p:nvSpPr>
        <p:spPr>
          <a:xfrm>
            <a:off x="1015901" y="2819400"/>
            <a:ext cx="5440680" cy="257175"/>
          </a:xfrm>
          <a:prstGeom prst="rect">
            <a:avLst/>
          </a:prstGeom>
          <a:noFill/>
          <a:ln/>
        </p:spPr>
        <p:txBody>
          <a:bodyPr wrap="square" lIns="0" tIns="0" rIns="0" bIns="0" rtlCol="0" anchor="t"/>
          <a:lstStyle/>
          <a:p>
            <a:pPr marL="0" indent="0" algn="l">
              <a:buNone/>
            </a:pPr>
            <a:r>
              <a:rPr lang="en-US" sz="1700" dirty="0">
                <a:solidFill>
                  <a:srgbClr val="59636E"/>
                </a:solidFill>
                <a:latin typeface="Arial" pitchFamily="34" charset="0"/>
                <a:ea typeface="Arial" pitchFamily="34" charset="-122"/>
                <a:cs typeface="Arial" pitchFamily="34" charset="-120"/>
              </a:rPr>
              <a:t>Bring an idea. Put an agent to work on it.</a:t>
            </a:r>
            <a:endParaRPr lang="en-US" sz="1700" dirty="0"/>
          </a:p>
        </p:txBody>
      </p:sp>
      <p:pic>
        <p:nvPicPr>
          <p:cNvPr id="8" name="Image 2" descr="/Users/danwahlin/.copilot/session-state/e7427b9a-9d65-4aa2-953c-14cedea46cbc/files/talkdeck/assets/mark-blue.png"/>
          <p:cNvPicPr>
            <a:picLocks noChangeAspect="1"/>
          </p:cNvPicPr>
          <p:nvPr/>
        </p:nvPicPr>
        <p:blipFill>
          <a:blip r:embed="rId5"/>
          <a:stretch>
            <a:fillRect/>
          </a:stretch>
        </p:blipFill>
        <p:spPr>
          <a:xfrm>
            <a:off x="1015901" y="3810000"/>
            <a:ext cx="203150" cy="203150"/>
          </a:xfrm>
          <a:prstGeom prst="rect">
            <a:avLst/>
          </a:prstGeom>
        </p:spPr>
      </p:pic>
      <p:sp>
        <p:nvSpPr>
          <p:cNvPr id="9" name="Text 4"/>
          <p:cNvSpPr/>
          <p:nvPr/>
        </p:nvSpPr>
        <p:spPr>
          <a:xfrm>
            <a:off x="1308050" y="3822650"/>
            <a:ext cx="3886200" cy="190500"/>
          </a:xfrm>
          <a:prstGeom prst="rect">
            <a:avLst/>
          </a:prstGeom>
          <a:noFill/>
          <a:ln/>
        </p:spPr>
        <p:txBody>
          <a:bodyPr wrap="square" lIns="0" tIns="0" rIns="0" bIns="0" rtlCol="0" anchor="t"/>
          <a:lstStyle/>
          <a:p>
            <a:pPr marL="0" indent="0" algn="l">
              <a:buNone/>
            </a:pPr>
            <a:r>
              <a:rPr lang="en-US" sz="1250" b="1" dirty="0">
                <a:solidFill>
                  <a:srgbClr val="0969DA"/>
                </a:solidFill>
                <a:latin typeface="Arial" pitchFamily="34" charset="0"/>
                <a:ea typeface="Arial" pitchFamily="34" charset="-122"/>
                <a:cs typeface="Arial" pitchFamily="34" charset="-120"/>
              </a:rPr>
              <a:t>Dan Wahlin · GitHub</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1342</Words>
  <Application>Microsoft Macintosh PowerPoint</Application>
  <PresentationFormat>On-screen Show (16:9)</PresentationFormat>
  <Paragraphs>194</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app: Put AI Agents to Work</dc:title>
  <dc:subject>PptxGenJS Presentation</dc:subject>
  <dc:creator>Dan Wahlin</dc:creator>
  <cp:lastModifiedBy>Dan Wahlin</cp:lastModifiedBy>
  <cp:revision>2</cp:revision>
  <dcterms:created xsi:type="dcterms:W3CDTF">2026-10-17T08:27:35Z</dcterms:created>
  <dcterms:modified xsi:type="dcterms:W3CDTF">2026-10-17T08:28:47Z</dcterms:modified>
</cp:coreProperties>
</file>