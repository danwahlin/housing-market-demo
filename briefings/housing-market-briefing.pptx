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A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844"/>
  </p:normalViewPr>
  <p:slideViewPr>
    <p:cSldViewPr snapToGrid="0" snapToObjects="1">
      <p:cViewPr varScale="1">
        <p:scale>
          <a:sx n="134" d="100"/>
          <a:sy n="134" d="100"/>
        </p:scale>
        <p:origin x="15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U.S. HPI</c:v>
                </c:pt>
              </c:strCache>
            </c:strRef>
          </c:tx>
          <c:spPr>
            <a:ln w="31750">
              <a:solidFill>
                <a:srgbClr val="58A6FF"/>
              </a:solidFill>
            </a:ln>
          </c:spPr>
          <c:marker>
            <c:symbol val="none"/>
          </c:marker>
          <c:dLbls>
            <c:dLbl>
              <c:idx val="115"/>
              <c:tx>
                <c:rich>
                  <a:bodyPr/>
                  <a:lstStyle/>
                  <a:p>
                    <a:r>
                      <a:rPr sz="1000" b="1">
                        <a:solidFill>
                          <a:srgbClr val="B1BAC4"/>
                        </a:solidFill>
                      </a:rPr>
                      <a:t>2019 Q4</a:t>
                    </a:r>
                  </a:p>
                  <a:p>
                    <a:r>
                      <a:rPr sz="1000" b="1">
                        <a:solidFill>
                          <a:srgbClr val="B1BAC4"/>
                        </a:solidFill>
                      </a:rPr>
                      <a:t>275.0</a:t>
                    </a:r>
                  </a:p>
                </c:rich>
              </c:tx>
              <c:dLblPos val="t"/>
              <c:showLegendKey val="0"/>
              <c:showVal val="1"/>
              <c:showCatName val="0"/>
              <c:showSerName val="0"/>
              <c:showPercent val="0"/>
              <c:showBubbleSize val="0"/>
            </c:dLbl>
            <c:dLbl>
              <c:idx val="141"/>
              <c:tx>
                <c:rich>
                  <a:bodyPr/>
                  <a:lstStyle/>
                  <a:p>
                    <a:r>
                      <a:rPr sz="1100" b="1">
                        <a:solidFill>
                          <a:srgbClr val="F0F6FC"/>
                        </a:solidFill>
                      </a:rPr>
                      <a:t>2026 Q2</a:t>
                    </a:r>
                  </a:p>
                  <a:p>
                    <a:r>
                      <a:rPr sz="1100" b="1">
                        <a:solidFill>
                          <a:srgbClr val="F0F6FC"/>
                        </a:solidFill>
                      </a:rPr>
                      <a:t>450.9</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Sheet1!$A$2:$A$143</c:f>
              <c:strCache>
                <c:ptCount val="142"/>
                <c:pt idx="0">
                  <c:v>1991</c:v>
                </c:pt>
                <c:pt idx="1">
                  <c:v>1991 Q2</c:v>
                </c:pt>
                <c:pt idx="2">
                  <c:v>1991 Q3</c:v>
                </c:pt>
                <c:pt idx="3">
                  <c:v>1991 Q4</c:v>
                </c:pt>
                <c:pt idx="4">
                  <c:v>1992</c:v>
                </c:pt>
                <c:pt idx="5">
                  <c:v>1992 Q2</c:v>
                </c:pt>
                <c:pt idx="6">
                  <c:v>1992 Q3</c:v>
                </c:pt>
                <c:pt idx="7">
                  <c:v>1992 Q4</c:v>
                </c:pt>
                <c:pt idx="8">
                  <c:v>1993</c:v>
                </c:pt>
                <c:pt idx="9">
                  <c:v>1993 Q2</c:v>
                </c:pt>
                <c:pt idx="10">
                  <c:v>1993 Q3</c:v>
                </c:pt>
                <c:pt idx="11">
                  <c:v>1993 Q4</c:v>
                </c:pt>
                <c:pt idx="12">
                  <c:v>1994</c:v>
                </c:pt>
                <c:pt idx="13">
                  <c:v>1994 Q2</c:v>
                </c:pt>
                <c:pt idx="14">
                  <c:v>1994 Q3</c:v>
                </c:pt>
                <c:pt idx="15">
                  <c:v>1994 Q4</c:v>
                </c:pt>
                <c:pt idx="16">
                  <c:v>1995</c:v>
                </c:pt>
                <c:pt idx="17">
                  <c:v>1995 Q2</c:v>
                </c:pt>
                <c:pt idx="18">
                  <c:v>1995 Q3</c:v>
                </c:pt>
                <c:pt idx="19">
                  <c:v>1995 Q4</c:v>
                </c:pt>
                <c:pt idx="20">
                  <c:v>1996</c:v>
                </c:pt>
                <c:pt idx="21">
                  <c:v>1996 Q2</c:v>
                </c:pt>
                <c:pt idx="22">
                  <c:v>1996 Q3</c:v>
                </c:pt>
                <c:pt idx="23">
                  <c:v>1996 Q4</c:v>
                </c:pt>
                <c:pt idx="24">
                  <c:v>1997</c:v>
                </c:pt>
                <c:pt idx="25">
                  <c:v>1997 Q2</c:v>
                </c:pt>
                <c:pt idx="26">
                  <c:v>1997 Q3</c:v>
                </c:pt>
                <c:pt idx="27">
                  <c:v>1997 Q4</c:v>
                </c:pt>
                <c:pt idx="28">
                  <c:v>1998</c:v>
                </c:pt>
                <c:pt idx="29">
                  <c:v>1998 Q2</c:v>
                </c:pt>
                <c:pt idx="30">
                  <c:v>1998 Q3</c:v>
                </c:pt>
                <c:pt idx="31">
                  <c:v>1998 Q4</c:v>
                </c:pt>
                <c:pt idx="32">
                  <c:v>1999</c:v>
                </c:pt>
                <c:pt idx="33">
                  <c:v>1999 Q2</c:v>
                </c:pt>
                <c:pt idx="34">
                  <c:v>1999 Q3</c:v>
                </c:pt>
                <c:pt idx="35">
                  <c:v>1999 Q4</c:v>
                </c:pt>
                <c:pt idx="36">
                  <c:v>2000</c:v>
                </c:pt>
                <c:pt idx="37">
                  <c:v>2000 Q2</c:v>
                </c:pt>
                <c:pt idx="38">
                  <c:v>2000 Q3</c:v>
                </c:pt>
                <c:pt idx="39">
                  <c:v>2000 Q4</c:v>
                </c:pt>
                <c:pt idx="40">
                  <c:v>2001</c:v>
                </c:pt>
                <c:pt idx="41">
                  <c:v>2001 Q2</c:v>
                </c:pt>
                <c:pt idx="42">
                  <c:v>2001 Q3</c:v>
                </c:pt>
                <c:pt idx="43">
                  <c:v>2001 Q4</c:v>
                </c:pt>
                <c:pt idx="44">
                  <c:v>2002</c:v>
                </c:pt>
                <c:pt idx="45">
                  <c:v>2002 Q2</c:v>
                </c:pt>
                <c:pt idx="46">
                  <c:v>2002 Q3</c:v>
                </c:pt>
                <c:pt idx="47">
                  <c:v>2002 Q4</c:v>
                </c:pt>
                <c:pt idx="48">
                  <c:v>2003</c:v>
                </c:pt>
                <c:pt idx="49">
                  <c:v>2003 Q2</c:v>
                </c:pt>
                <c:pt idx="50">
                  <c:v>2003 Q3</c:v>
                </c:pt>
                <c:pt idx="51">
                  <c:v>2003 Q4</c:v>
                </c:pt>
                <c:pt idx="52">
                  <c:v>2004</c:v>
                </c:pt>
                <c:pt idx="53">
                  <c:v>2004 Q2</c:v>
                </c:pt>
                <c:pt idx="54">
                  <c:v>2004 Q3</c:v>
                </c:pt>
                <c:pt idx="55">
                  <c:v>2004 Q4</c:v>
                </c:pt>
                <c:pt idx="56">
                  <c:v>2005</c:v>
                </c:pt>
                <c:pt idx="57">
                  <c:v>2005 Q2</c:v>
                </c:pt>
                <c:pt idx="58">
                  <c:v>2005 Q3</c:v>
                </c:pt>
                <c:pt idx="59">
                  <c:v>2005 Q4</c:v>
                </c:pt>
                <c:pt idx="60">
                  <c:v>2006</c:v>
                </c:pt>
                <c:pt idx="61">
                  <c:v>2006 Q2</c:v>
                </c:pt>
                <c:pt idx="62">
                  <c:v>2006 Q3</c:v>
                </c:pt>
                <c:pt idx="63">
                  <c:v>2006 Q4</c:v>
                </c:pt>
                <c:pt idx="64">
                  <c:v>2007</c:v>
                </c:pt>
                <c:pt idx="65">
                  <c:v>2007 Q2</c:v>
                </c:pt>
                <c:pt idx="66">
                  <c:v>2007 Q3</c:v>
                </c:pt>
                <c:pt idx="67">
                  <c:v>2007 Q4</c:v>
                </c:pt>
                <c:pt idx="68">
                  <c:v>2008</c:v>
                </c:pt>
                <c:pt idx="69">
                  <c:v>2008 Q2</c:v>
                </c:pt>
                <c:pt idx="70">
                  <c:v>2008 Q3</c:v>
                </c:pt>
                <c:pt idx="71">
                  <c:v>2008 Q4</c:v>
                </c:pt>
                <c:pt idx="72">
                  <c:v>2009</c:v>
                </c:pt>
                <c:pt idx="73">
                  <c:v>2009 Q2</c:v>
                </c:pt>
                <c:pt idx="74">
                  <c:v>2009 Q3</c:v>
                </c:pt>
                <c:pt idx="75">
                  <c:v>2009 Q4</c:v>
                </c:pt>
                <c:pt idx="76">
                  <c:v>2010</c:v>
                </c:pt>
                <c:pt idx="77">
                  <c:v>2010 Q2</c:v>
                </c:pt>
                <c:pt idx="78">
                  <c:v>2010 Q3</c:v>
                </c:pt>
                <c:pt idx="79">
                  <c:v>2010 Q4</c:v>
                </c:pt>
                <c:pt idx="80">
                  <c:v>2011</c:v>
                </c:pt>
                <c:pt idx="81">
                  <c:v>2011 Q2</c:v>
                </c:pt>
                <c:pt idx="82">
                  <c:v>2011 Q3</c:v>
                </c:pt>
                <c:pt idx="83">
                  <c:v>2011 Q4</c:v>
                </c:pt>
                <c:pt idx="84">
                  <c:v>2012</c:v>
                </c:pt>
                <c:pt idx="85">
                  <c:v>2012 Q2</c:v>
                </c:pt>
                <c:pt idx="86">
                  <c:v>2012 Q3</c:v>
                </c:pt>
                <c:pt idx="87">
                  <c:v>2012 Q4</c:v>
                </c:pt>
                <c:pt idx="88">
                  <c:v>2013</c:v>
                </c:pt>
                <c:pt idx="89">
                  <c:v>2013 Q2</c:v>
                </c:pt>
                <c:pt idx="90">
                  <c:v>2013 Q3</c:v>
                </c:pt>
                <c:pt idx="91">
                  <c:v>2013 Q4</c:v>
                </c:pt>
                <c:pt idx="92">
                  <c:v>2014</c:v>
                </c:pt>
                <c:pt idx="93">
                  <c:v>2014 Q2</c:v>
                </c:pt>
                <c:pt idx="94">
                  <c:v>2014 Q3</c:v>
                </c:pt>
                <c:pt idx="95">
                  <c:v>2014 Q4</c:v>
                </c:pt>
                <c:pt idx="96">
                  <c:v>2015</c:v>
                </c:pt>
                <c:pt idx="97">
                  <c:v>2015 Q2</c:v>
                </c:pt>
                <c:pt idx="98">
                  <c:v>2015 Q3</c:v>
                </c:pt>
                <c:pt idx="99">
                  <c:v>2015 Q4</c:v>
                </c:pt>
                <c:pt idx="100">
                  <c:v>2016</c:v>
                </c:pt>
                <c:pt idx="101">
                  <c:v>2016 Q2</c:v>
                </c:pt>
                <c:pt idx="102">
                  <c:v>2016 Q3</c:v>
                </c:pt>
                <c:pt idx="103">
                  <c:v>2016 Q4</c:v>
                </c:pt>
                <c:pt idx="104">
                  <c:v>2017</c:v>
                </c:pt>
                <c:pt idx="105">
                  <c:v>2017 Q2</c:v>
                </c:pt>
                <c:pt idx="106">
                  <c:v>2017 Q3</c:v>
                </c:pt>
                <c:pt idx="107">
                  <c:v>2017 Q4</c:v>
                </c:pt>
                <c:pt idx="108">
                  <c:v>2018</c:v>
                </c:pt>
                <c:pt idx="109">
                  <c:v>2018 Q2</c:v>
                </c:pt>
                <c:pt idx="110">
                  <c:v>2018 Q3</c:v>
                </c:pt>
                <c:pt idx="111">
                  <c:v>2018 Q4</c:v>
                </c:pt>
                <c:pt idx="112">
                  <c:v>2019</c:v>
                </c:pt>
                <c:pt idx="113">
                  <c:v>2019 Q2</c:v>
                </c:pt>
                <c:pt idx="114">
                  <c:v>2019 Q3</c:v>
                </c:pt>
                <c:pt idx="115">
                  <c:v>2019 Q4</c:v>
                </c:pt>
                <c:pt idx="116">
                  <c:v>2020</c:v>
                </c:pt>
                <c:pt idx="117">
                  <c:v>2020 Q2</c:v>
                </c:pt>
                <c:pt idx="118">
                  <c:v>2020 Q3</c:v>
                </c:pt>
                <c:pt idx="119">
                  <c:v>2020 Q4</c:v>
                </c:pt>
                <c:pt idx="120">
                  <c:v>2021</c:v>
                </c:pt>
                <c:pt idx="121">
                  <c:v>2021 Q2</c:v>
                </c:pt>
                <c:pt idx="122">
                  <c:v>2021 Q3</c:v>
                </c:pt>
                <c:pt idx="123">
                  <c:v>2021 Q4</c:v>
                </c:pt>
                <c:pt idx="124">
                  <c:v>2022</c:v>
                </c:pt>
                <c:pt idx="125">
                  <c:v>2022 Q2</c:v>
                </c:pt>
                <c:pt idx="126">
                  <c:v>2022 Q3</c:v>
                </c:pt>
                <c:pt idx="127">
                  <c:v>2022 Q4</c:v>
                </c:pt>
                <c:pt idx="128">
                  <c:v>2023</c:v>
                </c:pt>
                <c:pt idx="129">
                  <c:v>2023 Q2</c:v>
                </c:pt>
                <c:pt idx="130">
                  <c:v>2023 Q3</c:v>
                </c:pt>
                <c:pt idx="131">
                  <c:v>2023 Q4</c:v>
                </c:pt>
                <c:pt idx="132">
                  <c:v>2024</c:v>
                </c:pt>
                <c:pt idx="133">
                  <c:v>2024 Q2</c:v>
                </c:pt>
                <c:pt idx="134">
                  <c:v>2024 Q3</c:v>
                </c:pt>
                <c:pt idx="135">
                  <c:v>2024 Q4</c:v>
                </c:pt>
                <c:pt idx="136">
                  <c:v>2025</c:v>
                </c:pt>
                <c:pt idx="137">
                  <c:v>2025 Q2</c:v>
                </c:pt>
                <c:pt idx="138">
                  <c:v>2025 Q3</c:v>
                </c:pt>
                <c:pt idx="139">
                  <c:v>2025 Q4</c:v>
                </c:pt>
                <c:pt idx="140">
                  <c:v>2026</c:v>
                </c:pt>
                <c:pt idx="141">
                  <c:v>2026 Q2</c:v>
                </c:pt>
              </c:strCache>
            </c:strRef>
          </c:cat>
          <c:val>
            <c:numRef>
              <c:f>Sheet1!$B$2:$B$143</c:f>
              <c:numCache>
                <c:formatCode>General</c:formatCode>
                <c:ptCount val="142"/>
                <c:pt idx="0">
                  <c:v>100.3</c:v>
                </c:pt>
                <c:pt idx="1">
                  <c:v>101.0</c:v>
                </c:pt>
                <c:pt idx="2">
                  <c:v>101.3</c:v>
                </c:pt>
                <c:pt idx="3">
                  <c:v>101.9</c:v>
                </c:pt>
                <c:pt idx="4">
                  <c:v>102.7</c:v>
                </c:pt>
                <c:pt idx="5">
                  <c:v>103.1</c:v>
                </c:pt>
                <c:pt idx="6">
                  <c:v>104.1</c:v>
                </c:pt>
                <c:pt idx="7">
                  <c:v>104.7</c:v>
                </c:pt>
                <c:pt idx="8">
                  <c:v>104.2</c:v>
                </c:pt>
                <c:pt idx="9">
                  <c:v>105.9</c:v>
                </c:pt>
                <c:pt idx="10">
                  <c:v>106.9</c:v>
                </c:pt>
                <c:pt idx="11">
                  <c:v>107.5</c:v>
                </c:pt>
                <c:pt idx="12">
                  <c:v>108.0</c:v>
                </c:pt>
                <c:pt idx="13">
                  <c:v>109.6</c:v>
                </c:pt>
                <c:pt idx="14">
                  <c:v>110.5</c:v>
                </c:pt>
                <c:pt idx="15">
                  <c:v>110.6</c:v>
                </c:pt>
                <c:pt idx="16">
                  <c:v>110.8</c:v>
                </c:pt>
                <c:pt idx="17">
                  <c:v>112.2</c:v>
                </c:pt>
                <c:pt idx="18">
                  <c:v>113.5</c:v>
                </c:pt>
                <c:pt idx="19">
                  <c:v>113.6</c:v>
                </c:pt>
                <c:pt idx="20">
                  <c:v>114.1</c:v>
                </c:pt>
                <c:pt idx="21">
                  <c:v>115.8</c:v>
                </c:pt>
                <c:pt idx="22">
                  <c:v>116.7</c:v>
                </c:pt>
                <c:pt idx="23">
                  <c:v>116.7</c:v>
                </c:pt>
                <c:pt idx="24">
                  <c:v>117.0</c:v>
                </c:pt>
                <c:pt idx="25">
                  <c:v>118.9</c:v>
                </c:pt>
                <c:pt idx="26">
                  <c:v>120.0</c:v>
                </c:pt>
                <c:pt idx="27">
                  <c:v>120.5</c:v>
                </c:pt>
                <c:pt idx="28">
                  <c:v>121.6</c:v>
                </c:pt>
                <c:pt idx="29">
                  <c:v>124.3</c:v>
                </c:pt>
                <c:pt idx="30">
                  <c:v>126.2</c:v>
                </c:pt>
                <c:pt idx="31">
                  <c:v>127.4</c:v>
                </c:pt>
                <c:pt idx="32">
                  <c:v>128.8</c:v>
                </c:pt>
                <c:pt idx="33">
                  <c:v>131.8</c:v>
                </c:pt>
                <c:pt idx="34">
                  <c:v>134.1</c:v>
                </c:pt>
                <c:pt idx="35">
                  <c:v>135.1</c:v>
                </c:pt>
                <c:pt idx="36">
                  <c:v>137.1</c:v>
                </c:pt>
                <c:pt idx="37">
                  <c:v>140.6</c:v>
                </c:pt>
                <c:pt idx="38">
                  <c:v>143.1</c:v>
                </c:pt>
                <c:pt idx="39">
                  <c:v>144.6</c:v>
                </c:pt>
                <c:pt idx="40">
                  <c:v>146.7</c:v>
                </c:pt>
                <c:pt idx="41">
                  <c:v>150.4</c:v>
                </c:pt>
                <c:pt idx="42">
                  <c:v>153.1</c:v>
                </c:pt>
                <c:pt idx="43">
                  <c:v>154.3</c:v>
                </c:pt>
                <c:pt idx="44">
                  <c:v>156.3</c:v>
                </c:pt>
                <c:pt idx="45">
                  <c:v>160.6</c:v>
                </c:pt>
                <c:pt idx="46">
                  <c:v>164.1</c:v>
                </c:pt>
                <c:pt idx="47">
                  <c:v>166.1</c:v>
                </c:pt>
                <c:pt idx="48">
                  <c:v>168.3</c:v>
                </c:pt>
                <c:pt idx="49">
                  <c:v>172.6</c:v>
                </c:pt>
                <c:pt idx="50">
                  <c:v>176.6</c:v>
                </c:pt>
                <c:pt idx="51">
                  <c:v>179.0</c:v>
                </c:pt>
                <c:pt idx="52">
                  <c:v>182.0</c:v>
                </c:pt>
                <c:pt idx="53">
                  <c:v>188.7</c:v>
                </c:pt>
                <c:pt idx="54">
                  <c:v>194.1</c:v>
                </c:pt>
                <c:pt idx="55">
                  <c:v>197.1</c:v>
                </c:pt>
                <c:pt idx="56">
                  <c:v>200.8</c:v>
                </c:pt>
                <c:pt idx="57">
                  <c:v>208.6</c:v>
                </c:pt>
                <c:pt idx="58">
                  <c:v>214.7</c:v>
                </c:pt>
                <c:pt idx="59">
                  <c:v>217.1</c:v>
                </c:pt>
                <c:pt idx="60">
                  <c:v>219.2</c:v>
                </c:pt>
                <c:pt idx="61">
                  <c:v>223.5</c:v>
                </c:pt>
                <c:pt idx="62">
                  <c:v>224.4</c:v>
                </c:pt>
                <c:pt idx="63">
                  <c:v>223.1</c:v>
                </c:pt>
                <c:pt idx="64">
                  <c:v>223.2</c:v>
                </c:pt>
                <c:pt idx="65">
                  <c:v>225.9</c:v>
                </c:pt>
                <c:pt idx="66">
                  <c:v>223.3</c:v>
                </c:pt>
                <c:pt idx="67">
                  <c:v>216.9</c:v>
                </c:pt>
                <c:pt idx="68">
                  <c:v>210.9</c:v>
                </c:pt>
                <c:pt idx="69">
                  <c:v>208.1</c:v>
                </c:pt>
                <c:pt idx="70">
                  <c:v>203.0</c:v>
                </c:pt>
                <c:pt idx="71">
                  <c:v>194.7</c:v>
                </c:pt>
                <c:pt idx="72">
                  <c:v>192.6</c:v>
                </c:pt>
                <c:pt idx="73">
                  <c:v>193.2</c:v>
                </c:pt>
                <c:pt idx="74">
                  <c:v>192.7</c:v>
                </c:pt>
                <c:pt idx="75">
                  <c:v>190.4</c:v>
                </c:pt>
                <c:pt idx="76">
                  <c:v>187.1</c:v>
                </c:pt>
                <c:pt idx="77">
                  <c:v>189.9</c:v>
                </c:pt>
                <c:pt idx="78">
                  <c:v>187.2</c:v>
                </c:pt>
                <c:pt idx="79">
                  <c:v>183.1</c:v>
                </c:pt>
                <c:pt idx="80">
                  <c:v>177.3</c:v>
                </c:pt>
                <c:pt idx="81">
                  <c:v>179.5</c:v>
                </c:pt>
                <c:pt idx="82">
                  <c:v>180.6</c:v>
                </c:pt>
                <c:pt idx="83">
                  <c:v>178.3</c:v>
                </c:pt>
                <c:pt idx="84">
                  <c:v>177.1</c:v>
                </c:pt>
                <c:pt idx="85">
                  <c:v>184.2</c:v>
                </c:pt>
                <c:pt idx="86">
                  <c:v>187.0</c:v>
                </c:pt>
                <c:pt idx="87">
                  <c:v>186.9</c:v>
                </c:pt>
                <c:pt idx="88">
                  <c:v>188.8</c:v>
                </c:pt>
                <c:pt idx="89">
                  <c:v>197.2</c:v>
                </c:pt>
                <c:pt idx="90">
                  <c:v>200.7</c:v>
                </c:pt>
                <c:pt idx="91">
                  <c:v>199.5</c:v>
                </c:pt>
                <c:pt idx="92">
                  <c:v>200.1</c:v>
                </c:pt>
                <c:pt idx="93">
                  <c:v>206.7</c:v>
                </c:pt>
                <c:pt idx="94">
                  <c:v>209.2</c:v>
                </c:pt>
                <c:pt idx="95">
                  <c:v>208.5</c:v>
                </c:pt>
                <c:pt idx="96">
                  <c:v>209.8</c:v>
                </c:pt>
                <c:pt idx="97">
                  <c:v>217.4</c:v>
                </c:pt>
                <c:pt idx="98">
                  <c:v>220.1</c:v>
                </c:pt>
                <c:pt idx="99">
                  <c:v>219.8</c:v>
                </c:pt>
                <c:pt idx="100">
                  <c:v>221.2</c:v>
                </c:pt>
                <c:pt idx="101">
                  <c:v>229.2</c:v>
                </c:pt>
                <c:pt idx="102">
                  <c:v>232.6</c:v>
                </c:pt>
                <c:pt idx="103">
                  <c:v>232.7</c:v>
                </c:pt>
                <c:pt idx="104">
                  <c:v>234.6</c:v>
                </c:pt>
                <c:pt idx="105">
                  <c:v>243.4</c:v>
                </c:pt>
                <c:pt idx="106">
                  <c:v>246.9</c:v>
                </c:pt>
                <c:pt idx="107">
                  <c:v>247.1</c:v>
                </c:pt>
                <c:pt idx="108">
                  <c:v>250.9</c:v>
                </c:pt>
                <c:pt idx="109">
                  <c:v>258.5</c:v>
                </c:pt>
                <c:pt idx="110">
                  <c:v>261.4</c:v>
                </c:pt>
                <c:pt idx="111">
                  <c:v>260.6</c:v>
                </c:pt>
                <c:pt idx="112">
                  <c:v>263.2</c:v>
                </c:pt>
                <c:pt idx="113">
                  <c:v>271.3</c:v>
                </c:pt>
                <c:pt idx="114">
                  <c:v>274.1</c:v>
                </c:pt>
                <c:pt idx="115">
                  <c:v>275.0</c:v>
                </c:pt>
                <c:pt idx="116">
                  <c:v>279.6</c:v>
                </c:pt>
                <c:pt idx="117">
                  <c:v>286.6</c:v>
                </c:pt>
                <c:pt idx="118">
                  <c:v>296.6</c:v>
                </c:pt>
                <c:pt idx="119">
                  <c:v>305.5</c:v>
                </c:pt>
                <c:pt idx="120">
                  <c:v>316.0</c:v>
                </c:pt>
                <c:pt idx="121">
                  <c:v>336.8</c:v>
                </c:pt>
                <c:pt idx="122">
                  <c:v>350.4</c:v>
                </c:pt>
                <c:pt idx="123">
                  <c:v>358.3</c:v>
                </c:pt>
                <c:pt idx="124">
                  <c:v>373.3</c:v>
                </c:pt>
                <c:pt idx="125">
                  <c:v>393.3</c:v>
                </c:pt>
                <c:pt idx="126">
                  <c:v>390.5</c:v>
                </c:pt>
                <c:pt idx="127">
                  <c:v>385.3</c:v>
                </c:pt>
                <c:pt idx="128">
                  <c:v>388.6</c:v>
                </c:pt>
                <c:pt idx="129">
                  <c:v>404.4</c:v>
                </c:pt>
                <c:pt idx="130">
                  <c:v>410.5</c:v>
                </c:pt>
                <c:pt idx="131">
                  <c:v>409.4</c:v>
                </c:pt>
                <c:pt idx="132">
                  <c:v>414.1</c:v>
                </c:pt>
                <c:pt idx="133">
                  <c:v>427.8</c:v>
                </c:pt>
                <c:pt idx="134">
                  <c:v>429.1</c:v>
                </c:pt>
                <c:pt idx="135">
                  <c:v>428.8</c:v>
                </c:pt>
                <c:pt idx="136">
                  <c:v>432.6</c:v>
                </c:pt>
                <c:pt idx="137">
                  <c:v>441.0</c:v>
                </c:pt>
                <c:pt idx="138">
                  <c:v>439.5</c:v>
                </c:pt>
                <c:pt idx="139">
                  <c:v>437.9</c:v>
                </c:pt>
                <c:pt idx="140">
                  <c:v>441.2</c:v>
                </c:pt>
                <c:pt idx="141">
                  <c:v>450.9</c:v>
                </c:pt>
              </c:numCache>
            </c:numRef>
          </c:val>
          <c:smooth val="0"/>
        </c:ser>
        <c:marker val="1"/>
        <c:smooth val="0"/>
        <c:axId val="2118791784"/>
        <c:axId val="2140495176"/>
      </c:lineChart>
      <c:catAx>
        <c:axId val="2118791784"/>
        <c:scaling>
          <c:orientation val="minMax"/>
        </c:scaling>
        <c:delete val="0"/>
        <c:axPos val="b"/>
        <c:title>
          <c:tx>
            <c:rich>
              <a:bodyPr/>
              <a:lstStyle/>
              <a:p>
                <a:r>
                  <a:rPr sz="1000" b="0">
                    <a:solidFill>
                      <a:srgbClr val="8B949E"/>
                    </a:solidFill>
                    <a:latin typeface="Arial"/>
                  </a:rPr>
                  <a:t>Year</a:t>
                </a:r>
              </a:p>
            </c:rich>
          </c:tx>
          <c:layout/>
          <c:overlay val="0"/>
        </c:title>
        <c:majorTickMark val="out"/>
        <c:minorTickMark val="none"/>
        <c:tickLblPos val="nextTo"/>
        <c:spPr>
          <a:ln>
            <a:solidFill>
              <a:srgbClr val="30363D"/>
            </a:solidFill>
          </a:ln>
        </c:spPr>
        <c:txPr>
          <a:bodyPr/>
          <a:lstStyle/>
          <a:p>
            <a:pPr>
              <a:defRPr sz="1000">
                <a:solidFill>
                  <a:srgbClr val="B1BAC4"/>
                </a:solidFill>
              </a:defRPr>
            </a:pPr>
          </a:p>
        </c:txPr>
        <c:crossAx val="2140495176"/>
        <c:crosses val="autoZero"/>
        <c:auto val="1"/>
        <c:lblAlgn val="ctr"/>
        <c:lblOffset val="100"/>
        <c:tickLblSkip val="20"/>
        <c:tickMarkSkip val="20"/>
        <c:noMultiLvlLbl val="0"/>
      </c:catAx>
      <c:valAx>
        <c:axId val="2140495176"/>
        <c:scaling>
          <c:max val="600.0"/>
          <c:min val="0.0"/>
        </c:scaling>
        <c:delete val="0"/>
        <c:axPos val="l"/>
        <c:majorGridlines>
          <c:spPr>
            <a:ln w="9525">
              <a:solidFill>
                <a:srgbClr val="30363D"/>
              </a:solidFill>
            </a:ln>
          </c:spPr>
        </c:majorGridlines>
        <c:title>
          <c:tx>
            <c:rich>
              <a:bodyPr/>
              <a:lstStyle/>
              <a:p>
                <a:r>
                  <a:rPr sz="1000" b="0">
                    <a:solidFill>
                      <a:srgbClr val="8B949E"/>
                    </a:solidFill>
                    <a:latin typeface="Arial"/>
                  </a:rPr>
                  <a:t>Index level</a:t>
                </a:r>
              </a:p>
            </c:rich>
          </c:tx>
          <c:layout/>
          <c:overlay val="0"/>
        </c:title>
        <c:numFmt formatCode="0" sourceLinked="0"/>
        <c:majorTickMark val="out"/>
        <c:minorTickMark val="none"/>
        <c:tickLblPos val="nextTo"/>
        <c:spPr>
          <a:ln>
            <a:solidFill>
              <a:srgbClr val="30363D"/>
            </a:solidFill>
          </a:ln>
        </c:spPr>
        <c:txPr>
          <a:bodyPr/>
          <a:lstStyle/>
          <a:p>
            <a:pPr>
              <a:defRPr sz="1000">
                <a:solidFill>
                  <a:srgbClr val="B1BAC4"/>
                </a:solidFill>
              </a:defRPr>
            </a:pPr>
          </a:p>
        </c:txPr>
        <c:crossAx val="2118791784"/>
        <c:crosses val="autoZero"/>
      </c:valAx>
      <c:spPr>
        <a:noFill/>
        <a:ln>
          <a:noFill/>
        </a:ln>
      </c:spPr>
    </c:plotArea>
    <c:plotVisOnly val="1"/>
    <c:dispBlanksAs val="gap"/>
    <c:showDLblsOverMax val="0"/>
  </c:chart>
  <c:spPr>
    <a:noFill/>
    <a:ln>
      <a:noFill/>
    </a:ln>
  </c:spPr>
  <c:txPr>
    <a:bodyPr/>
    <a:lstStyle/>
    <a:p>
      <a:pPr>
        <a:defRPr sz="1100">
          <a:solidFill>
            <a:srgbClr val="B1BAC4"/>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Year-over-year change (%)</c:v>
                </c:pt>
              </c:strCache>
            </c:strRef>
          </c:tx>
          <c:spPr>
            <a:solidFill>
              <a:srgbClr val="58A6FF"/>
            </a:solidFill>
            <a:ln>
              <a:noFill/>
            </a:ln>
          </c:spPr>
          <c:dPt>
            <c:idx val="14"/>
            <c:invertIfNegative val="0"/>
            <c:spPr>
              <a:solidFill>
                <a:srgbClr val="F0883E"/>
              </a:solidFill>
            </c:spPr>
          </c:dPt>
          <c:dPt>
            <c:idx val="33"/>
            <c:invertIfNegative val="0"/>
            <c:spPr>
              <a:solidFill>
                <a:srgbClr val="F0883E"/>
              </a:solidFill>
            </c:spPr>
          </c:dPt>
          <c:dLbls>
            <c:dLbl>
              <c:idx val="14"/>
              <c:tx>
                <c:rich>
                  <a:bodyPr/>
                  <a:lstStyle/>
                  <a:p>
                    <a:r>
                      <a:rPr sz="1100" b="1">
                        <a:solidFill>
                          <a:srgbClr val="F0F6FC"/>
                        </a:solidFill>
                      </a:rPr>
                      <a:t>18.2%</a:t>
                    </a:r>
                  </a:p>
                </c:rich>
              </c:tx>
              <c:dLblPos val="outEnd"/>
              <c:showLegendKey val="0"/>
              <c:showVal val="1"/>
              <c:showCatName val="0"/>
              <c:showSerName val="0"/>
              <c:showPercent val="0"/>
              <c:showBubbleSize val="0"/>
            </c:dLbl>
            <c:dLbl>
              <c:idx val="33"/>
              <c:tx>
                <c:rich>
                  <a:bodyPr/>
                  <a:lstStyle/>
                  <a:p>
                    <a:r>
                      <a:rPr sz="1100" b="1">
                        <a:solidFill>
                          <a:srgbClr val="F0F6FC"/>
                        </a:solidFill>
                      </a:rPr>
                      <a:t>2.3%</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Sheet1!$A$2:$A$35</c:f>
              <c:strCache>
                <c:ptCount val="34"/>
                <c:pt idx="0">
                  <c:v>2018 Q1</c:v>
                </c:pt>
                <c:pt idx="1">
                  <c:v>2018 Q2</c:v>
                </c:pt>
                <c:pt idx="2">
                  <c:v>2018 Q3</c:v>
                </c:pt>
                <c:pt idx="3">
                  <c:v>2018 Q4</c:v>
                </c:pt>
                <c:pt idx="4">
                  <c:v>2019 Q1</c:v>
                </c:pt>
                <c:pt idx="5">
                  <c:v>2019 Q2</c:v>
                </c:pt>
                <c:pt idx="6">
                  <c:v>2019 Q3</c:v>
                </c:pt>
                <c:pt idx="7">
                  <c:v>2019 Q4</c:v>
                </c:pt>
                <c:pt idx="8">
                  <c:v>2020 Q1</c:v>
                </c:pt>
                <c:pt idx="9">
                  <c:v>2020 Q2</c:v>
                </c:pt>
                <c:pt idx="10">
                  <c:v>2020 Q3</c:v>
                </c:pt>
                <c:pt idx="11">
                  <c:v>2020 Q4</c:v>
                </c:pt>
                <c:pt idx="12">
                  <c:v>2021 Q1</c:v>
                </c:pt>
                <c:pt idx="13">
                  <c:v>2021 Q2</c:v>
                </c:pt>
                <c:pt idx="14">
                  <c:v>2021 Q3</c:v>
                </c:pt>
                <c:pt idx="15">
                  <c:v>2021 Q4</c:v>
                </c:pt>
                <c:pt idx="16">
                  <c:v>2022 Q1</c:v>
                </c:pt>
                <c:pt idx="17">
                  <c:v>2022 Q2</c:v>
                </c:pt>
                <c:pt idx="18">
                  <c:v>2022 Q3</c:v>
                </c:pt>
                <c:pt idx="19">
                  <c:v>2022 Q4</c:v>
                </c:pt>
                <c:pt idx="20">
                  <c:v>2023 Q1</c:v>
                </c:pt>
                <c:pt idx="21">
                  <c:v>2023 Q2</c:v>
                </c:pt>
                <c:pt idx="22">
                  <c:v>2023 Q3</c:v>
                </c:pt>
                <c:pt idx="23">
                  <c:v>2023 Q4</c:v>
                </c:pt>
                <c:pt idx="24">
                  <c:v>2024 Q1</c:v>
                </c:pt>
                <c:pt idx="25">
                  <c:v>2024 Q2</c:v>
                </c:pt>
                <c:pt idx="26">
                  <c:v>2024 Q3</c:v>
                </c:pt>
                <c:pt idx="27">
                  <c:v>2024 Q4</c:v>
                </c:pt>
                <c:pt idx="28">
                  <c:v>2025 Q1</c:v>
                </c:pt>
                <c:pt idx="29">
                  <c:v>2025 Q2</c:v>
                </c:pt>
                <c:pt idx="30">
                  <c:v>2025 Q3</c:v>
                </c:pt>
                <c:pt idx="31">
                  <c:v>2025 Q4</c:v>
                </c:pt>
                <c:pt idx="32">
                  <c:v>2026 Q1</c:v>
                </c:pt>
                <c:pt idx="33">
                  <c:v>2026 Q2</c:v>
                </c:pt>
              </c:strCache>
            </c:strRef>
          </c:cat>
          <c:val>
            <c:numRef>
              <c:f>Sheet1!$B$2:$B$35</c:f>
              <c:numCache>
                <c:formatCode>General</c:formatCode>
                <c:ptCount val="34"/>
                <c:pt idx="0">
                  <c:v>6.9</c:v>
                </c:pt>
                <c:pt idx="1">
                  <c:v>6.2</c:v>
                </c:pt>
                <c:pt idx="2">
                  <c:v>5.9</c:v>
                </c:pt>
                <c:pt idx="3">
                  <c:v>5.5</c:v>
                </c:pt>
                <c:pt idx="4">
                  <c:v>4.9</c:v>
                </c:pt>
                <c:pt idx="5">
                  <c:v>4.9</c:v>
                </c:pt>
                <c:pt idx="6">
                  <c:v>4.9</c:v>
                </c:pt>
                <c:pt idx="7">
                  <c:v>5.5</c:v>
                </c:pt>
                <c:pt idx="8">
                  <c:v>6.2</c:v>
                </c:pt>
                <c:pt idx="9">
                  <c:v>5.6</c:v>
                </c:pt>
                <c:pt idx="10">
                  <c:v>8.2</c:v>
                </c:pt>
                <c:pt idx="11">
                  <c:v>11.1</c:v>
                </c:pt>
                <c:pt idx="12">
                  <c:v>13.0</c:v>
                </c:pt>
                <c:pt idx="13">
                  <c:v>17.5</c:v>
                </c:pt>
                <c:pt idx="14">
                  <c:v>18.2</c:v>
                </c:pt>
                <c:pt idx="15">
                  <c:v>17.3</c:v>
                </c:pt>
                <c:pt idx="16">
                  <c:v>18.1</c:v>
                </c:pt>
                <c:pt idx="17">
                  <c:v>16.8</c:v>
                </c:pt>
                <c:pt idx="18">
                  <c:v>11.4</c:v>
                </c:pt>
                <c:pt idx="19">
                  <c:v>7.5</c:v>
                </c:pt>
                <c:pt idx="20">
                  <c:v>4.1</c:v>
                </c:pt>
                <c:pt idx="21">
                  <c:v>2.8</c:v>
                </c:pt>
                <c:pt idx="22">
                  <c:v>5.1</c:v>
                </c:pt>
                <c:pt idx="23">
                  <c:v>6.3</c:v>
                </c:pt>
                <c:pt idx="24">
                  <c:v>6.6</c:v>
                </c:pt>
                <c:pt idx="25">
                  <c:v>5.8</c:v>
                </c:pt>
                <c:pt idx="26">
                  <c:v>4.5</c:v>
                </c:pt>
                <c:pt idx="27">
                  <c:v>4.7</c:v>
                </c:pt>
                <c:pt idx="28">
                  <c:v>4.5</c:v>
                </c:pt>
                <c:pt idx="29">
                  <c:v>3.1</c:v>
                </c:pt>
                <c:pt idx="30">
                  <c:v>2.4</c:v>
                </c:pt>
                <c:pt idx="31">
                  <c:v>2.1</c:v>
                </c:pt>
                <c:pt idx="32">
                  <c:v>2.0</c:v>
                </c:pt>
                <c:pt idx="33">
                  <c:v>2.3</c:v>
                </c:pt>
              </c:numCache>
            </c:numRef>
          </c:val>
        </c:ser>
        <c:gapWidth val="40"/>
        <c:axId val="2068027336"/>
        <c:axId val="2113994440"/>
      </c:barChart>
      <c:catAx>
        <c:axId val="2068027336"/>
        <c:scaling>
          <c:orientation val="minMax"/>
        </c:scaling>
        <c:delete val="0"/>
        <c:axPos val="b"/>
        <c:title>
          <c:tx>
            <c:rich>
              <a:bodyPr/>
              <a:lstStyle/>
              <a:p>
                <a:r>
                  <a:rPr sz="1000" b="0">
                    <a:solidFill>
                      <a:srgbClr val="8B949E"/>
                    </a:solidFill>
                    <a:latin typeface="Arial"/>
                  </a:rPr>
                  <a:t>Quarter</a:t>
                </a:r>
              </a:p>
            </c:rich>
          </c:tx>
          <c:layout/>
          <c:overlay val="0"/>
        </c:title>
        <c:majorTickMark val="out"/>
        <c:minorTickMark val="none"/>
        <c:tickLblPos val="nextTo"/>
        <c:spPr>
          <a:ln>
            <a:solidFill>
              <a:srgbClr val="30363D"/>
            </a:solidFill>
          </a:ln>
        </c:spPr>
        <c:txPr>
          <a:bodyPr/>
          <a:lstStyle/>
          <a:p>
            <a:pPr>
              <a:defRPr sz="1000">
                <a:solidFill>
                  <a:srgbClr val="B1BAC4"/>
                </a:solidFill>
              </a:defRPr>
            </a:pPr>
          </a:p>
        </c:txPr>
        <c:crossAx val="2113994440"/>
        <c:crosses val="autoZero"/>
        <c:auto val="1"/>
        <c:lblAlgn val="ctr"/>
        <c:lblOffset val="100"/>
        <c:tickLblSkip val="4"/>
        <c:tickMarkSkip val="4"/>
        <c:noMultiLvlLbl val="0"/>
      </c:catAx>
      <c:valAx>
        <c:axId val="2113994440"/>
        <c:scaling>
          <c:max val="22.0"/>
          <c:min val="0.0"/>
        </c:scaling>
        <c:delete val="0"/>
        <c:axPos val="l"/>
        <c:majorGridlines>
          <c:spPr>
            <a:ln w="9525">
              <a:solidFill>
                <a:srgbClr val="30363D"/>
              </a:solidFill>
            </a:ln>
          </c:spPr>
        </c:majorGridlines>
        <c:title>
          <c:tx>
            <c:rich>
              <a:bodyPr/>
              <a:lstStyle/>
              <a:p>
                <a:r>
                  <a:rPr sz="1000" b="0">
                    <a:solidFill>
                      <a:srgbClr val="8B949E"/>
                    </a:solidFill>
                    <a:latin typeface="Arial"/>
                  </a:rPr>
                  <a:t>Change (%)</a:t>
                </a:r>
              </a:p>
            </c:rich>
          </c:tx>
          <c:layout/>
          <c:overlay val="0"/>
        </c:title>
        <c:numFmt formatCode="0&quot;%&quot;" sourceLinked="0"/>
        <c:majorTickMark val="out"/>
        <c:minorTickMark val="none"/>
        <c:tickLblPos val="nextTo"/>
        <c:spPr>
          <a:ln>
            <a:solidFill>
              <a:srgbClr val="30363D"/>
            </a:solidFill>
          </a:ln>
        </c:spPr>
        <c:txPr>
          <a:bodyPr/>
          <a:lstStyle/>
          <a:p>
            <a:pPr>
              <a:defRPr sz="1000">
                <a:solidFill>
                  <a:srgbClr val="B1BAC4"/>
                </a:solidFill>
              </a:defRPr>
            </a:pPr>
          </a:p>
        </c:txPr>
        <c:crossAx val="2068027336"/>
        <c:crosses val="autoZero"/>
      </c:valAx>
      <c:spPr>
        <a:noFill/>
        <a:ln>
          <a:noFill/>
        </a:ln>
      </c:spPr>
    </c:plotArea>
    <c:dispBlanksAs val="gap"/>
  </c:chart>
  <c:spPr>
    <a:noFill/>
    <a:ln>
      <a:noFill/>
    </a:ln>
  </c:spPr>
  <c:txPr>
    <a:bodyPr/>
    <a:lstStyle/>
    <a:p>
      <a:pPr>
        <a:defRPr sz="1100">
          <a:solidFill>
            <a:srgbClr val="B1BAC4"/>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Year-over-year change (%)</c:v>
                </c:pt>
              </c:strCache>
            </c:strRef>
          </c:tx>
          <c:spPr>
            <a:solidFill>
              <a:srgbClr val="58A6FF"/>
            </a:solidFill>
            <a:ln>
              <a:noFill/>
            </a:ln>
          </c:spPr>
          <c:invertIfNegative val="0"/>
          <c:dPt>
            <c:idx val="0"/>
            <c:invertIfNegative val="0"/>
            <c:spPr>
              <a:solidFill>
                <a:srgbClr val="F0883E"/>
              </a:solidFill>
            </c:spPr>
          </c:dPt>
          <c:dPt>
            <c:idx val="1"/>
            <c:invertIfNegative val="0"/>
            <c:spPr>
              <a:solidFill>
                <a:srgbClr val="F0883E"/>
              </a:solidFill>
            </c:spPr>
          </c:dPt>
          <c:dPt>
            <c:idx val="2"/>
            <c:invertIfNegative val="0"/>
            <c:spPr>
              <a:solidFill>
                <a:srgbClr val="F0883E"/>
              </a:solidFill>
            </c:spPr>
          </c:dPt>
          <c:dPt>
            <c:idx val="3"/>
            <c:invertIfNegative val="0"/>
            <c:spPr>
              <a:solidFill>
                <a:srgbClr val="F0883E"/>
              </a:solidFill>
            </c:spPr>
          </c:dPt>
          <c:cat>
            <c:strRef>
              <c:f>Sheet1!$A$2:$A$11</c:f>
              <c:strCache>
                <c:ptCount val="10"/>
                <c:pt idx="0">
                  <c:v>New Mexico</c:v>
                </c:pt>
                <c:pt idx="1">
                  <c:v>Washington</c:v>
                </c:pt>
                <c:pt idx="2">
                  <c:v>Colorado</c:v>
                </c:pt>
                <c:pt idx="3">
                  <c:v>California</c:v>
                </c:pt>
                <c:pt idx="4">
                  <c:v>Oregon</c:v>
                </c:pt>
                <c:pt idx="5">
                  <c:v>Illinois</c:v>
                </c:pt>
                <c:pt idx="6">
                  <c:v>West Virginia</c:v>
                </c:pt>
                <c:pt idx="7">
                  <c:v>Hawaii</c:v>
                </c:pt>
                <c:pt idx="8">
                  <c:v>Vermont</c:v>
                </c:pt>
                <c:pt idx="9">
                  <c:v>Alaska</c:v>
                </c:pt>
              </c:strCache>
            </c:strRef>
          </c:cat>
          <c:val>
            <c:numRef>
              <c:f>Sheet1!$B$2:$B$11</c:f>
              <c:numCache>
                <c:formatCode>General</c:formatCode>
                <c:ptCount val="10"/>
                <c:pt idx="0">
                  <c:v>-1.2</c:v>
                </c:pt>
                <c:pt idx="1">
                  <c:v>-1.0</c:v>
                </c:pt>
                <c:pt idx="2">
                  <c:v>-0.6</c:v>
                </c:pt>
                <c:pt idx="3">
                  <c:v>-0.3</c:v>
                </c:pt>
                <c:pt idx="4">
                  <c:v>0.2</c:v>
                </c:pt>
                <c:pt idx="5">
                  <c:v>5.5</c:v>
                </c:pt>
                <c:pt idx="6">
                  <c:v>5.7</c:v>
                </c:pt>
                <c:pt idx="7">
                  <c:v>5.9</c:v>
                </c:pt>
                <c:pt idx="8">
                  <c:v>7.2</c:v>
                </c:pt>
                <c:pt idx="9">
                  <c:v>8.3</c:v>
                </c:pt>
              </c:numCache>
            </c:numRef>
          </c:val>
        </c:ser>
        <c:dLbls>
          <c:numFmt formatCode="+0.0&quot;%&quot;;-0.0&quot;%&quot;" sourceLinked="0"/>
          <c:txPr>
            <a:bodyPr/>
            <a:lstStyle/>
            <a:p>
              <a:pPr>
                <a:defRPr sz="900">
                  <a:solidFill>
                    <a:srgbClr val="F0F6FC"/>
                  </a:solidFil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l"/>
        <c:majorTickMark val="out"/>
        <c:minorTickMark val="none"/>
        <c:tickLblPos val="low"/>
        <c:spPr>
          <a:ln>
            <a:solidFill>
              <a:srgbClr val="30363D"/>
            </a:solidFill>
          </a:ln>
        </c:spPr>
        <c:txPr>
          <a:bodyPr/>
          <a:lstStyle/>
          <a:p>
            <a:pPr>
              <a:defRPr sz="900">
                <a:solidFill>
                  <a:srgbClr val="B1BAC4"/>
                </a:solidFill>
              </a:defRPr>
            </a:pPr>
          </a:p>
        </c:txPr>
        <c:crossAx val="2113994440"/>
        <c:crosses val="autoZero"/>
        <c:auto val="1"/>
        <c:lblAlgn val="ctr"/>
        <c:lblOffset val="100"/>
        <c:tickLblSkip val="1"/>
        <c:tickMarkSkip val="1"/>
        <c:noMultiLvlLbl val="0"/>
      </c:catAx>
      <c:valAx>
        <c:axId val="2113994440"/>
        <c:scaling>
          <c:max val="12.0"/>
          <c:min val="-4.0"/>
        </c:scaling>
        <c:delete val="0"/>
        <c:axPos val="b"/>
        <c:majorGridlines>
          <c:spPr>
            <a:ln w="9525">
              <a:solidFill>
                <a:srgbClr val="30363D"/>
              </a:solidFill>
            </a:ln>
          </c:spPr>
        </c:majorGridlines>
        <c:title>
          <c:tx>
            <c:rich>
              <a:bodyPr/>
              <a:lstStyle/>
              <a:p>
                <a:r>
                  <a:rPr sz="1000" b="0">
                    <a:solidFill>
                      <a:srgbClr val="8B949E"/>
                    </a:solidFill>
                    <a:latin typeface="Arial"/>
                  </a:rPr>
                  <a:t>Change from 2025 Q2 to 2026 Q2 (%)</a:t>
                </a:r>
              </a:p>
            </c:rich>
          </c:tx>
          <c:layout/>
          <c:overlay val="0"/>
        </c:title>
        <c:numFmt formatCode="0&quot;%&quot;" sourceLinked="0"/>
        <c:majorTickMark val="out"/>
        <c:minorTickMark val="none"/>
        <c:tickLblPos val="nextTo"/>
        <c:spPr>
          <a:ln>
            <a:solidFill>
              <a:srgbClr val="30363D"/>
            </a:solidFill>
          </a:ln>
        </c:spPr>
        <c:txPr>
          <a:bodyPr/>
          <a:lstStyle/>
          <a:p>
            <a:pPr>
              <a:defRPr sz="1000">
                <a:solidFill>
                  <a:srgbClr val="B1BAC4"/>
                </a:solidFill>
              </a:defRPr>
            </a:pPr>
          </a:p>
        </c:txPr>
        <c:crossAx val="2068027336"/>
        <c:crosses val="autoZero"/>
        <c:majorUnit val="2.0"/>
      </c:valAx>
      <c:spPr>
        <a:noFill/>
        <a:ln>
          <a:noFill/>
        </a:ln>
      </c:spPr>
    </c:plotArea>
    <c:dispBlanksAs val="gap"/>
  </c:chart>
  <c:spPr>
    <a:noFill/>
    <a:ln>
      <a:noFill/>
    </a:ln>
  </c:spPr>
  <c:txPr>
    <a:bodyPr/>
    <a:lstStyle/>
    <a:p>
      <a:pPr>
        <a:defRPr sz="1100">
          <a:solidFill>
            <a:srgbClr val="B1BAC4"/>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Year-over-year change (%)</c:v>
                </c:pt>
              </c:strCache>
            </c:strRef>
          </c:tx>
          <c:spPr>
            <a:solidFill>
              <a:srgbClr val="58A6FF"/>
            </a:solidFill>
            <a:ln>
              <a:noFill/>
            </a:ln>
          </c:spPr>
          <c:invertIfNegative val="0"/>
          <c:dPt>
            <c:idx val="0"/>
            <c:invertIfNegative val="0"/>
            <c:spPr>
              <a:solidFill>
                <a:srgbClr val="F0883E"/>
              </a:solidFill>
            </c:spPr>
          </c:dPt>
          <c:dPt>
            <c:idx val="1"/>
            <c:invertIfNegative val="0"/>
            <c:spPr>
              <a:solidFill>
                <a:srgbClr val="F0883E"/>
              </a:solidFill>
            </c:spPr>
          </c:dPt>
          <c:dPt>
            <c:idx val="2"/>
            <c:invertIfNegative val="0"/>
            <c:spPr>
              <a:solidFill>
                <a:srgbClr val="F0883E"/>
              </a:solidFill>
            </c:spPr>
          </c:dPt>
          <c:dPt>
            <c:idx val="3"/>
            <c:invertIfNegative val="0"/>
            <c:spPr>
              <a:solidFill>
                <a:srgbClr val="F0883E"/>
              </a:solidFill>
            </c:spPr>
          </c:dPt>
          <c:dPt>
            <c:idx val="4"/>
            <c:invertIfNegative val="0"/>
            <c:spPr>
              <a:solidFill>
                <a:srgbClr val="F0883E"/>
              </a:solidFill>
            </c:spPr>
          </c:dPt>
          <c:cat>
            <c:strRef>
              <c:f>Sheet1!$A$2:$A$11</c:f>
              <c:strCache>
                <c:ptCount val="10"/>
                <c:pt idx="0">
                  <c:v>Everett, WA</c:v>
                </c:pt>
                <c:pt idx="1">
                  <c:v>San Antonio, TX</c:v>
                </c:pt>
                <c:pt idx="2">
                  <c:v>Bakersfield, CA</c:v>
                </c:pt>
                <c:pt idx="3">
                  <c:v>Seattle, WA</c:v>
                </c:pt>
                <c:pt idx="4">
                  <c:v>Tucson, AZ</c:v>
                </c:pt>
                <c:pt idx="5">
                  <c:v>El Paso, TX</c:v>
                </c:pt>
                <c:pt idx="6">
                  <c:v>Charleston, SC</c:v>
                </c:pt>
                <c:pt idx="7">
                  <c:v>Bridgeport, CT</c:v>
                </c:pt>
                <c:pt idx="8">
                  <c:v>Allentown, PA</c:v>
                </c:pt>
                <c:pt idx="9">
                  <c:v>Elgin, IL</c:v>
                </c:pt>
              </c:strCache>
            </c:strRef>
          </c:cat>
          <c:val>
            <c:numRef>
              <c:f>Sheet1!$B$2:$B$11</c:f>
              <c:numCache>
                <c:formatCode>General</c:formatCode>
                <c:ptCount val="10"/>
                <c:pt idx="0">
                  <c:v>-3.9</c:v>
                </c:pt>
                <c:pt idx="1">
                  <c:v>-3.0</c:v>
                </c:pt>
                <c:pt idx="2">
                  <c:v>-2.5</c:v>
                </c:pt>
                <c:pt idx="3">
                  <c:v>-2.5</c:v>
                </c:pt>
                <c:pt idx="4">
                  <c:v>-2.4</c:v>
                </c:pt>
                <c:pt idx="5">
                  <c:v>6.2</c:v>
                </c:pt>
                <c:pt idx="6">
                  <c:v>6.4</c:v>
                </c:pt>
                <c:pt idx="7">
                  <c:v>6.5</c:v>
                </c:pt>
                <c:pt idx="8">
                  <c:v>6.9</c:v>
                </c:pt>
                <c:pt idx="9">
                  <c:v>7.5</c:v>
                </c:pt>
              </c:numCache>
            </c:numRef>
          </c:val>
        </c:ser>
        <c:dLbls>
          <c:numFmt formatCode="+0.0&quot;%&quot;;-0.0&quot;%&quot;" sourceLinked="0"/>
          <c:txPr>
            <a:bodyPr/>
            <a:lstStyle/>
            <a:p>
              <a:pPr>
                <a:defRPr sz="900">
                  <a:solidFill>
                    <a:srgbClr val="F0F6FC"/>
                  </a:solidFil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l"/>
        <c:majorTickMark val="out"/>
        <c:minorTickMark val="none"/>
        <c:tickLblPos val="low"/>
        <c:spPr>
          <a:ln>
            <a:solidFill>
              <a:srgbClr val="30363D"/>
            </a:solidFill>
          </a:ln>
        </c:spPr>
        <c:txPr>
          <a:bodyPr/>
          <a:lstStyle/>
          <a:p>
            <a:pPr>
              <a:defRPr sz="900">
                <a:solidFill>
                  <a:srgbClr val="B1BAC4"/>
                </a:solidFill>
              </a:defRPr>
            </a:pPr>
          </a:p>
        </c:txPr>
        <c:crossAx val="2113994440"/>
        <c:crosses val="autoZero"/>
        <c:auto val="1"/>
        <c:lblAlgn val="ctr"/>
        <c:lblOffset val="100"/>
        <c:tickLblSkip val="1"/>
        <c:tickMarkSkip val="1"/>
        <c:noMultiLvlLbl val="0"/>
      </c:catAx>
      <c:valAx>
        <c:axId val="2113994440"/>
        <c:scaling>
          <c:max val="10.0"/>
          <c:min val="-6.0"/>
        </c:scaling>
        <c:delete val="0"/>
        <c:axPos val="b"/>
        <c:majorGridlines>
          <c:spPr>
            <a:ln w="9525">
              <a:solidFill>
                <a:srgbClr val="30363D"/>
              </a:solidFill>
            </a:ln>
          </c:spPr>
        </c:majorGridlines>
        <c:title>
          <c:tx>
            <c:rich>
              <a:bodyPr/>
              <a:lstStyle/>
              <a:p>
                <a:r>
                  <a:rPr sz="1000" b="0">
                    <a:solidFill>
                      <a:srgbClr val="8B949E"/>
                    </a:solidFill>
                    <a:latin typeface="Arial"/>
                  </a:rPr>
                  <a:t>Change from 2025 Q2 to 2026 Q2 (%)</a:t>
                </a:r>
              </a:p>
            </c:rich>
          </c:tx>
          <c:layout/>
          <c:overlay val="0"/>
        </c:title>
        <c:numFmt formatCode="0&quot;%&quot;" sourceLinked="0"/>
        <c:majorTickMark val="out"/>
        <c:minorTickMark val="none"/>
        <c:tickLblPos val="nextTo"/>
        <c:spPr>
          <a:ln>
            <a:solidFill>
              <a:srgbClr val="30363D"/>
            </a:solidFill>
          </a:ln>
        </c:spPr>
        <c:txPr>
          <a:bodyPr/>
          <a:lstStyle/>
          <a:p>
            <a:pPr>
              <a:defRPr sz="1000">
                <a:solidFill>
                  <a:srgbClr val="B1BAC4"/>
                </a:solidFill>
              </a:defRPr>
            </a:pPr>
          </a:p>
        </c:txPr>
        <c:crossAx val="2068027336"/>
        <c:crosses val="autoZero"/>
        <c:majorUnit val="2.0"/>
      </c:valAx>
      <c:spPr>
        <a:noFill/>
        <a:ln>
          <a:noFill/>
        </a:ln>
      </c:spPr>
    </c:plotArea>
    <c:dispBlanksAs val="gap"/>
  </c:chart>
  <c:spPr>
    <a:noFill/>
    <a:ln>
      <a:noFill/>
    </a:ln>
  </c:spPr>
  <c:txPr>
    <a:bodyPr/>
    <a:lstStyle/>
    <a:p>
      <a:pPr>
        <a:defRPr sz="1100">
          <a:solidFill>
            <a:srgbClr val="B1BAC4"/>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Home purchase</c:v>
                </c:pt>
              </c:strCache>
            </c:strRef>
          </c:tx>
          <c:spPr>
            <a:solidFill>
              <a:srgbClr val="58A6FF"/>
            </a:solidFill>
            <a:ln>
              <a:noFill/>
            </a:ln>
          </c:spPr>
          <c:cat>
            <c:strRef>
              <c:f>Sheet1!$A$2:$A$9</c:f>
              <c:strCache>
                <c:ptCount val="8"/>
                <c:pt idx="0">
                  <c:v>2018</c:v>
                </c:pt>
                <c:pt idx="1">
                  <c:v>2019</c:v>
                </c:pt>
                <c:pt idx="2">
                  <c:v>2020</c:v>
                </c:pt>
                <c:pt idx="3">
                  <c:v>2021</c:v>
                </c:pt>
                <c:pt idx="4">
                  <c:v>2022</c:v>
                </c:pt>
                <c:pt idx="5">
                  <c:v>2023</c:v>
                </c:pt>
                <c:pt idx="6">
                  <c:v>2024</c:v>
                </c:pt>
                <c:pt idx="7">
                  <c:v>2025</c:v>
                </c:pt>
              </c:strCache>
            </c:strRef>
          </c:cat>
          <c:val>
            <c:numRef>
              <c:f>Sheet1!$B$2:$B$9</c:f>
              <c:numCache>
                <c:formatCode>General</c:formatCode>
                <c:ptCount val="8"/>
                <c:pt idx="0">
                  <c:v>4.34</c:v>
                </c:pt>
                <c:pt idx="1">
                  <c:v>4.51</c:v>
                </c:pt>
                <c:pt idx="2">
                  <c:v>4.91</c:v>
                </c:pt>
                <c:pt idx="3">
                  <c:v>5.38</c:v>
                </c:pt>
                <c:pt idx="4">
                  <c:v>4.37</c:v>
                </c:pt>
                <c:pt idx="5">
                  <c:v>3.44</c:v>
                </c:pt>
                <c:pt idx="6">
                  <c:v>3.52</c:v>
                </c:pt>
                <c:pt idx="7">
                  <c:v>3.58</c:v>
                </c:pt>
              </c:numCache>
            </c:numRef>
          </c:val>
        </c:ser>
        <c:ser>
          <c:idx val="1"/>
          <c:order val="1"/>
          <c:tx>
            <c:strRef>
              <c:f>Sheet1!$C$1</c:f>
              <c:strCache>
                <c:ptCount val="1"/>
                <c:pt idx="0">
                  <c:v>Refinance</c:v>
                </c:pt>
              </c:strCache>
            </c:strRef>
          </c:tx>
          <c:spPr>
            <a:solidFill>
              <a:srgbClr val="F0883E"/>
            </a:solidFill>
            <a:ln>
              <a:noFill/>
            </a:ln>
          </c:spPr>
          <c:cat>
            <c:strRef>
              <c:f>Sheet1!$A$2:$A$9</c:f>
              <c:strCache>
                <c:ptCount val="8"/>
                <c:pt idx="0">
                  <c:v>2018</c:v>
                </c:pt>
                <c:pt idx="1">
                  <c:v>2019</c:v>
                </c:pt>
                <c:pt idx="2">
                  <c:v>2020</c:v>
                </c:pt>
                <c:pt idx="3">
                  <c:v>2021</c:v>
                </c:pt>
                <c:pt idx="4">
                  <c:v>2022</c:v>
                </c:pt>
                <c:pt idx="5">
                  <c:v>2023</c:v>
                </c:pt>
                <c:pt idx="6">
                  <c:v>2024</c:v>
                </c:pt>
                <c:pt idx="7">
                  <c:v>2025</c:v>
                </c:pt>
              </c:strCache>
            </c:strRef>
          </c:cat>
          <c:val>
            <c:numRef>
              <c:f>Sheet1!$C$2:$C$9</c:f>
              <c:numCache>
                <c:formatCode>General</c:formatCode>
                <c:ptCount val="8"/>
                <c:pt idx="0">
                  <c:v>1.1</c:v>
                </c:pt>
                <c:pt idx="1">
                  <c:v>2.28</c:v>
                </c:pt>
                <c:pt idx="2">
                  <c:v>6.69</c:v>
                </c:pt>
                <c:pt idx="3">
                  <c:v>5.7</c:v>
                </c:pt>
                <c:pt idx="4">
                  <c:v>1.08</c:v>
                </c:pt>
                <c:pt idx="5">
                  <c:v>0.43</c:v>
                </c:pt>
                <c:pt idx="6">
                  <c:v>0.7</c:v>
                </c:pt>
                <c:pt idx="7">
                  <c:v>1.04</c:v>
                </c:pt>
              </c:numCache>
            </c:numRef>
          </c:val>
        </c:ser>
        <c:ser>
          <c:idx val="2"/>
          <c:order val="2"/>
          <c:tx>
            <c:strRef>
              <c:f>Sheet1!$D$1</c:f>
              <c:strCache>
                <c:ptCount val="1"/>
                <c:pt idx="0">
                  <c:v>Cash-out refinance</c:v>
                </c:pt>
              </c:strCache>
            </c:strRef>
          </c:tx>
          <c:spPr>
            <a:solidFill>
              <a:srgbClr val="8B949E"/>
            </a:solidFill>
            <a:ln>
              <a:noFill/>
            </a:ln>
          </c:spPr>
          <c:cat>
            <c:strRef>
              <c:f>Sheet1!$A$2:$A$9</c:f>
              <c:strCache>
                <c:ptCount val="8"/>
                <c:pt idx="0">
                  <c:v>2018</c:v>
                </c:pt>
                <c:pt idx="1">
                  <c:v>2019</c:v>
                </c:pt>
                <c:pt idx="2">
                  <c:v>2020</c:v>
                </c:pt>
                <c:pt idx="3">
                  <c:v>2021</c:v>
                </c:pt>
                <c:pt idx="4">
                  <c:v>2022</c:v>
                </c:pt>
                <c:pt idx="5">
                  <c:v>2023</c:v>
                </c:pt>
                <c:pt idx="6">
                  <c:v>2024</c:v>
                </c:pt>
                <c:pt idx="7">
                  <c:v>2025</c:v>
                </c:pt>
              </c:strCache>
            </c:strRef>
          </c:cat>
          <c:val>
            <c:numRef>
              <c:f>Sheet1!$D$2:$D$9</c:f>
              <c:numCache>
                <c:formatCode>General</c:formatCode>
                <c:ptCount val="8"/>
                <c:pt idx="0">
                  <c:v>1.2</c:v>
                </c:pt>
                <c:pt idx="1">
                  <c:v>1.5</c:v>
                </c:pt>
                <c:pt idx="2">
                  <c:v>2.17</c:v>
                </c:pt>
                <c:pt idx="3">
                  <c:v>3.0</c:v>
                </c:pt>
                <c:pt idx="4">
                  <c:v>1.55</c:v>
                </c:pt>
                <c:pt idx="5">
                  <c:v>0.65</c:v>
                </c:pt>
                <c:pt idx="6">
                  <c:v>0.77</c:v>
                </c:pt>
                <c:pt idx="7">
                  <c:v>0.95</c:v>
                </c:pt>
              </c:numCache>
            </c:numRef>
          </c:val>
        </c:ser>
        <c:gapWidth val="60"/>
        <c:axId val="2068027336"/>
        <c:axId val="2113994440"/>
      </c:barChart>
      <c:catAx>
        <c:axId val="2068027336"/>
        <c:scaling>
          <c:orientation val="minMax"/>
        </c:scaling>
        <c:delete val="0"/>
        <c:axPos val="b"/>
        <c:title>
          <c:tx>
            <c:rich>
              <a:bodyPr/>
              <a:lstStyle/>
              <a:p>
                <a:r>
                  <a:rPr sz="1000" b="0">
                    <a:solidFill>
                      <a:srgbClr val="8B949E"/>
                    </a:solidFill>
                    <a:latin typeface="Arial"/>
                  </a:rPr>
                  <a:t>HMDA reporting year</a:t>
                </a:r>
              </a:p>
            </c:rich>
          </c:tx>
          <c:layout/>
          <c:overlay val="0"/>
        </c:title>
        <c:majorTickMark val="out"/>
        <c:minorTickMark val="none"/>
        <c:tickLblPos val="nextTo"/>
        <c:spPr>
          <a:ln>
            <a:solidFill>
              <a:srgbClr val="30363D"/>
            </a:solidFill>
          </a:ln>
        </c:spPr>
        <c:txPr>
          <a:bodyPr/>
          <a:lstStyle/>
          <a:p>
            <a:pPr>
              <a:defRPr sz="1000">
                <a:solidFill>
                  <a:srgbClr val="B1BAC4"/>
                </a:solidFill>
              </a:defRPr>
            </a:pPr>
          </a:p>
        </c:txPr>
        <c:crossAx val="2113994440"/>
        <c:crosses val="autoZero"/>
        <c:auto val="1"/>
        <c:lblAlgn val="ctr"/>
        <c:lblOffset val="100"/>
        <c:noMultiLvlLbl val="0"/>
      </c:catAx>
      <c:valAx>
        <c:axId val="2113994440"/>
        <c:scaling>
          <c:min val="0.0"/>
        </c:scaling>
        <c:delete val="0"/>
        <c:axPos val="l"/>
        <c:majorGridlines>
          <c:spPr>
            <a:ln w="9525">
              <a:solidFill>
                <a:srgbClr val="30363D"/>
              </a:solidFill>
            </a:ln>
          </c:spPr>
        </c:majorGridlines>
        <c:title>
          <c:tx>
            <c:rich>
              <a:bodyPr/>
              <a:lstStyle/>
              <a:p>
                <a:r>
                  <a:rPr sz="1000" b="0">
                    <a:solidFill>
                      <a:srgbClr val="8B949E"/>
                    </a:solidFill>
                    <a:latin typeface="Arial"/>
                  </a:rPr>
                  <a:t>Loans (millions)</a:t>
                </a:r>
              </a:p>
            </c:rich>
          </c:tx>
          <c:layout/>
          <c:overlay val="0"/>
        </c:title>
        <c:numFmt formatCode="0.0" sourceLinked="0"/>
        <c:majorTickMark val="out"/>
        <c:minorTickMark val="none"/>
        <c:tickLblPos val="nextTo"/>
        <c:spPr>
          <a:ln>
            <a:solidFill>
              <a:srgbClr val="30363D"/>
            </a:solidFill>
          </a:ln>
        </c:spPr>
        <c:txPr>
          <a:bodyPr/>
          <a:lstStyle/>
          <a:p>
            <a:pPr>
              <a:defRPr sz="1000">
                <a:solidFill>
                  <a:srgbClr val="B1BAC4"/>
                </a:solidFill>
              </a:defRPr>
            </a:pPr>
          </a:p>
        </c:txPr>
        <c:crossAx val="2068027336"/>
        <c:crosses val="autoZero"/>
      </c:valAx>
      <c:spPr>
        <a:noFill/>
        <a:ln>
          <a:noFill/>
        </a:ln>
      </c:spPr>
    </c:plotArea>
    <c:legend>
      <c:legendPos val="t"/>
      <c:overlay val="0"/>
      <c:txPr>
        <a:bodyPr/>
        <a:lstStyle/>
        <a:p>
          <a:pPr>
            <a:defRPr sz="1100">
              <a:solidFill>
                <a:srgbClr val="B1BAC4"/>
              </a:solidFill>
            </a:defRPr>
          </a:pPr>
        </a:p>
      </c:txPr>
    </c:legend>
    <c:dispBlanksAs val="gap"/>
  </c:chart>
  <c:spPr>
    <a:noFill/>
    <a:ln>
      <a:noFill/>
    </a:ln>
  </c:spPr>
  <c:txPr>
    <a:bodyPr/>
    <a:lstStyle/>
    <a:p>
      <a:pPr>
        <a:defRPr sz="1100">
          <a:solidFill>
            <a:srgbClr val="B1BAC4"/>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3454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572000"/>
            <a:ext cx="5486400" cy="4114800"/>
          </a:xfrm>
        </p:spPr>
        <p:txBody>
          <a:bodyPr/>
          <a:lstStyle/>
          <a:p>
            <a:r>
              <a:t>This briefing uses public FHFA house price index data through 2026 Q2 and CFPB HMDA mortgage data for 2018 to 2025. The U.S. index is 450.9, where 1991 Q1 equals 100. The index shows price change, not dollar prices. Prices are 64.0% above 2019 Q4, the last quarter before the pandemic. Compared with 2025 Q2, they rose 2.3%. Each U.S. quarterly value is the average of the three monthly values.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572000"/>
            <a:ext cx="5486400" cy="4114800"/>
          </a:xfrm>
        </p:spPr>
        <p:txBody>
          <a:bodyPr/>
          <a:lstStyle/>
          <a:p>
            <a:r>
              <a:t>The line shows the U.S. purchase-only house price index since 1991. In 2019 Q4 the index was 275.0. In 2026 Q2 it is 450.9, an increase of 64.0%. The steepest climb was from 2020 to 2022. Since then the line continues to go up, but more slowly. This is an index of price change, not an average dollar price.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572000"/>
            <a:ext cx="5486400" cy="4114800"/>
          </a:xfrm>
        </p:spPr>
        <p:txBody>
          <a:bodyPr/>
          <a:lstStyle/>
          <a:p>
            <a:r>
              <a:t>Each bar shows how much U.S. prices changed compared with the same quarter one year earlier. Growth peaked at 18.2% in 2021 Q3. In 2026 Q2 it is 2.3%. The two orange bars mark the peak and the latest quarter. At the national level prices did not fall; the rate of increase became smaller.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572000"/>
            <a:ext cx="5486400" cy="4114800"/>
          </a:xfrm>
        </p:spPr>
        <p:txBody>
          <a:bodyPr/>
          <a:lstStyle/>
          <a:p>
            <a:r>
              <a:t>These are the five states with the largest and the five with the smallest year-over-year change in 2026 Q2. Top five: Alaska +8.3%, Vermont +7.2%, Hawaii +5.9%, West Virginia +5.7%, Illinois +5.5%. Bottom five: New Mexico -1.2%, Washington -1.0%, Colorado -0.6%, California -0.3%, Oregon +0.2%. 4 of 51 states and DC had a decrease. Four of the five slowest states are in the West.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572000"/>
            <a:ext cx="5486400" cy="4114800"/>
          </a:xfrm>
        </p:spPr>
        <p:txBody>
          <a:bodyPr/>
          <a:lstStyle/>
          <a:p>
            <a:r>
              <a:t>These are the five metros with the largest and the five with the smallest year-over-year change in 2026 Q2, out of the 100 largest metros in the FHFA file. Some are metro divisions. Labels use the first city name. Top five: Elgin, IL (MSAD) +7.5%, Allentown-Bethlehem-Easton, PA-NJ +6.9%, Bridgeport-Stamford-Danbury, CT +6.5%, Charleston-North Charleston, SC +6.4%, El Paso, TX +6.2%. Bottom five: Everett, WA (MSAD) -3.9%, San Antonio-New Braunfels, TX -3.0%, Bakersfield-Delano, CA -2.5%, Seattle-Bellevue-Kent, WA (MSAD) -2.5%, Tucson, AZ -2.4%. 26 of 100 metros had a decrease.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572000"/>
            <a:ext cx="5486400" cy="4114800"/>
          </a:xfrm>
        </p:spPr>
        <p:txBody>
          <a:bodyPr/>
          <a:lstStyle/>
          <a:p>
            <a:r>
              <a:t>This chart uses CFPB HMDA data for originated loans only. Home purchase loans: 4.34 million in 2018, a high of 5.38 million in 2021, and 3.58 million in 2025. Refinance plus cash-out refinance: 2.30 million in 2018, 8.86 million at the 2020 peak, 1.08 million at the low in 2023, and 1.99 million in 2025. In 2020 and 2021 there were more refinance loans than home purchase loans. Since 2022 home purchase loans are the larger group.</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4572000"/>
            <a:ext cx="5486400" cy="4114800"/>
          </a:xfrm>
        </p:spPr>
        <p:txBody>
          <a:bodyPr/>
          <a:lstStyle/>
          <a:p>
            <a:r>
              <a:t>First, U.S. prices are 64.0% above 2019 Q4 and rose 2.3% in the last year. Second, the change is uneven: 4 states and 26 of the 100 largest metros show a decrease, while Alaska rose 8.3%. Third, refinance and cash-out refinance originations in 2025 were 78% below the 2020 peak, and home purchase originations were 18% below 2018. These are facts from the data, not forecasts.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chart" Target="../charts/char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chart" Target="../charts/char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7004304" y="146304"/>
            <a:ext cx="1536192" cy="283464"/>
          </a:xfrm>
          <a:prstGeom prst="roundRect">
            <a:avLst>
              <a:gd name="adj" fmla="val 19000"/>
            </a:avLst>
          </a:prstGeom>
          <a:solidFill>
            <a:srgbClr val="1A5D2A"/>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004304" y="146304"/>
            <a:ext cx="1536192" cy="283464"/>
          </a:xfrm>
          <a:prstGeom prst="rect">
            <a:avLst/>
          </a:prstGeom>
          <a:noFill/>
        </p:spPr>
        <p:txBody>
          <a:bodyPr wrap="square" lIns="0" rIns="0" tIns="0" bIns="0" anchor="ctr"/>
          <a:lstStyle/>
          <a:p>
            <a:pPr algn="ctr"/>
            <a:r>
              <a:rPr sz="1000" b="1">
                <a:solidFill>
                  <a:srgbClr val="FFFFFF"/>
                </a:solidFill>
                <a:latin typeface="Arial"/>
              </a:rPr>
              <a:t>Data through 2026 Q2</a:t>
            </a:r>
          </a:p>
        </p:txBody>
      </p:sp>
      <p:pic>
        <p:nvPicPr>
          <p:cNvPr id="4" name="Picture 3" descr=".logo.png"/>
          <p:cNvPicPr>
            <a:picLocks noChangeAspect="1"/>
          </p:cNvPicPr>
          <p:nvPr/>
        </p:nvPicPr>
        <p:blipFill>
          <a:blip r:embed="rId2"/>
          <a:stretch>
            <a:fillRect/>
          </a:stretch>
        </p:blipFill>
        <p:spPr>
          <a:xfrm>
            <a:off x="8668512" y="137160"/>
            <a:ext cx="301752" cy="301752"/>
          </a:xfrm>
          <a:prstGeom prst="rect">
            <a:avLst/>
          </a:prstGeom>
        </p:spPr>
      </p:pic>
      <p:sp>
        <p:nvSpPr>
          <p:cNvPr id="5" name="TextBox 4"/>
          <p:cNvSpPr txBox="1"/>
          <p:nvPr/>
        </p:nvSpPr>
        <p:spPr>
          <a:xfrm>
            <a:off x="484632" y="384048"/>
            <a:ext cx="6400800" cy="182880"/>
          </a:xfrm>
          <a:prstGeom prst="rect">
            <a:avLst/>
          </a:prstGeom>
          <a:noFill/>
        </p:spPr>
        <p:txBody>
          <a:bodyPr wrap="square" lIns="0" rIns="0" tIns="0" bIns="0" anchor="t"/>
          <a:lstStyle/>
          <a:p>
            <a:pPr algn="l"/>
            <a:r>
              <a:rPr sz="1100" b="1">
                <a:solidFill>
                  <a:srgbClr val="2EA043"/>
                </a:solidFill>
                <a:latin typeface="Arial"/>
              </a:rPr>
              <a:t>U.S. HOUSING MARKET BRIEFING</a:t>
            </a:r>
          </a:p>
        </p:txBody>
      </p:sp>
      <p:sp>
        <p:nvSpPr>
          <p:cNvPr id="6" name="TextBox 5"/>
          <p:cNvSpPr txBox="1"/>
          <p:nvPr/>
        </p:nvSpPr>
        <p:spPr>
          <a:xfrm>
            <a:off x="484632" y="4791456"/>
            <a:ext cx="8138160" cy="182880"/>
          </a:xfrm>
          <a:prstGeom prst="rect">
            <a:avLst/>
          </a:prstGeom>
          <a:noFill/>
        </p:spPr>
        <p:txBody>
          <a:bodyPr wrap="square" lIns="0" rIns="0" tIns="0" bIns="0" anchor="t"/>
          <a:lstStyle/>
          <a:p>
            <a:pPr algn="l"/>
            <a:r>
              <a:rPr sz="800" b="0">
                <a:solidFill>
                  <a:srgbClr val="8B949E"/>
                </a:solidFill>
                <a:latin typeface="Arial"/>
              </a:rPr>
              <a:t>Built from public FHFA and CFPB data. Not an official Fannie Mae, FHFA, or CFPB product.</a:t>
            </a:r>
          </a:p>
        </p:txBody>
      </p:sp>
      <p:sp>
        <p:nvSpPr>
          <p:cNvPr id="7" name="Rectangle 6"/>
          <p:cNvSpPr/>
          <p:nvPr/>
        </p:nvSpPr>
        <p:spPr>
          <a:xfrm>
            <a:off x="484632" y="914400"/>
            <a:ext cx="713232" cy="64008"/>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 y="1143000"/>
            <a:ext cx="8138160" cy="914400"/>
          </a:xfrm>
          <a:prstGeom prst="rect">
            <a:avLst/>
          </a:prstGeom>
          <a:noFill/>
        </p:spPr>
        <p:txBody>
          <a:bodyPr wrap="square" lIns="0" rIns="0" tIns="0" bIns="0" anchor="t"/>
          <a:lstStyle/>
          <a:p>
            <a:pPr algn="l"/>
            <a:r>
              <a:rPr sz="3000" b="1">
                <a:solidFill>
                  <a:srgbClr val="F0F6FC"/>
                </a:solidFill>
                <a:latin typeface="Arial"/>
              </a:rPr>
              <a:t>U.S. home prices are 64% above 2019 Q4, but annual growth has slowed to 2.3%</a:t>
            </a:r>
          </a:p>
        </p:txBody>
      </p:sp>
      <p:sp>
        <p:nvSpPr>
          <p:cNvPr id="9" name="TextBox 8"/>
          <p:cNvSpPr txBox="1"/>
          <p:nvPr/>
        </p:nvSpPr>
        <p:spPr>
          <a:xfrm>
            <a:off x="484632" y="2148840"/>
            <a:ext cx="8138160" cy="274320"/>
          </a:xfrm>
          <a:prstGeom prst="rect">
            <a:avLst/>
          </a:prstGeom>
          <a:noFill/>
        </p:spPr>
        <p:txBody>
          <a:bodyPr wrap="square" lIns="0" rIns="0" tIns="0" bIns="0" anchor="t"/>
          <a:lstStyle/>
          <a:p>
            <a:pPr algn="l"/>
            <a:r>
              <a:rPr sz="1400" b="0">
                <a:solidFill>
                  <a:srgbClr val="B1BAC4"/>
                </a:solidFill>
                <a:latin typeface="Arial"/>
              </a:rPr>
              <a:t>Where prices are, how fast they change, who leads, and how mortgage lending changed.</a:t>
            </a:r>
          </a:p>
        </p:txBody>
      </p:sp>
      <p:sp>
        <p:nvSpPr>
          <p:cNvPr id="10" name="Rounded Rectangle 9"/>
          <p:cNvSpPr/>
          <p:nvPr/>
        </p:nvSpPr>
        <p:spPr>
          <a:xfrm>
            <a:off x="484632" y="2697480"/>
            <a:ext cx="2560320" cy="160020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4632" y="2697480"/>
            <a:ext cx="2560320" cy="54864"/>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26080"/>
            <a:ext cx="2194560" cy="548640"/>
          </a:xfrm>
          <a:prstGeom prst="rect">
            <a:avLst/>
          </a:prstGeom>
          <a:noFill/>
        </p:spPr>
        <p:txBody>
          <a:bodyPr wrap="square" lIns="0" rIns="0" tIns="0" bIns="0" anchor="t"/>
          <a:lstStyle/>
          <a:p>
            <a:pPr algn="l"/>
            <a:r>
              <a:rPr sz="3200" b="1">
                <a:solidFill>
                  <a:srgbClr val="F0F6FC"/>
                </a:solidFill>
                <a:latin typeface="Arial"/>
              </a:rPr>
              <a:t>450.9</a:t>
            </a:r>
          </a:p>
        </p:txBody>
      </p:sp>
      <p:sp>
        <p:nvSpPr>
          <p:cNvPr id="13" name="TextBox 12"/>
          <p:cNvSpPr txBox="1"/>
          <p:nvPr/>
        </p:nvSpPr>
        <p:spPr>
          <a:xfrm>
            <a:off x="685800" y="3520440"/>
            <a:ext cx="2194560" cy="274320"/>
          </a:xfrm>
          <a:prstGeom prst="rect">
            <a:avLst/>
          </a:prstGeom>
          <a:noFill/>
        </p:spPr>
        <p:txBody>
          <a:bodyPr wrap="square" lIns="0" rIns="0" tIns="0" bIns="0" anchor="t"/>
          <a:lstStyle/>
          <a:p>
            <a:pPr algn="l"/>
            <a:r>
              <a:rPr sz="1200" b="1">
                <a:solidFill>
                  <a:srgbClr val="58A6FF"/>
                </a:solidFill>
                <a:latin typeface="Arial"/>
              </a:rPr>
              <a:t>U.S. house price index</a:t>
            </a:r>
          </a:p>
        </p:txBody>
      </p:sp>
      <p:sp>
        <p:nvSpPr>
          <p:cNvPr id="14" name="TextBox 13"/>
          <p:cNvSpPr txBox="1"/>
          <p:nvPr/>
        </p:nvSpPr>
        <p:spPr>
          <a:xfrm>
            <a:off x="685800" y="3794760"/>
            <a:ext cx="2194560" cy="365760"/>
          </a:xfrm>
          <a:prstGeom prst="rect">
            <a:avLst/>
          </a:prstGeom>
          <a:noFill/>
        </p:spPr>
        <p:txBody>
          <a:bodyPr wrap="square" lIns="0" rIns="0" tIns="0" bIns="0" anchor="t"/>
          <a:lstStyle/>
          <a:p>
            <a:pPr algn="l"/>
            <a:r>
              <a:rPr sz="1000" b="0">
                <a:solidFill>
                  <a:srgbClr val="8B949E"/>
                </a:solidFill>
                <a:latin typeface="Arial"/>
              </a:rPr>
              <a:t>2026 Q2, 1991 Q1 = 100</a:t>
            </a:r>
          </a:p>
        </p:txBody>
      </p:sp>
      <p:sp>
        <p:nvSpPr>
          <p:cNvPr id="15" name="Rounded Rectangle 14"/>
          <p:cNvSpPr/>
          <p:nvPr/>
        </p:nvSpPr>
        <p:spPr>
          <a:xfrm>
            <a:off x="3291839" y="2697480"/>
            <a:ext cx="2560320" cy="160020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91839" y="2697480"/>
            <a:ext cx="2560320" cy="54864"/>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93008" y="2926080"/>
            <a:ext cx="2194560" cy="548640"/>
          </a:xfrm>
          <a:prstGeom prst="rect">
            <a:avLst/>
          </a:prstGeom>
          <a:noFill/>
        </p:spPr>
        <p:txBody>
          <a:bodyPr wrap="square" lIns="0" rIns="0" tIns="0" bIns="0" anchor="t"/>
          <a:lstStyle/>
          <a:p>
            <a:pPr algn="l"/>
            <a:r>
              <a:rPr sz="3200" b="1">
                <a:solidFill>
                  <a:srgbClr val="F0F6FC"/>
                </a:solidFill>
                <a:latin typeface="Arial"/>
              </a:rPr>
              <a:t>+2.3%</a:t>
            </a:r>
          </a:p>
        </p:txBody>
      </p:sp>
      <p:sp>
        <p:nvSpPr>
          <p:cNvPr id="18" name="TextBox 17"/>
          <p:cNvSpPr txBox="1"/>
          <p:nvPr/>
        </p:nvSpPr>
        <p:spPr>
          <a:xfrm>
            <a:off x="3493008" y="3520440"/>
            <a:ext cx="2194560" cy="274320"/>
          </a:xfrm>
          <a:prstGeom prst="rect">
            <a:avLst/>
          </a:prstGeom>
          <a:noFill/>
        </p:spPr>
        <p:txBody>
          <a:bodyPr wrap="square" lIns="0" rIns="0" tIns="0" bIns="0" anchor="t"/>
          <a:lstStyle/>
          <a:p>
            <a:pPr algn="l"/>
            <a:r>
              <a:rPr sz="1200" b="1">
                <a:solidFill>
                  <a:srgbClr val="58A6FF"/>
                </a:solidFill>
                <a:latin typeface="Arial"/>
              </a:rPr>
              <a:t>U.S. year-over-year change</a:t>
            </a:r>
          </a:p>
        </p:txBody>
      </p:sp>
      <p:sp>
        <p:nvSpPr>
          <p:cNvPr id="19" name="TextBox 18"/>
          <p:cNvSpPr txBox="1"/>
          <p:nvPr/>
        </p:nvSpPr>
        <p:spPr>
          <a:xfrm>
            <a:off x="3493008" y="3794760"/>
            <a:ext cx="2194560" cy="365760"/>
          </a:xfrm>
          <a:prstGeom prst="rect">
            <a:avLst/>
          </a:prstGeom>
          <a:noFill/>
        </p:spPr>
        <p:txBody>
          <a:bodyPr wrap="square" lIns="0" rIns="0" tIns="0" bIns="0" anchor="t"/>
          <a:lstStyle/>
          <a:p>
            <a:pPr algn="l"/>
            <a:r>
              <a:rPr sz="1000" b="0">
                <a:solidFill>
                  <a:srgbClr val="8B949E"/>
                </a:solidFill>
                <a:latin typeface="Arial"/>
              </a:rPr>
              <a:t>2026 Q2 compared with 2025 Q2</a:t>
            </a:r>
          </a:p>
        </p:txBody>
      </p:sp>
      <p:sp>
        <p:nvSpPr>
          <p:cNvPr id="20" name="Rounded Rectangle 19"/>
          <p:cNvSpPr/>
          <p:nvPr/>
        </p:nvSpPr>
        <p:spPr>
          <a:xfrm>
            <a:off x="6099048" y="2697480"/>
            <a:ext cx="2560320" cy="160020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9048" y="2697480"/>
            <a:ext cx="2560320" cy="54864"/>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0216" y="2926080"/>
            <a:ext cx="2194560" cy="548640"/>
          </a:xfrm>
          <a:prstGeom prst="rect">
            <a:avLst/>
          </a:prstGeom>
          <a:noFill/>
        </p:spPr>
        <p:txBody>
          <a:bodyPr wrap="square" lIns="0" rIns="0" tIns="0" bIns="0" anchor="t"/>
          <a:lstStyle/>
          <a:p>
            <a:pPr algn="l"/>
            <a:r>
              <a:rPr sz="3200" b="1">
                <a:solidFill>
                  <a:srgbClr val="F0F6FC"/>
                </a:solidFill>
                <a:latin typeface="Arial"/>
              </a:rPr>
              <a:t>+64.0%</a:t>
            </a:r>
          </a:p>
        </p:txBody>
      </p:sp>
      <p:sp>
        <p:nvSpPr>
          <p:cNvPr id="23" name="TextBox 22"/>
          <p:cNvSpPr txBox="1"/>
          <p:nvPr/>
        </p:nvSpPr>
        <p:spPr>
          <a:xfrm>
            <a:off x="6300216" y="3520440"/>
            <a:ext cx="2194560" cy="274320"/>
          </a:xfrm>
          <a:prstGeom prst="rect">
            <a:avLst/>
          </a:prstGeom>
          <a:noFill/>
        </p:spPr>
        <p:txBody>
          <a:bodyPr wrap="square" lIns="0" rIns="0" tIns="0" bIns="0" anchor="t"/>
          <a:lstStyle/>
          <a:p>
            <a:pPr algn="l"/>
            <a:r>
              <a:rPr sz="1200" b="1">
                <a:solidFill>
                  <a:srgbClr val="58A6FF"/>
                </a:solidFill>
                <a:latin typeface="Arial"/>
              </a:rPr>
              <a:t>Change since 2019 Q4</a:t>
            </a:r>
          </a:p>
        </p:txBody>
      </p:sp>
      <p:sp>
        <p:nvSpPr>
          <p:cNvPr id="24" name="TextBox 23"/>
          <p:cNvSpPr txBox="1"/>
          <p:nvPr/>
        </p:nvSpPr>
        <p:spPr>
          <a:xfrm>
            <a:off x="6300216" y="3794760"/>
            <a:ext cx="2194560" cy="365760"/>
          </a:xfrm>
          <a:prstGeom prst="rect">
            <a:avLst/>
          </a:prstGeom>
          <a:noFill/>
        </p:spPr>
        <p:txBody>
          <a:bodyPr wrap="square" lIns="0" rIns="0" tIns="0" bIns="0" anchor="t"/>
          <a:lstStyle/>
          <a:p>
            <a:pPr algn="l"/>
            <a:r>
              <a:rPr sz="1000" b="0">
                <a:solidFill>
                  <a:srgbClr val="8B949E"/>
                </a:solidFill>
                <a:latin typeface="Arial"/>
              </a:rPr>
              <a:t>Last quarter before the pandemic</a:t>
            </a:r>
          </a:p>
        </p:txBody>
      </p:sp>
      <p:sp>
        <p:nvSpPr>
          <p:cNvPr id="25" name="TextBox 24"/>
          <p:cNvSpPr txBox="1"/>
          <p:nvPr/>
        </p:nvSpPr>
        <p:spPr>
          <a:xfrm>
            <a:off x="484632" y="4553712"/>
            <a:ext cx="8138160" cy="182880"/>
          </a:xfrm>
          <a:prstGeom prst="rect">
            <a:avLst/>
          </a:prstGeom>
          <a:noFill/>
        </p:spPr>
        <p:txBody>
          <a:bodyPr wrap="square" lIns="0" rIns="0" tIns="0" bIns="0" anchor="t"/>
          <a:lstStyle/>
          <a:p>
            <a:pPr algn="l"/>
            <a:r>
              <a:rPr sz="900" b="0">
                <a:solidFill>
                  <a:srgbClr val="8B949E"/>
                </a:solidFill>
                <a:latin typeface="Arial"/>
              </a:rPr>
              <a:t>Source: FHFA House Price Index, purchase-only, not seasonally adjusted (1991 Q1 = 100). Latest period: 2026 Q2.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7004304" y="146304"/>
            <a:ext cx="1536192" cy="283464"/>
          </a:xfrm>
          <a:prstGeom prst="roundRect">
            <a:avLst>
              <a:gd name="adj" fmla="val 19000"/>
            </a:avLst>
          </a:prstGeom>
          <a:solidFill>
            <a:srgbClr val="1A5D2A"/>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004304" y="146304"/>
            <a:ext cx="1536192" cy="283464"/>
          </a:xfrm>
          <a:prstGeom prst="rect">
            <a:avLst/>
          </a:prstGeom>
          <a:noFill/>
        </p:spPr>
        <p:txBody>
          <a:bodyPr wrap="square" lIns="0" rIns="0" tIns="0" bIns="0" anchor="ctr"/>
          <a:lstStyle/>
          <a:p>
            <a:pPr algn="ctr"/>
            <a:r>
              <a:rPr sz="1000" b="1">
                <a:solidFill>
                  <a:srgbClr val="FFFFFF"/>
                </a:solidFill>
                <a:latin typeface="Arial"/>
              </a:rPr>
              <a:t>Data through 2026 Q2</a:t>
            </a:r>
          </a:p>
        </p:txBody>
      </p:sp>
      <p:pic>
        <p:nvPicPr>
          <p:cNvPr id="4" name="Picture 3" descr=".logo.png"/>
          <p:cNvPicPr>
            <a:picLocks noChangeAspect="1"/>
          </p:cNvPicPr>
          <p:nvPr/>
        </p:nvPicPr>
        <p:blipFill>
          <a:blip r:embed="rId2"/>
          <a:stretch>
            <a:fillRect/>
          </a:stretch>
        </p:blipFill>
        <p:spPr>
          <a:xfrm>
            <a:off x="8668512" y="137160"/>
            <a:ext cx="301752" cy="301752"/>
          </a:xfrm>
          <a:prstGeom prst="rect">
            <a:avLst/>
          </a:prstGeom>
        </p:spPr>
      </p:pic>
      <p:sp>
        <p:nvSpPr>
          <p:cNvPr id="5" name="TextBox 4"/>
          <p:cNvSpPr txBox="1"/>
          <p:nvPr/>
        </p:nvSpPr>
        <p:spPr>
          <a:xfrm>
            <a:off x="484632" y="384048"/>
            <a:ext cx="6400800" cy="182880"/>
          </a:xfrm>
          <a:prstGeom prst="rect">
            <a:avLst/>
          </a:prstGeom>
          <a:noFill/>
        </p:spPr>
        <p:txBody>
          <a:bodyPr wrap="square" lIns="0" rIns="0" tIns="0" bIns="0" anchor="t"/>
          <a:lstStyle/>
          <a:p>
            <a:pPr algn="l"/>
            <a:r>
              <a:rPr sz="1100" b="1">
                <a:solidFill>
                  <a:srgbClr val="2EA043"/>
                </a:solidFill>
                <a:latin typeface="Arial"/>
              </a:rPr>
              <a:t>WHERE PRICES ARE NOW</a:t>
            </a:r>
          </a:p>
        </p:txBody>
      </p:sp>
      <p:sp>
        <p:nvSpPr>
          <p:cNvPr id="6" name="TextBox 5"/>
          <p:cNvSpPr txBox="1"/>
          <p:nvPr/>
        </p:nvSpPr>
        <p:spPr>
          <a:xfrm>
            <a:off x="484632" y="603504"/>
            <a:ext cx="8138160" cy="777240"/>
          </a:xfrm>
          <a:prstGeom prst="rect">
            <a:avLst/>
          </a:prstGeom>
          <a:noFill/>
        </p:spPr>
        <p:txBody>
          <a:bodyPr wrap="square" lIns="0" rIns="0" tIns="0" bIns="0" anchor="t"/>
          <a:lstStyle/>
          <a:p>
            <a:pPr algn="l"/>
            <a:r>
              <a:rPr sz="2400" b="1">
                <a:solidFill>
                  <a:srgbClr val="F0F6FC"/>
                </a:solidFill>
                <a:latin typeface="Arial"/>
              </a:rPr>
              <a:t>The U.S. price index is at a record high, 64% above its pre-pandemic level</a:t>
            </a:r>
          </a:p>
        </p:txBody>
      </p:sp>
      <p:sp>
        <p:nvSpPr>
          <p:cNvPr id="7" name="TextBox 6"/>
          <p:cNvSpPr txBox="1"/>
          <p:nvPr/>
        </p:nvSpPr>
        <p:spPr>
          <a:xfrm>
            <a:off x="484632" y="1463040"/>
            <a:ext cx="8138160" cy="228600"/>
          </a:xfrm>
          <a:prstGeom prst="rect">
            <a:avLst/>
          </a:prstGeom>
          <a:noFill/>
        </p:spPr>
        <p:txBody>
          <a:bodyPr wrap="square" lIns="0" rIns="0" tIns="0" bIns="0" anchor="t"/>
          <a:lstStyle/>
          <a:p>
            <a:pPr algn="l"/>
            <a:r>
              <a:rPr sz="1300" b="0">
                <a:solidFill>
                  <a:srgbClr val="B1BAC4"/>
                </a:solidFill>
                <a:latin typeface="Arial"/>
              </a:rPr>
              <a:t>Quarterly U.S. house price index, 1991 Q1 to 2026 Q2. Most of the gain since 2019 came from 2020 to 2022.</a:t>
            </a:r>
          </a:p>
        </p:txBody>
      </p:sp>
      <p:sp>
        <p:nvSpPr>
          <p:cNvPr id="8" name="TextBox 7"/>
          <p:cNvSpPr txBox="1"/>
          <p:nvPr/>
        </p:nvSpPr>
        <p:spPr>
          <a:xfrm>
            <a:off x="484632" y="4553712"/>
            <a:ext cx="8138160" cy="182880"/>
          </a:xfrm>
          <a:prstGeom prst="rect">
            <a:avLst/>
          </a:prstGeom>
          <a:noFill/>
        </p:spPr>
        <p:txBody>
          <a:bodyPr wrap="square" lIns="0" rIns="0" tIns="0" bIns="0" anchor="t"/>
          <a:lstStyle/>
          <a:p>
            <a:pPr algn="l"/>
            <a:r>
              <a:rPr sz="900" b="0">
                <a:solidFill>
                  <a:srgbClr val="8B949E"/>
                </a:solidFill>
                <a:latin typeface="Arial"/>
              </a:rPr>
              <a:t>Source: FHFA House Price Index, purchase-only, not seasonally adjusted (1991 Q1 = 100). Latest period: 2026 Q2.</a:t>
            </a:r>
          </a:p>
        </p:txBody>
      </p:sp>
      <p:sp>
        <p:nvSpPr>
          <p:cNvPr id="9" name="TextBox 8"/>
          <p:cNvSpPr txBox="1"/>
          <p:nvPr/>
        </p:nvSpPr>
        <p:spPr>
          <a:xfrm>
            <a:off x="484632" y="4791456"/>
            <a:ext cx="8138160" cy="182880"/>
          </a:xfrm>
          <a:prstGeom prst="rect">
            <a:avLst/>
          </a:prstGeom>
          <a:noFill/>
        </p:spPr>
        <p:txBody>
          <a:bodyPr wrap="square" lIns="0" rIns="0" tIns="0" bIns="0" anchor="t"/>
          <a:lstStyle/>
          <a:p>
            <a:pPr algn="l"/>
            <a:r>
              <a:rPr sz="800" b="0">
                <a:solidFill>
                  <a:srgbClr val="8B949E"/>
                </a:solidFill>
                <a:latin typeface="Arial"/>
              </a:rPr>
              <a:t>Built from public FHFA and CFPB data. Not an official Fannie Mae, FHFA, or CFPB product.</a:t>
            </a:r>
          </a:p>
        </p:txBody>
      </p:sp>
      <p:sp>
        <p:nvSpPr>
          <p:cNvPr id="10" name="Rounded Rectangle 9"/>
          <p:cNvSpPr/>
          <p:nvPr/>
        </p:nvSpPr>
        <p:spPr>
          <a:xfrm>
            <a:off x="484632" y="1828800"/>
            <a:ext cx="8174736" cy="265176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20240"/>
            <a:ext cx="7772400" cy="228600"/>
          </a:xfrm>
          <a:prstGeom prst="rect">
            <a:avLst/>
          </a:prstGeom>
          <a:noFill/>
        </p:spPr>
        <p:txBody>
          <a:bodyPr wrap="square" lIns="0" rIns="0" tIns="0" bIns="0" anchor="t"/>
          <a:lstStyle/>
          <a:p>
            <a:pPr algn="l"/>
            <a:r>
              <a:rPr sz="1200" b="1">
                <a:solidFill>
                  <a:srgbClr val="F0F6FC"/>
                </a:solidFill>
                <a:latin typeface="Arial"/>
              </a:rPr>
              <a:t>U.S. house price index (1991 Q1 = 100), quarterly</a:t>
            </a:r>
          </a:p>
        </p:txBody>
      </p:sp>
      <p:graphicFrame>
        <p:nvGraphicFramePr>
          <p:cNvPr id="12" name="Chart 11"/>
          <p:cNvGraphicFramePr>
            <a:graphicFrameLocks noGrp="1"/>
          </p:cNvGraphicFramePr>
          <p:nvPr/>
        </p:nvGraphicFramePr>
        <p:xfrm>
          <a:off x="594360" y="2148840"/>
          <a:ext cx="7955279" cy="2286000"/>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7004304" y="146304"/>
            <a:ext cx="1536192" cy="283464"/>
          </a:xfrm>
          <a:prstGeom prst="roundRect">
            <a:avLst>
              <a:gd name="adj" fmla="val 19000"/>
            </a:avLst>
          </a:prstGeom>
          <a:solidFill>
            <a:srgbClr val="1A5D2A"/>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004304" y="146304"/>
            <a:ext cx="1536192" cy="283464"/>
          </a:xfrm>
          <a:prstGeom prst="rect">
            <a:avLst/>
          </a:prstGeom>
          <a:noFill/>
        </p:spPr>
        <p:txBody>
          <a:bodyPr wrap="square" lIns="0" rIns="0" tIns="0" bIns="0" anchor="ctr"/>
          <a:lstStyle/>
          <a:p>
            <a:pPr algn="ctr"/>
            <a:r>
              <a:rPr sz="1000" b="1">
                <a:solidFill>
                  <a:srgbClr val="FFFFFF"/>
                </a:solidFill>
                <a:latin typeface="Arial"/>
              </a:rPr>
              <a:t>Data through 2026 Q2</a:t>
            </a:r>
          </a:p>
        </p:txBody>
      </p:sp>
      <p:pic>
        <p:nvPicPr>
          <p:cNvPr id="4" name="Picture 3" descr=".logo.png"/>
          <p:cNvPicPr>
            <a:picLocks noChangeAspect="1"/>
          </p:cNvPicPr>
          <p:nvPr/>
        </p:nvPicPr>
        <p:blipFill>
          <a:blip r:embed="rId2"/>
          <a:stretch>
            <a:fillRect/>
          </a:stretch>
        </p:blipFill>
        <p:spPr>
          <a:xfrm>
            <a:off x="8668512" y="137160"/>
            <a:ext cx="301752" cy="301752"/>
          </a:xfrm>
          <a:prstGeom prst="rect">
            <a:avLst/>
          </a:prstGeom>
        </p:spPr>
      </p:pic>
      <p:sp>
        <p:nvSpPr>
          <p:cNvPr id="5" name="TextBox 4"/>
          <p:cNvSpPr txBox="1"/>
          <p:nvPr/>
        </p:nvSpPr>
        <p:spPr>
          <a:xfrm>
            <a:off x="484632" y="384048"/>
            <a:ext cx="6400800" cy="182880"/>
          </a:xfrm>
          <a:prstGeom prst="rect">
            <a:avLst/>
          </a:prstGeom>
          <a:noFill/>
        </p:spPr>
        <p:txBody>
          <a:bodyPr wrap="square" lIns="0" rIns="0" tIns="0" bIns="0" anchor="t"/>
          <a:lstStyle/>
          <a:p>
            <a:pPr algn="l"/>
            <a:r>
              <a:rPr sz="1100" b="1">
                <a:solidFill>
                  <a:srgbClr val="2EA043"/>
                </a:solidFill>
                <a:latin typeface="Arial"/>
              </a:rPr>
              <a:t>HOW FAST PRICES CHANGED</a:t>
            </a:r>
          </a:p>
        </p:txBody>
      </p:sp>
      <p:sp>
        <p:nvSpPr>
          <p:cNvPr id="6" name="TextBox 5"/>
          <p:cNvSpPr txBox="1"/>
          <p:nvPr/>
        </p:nvSpPr>
        <p:spPr>
          <a:xfrm>
            <a:off x="484632" y="603504"/>
            <a:ext cx="8138160" cy="777240"/>
          </a:xfrm>
          <a:prstGeom prst="rect">
            <a:avLst/>
          </a:prstGeom>
          <a:noFill/>
        </p:spPr>
        <p:txBody>
          <a:bodyPr wrap="square" lIns="0" rIns="0" tIns="0" bIns="0" anchor="t"/>
          <a:lstStyle/>
          <a:p>
            <a:pPr algn="l"/>
            <a:r>
              <a:rPr sz="2400" b="1">
                <a:solidFill>
                  <a:srgbClr val="F0F6FC"/>
                </a:solidFill>
                <a:latin typeface="Arial"/>
              </a:rPr>
              <a:t>Annual price growth fell from 18.2% in 2021 Q3 to 2.3% in 2026 Q2</a:t>
            </a:r>
          </a:p>
        </p:txBody>
      </p:sp>
      <p:sp>
        <p:nvSpPr>
          <p:cNvPr id="7" name="TextBox 6"/>
          <p:cNvSpPr txBox="1"/>
          <p:nvPr/>
        </p:nvSpPr>
        <p:spPr>
          <a:xfrm>
            <a:off x="484632" y="1463040"/>
            <a:ext cx="8138160" cy="228600"/>
          </a:xfrm>
          <a:prstGeom prst="rect">
            <a:avLst/>
          </a:prstGeom>
          <a:noFill/>
        </p:spPr>
        <p:txBody>
          <a:bodyPr wrap="square" lIns="0" rIns="0" tIns="0" bIns="0" anchor="t"/>
          <a:lstStyle/>
          <a:p>
            <a:pPr algn="l"/>
            <a:r>
              <a:rPr sz="1300" b="0">
                <a:solidFill>
                  <a:srgbClr val="B1BAC4"/>
                </a:solidFill>
                <a:latin typeface="Arial"/>
              </a:rPr>
              <a:t>Year-over-year change in the U.S. index, by quarter. Prices still rise, but at a much lower rate.</a:t>
            </a:r>
          </a:p>
        </p:txBody>
      </p:sp>
      <p:sp>
        <p:nvSpPr>
          <p:cNvPr id="8" name="TextBox 7"/>
          <p:cNvSpPr txBox="1"/>
          <p:nvPr/>
        </p:nvSpPr>
        <p:spPr>
          <a:xfrm>
            <a:off x="484632" y="4553712"/>
            <a:ext cx="8138160" cy="182880"/>
          </a:xfrm>
          <a:prstGeom prst="rect">
            <a:avLst/>
          </a:prstGeom>
          <a:noFill/>
        </p:spPr>
        <p:txBody>
          <a:bodyPr wrap="square" lIns="0" rIns="0" tIns="0" bIns="0" anchor="t"/>
          <a:lstStyle/>
          <a:p>
            <a:pPr algn="l"/>
            <a:r>
              <a:rPr sz="900" b="0">
                <a:solidFill>
                  <a:srgbClr val="8B949E"/>
                </a:solidFill>
                <a:latin typeface="Arial"/>
              </a:rPr>
              <a:t>Source: FHFA House Price Index, purchase-only, not seasonally adjusted (1991 Q1 = 100). Latest period: 2026 Q2.</a:t>
            </a:r>
          </a:p>
        </p:txBody>
      </p:sp>
      <p:sp>
        <p:nvSpPr>
          <p:cNvPr id="9" name="TextBox 8"/>
          <p:cNvSpPr txBox="1"/>
          <p:nvPr/>
        </p:nvSpPr>
        <p:spPr>
          <a:xfrm>
            <a:off x="484632" y="4791456"/>
            <a:ext cx="8138160" cy="182880"/>
          </a:xfrm>
          <a:prstGeom prst="rect">
            <a:avLst/>
          </a:prstGeom>
          <a:noFill/>
        </p:spPr>
        <p:txBody>
          <a:bodyPr wrap="square" lIns="0" rIns="0" tIns="0" bIns="0" anchor="t"/>
          <a:lstStyle/>
          <a:p>
            <a:pPr algn="l"/>
            <a:r>
              <a:rPr sz="800" b="0">
                <a:solidFill>
                  <a:srgbClr val="8B949E"/>
                </a:solidFill>
                <a:latin typeface="Arial"/>
              </a:rPr>
              <a:t>Built from public FHFA and CFPB data. Not an official Fannie Mae, FHFA, or CFPB product.</a:t>
            </a:r>
          </a:p>
        </p:txBody>
      </p:sp>
      <p:sp>
        <p:nvSpPr>
          <p:cNvPr id="10" name="Rounded Rectangle 9"/>
          <p:cNvSpPr/>
          <p:nvPr/>
        </p:nvSpPr>
        <p:spPr>
          <a:xfrm>
            <a:off x="484632" y="1828800"/>
            <a:ext cx="8174736" cy="265176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20240"/>
            <a:ext cx="7772400" cy="228600"/>
          </a:xfrm>
          <a:prstGeom prst="rect">
            <a:avLst/>
          </a:prstGeom>
          <a:noFill/>
        </p:spPr>
        <p:txBody>
          <a:bodyPr wrap="square" lIns="0" rIns="0" tIns="0" bIns="0" anchor="t"/>
          <a:lstStyle/>
          <a:p>
            <a:pPr algn="l"/>
            <a:r>
              <a:rPr sz="1200" b="1">
                <a:solidFill>
                  <a:srgbClr val="F0F6FC"/>
                </a:solidFill>
                <a:latin typeface="Arial"/>
              </a:rPr>
              <a:t>U.S. house prices: change from the same quarter one year earlier (%)</a:t>
            </a:r>
          </a:p>
        </p:txBody>
      </p:sp>
      <p:graphicFrame>
        <p:nvGraphicFramePr>
          <p:cNvPr id="12" name="Chart 11"/>
          <p:cNvGraphicFramePr>
            <a:graphicFrameLocks noGrp="1"/>
          </p:cNvGraphicFramePr>
          <p:nvPr/>
        </p:nvGraphicFramePr>
        <p:xfrm>
          <a:off x="594360" y="2148840"/>
          <a:ext cx="7955279" cy="2286000"/>
        </p:xfrm>
        <a:graphic>
          <a:graphicData uri="http://schemas.openxmlformats.org/drawingml/2006/chart">
            <c:chart xmlns:c="http://schemas.openxmlformats.org/drawingml/2006/chart" r:id="rId3"/>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7004304" y="146304"/>
            <a:ext cx="1536192" cy="283464"/>
          </a:xfrm>
          <a:prstGeom prst="roundRect">
            <a:avLst>
              <a:gd name="adj" fmla="val 19000"/>
            </a:avLst>
          </a:prstGeom>
          <a:solidFill>
            <a:srgbClr val="1A5D2A"/>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004304" y="146304"/>
            <a:ext cx="1536192" cy="283464"/>
          </a:xfrm>
          <a:prstGeom prst="rect">
            <a:avLst/>
          </a:prstGeom>
          <a:noFill/>
        </p:spPr>
        <p:txBody>
          <a:bodyPr wrap="square" lIns="0" rIns="0" tIns="0" bIns="0" anchor="ctr"/>
          <a:lstStyle/>
          <a:p>
            <a:pPr algn="ctr"/>
            <a:r>
              <a:rPr sz="1000" b="1">
                <a:solidFill>
                  <a:srgbClr val="FFFFFF"/>
                </a:solidFill>
                <a:latin typeface="Arial"/>
              </a:rPr>
              <a:t>Data through 2026 Q2</a:t>
            </a:r>
          </a:p>
        </p:txBody>
      </p:sp>
      <p:pic>
        <p:nvPicPr>
          <p:cNvPr id="4" name="Picture 3" descr=".logo.png"/>
          <p:cNvPicPr>
            <a:picLocks noChangeAspect="1"/>
          </p:cNvPicPr>
          <p:nvPr/>
        </p:nvPicPr>
        <p:blipFill>
          <a:blip r:embed="rId2"/>
          <a:stretch>
            <a:fillRect/>
          </a:stretch>
        </p:blipFill>
        <p:spPr>
          <a:xfrm>
            <a:off x="8668512" y="137160"/>
            <a:ext cx="301752" cy="301752"/>
          </a:xfrm>
          <a:prstGeom prst="rect">
            <a:avLst/>
          </a:prstGeom>
        </p:spPr>
      </p:pic>
      <p:sp>
        <p:nvSpPr>
          <p:cNvPr id="5" name="TextBox 4"/>
          <p:cNvSpPr txBox="1"/>
          <p:nvPr/>
        </p:nvSpPr>
        <p:spPr>
          <a:xfrm>
            <a:off x="484632" y="384048"/>
            <a:ext cx="6400800" cy="182880"/>
          </a:xfrm>
          <a:prstGeom prst="rect">
            <a:avLst/>
          </a:prstGeom>
          <a:noFill/>
        </p:spPr>
        <p:txBody>
          <a:bodyPr wrap="square" lIns="0" rIns="0" tIns="0" bIns="0" anchor="t"/>
          <a:lstStyle/>
          <a:p>
            <a:pPr algn="l"/>
            <a:r>
              <a:rPr sz="1100" b="1">
                <a:solidFill>
                  <a:srgbClr val="2EA043"/>
                </a:solidFill>
                <a:latin typeface="Arial"/>
              </a:rPr>
              <a:t>LEADERS AND LAGGARDS: STATES</a:t>
            </a:r>
          </a:p>
        </p:txBody>
      </p:sp>
      <p:sp>
        <p:nvSpPr>
          <p:cNvPr id="6" name="TextBox 5"/>
          <p:cNvSpPr txBox="1"/>
          <p:nvPr/>
        </p:nvSpPr>
        <p:spPr>
          <a:xfrm>
            <a:off x="484632" y="603504"/>
            <a:ext cx="8138160" cy="777240"/>
          </a:xfrm>
          <a:prstGeom prst="rect">
            <a:avLst/>
          </a:prstGeom>
          <a:noFill/>
        </p:spPr>
        <p:txBody>
          <a:bodyPr wrap="square" lIns="0" rIns="0" tIns="0" bIns="0" anchor="t"/>
          <a:lstStyle/>
          <a:p>
            <a:pPr algn="l"/>
            <a:r>
              <a:rPr sz="2400" b="1">
                <a:solidFill>
                  <a:srgbClr val="F0F6FC"/>
                </a:solidFill>
                <a:latin typeface="Arial"/>
              </a:rPr>
              <a:t>Alaska leads at +8.3%; 4 states, with New Mexico last, show price declines</a:t>
            </a:r>
          </a:p>
        </p:txBody>
      </p:sp>
      <p:sp>
        <p:nvSpPr>
          <p:cNvPr id="7" name="TextBox 6"/>
          <p:cNvSpPr txBox="1"/>
          <p:nvPr/>
        </p:nvSpPr>
        <p:spPr>
          <a:xfrm>
            <a:off x="484632" y="1463040"/>
            <a:ext cx="8138160" cy="228600"/>
          </a:xfrm>
          <a:prstGeom prst="rect">
            <a:avLst/>
          </a:prstGeom>
          <a:noFill/>
        </p:spPr>
        <p:txBody>
          <a:bodyPr wrap="square" lIns="0" rIns="0" tIns="0" bIns="0" anchor="t"/>
          <a:lstStyle/>
          <a:p>
            <a:pPr algn="l"/>
            <a:r>
              <a:rPr sz="1300" b="0">
                <a:solidFill>
                  <a:srgbClr val="B1BAC4"/>
                </a:solidFill>
                <a:latin typeface="Arial"/>
              </a:rPr>
              <a:t>Five fastest and five slowest of 50 states and DC. U.S.: +2.3%. Blue = increase, orange = decrease.</a:t>
            </a:r>
          </a:p>
        </p:txBody>
      </p:sp>
      <p:sp>
        <p:nvSpPr>
          <p:cNvPr id="8" name="TextBox 7"/>
          <p:cNvSpPr txBox="1"/>
          <p:nvPr/>
        </p:nvSpPr>
        <p:spPr>
          <a:xfrm>
            <a:off x="484632" y="4553712"/>
            <a:ext cx="8138160" cy="182880"/>
          </a:xfrm>
          <a:prstGeom prst="rect">
            <a:avLst/>
          </a:prstGeom>
          <a:noFill/>
        </p:spPr>
        <p:txBody>
          <a:bodyPr wrap="square" lIns="0" rIns="0" tIns="0" bIns="0" anchor="t"/>
          <a:lstStyle/>
          <a:p>
            <a:pPr algn="l"/>
            <a:r>
              <a:rPr sz="900" b="0">
                <a:solidFill>
                  <a:srgbClr val="8B949E"/>
                </a:solidFill>
                <a:latin typeface="Arial"/>
              </a:rPr>
              <a:t>Source: FHFA House Price Index, purchase-only, not seasonally adjusted (1991 Q1 = 100). Latest period: 2026 Q2.</a:t>
            </a:r>
          </a:p>
        </p:txBody>
      </p:sp>
      <p:sp>
        <p:nvSpPr>
          <p:cNvPr id="9" name="TextBox 8"/>
          <p:cNvSpPr txBox="1"/>
          <p:nvPr/>
        </p:nvSpPr>
        <p:spPr>
          <a:xfrm>
            <a:off x="484632" y="4791456"/>
            <a:ext cx="8138160" cy="182880"/>
          </a:xfrm>
          <a:prstGeom prst="rect">
            <a:avLst/>
          </a:prstGeom>
          <a:noFill/>
        </p:spPr>
        <p:txBody>
          <a:bodyPr wrap="square" lIns="0" rIns="0" tIns="0" bIns="0" anchor="t"/>
          <a:lstStyle/>
          <a:p>
            <a:pPr algn="l"/>
            <a:r>
              <a:rPr sz="800" b="0">
                <a:solidFill>
                  <a:srgbClr val="8B949E"/>
                </a:solidFill>
                <a:latin typeface="Arial"/>
              </a:rPr>
              <a:t>Built from public FHFA and CFPB data. Not an official Fannie Mae, FHFA, or CFPB product.</a:t>
            </a:r>
          </a:p>
        </p:txBody>
      </p:sp>
      <p:sp>
        <p:nvSpPr>
          <p:cNvPr id="10" name="Rounded Rectangle 9"/>
          <p:cNvSpPr/>
          <p:nvPr/>
        </p:nvSpPr>
        <p:spPr>
          <a:xfrm>
            <a:off x="484632" y="1828800"/>
            <a:ext cx="8174736" cy="265176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20240"/>
            <a:ext cx="7772400" cy="228600"/>
          </a:xfrm>
          <a:prstGeom prst="rect">
            <a:avLst/>
          </a:prstGeom>
          <a:noFill/>
        </p:spPr>
        <p:txBody>
          <a:bodyPr wrap="square" lIns="0" rIns="0" tIns="0" bIns="0" anchor="t"/>
          <a:lstStyle/>
          <a:p>
            <a:pPr algn="l"/>
            <a:r>
              <a:rPr sz="1200" b="1">
                <a:solidFill>
                  <a:srgbClr val="F0F6FC"/>
                </a:solidFill>
                <a:latin typeface="Arial"/>
              </a:rPr>
              <a:t>State house price index: year-over-year change, 2026 Q2</a:t>
            </a:r>
          </a:p>
        </p:txBody>
      </p:sp>
      <p:graphicFrame>
        <p:nvGraphicFramePr>
          <p:cNvPr id="12" name="Chart 11"/>
          <p:cNvGraphicFramePr>
            <a:graphicFrameLocks noGrp="1"/>
          </p:cNvGraphicFramePr>
          <p:nvPr/>
        </p:nvGraphicFramePr>
        <p:xfrm>
          <a:off x="594360" y="2148840"/>
          <a:ext cx="7955279" cy="228600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7004304" y="146304"/>
            <a:ext cx="1536192" cy="283464"/>
          </a:xfrm>
          <a:prstGeom prst="roundRect">
            <a:avLst>
              <a:gd name="adj" fmla="val 19000"/>
            </a:avLst>
          </a:prstGeom>
          <a:solidFill>
            <a:srgbClr val="1A5D2A"/>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004304" y="146304"/>
            <a:ext cx="1536192" cy="283464"/>
          </a:xfrm>
          <a:prstGeom prst="rect">
            <a:avLst/>
          </a:prstGeom>
          <a:noFill/>
        </p:spPr>
        <p:txBody>
          <a:bodyPr wrap="square" lIns="0" rIns="0" tIns="0" bIns="0" anchor="ctr"/>
          <a:lstStyle/>
          <a:p>
            <a:pPr algn="ctr"/>
            <a:r>
              <a:rPr sz="1000" b="1">
                <a:solidFill>
                  <a:srgbClr val="FFFFFF"/>
                </a:solidFill>
                <a:latin typeface="Arial"/>
              </a:rPr>
              <a:t>Data through 2026 Q2</a:t>
            </a:r>
          </a:p>
        </p:txBody>
      </p:sp>
      <p:pic>
        <p:nvPicPr>
          <p:cNvPr id="4" name="Picture 3" descr=".logo.png"/>
          <p:cNvPicPr>
            <a:picLocks noChangeAspect="1"/>
          </p:cNvPicPr>
          <p:nvPr/>
        </p:nvPicPr>
        <p:blipFill>
          <a:blip r:embed="rId2"/>
          <a:stretch>
            <a:fillRect/>
          </a:stretch>
        </p:blipFill>
        <p:spPr>
          <a:xfrm>
            <a:off x="8668512" y="137160"/>
            <a:ext cx="301752" cy="301752"/>
          </a:xfrm>
          <a:prstGeom prst="rect">
            <a:avLst/>
          </a:prstGeom>
        </p:spPr>
      </p:pic>
      <p:sp>
        <p:nvSpPr>
          <p:cNvPr id="5" name="TextBox 4"/>
          <p:cNvSpPr txBox="1"/>
          <p:nvPr/>
        </p:nvSpPr>
        <p:spPr>
          <a:xfrm>
            <a:off x="484632" y="384048"/>
            <a:ext cx="6400800" cy="182880"/>
          </a:xfrm>
          <a:prstGeom prst="rect">
            <a:avLst/>
          </a:prstGeom>
          <a:noFill/>
        </p:spPr>
        <p:txBody>
          <a:bodyPr wrap="square" lIns="0" rIns="0" tIns="0" bIns="0" anchor="t"/>
          <a:lstStyle/>
          <a:p>
            <a:pPr algn="l"/>
            <a:r>
              <a:rPr sz="1100" b="1">
                <a:solidFill>
                  <a:srgbClr val="2EA043"/>
                </a:solidFill>
                <a:latin typeface="Arial"/>
              </a:rPr>
              <a:t>LEADERS AND LAGGARDS: METROS</a:t>
            </a:r>
          </a:p>
        </p:txBody>
      </p:sp>
      <p:sp>
        <p:nvSpPr>
          <p:cNvPr id="6" name="TextBox 5"/>
          <p:cNvSpPr txBox="1"/>
          <p:nvPr/>
        </p:nvSpPr>
        <p:spPr>
          <a:xfrm>
            <a:off x="484632" y="603504"/>
            <a:ext cx="8138160" cy="777240"/>
          </a:xfrm>
          <a:prstGeom prst="rect">
            <a:avLst/>
          </a:prstGeom>
          <a:noFill/>
        </p:spPr>
        <p:txBody>
          <a:bodyPr wrap="square" lIns="0" rIns="0" tIns="0" bIns="0" anchor="t"/>
          <a:lstStyle/>
          <a:p>
            <a:pPr algn="l"/>
            <a:r>
              <a:rPr sz="2400" b="1">
                <a:solidFill>
                  <a:srgbClr val="F0F6FC"/>
                </a:solidFill>
                <a:latin typeface="Arial"/>
              </a:rPr>
              <a:t>26 of the 100 largest metros show price declines; Elgin, IL leads at +7.5%</a:t>
            </a:r>
          </a:p>
        </p:txBody>
      </p:sp>
      <p:sp>
        <p:nvSpPr>
          <p:cNvPr id="7" name="TextBox 6"/>
          <p:cNvSpPr txBox="1"/>
          <p:nvPr/>
        </p:nvSpPr>
        <p:spPr>
          <a:xfrm>
            <a:off x="484632" y="1463040"/>
            <a:ext cx="8138160" cy="228600"/>
          </a:xfrm>
          <a:prstGeom prst="rect">
            <a:avLst/>
          </a:prstGeom>
          <a:noFill/>
        </p:spPr>
        <p:txBody>
          <a:bodyPr wrap="square" lIns="0" rIns="0" tIns="0" bIns="0" anchor="t"/>
          <a:lstStyle/>
          <a:p>
            <a:pPr algn="l"/>
            <a:r>
              <a:rPr sz="1300" b="0">
                <a:solidFill>
                  <a:srgbClr val="B1BAC4"/>
                </a:solidFill>
                <a:latin typeface="Arial"/>
              </a:rPr>
              <a:t>Five fastest and five slowest of the 100 largest metros. Blue = increase, orange = decrease.</a:t>
            </a:r>
          </a:p>
        </p:txBody>
      </p:sp>
      <p:sp>
        <p:nvSpPr>
          <p:cNvPr id="8" name="TextBox 7"/>
          <p:cNvSpPr txBox="1"/>
          <p:nvPr/>
        </p:nvSpPr>
        <p:spPr>
          <a:xfrm>
            <a:off x="484632" y="4553712"/>
            <a:ext cx="8138160" cy="182880"/>
          </a:xfrm>
          <a:prstGeom prst="rect">
            <a:avLst/>
          </a:prstGeom>
          <a:noFill/>
        </p:spPr>
        <p:txBody>
          <a:bodyPr wrap="square" lIns="0" rIns="0" tIns="0" bIns="0" anchor="t"/>
          <a:lstStyle/>
          <a:p>
            <a:pPr algn="l"/>
            <a:r>
              <a:rPr sz="900" b="0">
                <a:solidFill>
                  <a:srgbClr val="8B949E"/>
                </a:solidFill>
                <a:latin typeface="Arial"/>
              </a:rPr>
              <a:t>Source: FHFA House Price Index, purchase-only, not seasonally adjusted (1991 Q1 = 100). Latest period: 2026 Q2.</a:t>
            </a:r>
          </a:p>
        </p:txBody>
      </p:sp>
      <p:sp>
        <p:nvSpPr>
          <p:cNvPr id="9" name="TextBox 8"/>
          <p:cNvSpPr txBox="1"/>
          <p:nvPr/>
        </p:nvSpPr>
        <p:spPr>
          <a:xfrm>
            <a:off x="484632" y="4791456"/>
            <a:ext cx="8138160" cy="182880"/>
          </a:xfrm>
          <a:prstGeom prst="rect">
            <a:avLst/>
          </a:prstGeom>
          <a:noFill/>
        </p:spPr>
        <p:txBody>
          <a:bodyPr wrap="square" lIns="0" rIns="0" tIns="0" bIns="0" anchor="t"/>
          <a:lstStyle/>
          <a:p>
            <a:pPr algn="l"/>
            <a:r>
              <a:rPr sz="800" b="0">
                <a:solidFill>
                  <a:srgbClr val="8B949E"/>
                </a:solidFill>
                <a:latin typeface="Arial"/>
              </a:rPr>
              <a:t>Built from public FHFA and CFPB data. Not an official Fannie Mae, FHFA, or CFPB product.</a:t>
            </a:r>
          </a:p>
        </p:txBody>
      </p:sp>
      <p:sp>
        <p:nvSpPr>
          <p:cNvPr id="10" name="Rounded Rectangle 9"/>
          <p:cNvSpPr/>
          <p:nvPr/>
        </p:nvSpPr>
        <p:spPr>
          <a:xfrm>
            <a:off x="484632" y="1828800"/>
            <a:ext cx="8174736" cy="265176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20240"/>
            <a:ext cx="7772400" cy="228600"/>
          </a:xfrm>
          <a:prstGeom prst="rect">
            <a:avLst/>
          </a:prstGeom>
          <a:noFill/>
        </p:spPr>
        <p:txBody>
          <a:bodyPr wrap="square" lIns="0" rIns="0" tIns="0" bIns="0" anchor="t"/>
          <a:lstStyle/>
          <a:p>
            <a:pPr algn="l"/>
            <a:r>
              <a:rPr sz="1200" b="1">
                <a:solidFill>
                  <a:srgbClr val="F0F6FC"/>
                </a:solidFill>
                <a:latin typeface="Arial"/>
              </a:rPr>
              <a:t>Metro house price index: year-over-year change, 2026 Q2</a:t>
            </a:r>
          </a:p>
        </p:txBody>
      </p:sp>
      <p:graphicFrame>
        <p:nvGraphicFramePr>
          <p:cNvPr id="12" name="Chart 11"/>
          <p:cNvGraphicFramePr>
            <a:graphicFrameLocks noGrp="1"/>
          </p:cNvGraphicFramePr>
          <p:nvPr/>
        </p:nvGraphicFramePr>
        <p:xfrm>
          <a:off x="594360" y="2148840"/>
          <a:ext cx="7955279" cy="2286000"/>
        </p:xfrm>
        <a:graphic>
          <a:graphicData uri="http://schemas.openxmlformats.org/drawingml/2006/chart">
            <c:chart xmlns:c="http://schemas.openxmlformats.org/drawingml/2006/chart" r:id="rId3"/>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7004304" y="146304"/>
            <a:ext cx="1536192" cy="283464"/>
          </a:xfrm>
          <a:prstGeom prst="roundRect">
            <a:avLst>
              <a:gd name="adj" fmla="val 19000"/>
            </a:avLst>
          </a:prstGeom>
          <a:solidFill>
            <a:srgbClr val="1A5D2A"/>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004304" y="146304"/>
            <a:ext cx="1536192" cy="283464"/>
          </a:xfrm>
          <a:prstGeom prst="rect">
            <a:avLst/>
          </a:prstGeom>
          <a:noFill/>
        </p:spPr>
        <p:txBody>
          <a:bodyPr wrap="square" lIns="0" rIns="0" tIns="0" bIns="0" anchor="ctr"/>
          <a:lstStyle/>
          <a:p>
            <a:pPr algn="ctr"/>
            <a:r>
              <a:rPr sz="1000" b="1">
                <a:solidFill>
                  <a:srgbClr val="FFFFFF"/>
                </a:solidFill>
                <a:latin typeface="Arial"/>
              </a:rPr>
              <a:t>Data through 2026 Q2</a:t>
            </a:r>
          </a:p>
        </p:txBody>
      </p:sp>
      <p:pic>
        <p:nvPicPr>
          <p:cNvPr id="4" name="Picture 3" descr=".logo.png"/>
          <p:cNvPicPr>
            <a:picLocks noChangeAspect="1"/>
          </p:cNvPicPr>
          <p:nvPr/>
        </p:nvPicPr>
        <p:blipFill>
          <a:blip r:embed="rId2"/>
          <a:stretch>
            <a:fillRect/>
          </a:stretch>
        </p:blipFill>
        <p:spPr>
          <a:xfrm>
            <a:off x="8668512" y="137160"/>
            <a:ext cx="301752" cy="301752"/>
          </a:xfrm>
          <a:prstGeom prst="rect">
            <a:avLst/>
          </a:prstGeom>
        </p:spPr>
      </p:pic>
      <p:sp>
        <p:nvSpPr>
          <p:cNvPr id="5" name="TextBox 4"/>
          <p:cNvSpPr txBox="1"/>
          <p:nvPr/>
        </p:nvSpPr>
        <p:spPr>
          <a:xfrm>
            <a:off x="484632" y="384048"/>
            <a:ext cx="6400800" cy="182880"/>
          </a:xfrm>
          <a:prstGeom prst="rect">
            <a:avLst/>
          </a:prstGeom>
          <a:noFill/>
        </p:spPr>
        <p:txBody>
          <a:bodyPr wrap="square" lIns="0" rIns="0" tIns="0" bIns="0" anchor="t"/>
          <a:lstStyle/>
          <a:p>
            <a:pPr algn="l"/>
            <a:r>
              <a:rPr sz="1100" b="1">
                <a:solidFill>
                  <a:srgbClr val="2EA043"/>
                </a:solidFill>
                <a:latin typeface="Arial"/>
              </a:rPr>
              <a:t>MORTGAGE ORIGINATIONS, 2018 TO 2025</a:t>
            </a:r>
          </a:p>
        </p:txBody>
      </p:sp>
      <p:sp>
        <p:nvSpPr>
          <p:cNvPr id="6" name="TextBox 5"/>
          <p:cNvSpPr txBox="1"/>
          <p:nvPr/>
        </p:nvSpPr>
        <p:spPr>
          <a:xfrm>
            <a:off x="484632" y="603504"/>
            <a:ext cx="8138160" cy="777240"/>
          </a:xfrm>
          <a:prstGeom prst="rect">
            <a:avLst/>
          </a:prstGeom>
          <a:noFill/>
        </p:spPr>
        <p:txBody>
          <a:bodyPr wrap="square" lIns="0" rIns="0" tIns="0" bIns="0" anchor="t"/>
          <a:lstStyle/>
          <a:p>
            <a:pPr algn="l"/>
            <a:r>
              <a:rPr sz="2400" b="1">
                <a:solidFill>
                  <a:srgbClr val="F0F6FC"/>
                </a:solidFill>
                <a:latin typeface="Arial"/>
              </a:rPr>
              <a:t>Refinance loans fell 78% from the 2020 peak; home purchase loans are 18% below 2018</a:t>
            </a:r>
          </a:p>
        </p:txBody>
      </p:sp>
      <p:sp>
        <p:nvSpPr>
          <p:cNvPr id="7" name="TextBox 6"/>
          <p:cNvSpPr txBox="1"/>
          <p:nvPr/>
        </p:nvSpPr>
        <p:spPr>
          <a:xfrm>
            <a:off x="484632" y="1463040"/>
            <a:ext cx="8138160" cy="228600"/>
          </a:xfrm>
          <a:prstGeom prst="rect">
            <a:avLst/>
          </a:prstGeom>
          <a:noFill/>
        </p:spPr>
        <p:txBody>
          <a:bodyPr wrap="square" lIns="0" rIns="0" tIns="0" bIns="0" anchor="t"/>
          <a:lstStyle/>
          <a:p>
            <a:pPr algn="l"/>
            <a:r>
              <a:rPr sz="1300" b="0">
                <a:solidFill>
                  <a:srgbClr val="B1BAC4"/>
                </a:solidFill>
                <a:latin typeface="Arial"/>
              </a:rPr>
              <a:t>Originated loans each year by loan purpose. Refinance figures in the headline include cash-out refinance.</a:t>
            </a:r>
          </a:p>
        </p:txBody>
      </p:sp>
      <p:sp>
        <p:nvSpPr>
          <p:cNvPr id="8" name="TextBox 7"/>
          <p:cNvSpPr txBox="1"/>
          <p:nvPr/>
        </p:nvSpPr>
        <p:spPr>
          <a:xfrm>
            <a:off x="484632" y="4553712"/>
            <a:ext cx="8138160" cy="182880"/>
          </a:xfrm>
          <a:prstGeom prst="rect">
            <a:avLst/>
          </a:prstGeom>
          <a:noFill/>
        </p:spPr>
        <p:txBody>
          <a:bodyPr wrap="square" lIns="0" rIns="0" tIns="0" bIns="0" anchor="t"/>
          <a:lstStyle/>
          <a:p>
            <a:pPr algn="l"/>
            <a:r>
              <a:rPr sz="900" b="0">
                <a:solidFill>
                  <a:srgbClr val="8B949E"/>
                </a:solidFill>
                <a:latin typeface="Arial"/>
              </a:rPr>
              <a:t>Source: CFPB HMDA Data Browser, originated loans, 50 states and DC. Latest year: 2025.</a:t>
            </a:r>
          </a:p>
        </p:txBody>
      </p:sp>
      <p:sp>
        <p:nvSpPr>
          <p:cNvPr id="9" name="TextBox 8"/>
          <p:cNvSpPr txBox="1"/>
          <p:nvPr/>
        </p:nvSpPr>
        <p:spPr>
          <a:xfrm>
            <a:off x="484632" y="4791456"/>
            <a:ext cx="8138160" cy="182880"/>
          </a:xfrm>
          <a:prstGeom prst="rect">
            <a:avLst/>
          </a:prstGeom>
          <a:noFill/>
        </p:spPr>
        <p:txBody>
          <a:bodyPr wrap="square" lIns="0" rIns="0" tIns="0" bIns="0" anchor="t"/>
          <a:lstStyle/>
          <a:p>
            <a:pPr algn="l"/>
            <a:r>
              <a:rPr sz="800" b="0">
                <a:solidFill>
                  <a:srgbClr val="8B949E"/>
                </a:solidFill>
                <a:latin typeface="Arial"/>
              </a:rPr>
              <a:t>Built from public FHFA and CFPB data. Not an official Fannie Mae, FHFA, or CFPB product.</a:t>
            </a:r>
          </a:p>
        </p:txBody>
      </p:sp>
      <p:sp>
        <p:nvSpPr>
          <p:cNvPr id="10" name="Rounded Rectangle 9"/>
          <p:cNvSpPr/>
          <p:nvPr/>
        </p:nvSpPr>
        <p:spPr>
          <a:xfrm>
            <a:off x="484632" y="1828800"/>
            <a:ext cx="8174736" cy="265176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20240"/>
            <a:ext cx="7772400" cy="228600"/>
          </a:xfrm>
          <a:prstGeom prst="rect">
            <a:avLst/>
          </a:prstGeom>
          <a:noFill/>
        </p:spPr>
        <p:txBody>
          <a:bodyPr wrap="square" lIns="0" rIns="0" tIns="0" bIns="0" anchor="t"/>
          <a:lstStyle/>
          <a:p>
            <a:pPr algn="l"/>
            <a:r>
              <a:rPr sz="1200" b="1">
                <a:solidFill>
                  <a:srgbClr val="F0F6FC"/>
                </a:solidFill>
                <a:latin typeface="Arial"/>
              </a:rPr>
              <a:t>Originated mortgage loans by purpose (millions)</a:t>
            </a:r>
          </a:p>
        </p:txBody>
      </p:sp>
      <p:graphicFrame>
        <p:nvGraphicFramePr>
          <p:cNvPr id="12" name="Chart 11"/>
          <p:cNvGraphicFramePr>
            <a:graphicFrameLocks noGrp="1"/>
          </p:cNvGraphicFramePr>
          <p:nvPr/>
        </p:nvGraphicFramePr>
        <p:xfrm>
          <a:off x="594360" y="2148840"/>
          <a:ext cx="7955279" cy="2286000"/>
        </p:xfrm>
        <a:graphic>
          <a:graphicData uri="http://schemas.openxmlformats.org/drawingml/2006/chart">
            <c:chart xmlns:c="http://schemas.openxmlformats.org/drawingml/2006/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7004304" y="146304"/>
            <a:ext cx="1536192" cy="283464"/>
          </a:xfrm>
          <a:prstGeom prst="roundRect">
            <a:avLst>
              <a:gd name="adj" fmla="val 19000"/>
            </a:avLst>
          </a:prstGeom>
          <a:solidFill>
            <a:srgbClr val="1A5D2A"/>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004304" y="146304"/>
            <a:ext cx="1536192" cy="283464"/>
          </a:xfrm>
          <a:prstGeom prst="rect">
            <a:avLst/>
          </a:prstGeom>
          <a:noFill/>
        </p:spPr>
        <p:txBody>
          <a:bodyPr wrap="square" lIns="0" rIns="0" tIns="0" bIns="0" anchor="ctr"/>
          <a:lstStyle/>
          <a:p>
            <a:pPr algn="ctr"/>
            <a:r>
              <a:rPr sz="1000" b="1">
                <a:solidFill>
                  <a:srgbClr val="FFFFFF"/>
                </a:solidFill>
                <a:latin typeface="Arial"/>
              </a:rPr>
              <a:t>Data through 2026 Q2</a:t>
            </a:r>
          </a:p>
        </p:txBody>
      </p:sp>
      <p:pic>
        <p:nvPicPr>
          <p:cNvPr id="4" name="Picture 3" descr=".logo.png"/>
          <p:cNvPicPr>
            <a:picLocks noChangeAspect="1"/>
          </p:cNvPicPr>
          <p:nvPr/>
        </p:nvPicPr>
        <p:blipFill>
          <a:blip r:embed="rId2"/>
          <a:stretch>
            <a:fillRect/>
          </a:stretch>
        </p:blipFill>
        <p:spPr>
          <a:xfrm>
            <a:off x="8668512" y="137160"/>
            <a:ext cx="301752" cy="301752"/>
          </a:xfrm>
          <a:prstGeom prst="rect">
            <a:avLst/>
          </a:prstGeom>
        </p:spPr>
      </p:pic>
      <p:sp>
        <p:nvSpPr>
          <p:cNvPr id="5" name="TextBox 4"/>
          <p:cNvSpPr txBox="1"/>
          <p:nvPr/>
        </p:nvSpPr>
        <p:spPr>
          <a:xfrm>
            <a:off x="484632" y="384048"/>
            <a:ext cx="6400800" cy="182880"/>
          </a:xfrm>
          <a:prstGeom prst="rect">
            <a:avLst/>
          </a:prstGeom>
          <a:noFill/>
        </p:spPr>
        <p:txBody>
          <a:bodyPr wrap="square" lIns="0" rIns="0" tIns="0" bIns="0" anchor="t"/>
          <a:lstStyle/>
          <a:p>
            <a:pPr algn="l"/>
            <a:r>
              <a:rPr sz="1100" b="1">
                <a:solidFill>
                  <a:srgbClr val="2EA043"/>
                </a:solidFill>
                <a:latin typeface="Arial"/>
              </a:rPr>
              <a:t>THREE TAKEAWAYS</a:t>
            </a:r>
          </a:p>
        </p:txBody>
      </p:sp>
      <p:sp>
        <p:nvSpPr>
          <p:cNvPr id="6" name="TextBox 5"/>
          <p:cNvSpPr txBox="1"/>
          <p:nvPr/>
        </p:nvSpPr>
        <p:spPr>
          <a:xfrm>
            <a:off x="484632" y="603504"/>
            <a:ext cx="8138160" cy="777240"/>
          </a:xfrm>
          <a:prstGeom prst="rect">
            <a:avLst/>
          </a:prstGeom>
          <a:noFill/>
        </p:spPr>
        <p:txBody>
          <a:bodyPr wrap="square" lIns="0" rIns="0" tIns="0" bIns="0" anchor="t"/>
          <a:lstStyle/>
          <a:p>
            <a:pPr algn="l"/>
            <a:r>
              <a:rPr sz="2400" b="1">
                <a:solidFill>
                  <a:srgbClr val="F0F6FC"/>
                </a:solidFill>
                <a:latin typeface="Arial"/>
              </a:rPr>
              <a:t>Prices are high and still rise slowly, but gains are uneven and refinance activity is low</a:t>
            </a:r>
          </a:p>
        </p:txBody>
      </p:sp>
      <p:sp>
        <p:nvSpPr>
          <p:cNvPr id="7" name="TextBox 6"/>
          <p:cNvSpPr txBox="1"/>
          <p:nvPr/>
        </p:nvSpPr>
        <p:spPr>
          <a:xfrm>
            <a:off x="484632" y="1463040"/>
            <a:ext cx="8138160" cy="228600"/>
          </a:xfrm>
          <a:prstGeom prst="rect">
            <a:avLst/>
          </a:prstGeom>
          <a:noFill/>
        </p:spPr>
        <p:txBody>
          <a:bodyPr wrap="square" lIns="0" rIns="0" tIns="0" bIns="0" anchor="t"/>
          <a:lstStyle/>
          <a:p>
            <a:pPr algn="l"/>
            <a:r>
              <a:rPr sz="1300" b="0">
                <a:solidFill>
                  <a:srgbClr val="B1BAC4"/>
                </a:solidFill>
                <a:latin typeface="Arial"/>
              </a:rPr>
              <a:t>Facts from the FHFA and CFPB data in this briefing. No forecasts.</a:t>
            </a:r>
          </a:p>
        </p:txBody>
      </p:sp>
      <p:sp>
        <p:nvSpPr>
          <p:cNvPr id="8" name="TextBox 7"/>
          <p:cNvSpPr txBox="1"/>
          <p:nvPr/>
        </p:nvSpPr>
        <p:spPr>
          <a:xfrm>
            <a:off x="484632" y="4553712"/>
            <a:ext cx="8138160" cy="182880"/>
          </a:xfrm>
          <a:prstGeom prst="rect">
            <a:avLst/>
          </a:prstGeom>
          <a:noFill/>
        </p:spPr>
        <p:txBody>
          <a:bodyPr wrap="square" lIns="0" rIns="0" tIns="0" bIns="0" anchor="t"/>
          <a:lstStyle/>
          <a:p>
            <a:pPr algn="l"/>
            <a:r>
              <a:rPr sz="900" b="0">
                <a:solidFill>
                  <a:srgbClr val="8B949E"/>
                </a:solidFill>
                <a:latin typeface="Arial"/>
              </a:rPr>
              <a:t>Sources: FHFA HPI (latest period 2026 Q2); CFPB HMDA (2018 to 2025).</a:t>
            </a:r>
          </a:p>
        </p:txBody>
      </p:sp>
      <p:sp>
        <p:nvSpPr>
          <p:cNvPr id="9" name="TextBox 8"/>
          <p:cNvSpPr txBox="1"/>
          <p:nvPr/>
        </p:nvSpPr>
        <p:spPr>
          <a:xfrm>
            <a:off x="484632" y="4791456"/>
            <a:ext cx="8138160" cy="182880"/>
          </a:xfrm>
          <a:prstGeom prst="rect">
            <a:avLst/>
          </a:prstGeom>
          <a:noFill/>
        </p:spPr>
        <p:txBody>
          <a:bodyPr wrap="square" lIns="0" rIns="0" tIns="0" bIns="0" anchor="t"/>
          <a:lstStyle/>
          <a:p>
            <a:pPr algn="l"/>
            <a:r>
              <a:rPr sz="800" b="0">
                <a:solidFill>
                  <a:srgbClr val="8B949E"/>
                </a:solidFill>
                <a:latin typeface="Arial"/>
              </a:rPr>
              <a:t>Built from public FHFA and CFPB data. Not an official Fannie Mae, FHFA, or CFPB product.</a:t>
            </a:r>
          </a:p>
        </p:txBody>
      </p:sp>
      <p:sp>
        <p:nvSpPr>
          <p:cNvPr id="10" name="Rounded Rectangle 9"/>
          <p:cNvSpPr/>
          <p:nvPr/>
        </p:nvSpPr>
        <p:spPr>
          <a:xfrm>
            <a:off x="484632" y="1783080"/>
            <a:ext cx="2560320" cy="269748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4632" y="1783080"/>
            <a:ext cx="2560320" cy="54864"/>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2011680"/>
            <a:ext cx="292608" cy="292608"/>
          </a:xfrm>
          <a:prstGeom prst="ellipse">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011680"/>
            <a:ext cx="292608" cy="292608"/>
          </a:xfrm>
          <a:prstGeom prst="rect">
            <a:avLst/>
          </a:prstGeom>
          <a:noFill/>
        </p:spPr>
        <p:txBody>
          <a:bodyPr wrap="square" lIns="0" rIns="0" tIns="0" bIns="0" anchor="ctr"/>
          <a:lstStyle/>
          <a:p>
            <a:pPr algn="ctr"/>
            <a:r>
              <a:rPr sz="1200" b="1">
                <a:solidFill>
                  <a:srgbClr val="FFFFFF"/>
                </a:solidFill>
                <a:latin typeface="Arial"/>
              </a:rPr>
              <a:t>1</a:t>
            </a:r>
          </a:p>
        </p:txBody>
      </p:sp>
      <p:sp>
        <p:nvSpPr>
          <p:cNvPr id="14" name="TextBox 13"/>
          <p:cNvSpPr txBox="1"/>
          <p:nvPr/>
        </p:nvSpPr>
        <p:spPr>
          <a:xfrm>
            <a:off x="1078992" y="2011680"/>
            <a:ext cx="1828800" cy="292608"/>
          </a:xfrm>
          <a:prstGeom prst="rect">
            <a:avLst/>
          </a:prstGeom>
          <a:noFill/>
        </p:spPr>
        <p:txBody>
          <a:bodyPr wrap="square" lIns="0" rIns="0" tIns="0" bIns="0" anchor="ctr"/>
          <a:lstStyle/>
          <a:p>
            <a:pPr algn="l"/>
            <a:r>
              <a:rPr sz="1300" b="1">
                <a:solidFill>
                  <a:srgbClr val="F0F6FC"/>
                </a:solidFill>
                <a:latin typeface="Arial"/>
              </a:rPr>
              <a:t>Prices are high</a:t>
            </a:r>
          </a:p>
        </p:txBody>
      </p:sp>
      <p:sp>
        <p:nvSpPr>
          <p:cNvPr id="15" name="TextBox 14"/>
          <p:cNvSpPr txBox="1"/>
          <p:nvPr/>
        </p:nvSpPr>
        <p:spPr>
          <a:xfrm>
            <a:off x="685800" y="2514600"/>
            <a:ext cx="2194560" cy="548640"/>
          </a:xfrm>
          <a:prstGeom prst="rect">
            <a:avLst/>
          </a:prstGeom>
          <a:noFill/>
        </p:spPr>
        <p:txBody>
          <a:bodyPr wrap="square" lIns="0" rIns="0" tIns="0" bIns="0" anchor="t"/>
          <a:lstStyle/>
          <a:p>
            <a:pPr algn="l"/>
            <a:r>
              <a:rPr sz="2800" b="1">
                <a:solidFill>
                  <a:srgbClr val="F0F6FC"/>
                </a:solidFill>
                <a:latin typeface="Arial"/>
              </a:rPr>
              <a:t>+64%</a:t>
            </a:r>
          </a:p>
        </p:txBody>
      </p:sp>
      <p:sp>
        <p:nvSpPr>
          <p:cNvPr id="16" name="TextBox 15"/>
          <p:cNvSpPr txBox="1"/>
          <p:nvPr/>
        </p:nvSpPr>
        <p:spPr>
          <a:xfrm>
            <a:off x="685800" y="3154680"/>
            <a:ext cx="2194560" cy="1234440"/>
          </a:xfrm>
          <a:prstGeom prst="rect">
            <a:avLst/>
          </a:prstGeom>
          <a:noFill/>
        </p:spPr>
        <p:txBody>
          <a:bodyPr wrap="square" lIns="0" rIns="0" tIns="0" bIns="0" anchor="t"/>
          <a:lstStyle/>
          <a:p>
            <a:pPr algn="l"/>
            <a:r>
              <a:rPr sz="1200" b="0">
                <a:solidFill>
                  <a:srgbClr val="B1BAC4"/>
                </a:solidFill>
                <a:latin typeface="Arial"/>
              </a:rPr>
              <a:t>U.S. index change since 2019 Q4. Growth slowed to +2.3% year over year in 2026 Q2.</a:t>
            </a:r>
          </a:p>
        </p:txBody>
      </p:sp>
      <p:sp>
        <p:nvSpPr>
          <p:cNvPr id="17" name="Rounded Rectangle 16"/>
          <p:cNvSpPr/>
          <p:nvPr/>
        </p:nvSpPr>
        <p:spPr>
          <a:xfrm>
            <a:off x="3291839" y="1783080"/>
            <a:ext cx="2560320" cy="269748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91839" y="1783080"/>
            <a:ext cx="2560320" cy="54864"/>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93008" y="2011680"/>
            <a:ext cx="292608" cy="292608"/>
          </a:xfrm>
          <a:prstGeom prst="ellipse">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93008" y="2011680"/>
            <a:ext cx="292608" cy="292608"/>
          </a:xfrm>
          <a:prstGeom prst="rect">
            <a:avLst/>
          </a:prstGeom>
          <a:noFill/>
        </p:spPr>
        <p:txBody>
          <a:bodyPr wrap="square" lIns="0" rIns="0" tIns="0" bIns="0" anchor="ctr"/>
          <a:lstStyle/>
          <a:p>
            <a:pPr algn="ctr"/>
            <a:r>
              <a:rPr sz="1200" b="1">
                <a:solidFill>
                  <a:srgbClr val="FFFFFF"/>
                </a:solidFill>
                <a:latin typeface="Arial"/>
              </a:rPr>
              <a:t>2</a:t>
            </a:r>
          </a:p>
        </p:txBody>
      </p:sp>
      <p:sp>
        <p:nvSpPr>
          <p:cNvPr id="21" name="TextBox 20"/>
          <p:cNvSpPr txBox="1"/>
          <p:nvPr/>
        </p:nvSpPr>
        <p:spPr>
          <a:xfrm>
            <a:off x="3886200" y="2011680"/>
            <a:ext cx="1828800" cy="292608"/>
          </a:xfrm>
          <a:prstGeom prst="rect">
            <a:avLst/>
          </a:prstGeom>
          <a:noFill/>
        </p:spPr>
        <p:txBody>
          <a:bodyPr wrap="square" lIns="0" rIns="0" tIns="0" bIns="0" anchor="ctr"/>
          <a:lstStyle/>
          <a:p>
            <a:pPr algn="l"/>
            <a:r>
              <a:rPr sz="1300" b="1">
                <a:solidFill>
                  <a:srgbClr val="F0F6FC"/>
                </a:solidFill>
                <a:latin typeface="Arial"/>
              </a:rPr>
              <a:t>Gains are uneven</a:t>
            </a:r>
          </a:p>
        </p:txBody>
      </p:sp>
      <p:sp>
        <p:nvSpPr>
          <p:cNvPr id="22" name="TextBox 21"/>
          <p:cNvSpPr txBox="1"/>
          <p:nvPr/>
        </p:nvSpPr>
        <p:spPr>
          <a:xfrm>
            <a:off x="3493008" y="2514600"/>
            <a:ext cx="2194560" cy="548640"/>
          </a:xfrm>
          <a:prstGeom prst="rect">
            <a:avLst/>
          </a:prstGeom>
          <a:noFill/>
        </p:spPr>
        <p:txBody>
          <a:bodyPr wrap="square" lIns="0" rIns="0" tIns="0" bIns="0" anchor="t"/>
          <a:lstStyle/>
          <a:p>
            <a:pPr algn="l"/>
            <a:r>
              <a:rPr sz="2800" b="1">
                <a:solidFill>
                  <a:srgbClr val="F0F6FC"/>
                </a:solidFill>
                <a:latin typeface="Arial"/>
              </a:rPr>
              <a:t>26 of 100</a:t>
            </a:r>
          </a:p>
        </p:txBody>
      </p:sp>
      <p:sp>
        <p:nvSpPr>
          <p:cNvPr id="23" name="TextBox 22"/>
          <p:cNvSpPr txBox="1"/>
          <p:nvPr/>
        </p:nvSpPr>
        <p:spPr>
          <a:xfrm>
            <a:off x="3493008" y="3154680"/>
            <a:ext cx="2194560" cy="1234440"/>
          </a:xfrm>
          <a:prstGeom prst="rect">
            <a:avLst/>
          </a:prstGeom>
          <a:noFill/>
        </p:spPr>
        <p:txBody>
          <a:bodyPr wrap="square" lIns="0" rIns="0" tIns="0" bIns="0" anchor="t"/>
          <a:lstStyle/>
          <a:p>
            <a:pPr algn="l"/>
            <a:r>
              <a:rPr sz="1200" b="0">
                <a:solidFill>
                  <a:srgbClr val="B1BAC4"/>
                </a:solidFill>
                <a:latin typeface="Arial"/>
              </a:rPr>
              <a:t>largest metros and 4 states show price declines. Alaska leads states at +8.3%.</a:t>
            </a:r>
          </a:p>
        </p:txBody>
      </p:sp>
      <p:sp>
        <p:nvSpPr>
          <p:cNvPr id="24" name="Rounded Rectangle 23"/>
          <p:cNvSpPr/>
          <p:nvPr/>
        </p:nvSpPr>
        <p:spPr>
          <a:xfrm>
            <a:off x="6099048" y="1783080"/>
            <a:ext cx="2560320" cy="2697480"/>
          </a:xfrm>
          <a:prstGeom prst="roundRect">
            <a:avLst>
              <a:gd name="adj" fmla="val 5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99048" y="1783080"/>
            <a:ext cx="2560320" cy="54864"/>
          </a:xfrm>
          <a:prstGeom prst="rect">
            <a:avLst/>
          </a:prstGeom>
          <a:solidFill>
            <a:srgbClr val="8B9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00216" y="2011680"/>
            <a:ext cx="292608" cy="292608"/>
          </a:xfrm>
          <a:prstGeom prst="ellipse">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0216" y="2011680"/>
            <a:ext cx="292608" cy="292608"/>
          </a:xfrm>
          <a:prstGeom prst="rect">
            <a:avLst/>
          </a:prstGeom>
          <a:noFill/>
        </p:spPr>
        <p:txBody>
          <a:bodyPr wrap="square" lIns="0" rIns="0" tIns="0" bIns="0" anchor="ctr"/>
          <a:lstStyle/>
          <a:p>
            <a:pPr algn="ctr"/>
            <a:r>
              <a:rPr sz="1200" b="1">
                <a:solidFill>
                  <a:srgbClr val="FFFFFF"/>
                </a:solidFill>
                <a:latin typeface="Arial"/>
              </a:rPr>
              <a:t>3</a:t>
            </a:r>
          </a:p>
        </p:txBody>
      </p:sp>
      <p:sp>
        <p:nvSpPr>
          <p:cNvPr id="28" name="TextBox 27"/>
          <p:cNvSpPr txBox="1"/>
          <p:nvPr/>
        </p:nvSpPr>
        <p:spPr>
          <a:xfrm>
            <a:off x="6693408" y="2011680"/>
            <a:ext cx="1828800" cy="292608"/>
          </a:xfrm>
          <a:prstGeom prst="rect">
            <a:avLst/>
          </a:prstGeom>
          <a:noFill/>
        </p:spPr>
        <p:txBody>
          <a:bodyPr wrap="square" lIns="0" rIns="0" tIns="0" bIns="0" anchor="ctr"/>
          <a:lstStyle/>
          <a:p>
            <a:pPr algn="l"/>
            <a:r>
              <a:rPr sz="1300" b="1">
                <a:solidFill>
                  <a:srgbClr val="F0F6FC"/>
                </a:solidFill>
                <a:latin typeface="Arial"/>
              </a:rPr>
              <a:t>Refinance is low</a:t>
            </a:r>
          </a:p>
        </p:txBody>
      </p:sp>
      <p:sp>
        <p:nvSpPr>
          <p:cNvPr id="29" name="TextBox 28"/>
          <p:cNvSpPr txBox="1"/>
          <p:nvPr/>
        </p:nvSpPr>
        <p:spPr>
          <a:xfrm>
            <a:off x="6300216" y="2514600"/>
            <a:ext cx="2194560" cy="548640"/>
          </a:xfrm>
          <a:prstGeom prst="rect">
            <a:avLst/>
          </a:prstGeom>
          <a:noFill/>
        </p:spPr>
        <p:txBody>
          <a:bodyPr wrap="square" lIns="0" rIns="0" tIns="0" bIns="0" anchor="t"/>
          <a:lstStyle/>
          <a:p>
            <a:pPr algn="l"/>
            <a:r>
              <a:rPr sz="2800" b="1">
                <a:solidFill>
                  <a:srgbClr val="F0F6FC"/>
                </a:solidFill>
                <a:latin typeface="Arial"/>
              </a:rPr>
              <a:t>-78%</a:t>
            </a:r>
          </a:p>
        </p:txBody>
      </p:sp>
      <p:sp>
        <p:nvSpPr>
          <p:cNvPr id="30" name="TextBox 29"/>
          <p:cNvSpPr txBox="1"/>
          <p:nvPr/>
        </p:nvSpPr>
        <p:spPr>
          <a:xfrm>
            <a:off x="6300216" y="3154680"/>
            <a:ext cx="2194560" cy="1234440"/>
          </a:xfrm>
          <a:prstGeom prst="rect">
            <a:avLst/>
          </a:prstGeom>
          <a:noFill/>
        </p:spPr>
        <p:txBody>
          <a:bodyPr wrap="square" lIns="0" rIns="0" tIns="0" bIns="0" anchor="t"/>
          <a:lstStyle/>
          <a:p>
            <a:pPr algn="l"/>
            <a:r>
              <a:rPr sz="1200" b="0">
                <a:solidFill>
                  <a:srgbClr val="B1BAC4"/>
                </a:solidFill>
                <a:latin typeface="Arial"/>
              </a:rPr>
              <a:t>Refinance loans in 2025 compared with 2020. Home purchase loans are 18% below 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802</Words>
  <Application>Microsoft Macintosh PowerPoint</Application>
  <PresentationFormat>On-screen Show (16:9)</PresentationFormat>
  <Paragraphs>146</Paragraphs>
  <Slides>7</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Code with Dan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Stacked PRs: Smaller Reviews Without Serial Development</dc:title>
  <dc:subject>GitHub Stacked PRs</dc:subject>
  <dc:creator>Dan Wahlin</dc:creator>
  <cp:lastModifiedBy>Dan Wahlin</cp:lastModifiedBy>
  <cp:revision>36</cp:revision>
  <dcterms:created xsi:type="dcterms:W3CDTF">2026-07-30T16:46:04Z</dcterms:created>
  <dcterms:modified xsi:type="dcterms:W3CDTF">2026-08-03T23:45:16Z</dcterms:modified>
</cp:coreProperties>
</file>