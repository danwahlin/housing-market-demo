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7"/>
    <p:sldId id="257" r:id="rId8"/>
    <p:sldId id="258" r:id="rId9"/>
    <p:sldId id="259" r:id="rId5"/>
    <p:sldId id="260" r:id="rId4"/>
    <p:sldId id="261" r:id="rId3"/>
    <p:sldId id="262" r:id="rId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8A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0844"/>
  </p:normalViewPr>
  <p:slideViewPr>
    <p:cSldViewPr snapToGrid="0" snapToObjects="1">
      <p:cViewPr varScale="1">
        <p:scale>
          <a:sx n="134" d="100"/>
          <a:sy n="134" d="100"/>
        </p:scale>
        <p:origin x="15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0F6FC"/>
                </a:solidFill>
                <a:latin typeface="Arial"/>
              </a:rPr>
              <a:t>FHFA U.S. House Price Index, seasonally adjusted, monthly, 2000 to latest</a:t>
            </a:r>
          </a:p>
        </c:rich>
      </c:tx>
      <c:layout/>
      <c:overlay val="0"/>
    </c:title>
    <c:autoTitleDeleted val="0"/>
    <c:plotArea>
      <c:lineChart>
        <c:grouping val="standard"/>
        <c:varyColors val="0"/>
        <c:ser>
          <c:idx val="0"/>
          <c:order val="0"/>
          <c:tx>
            <c:strRef>
              <c:f>Sheet1!$B$1</c:f>
              <c:strCache>
                <c:ptCount val="1"/>
                <c:pt idx="0">
                  <c:v>U.S. house price index (SA)</c:v>
                </c:pt>
              </c:strCache>
            </c:strRef>
          </c:tx>
          <c:spPr>
            <a:ln w="28575">
              <a:solidFill>
                <a:srgbClr val="58A6FF"/>
              </a:solidFill>
            </a:ln>
          </c:spPr>
          <c:marker>
            <c:symbol val="none"/>
          </c:marker>
          <c:dLbls>
            <c:dLbl>
              <c:idx val="87"/>
              <c:tx>
                <c:rich>
                  <a:bodyPr/>
                  <a:lstStyle/>
                  <a:p>
                    <a:r>
                      <a:rPr sz="1000" b="1">
                        <a:solidFill>
                          <a:srgbClr val="F0F6FC"/>
                        </a:solidFill>
                        <a:latin typeface="Arial"/>
                      </a:rPr>
                      <a:t>Apr 2007: 224</a:t>
                    </a:r>
                  </a:p>
                </c:rich>
              </c:tx>
              <c:dLblPos val="t"/>
              <c:showLegendKey val="0"/>
              <c:showVal val="1"/>
              <c:showCatName val="0"/>
              <c:showSerName val="0"/>
              <c:showPercent val="0"/>
              <c:showBubbleSize val="0"/>
            </c:dLbl>
            <c:dLbl>
              <c:idx val="136"/>
              <c:tx>
                <c:rich>
                  <a:bodyPr/>
                  <a:lstStyle/>
                  <a:p>
                    <a:r>
                      <a:rPr sz="1000" b="1">
                        <a:solidFill>
                          <a:srgbClr val="F0F6FC"/>
                        </a:solidFill>
                        <a:latin typeface="Arial"/>
                      </a:rPr>
                      <a:t>May 2011: 177</a:t>
                    </a:r>
                  </a:p>
                </c:rich>
              </c:tx>
              <c:dLblPos val="b"/>
              <c:showLegendKey val="0"/>
              <c:showVal val="1"/>
              <c:showCatName val="0"/>
              <c:showSerName val="0"/>
              <c:showPercent val="0"/>
              <c:showBubbleSize val="0"/>
            </c:dLbl>
            <c:dLbl>
              <c:idx val="318"/>
              <c:tx>
                <c:rich>
                  <a:bodyPr/>
                  <a:lstStyle/>
                  <a:p>
                    <a:r>
                      <a:rPr sz="1000" b="1">
                        <a:solidFill>
                          <a:srgbClr val="F0F6FC"/>
                        </a:solidFill>
                        <a:latin typeface="Arial"/>
                      </a:rPr>
                      <a:t>Jul 2026: 444</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Sheet1!$A$2:$A$320</c:f>
              <c:strCache>
                <c:ptCount val="319"/>
                <c:pt idx="0">
                  <c:v>Jan 2000</c:v>
                </c:pt>
                <c:pt idx="1">
                  <c:v>Feb 2000</c:v>
                </c:pt>
                <c:pt idx="2">
                  <c:v>Mar 2000</c:v>
                </c:pt>
                <c:pt idx="3">
                  <c:v>Apr 2000</c:v>
                </c:pt>
                <c:pt idx="4">
                  <c:v>May 2000</c:v>
                </c:pt>
                <c:pt idx="5">
                  <c:v>Jun 2000</c:v>
                </c:pt>
                <c:pt idx="6">
                  <c:v>Jul 2000</c:v>
                </c:pt>
                <c:pt idx="7">
                  <c:v>Aug 2000</c:v>
                </c:pt>
                <c:pt idx="8">
                  <c:v>Sep 2000</c:v>
                </c:pt>
                <c:pt idx="9">
                  <c:v>Oct 2000</c:v>
                </c:pt>
                <c:pt idx="10">
                  <c:v>Nov 2000</c:v>
                </c:pt>
                <c:pt idx="11">
                  <c:v>Dec 2000</c:v>
                </c:pt>
                <c:pt idx="12">
                  <c:v>Jan 2001</c:v>
                </c:pt>
                <c:pt idx="13">
                  <c:v>Feb 2001</c:v>
                </c:pt>
                <c:pt idx="14">
                  <c:v>Mar 2001</c:v>
                </c:pt>
                <c:pt idx="15">
                  <c:v>Apr 2001</c:v>
                </c:pt>
                <c:pt idx="16">
                  <c:v>May 2001</c:v>
                </c:pt>
                <c:pt idx="17">
                  <c:v>Jun 2001</c:v>
                </c:pt>
                <c:pt idx="18">
                  <c:v>Jul 2001</c:v>
                </c:pt>
                <c:pt idx="19">
                  <c:v>Aug 2001</c:v>
                </c:pt>
                <c:pt idx="20">
                  <c:v>Sep 2001</c:v>
                </c:pt>
                <c:pt idx="21">
                  <c:v>Oct 2001</c:v>
                </c:pt>
                <c:pt idx="22">
                  <c:v>Nov 2001</c:v>
                </c:pt>
                <c:pt idx="23">
                  <c:v>Dec 2001</c:v>
                </c:pt>
                <c:pt idx="24">
                  <c:v>Jan 2002</c:v>
                </c:pt>
                <c:pt idx="25">
                  <c:v>Feb 2002</c:v>
                </c:pt>
                <c:pt idx="26">
                  <c:v>Mar 2002</c:v>
                </c:pt>
                <c:pt idx="27">
                  <c:v>Apr 2002</c:v>
                </c:pt>
                <c:pt idx="28">
                  <c:v>May 2002</c:v>
                </c:pt>
                <c:pt idx="29">
                  <c:v>Jun 2002</c:v>
                </c:pt>
                <c:pt idx="30">
                  <c:v>Jul 2002</c:v>
                </c:pt>
                <c:pt idx="31">
                  <c:v>Aug 2002</c:v>
                </c:pt>
                <c:pt idx="32">
                  <c:v>Sep 2002</c:v>
                </c:pt>
                <c:pt idx="33">
                  <c:v>Oct 2002</c:v>
                </c:pt>
                <c:pt idx="34">
                  <c:v>Nov 2002</c:v>
                </c:pt>
                <c:pt idx="35">
                  <c:v>Dec 2002</c:v>
                </c:pt>
                <c:pt idx="36">
                  <c:v>Jan 2003</c:v>
                </c:pt>
                <c:pt idx="37">
                  <c:v>Feb 2003</c:v>
                </c:pt>
                <c:pt idx="38">
                  <c:v>Mar 2003</c:v>
                </c:pt>
                <c:pt idx="39">
                  <c:v>Apr 2003</c:v>
                </c:pt>
                <c:pt idx="40">
                  <c:v>May 2003</c:v>
                </c:pt>
                <c:pt idx="41">
                  <c:v>Jun 2003</c:v>
                </c:pt>
                <c:pt idx="42">
                  <c:v>Jul 2003</c:v>
                </c:pt>
                <c:pt idx="43">
                  <c:v>Aug 2003</c:v>
                </c:pt>
                <c:pt idx="44">
                  <c:v>Sep 2003</c:v>
                </c:pt>
                <c:pt idx="45">
                  <c:v>Oct 2003</c:v>
                </c:pt>
                <c:pt idx="46">
                  <c:v>Nov 2003</c:v>
                </c:pt>
                <c:pt idx="47">
                  <c:v>Dec 2003</c:v>
                </c:pt>
                <c:pt idx="48">
                  <c:v>Jan 2004</c:v>
                </c:pt>
                <c:pt idx="49">
                  <c:v>Feb 2004</c:v>
                </c:pt>
                <c:pt idx="50">
                  <c:v>Mar 2004</c:v>
                </c:pt>
                <c:pt idx="51">
                  <c:v>Apr 2004</c:v>
                </c:pt>
                <c:pt idx="52">
                  <c:v>May 2004</c:v>
                </c:pt>
                <c:pt idx="53">
                  <c:v>Jun 2004</c:v>
                </c:pt>
                <c:pt idx="54">
                  <c:v>Jul 2004</c:v>
                </c:pt>
                <c:pt idx="55">
                  <c:v>Aug 2004</c:v>
                </c:pt>
                <c:pt idx="56">
                  <c:v>Sep 2004</c:v>
                </c:pt>
                <c:pt idx="57">
                  <c:v>Oct 2004</c:v>
                </c:pt>
                <c:pt idx="58">
                  <c:v>Nov 2004</c:v>
                </c:pt>
                <c:pt idx="59">
                  <c:v>Dec 2004</c:v>
                </c:pt>
                <c:pt idx="60">
                  <c:v>Jan 2005</c:v>
                </c:pt>
                <c:pt idx="61">
                  <c:v>Feb 2005</c:v>
                </c:pt>
                <c:pt idx="62">
                  <c:v>Mar 2005</c:v>
                </c:pt>
                <c:pt idx="63">
                  <c:v>Apr 2005</c:v>
                </c:pt>
                <c:pt idx="64">
                  <c:v>May 2005</c:v>
                </c:pt>
                <c:pt idx="65">
                  <c:v>Jun 2005</c:v>
                </c:pt>
                <c:pt idx="66">
                  <c:v>Jul 2005</c:v>
                </c:pt>
                <c:pt idx="67">
                  <c:v>Aug 2005</c:v>
                </c:pt>
                <c:pt idx="68">
                  <c:v>Sep 2005</c:v>
                </c:pt>
                <c:pt idx="69">
                  <c:v>Oct 2005</c:v>
                </c:pt>
                <c:pt idx="70">
                  <c:v>Nov 2005</c:v>
                </c:pt>
                <c:pt idx="71">
                  <c:v>Dec 2005</c:v>
                </c:pt>
                <c:pt idx="72">
                  <c:v>Jan 2006</c:v>
                </c:pt>
                <c:pt idx="73">
                  <c:v>Feb 2006</c:v>
                </c:pt>
                <c:pt idx="74">
                  <c:v>Mar 2006</c:v>
                </c:pt>
                <c:pt idx="75">
                  <c:v>Apr 2006</c:v>
                </c:pt>
                <c:pt idx="76">
                  <c:v>May 2006</c:v>
                </c:pt>
                <c:pt idx="77">
                  <c:v>Jun 2006</c:v>
                </c:pt>
                <c:pt idx="78">
                  <c:v>Jul 2006</c:v>
                </c:pt>
                <c:pt idx="79">
                  <c:v>Aug 2006</c:v>
                </c:pt>
                <c:pt idx="80">
                  <c:v>Sep 2006</c:v>
                </c:pt>
                <c:pt idx="81">
                  <c:v>Oct 2006</c:v>
                </c:pt>
                <c:pt idx="82">
                  <c:v>Nov 2006</c:v>
                </c:pt>
                <c:pt idx="83">
                  <c:v>Dec 2006</c:v>
                </c:pt>
                <c:pt idx="84">
                  <c:v>Jan 2007</c:v>
                </c:pt>
                <c:pt idx="85">
                  <c:v>Feb 2007</c:v>
                </c:pt>
                <c:pt idx="86">
                  <c:v>Mar 2007</c:v>
                </c:pt>
                <c:pt idx="87">
                  <c:v>Apr 2007</c:v>
                </c:pt>
                <c:pt idx="88">
                  <c:v>May 2007</c:v>
                </c:pt>
                <c:pt idx="89">
                  <c:v>Jun 2007</c:v>
                </c:pt>
                <c:pt idx="90">
                  <c:v>Jul 2007</c:v>
                </c:pt>
                <c:pt idx="91">
                  <c:v>Aug 2007</c:v>
                </c:pt>
                <c:pt idx="92">
                  <c:v>Sep 2007</c:v>
                </c:pt>
                <c:pt idx="93">
                  <c:v>Oct 2007</c:v>
                </c:pt>
                <c:pt idx="94">
                  <c:v>Nov 2007</c:v>
                </c:pt>
                <c:pt idx="95">
                  <c:v>Dec 2007</c:v>
                </c:pt>
                <c:pt idx="96">
                  <c:v>Jan 2008</c:v>
                </c:pt>
                <c:pt idx="97">
                  <c:v>Feb 2008</c:v>
                </c:pt>
                <c:pt idx="98">
                  <c:v>Mar 2008</c:v>
                </c:pt>
                <c:pt idx="99">
                  <c:v>Apr 2008</c:v>
                </c:pt>
                <c:pt idx="100">
                  <c:v>May 2008</c:v>
                </c:pt>
                <c:pt idx="101">
                  <c:v>Jun 2008</c:v>
                </c:pt>
                <c:pt idx="102">
                  <c:v>Jul 2008</c:v>
                </c:pt>
                <c:pt idx="103">
                  <c:v>Aug 2008</c:v>
                </c:pt>
                <c:pt idx="104">
                  <c:v>Sep 2008</c:v>
                </c:pt>
                <c:pt idx="105">
                  <c:v>Oct 2008</c:v>
                </c:pt>
                <c:pt idx="106">
                  <c:v>Nov 2008</c:v>
                </c:pt>
                <c:pt idx="107">
                  <c:v>Dec 2008</c:v>
                </c:pt>
                <c:pt idx="108">
                  <c:v>Jan 2009</c:v>
                </c:pt>
                <c:pt idx="109">
                  <c:v>Feb 2009</c:v>
                </c:pt>
                <c:pt idx="110">
                  <c:v>Mar 2009</c:v>
                </c:pt>
                <c:pt idx="111">
                  <c:v>Apr 2009</c:v>
                </c:pt>
                <c:pt idx="112">
                  <c:v>May 2009</c:v>
                </c:pt>
                <c:pt idx="113">
                  <c:v>Jun 2009</c:v>
                </c:pt>
                <c:pt idx="114">
                  <c:v>Jul 2009</c:v>
                </c:pt>
                <c:pt idx="115">
                  <c:v>Aug 2009</c:v>
                </c:pt>
                <c:pt idx="116">
                  <c:v>Sep 2009</c:v>
                </c:pt>
                <c:pt idx="117">
                  <c:v>Oct 2009</c:v>
                </c:pt>
                <c:pt idx="118">
                  <c:v>Nov 2009</c:v>
                </c:pt>
                <c:pt idx="119">
                  <c:v>Dec 2009</c:v>
                </c:pt>
                <c:pt idx="120">
                  <c:v>Jan 2010</c:v>
                </c:pt>
                <c:pt idx="121">
                  <c:v>Feb 2010</c:v>
                </c:pt>
                <c:pt idx="122">
                  <c:v>Mar 2010</c:v>
                </c:pt>
                <c:pt idx="123">
                  <c:v>Apr 2010</c:v>
                </c:pt>
                <c:pt idx="124">
                  <c:v>May 2010</c:v>
                </c:pt>
                <c:pt idx="125">
                  <c:v>Jun 2010</c:v>
                </c:pt>
                <c:pt idx="126">
                  <c:v>Jul 2010</c:v>
                </c:pt>
                <c:pt idx="127">
                  <c:v>Aug 2010</c:v>
                </c:pt>
                <c:pt idx="128">
                  <c:v>Sep 2010</c:v>
                </c:pt>
                <c:pt idx="129">
                  <c:v>Oct 2010</c:v>
                </c:pt>
                <c:pt idx="130">
                  <c:v>Nov 2010</c:v>
                </c:pt>
                <c:pt idx="131">
                  <c:v>Dec 2010</c:v>
                </c:pt>
                <c:pt idx="132">
                  <c:v>Jan 2011</c:v>
                </c:pt>
                <c:pt idx="133">
                  <c:v>Feb 2011</c:v>
                </c:pt>
                <c:pt idx="134">
                  <c:v>Mar 2011</c:v>
                </c:pt>
                <c:pt idx="135">
                  <c:v>Apr 2011</c:v>
                </c:pt>
                <c:pt idx="136">
                  <c:v>May 2011</c:v>
                </c:pt>
                <c:pt idx="137">
                  <c:v>Jun 2011</c:v>
                </c:pt>
                <c:pt idx="138">
                  <c:v>Jul 2011</c:v>
                </c:pt>
                <c:pt idx="139">
                  <c:v>Aug 2011</c:v>
                </c:pt>
                <c:pt idx="140">
                  <c:v>Sep 2011</c:v>
                </c:pt>
                <c:pt idx="141">
                  <c:v>Oct 2011</c:v>
                </c:pt>
                <c:pt idx="142">
                  <c:v>Nov 2011</c:v>
                </c:pt>
                <c:pt idx="143">
                  <c:v>Dec 2011</c:v>
                </c:pt>
                <c:pt idx="144">
                  <c:v>Jan 2012</c:v>
                </c:pt>
                <c:pt idx="145">
                  <c:v>Feb 2012</c:v>
                </c:pt>
                <c:pt idx="146">
                  <c:v>Mar 2012</c:v>
                </c:pt>
                <c:pt idx="147">
                  <c:v>Apr 2012</c:v>
                </c:pt>
                <c:pt idx="148">
                  <c:v>May 2012</c:v>
                </c:pt>
                <c:pt idx="149">
                  <c:v>Jun 2012</c:v>
                </c:pt>
                <c:pt idx="150">
                  <c:v>Jul 2012</c:v>
                </c:pt>
                <c:pt idx="151">
                  <c:v>Aug 2012</c:v>
                </c:pt>
                <c:pt idx="152">
                  <c:v>Sep 2012</c:v>
                </c:pt>
                <c:pt idx="153">
                  <c:v>Oct 2012</c:v>
                </c:pt>
                <c:pt idx="154">
                  <c:v>Nov 2012</c:v>
                </c:pt>
                <c:pt idx="155">
                  <c:v>Dec 2012</c:v>
                </c:pt>
                <c:pt idx="156">
                  <c:v>Jan 2013</c:v>
                </c:pt>
                <c:pt idx="157">
                  <c:v>Feb 2013</c:v>
                </c:pt>
                <c:pt idx="158">
                  <c:v>Mar 2013</c:v>
                </c:pt>
                <c:pt idx="159">
                  <c:v>Apr 2013</c:v>
                </c:pt>
                <c:pt idx="160">
                  <c:v>May 2013</c:v>
                </c:pt>
                <c:pt idx="161">
                  <c:v>Jun 2013</c:v>
                </c:pt>
                <c:pt idx="162">
                  <c:v>Jul 2013</c:v>
                </c:pt>
                <c:pt idx="163">
                  <c:v>Aug 2013</c:v>
                </c:pt>
                <c:pt idx="164">
                  <c:v>Sep 2013</c:v>
                </c:pt>
                <c:pt idx="165">
                  <c:v>Oct 2013</c:v>
                </c:pt>
                <c:pt idx="166">
                  <c:v>Nov 2013</c:v>
                </c:pt>
                <c:pt idx="167">
                  <c:v>Dec 2013</c:v>
                </c:pt>
                <c:pt idx="168">
                  <c:v>Jan 2014</c:v>
                </c:pt>
                <c:pt idx="169">
                  <c:v>Feb 2014</c:v>
                </c:pt>
                <c:pt idx="170">
                  <c:v>Mar 2014</c:v>
                </c:pt>
                <c:pt idx="171">
                  <c:v>Apr 2014</c:v>
                </c:pt>
                <c:pt idx="172">
                  <c:v>May 2014</c:v>
                </c:pt>
                <c:pt idx="173">
                  <c:v>Jun 2014</c:v>
                </c:pt>
                <c:pt idx="174">
                  <c:v>Jul 2014</c:v>
                </c:pt>
                <c:pt idx="175">
                  <c:v>Aug 2014</c:v>
                </c:pt>
                <c:pt idx="176">
                  <c:v>Sep 2014</c:v>
                </c:pt>
                <c:pt idx="177">
                  <c:v>Oct 2014</c:v>
                </c:pt>
                <c:pt idx="178">
                  <c:v>Nov 2014</c:v>
                </c:pt>
                <c:pt idx="179">
                  <c:v>Dec 2014</c:v>
                </c:pt>
                <c:pt idx="180">
                  <c:v>Jan 2015</c:v>
                </c:pt>
                <c:pt idx="181">
                  <c:v>Feb 2015</c:v>
                </c:pt>
                <c:pt idx="182">
                  <c:v>Mar 2015</c:v>
                </c:pt>
                <c:pt idx="183">
                  <c:v>Apr 2015</c:v>
                </c:pt>
                <c:pt idx="184">
                  <c:v>May 2015</c:v>
                </c:pt>
                <c:pt idx="185">
                  <c:v>Jun 2015</c:v>
                </c:pt>
                <c:pt idx="186">
                  <c:v>Jul 2015</c:v>
                </c:pt>
                <c:pt idx="187">
                  <c:v>Aug 2015</c:v>
                </c:pt>
                <c:pt idx="188">
                  <c:v>Sep 2015</c:v>
                </c:pt>
                <c:pt idx="189">
                  <c:v>Oct 2015</c:v>
                </c:pt>
                <c:pt idx="190">
                  <c:v>Nov 2015</c:v>
                </c:pt>
                <c:pt idx="191">
                  <c:v>Dec 2015</c:v>
                </c:pt>
                <c:pt idx="192">
                  <c:v>Jan 2016</c:v>
                </c:pt>
                <c:pt idx="193">
                  <c:v>Feb 2016</c:v>
                </c:pt>
                <c:pt idx="194">
                  <c:v>Mar 2016</c:v>
                </c:pt>
                <c:pt idx="195">
                  <c:v>Apr 2016</c:v>
                </c:pt>
                <c:pt idx="196">
                  <c:v>May 2016</c:v>
                </c:pt>
                <c:pt idx="197">
                  <c:v>Jun 2016</c:v>
                </c:pt>
                <c:pt idx="198">
                  <c:v>Jul 2016</c:v>
                </c:pt>
                <c:pt idx="199">
                  <c:v>Aug 2016</c:v>
                </c:pt>
                <c:pt idx="200">
                  <c:v>Sep 2016</c:v>
                </c:pt>
                <c:pt idx="201">
                  <c:v>Oct 2016</c:v>
                </c:pt>
                <c:pt idx="202">
                  <c:v>Nov 2016</c:v>
                </c:pt>
                <c:pt idx="203">
                  <c:v>Dec 2016</c:v>
                </c:pt>
                <c:pt idx="204">
                  <c:v>Jan 2017</c:v>
                </c:pt>
                <c:pt idx="205">
                  <c:v>Feb 2017</c:v>
                </c:pt>
                <c:pt idx="206">
                  <c:v>Mar 2017</c:v>
                </c:pt>
                <c:pt idx="207">
                  <c:v>Apr 2017</c:v>
                </c:pt>
                <c:pt idx="208">
                  <c:v>May 2017</c:v>
                </c:pt>
                <c:pt idx="209">
                  <c:v>Jun 2017</c:v>
                </c:pt>
                <c:pt idx="210">
                  <c:v>Jul 2017</c:v>
                </c:pt>
                <c:pt idx="211">
                  <c:v>Aug 2017</c:v>
                </c:pt>
                <c:pt idx="212">
                  <c:v>Sep 2017</c:v>
                </c:pt>
                <c:pt idx="213">
                  <c:v>Oct 2017</c:v>
                </c:pt>
                <c:pt idx="214">
                  <c:v>Nov 2017</c:v>
                </c:pt>
                <c:pt idx="215">
                  <c:v>Dec 2017</c:v>
                </c:pt>
                <c:pt idx="216">
                  <c:v>Jan 2018</c:v>
                </c:pt>
                <c:pt idx="217">
                  <c:v>Feb 2018</c:v>
                </c:pt>
                <c:pt idx="218">
                  <c:v>Mar 2018</c:v>
                </c:pt>
                <c:pt idx="219">
                  <c:v>Apr 2018</c:v>
                </c:pt>
                <c:pt idx="220">
                  <c:v>May 2018</c:v>
                </c:pt>
                <c:pt idx="221">
                  <c:v>Jun 2018</c:v>
                </c:pt>
                <c:pt idx="222">
                  <c:v>Jul 2018</c:v>
                </c:pt>
                <c:pt idx="223">
                  <c:v>Aug 2018</c:v>
                </c:pt>
                <c:pt idx="224">
                  <c:v>Sep 2018</c:v>
                </c:pt>
                <c:pt idx="225">
                  <c:v>Oct 2018</c:v>
                </c:pt>
                <c:pt idx="226">
                  <c:v>Nov 2018</c:v>
                </c:pt>
                <c:pt idx="227">
                  <c:v>Dec 2018</c:v>
                </c:pt>
                <c:pt idx="228">
                  <c:v>Jan 2019</c:v>
                </c:pt>
                <c:pt idx="229">
                  <c:v>Feb 2019</c:v>
                </c:pt>
                <c:pt idx="230">
                  <c:v>Mar 2019</c:v>
                </c:pt>
                <c:pt idx="231">
                  <c:v>Apr 2019</c:v>
                </c:pt>
                <c:pt idx="232">
                  <c:v>May 2019</c:v>
                </c:pt>
                <c:pt idx="233">
                  <c:v>Jun 2019</c:v>
                </c:pt>
                <c:pt idx="234">
                  <c:v>Jul 2019</c:v>
                </c:pt>
                <c:pt idx="235">
                  <c:v>Aug 2019</c:v>
                </c:pt>
                <c:pt idx="236">
                  <c:v>Sep 2019</c:v>
                </c:pt>
                <c:pt idx="237">
                  <c:v>Oct 2019</c:v>
                </c:pt>
                <c:pt idx="238">
                  <c:v>Nov 2019</c:v>
                </c:pt>
                <c:pt idx="239">
                  <c:v>Dec 2019</c:v>
                </c:pt>
                <c:pt idx="240">
                  <c:v>Jan 2020</c:v>
                </c:pt>
                <c:pt idx="241">
                  <c:v>Feb 2020</c:v>
                </c:pt>
                <c:pt idx="242">
                  <c:v>Mar 2020</c:v>
                </c:pt>
                <c:pt idx="243">
                  <c:v>Apr 2020</c:v>
                </c:pt>
                <c:pt idx="244">
                  <c:v>May 2020</c:v>
                </c:pt>
                <c:pt idx="245">
                  <c:v>Jun 2020</c:v>
                </c:pt>
                <c:pt idx="246">
                  <c:v>Jul 2020</c:v>
                </c:pt>
                <c:pt idx="247">
                  <c:v>Aug 2020</c:v>
                </c:pt>
                <c:pt idx="248">
                  <c:v>Sep 2020</c:v>
                </c:pt>
                <c:pt idx="249">
                  <c:v>Oct 2020</c:v>
                </c:pt>
                <c:pt idx="250">
                  <c:v>Nov 2020</c:v>
                </c:pt>
                <c:pt idx="251">
                  <c:v>Dec 2020</c:v>
                </c:pt>
                <c:pt idx="252">
                  <c:v>Jan 2021</c:v>
                </c:pt>
                <c:pt idx="253">
                  <c:v>Feb 2021</c:v>
                </c:pt>
                <c:pt idx="254">
                  <c:v>Mar 2021</c:v>
                </c:pt>
                <c:pt idx="255">
                  <c:v>Apr 2021</c:v>
                </c:pt>
                <c:pt idx="256">
                  <c:v>May 2021</c:v>
                </c:pt>
                <c:pt idx="257">
                  <c:v>Jun 2021</c:v>
                </c:pt>
                <c:pt idx="258">
                  <c:v>Jul 2021</c:v>
                </c:pt>
                <c:pt idx="259">
                  <c:v>Aug 2021</c:v>
                </c:pt>
                <c:pt idx="260">
                  <c:v>Sep 2021</c:v>
                </c:pt>
                <c:pt idx="261">
                  <c:v>Oct 2021</c:v>
                </c:pt>
                <c:pt idx="262">
                  <c:v>Nov 2021</c:v>
                </c:pt>
                <c:pt idx="263">
                  <c:v>Dec 2021</c:v>
                </c:pt>
                <c:pt idx="264">
                  <c:v>Jan 2022</c:v>
                </c:pt>
                <c:pt idx="265">
                  <c:v>Feb 2022</c:v>
                </c:pt>
                <c:pt idx="266">
                  <c:v>Mar 2022</c:v>
                </c:pt>
                <c:pt idx="267">
                  <c:v>Apr 2022</c:v>
                </c:pt>
                <c:pt idx="268">
                  <c:v>May 2022</c:v>
                </c:pt>
                <c:pt idx="269">
                  <c:v>Jun 2022</c:v>
                </c:pt>
                <c:pt idx="270">
                  <c:v>Jul 2022</c:v>
                </c:pt>
                <c:pt idx="271">
                  <c:v>Aug 2022</c:v>
                </c:pt>
                <c:pt idx="272">
                  <c:v>Sep 2022</c:v>
                </c:pt>
                <c:pt idx="273">
                  <c:v>Oct 2022</c:v>
                </c:pt>
                <c:pt idx="274">
                  <c:v>Nov 2022</c:v>
                </c:pt>
                <c:pt idx="275">
                  <c:v>Dec 2022</c:v>
                </c:pt>
                <c:pt idx="276">
                  <c:v>Jan 2023</c:v>
                </c:pt>
                <c:pt idx="277">
                  <c:v>Feb 2023</c:v>
                </c:pt>
                <c:pt idx="278">
                  <c:v>Mar 2023</c:v>
                </c:pt>
                <c:pt idx="279">
                  <c:v>Apr 2023</c:v>
                </c:pt>
                <c:pt idx="280">
                  <c:v>May 2023</c:v>
                </c:pt>
                <c:pt idx="281">
                  <c:v>Jun 2023</c:v>
                </c:pt>
                <c:pt idx="282">
                  <c:v>Jul 2023</c:v>
                </c:pt>
                <c:pt idx="283">
                  <c:v>Aug 2023</c:v>
                </c:pt>
                <c:pt idx="284">
                  <c:v>Sep 2023</c:v>
                </c:pt>
                <c:pt idx="285">
                  <c:v>Oct 2023</c:v>
                </c:pt>
                <c:pt idx="286">
                  <c:v>Nov 2023</c:v>
                </c:pt>
                <c:pt idx="287">
                  <c:v>Dec 2023</c:v>
                </c:pt>
                <c:pt idx="288">
                  <c:v>Jan 2024</c:v>
                </c:pt>
                <c:pt idx="289">
                  <c:v>Feb 2024</c:v>
                </c:pt>
                <c:pt idx="290">
                  <c:v>Mar 2024</c:v>
                </c:pt>
                <c:pt idx="291">
                  <c:v>Apr 2024</c:v>
                </c:pt>
                <c:pt idx="292">
                  <c:v>May 2024</c:v>
                </c:pt>
                <c:pt idx="293">
                  <c:v>Jun 2024</c:v>
                </c:pt>
                <c:pt idx="294">
                  <c:v>Jul 2024</c:v>
                </c:pt>
                <c:pt idx="295">
                  <c:v>Aug 2024</c:v>
                </c:pt>
                <c:pt idx="296">
                  <c:v>Sep 2024</c:v>
                </c:pt>
                <c:pt idx="297">
                  <c:v>Oct 2024</c:v>
                </c:pt>
                <c:pt idx="298">
                  <c:v>Nov 2024</c:v>
                </c:pt>
                <c:pt idx="299">
                  <c:v>Dec 2024</c:v>
                </c:pt>
                <c:pt idx="300">
                  <c:v>Jan 2025</c:v>
                </c:pt>
                <c:pt idx="301">
                  <c:v>Feb 2025</c:v>
                </c:pt>
                <c:pt idx="302">
                  <c:v>Mar 2025</c:v>
                </c:pt>
                <c:pt idx="303">
                  <c:v>Apr 2025</c:v>
                </c:pt>
                <c:pt idx="304">
                  <c:v>May 2025</c:v>
                </c:pt>
                <c:pt idx="305">
                  <c:v>Jun 2025</c:v>
                </c:pt>
                <c:pt idx="306">
                  <c:v>Jul 2025</c:v>
                </c:pt>
                <c:pt idx="307">
                  <c:v>Aug 2025</c:v>
                </c:pt>
                <c:pt idx="308">
                  <c:v>Sep 2025</c:v>
                </c:pt>
                <c:pt idx="309">
                  <c:v>Oct 2025</c:v>
                </c:pt>
                <c:pt idx="310">
                  <c:v>Nov 2025</c:v>
                </c:pt>
                <c:pt idx="311">
                  <c:v>Dec 2025</c:v>
                </c:pt>
                <c:pt idx="312">
                  <c:v>Jan 2026</c:v>
                </c:pt>
                <c:pt idx="313">
                  <c:v>Feb 2026</c:v>
                </c:pt>
                <c:pt idx="314">
                  <c:v>Mar 2026</c:v>
                </c:pt>
                <c:pt idx="315">
                  <c:v>Apr 2026</c:v>
                </c:pt>
                <c:pt idx="316">
                  <c:v>May 2026</c:v>
                </c:pt>
                <c:pt idx="317">
                  <c:v>Jun 2026</c:v>
                </c:pt>
                <c:pt idx="318">
                  <c:v>Jul 2026</c:v>
                </c:pt>
              </c:strCache>
            </c:strRef>
          </c:cat>
          <c:val>
            <c:numRef>
              <c:f>Sheet1!$B$2:$B$320</c:f>
              <c:numCache>
                <c:formatCode>General</c:formatCode>
                <c:ptCount val="319"/>
                <c:pt idx="0">
                  <c:v>136.9</c:v>
                </c:pt>
                <c:pt idx="1">
                  <c:v>136.7</c:v>
                </c:pt>
                <c:pt idx="2">
                  <c:v>137.8</c:v>
                </c:pt>
                <c:pt idx="3">
                  <c:v>138.7</c:v>
                </c:pt>
                <c:pt idx="4">
                  <c:v>139.3</c:v>
                </c:pt>
                <c:pt idx="5">
                  <c:v>140.2</c:v>
                </c:pt>
                <c:pt idx="6">
                  <c:v>141.0</c:v>
                </c:pt>
                <c:pt idx="7">
                  <c:v>141.5</c:v>
                </c:pt>
                <c:pt idx="8">
                  <c:v>142.4</c:v>
                </c:pt>
                <c:pt idx="9">
                  <c:v>143.2</c:v>
                </c:pt>
                <c:pt idx="10">
                  <c:v>144.1</c:v>
                </c:pt>
                <c:pt idx="11">
                  <c:v>144.9</c:v>
                </c:pt>
                <c:pt idx="12">
                  <c:v>145.8</c:v>
                </c:pt>
                <c:pt idx="13">
                  <c:v>146.8</c:v>
                </c:pt>
                <c:pt idx="14">
                  <c:v>147.6</c:v>
                </c:pt>
                <c:pt idx="15">
                  <c:v>148.5</c:v>
                </c:pt>
                <c:pt idx="16">
                  <c:v>149.1</c:v>
                </c:pt>
                <c:pt idx="17">
                  <c:v>149.8</c:v>
                </c:pt>
                <c:pt idx="18">
                  <c:v>150.7</c:v>
                </c:pt>
                <c:pt idx="19">
                  <c:v>151.4</c:v>
                </c:pt>
                <c:pt idx="20">
                  <c:v>152.2</c:v>
                </c:pt>
                <c:pt idx="21">
                  <c:v>153.1</c:v>
                </c:pt>
                <c:pt idx="22">
                  <c:v>153.6</c:v>
                </c:pt>
                <c:pt idx="23">
                  <c:v>154.6</c:v>
                </c:pt>
                <c:pt idx="24">
                  <c:v>155.4</c:v>
                </c:pt>
                <c:pt idx="25">
                  <c:v>156.4</c:v>
                </c:pt>
                <c:pt idx="26">
                  <c:v>157.3</c:v>
                </c:pt>
                <c:pt idx="27">
                  <c:v>158.2</c:v>
                </c:pt>
                <c:pt idx="28">
                  <c:v>159.2</c:v>
                </c:pt>
                <c:pt idx="29">
                  <c:v>160.2</c:v>
                </c:pt>
                <c:pt idx="30">
                  <c:v>161.2</c:v>
                </c:pt>
                <c:pt idx="31">
                  <c:v>162.3</c:v>
                </c:pt>
                <c:pt idx="32">
                  <c:v>163.3</c:v>
                </c:pt>
                <c:pt idx="33">
                  <c:v>164.4</c:v>
                </c:pt>
                <c:pt idx="34">
                  <c:v>165.4</c:v>
                </c:pt>
                <c:pt idx="35">
                  <c:v>166.6</c:v>
                </c:pt>
                <c:pt idx="36">
                  <c:v>167.6</c:v>
                </c:pt>
                <c:pt idx="37">
                  <c:v>168.6</c:v>
                </c:pt>
                <c:pt idx="38">
                  <c:v>169.2</c:v>
                </c:pt>
                <c:pt idx="39">
                  <c:v>170.2</c:v>
                </c:pt>
                <c:pt idx="40">
                  <c:v>171.1</c:v>
                </c:pt>
                <c:pt idx="41">
                  <c:v>171.9</c:v>
                </c:pt>
                <c:pt idx="42">
                  <c:v>173.2</c:v>
                </c:pt>
                <c:pt idx="43">
                  <c:v>174.5</c:v>
                </c:pt>
                <c:pt idx="44">
                  <c:v>175.9</c:v>
                </c:pt>
                <c:pt idx="45">
                  <c:v>176.9</c:v>
                </c:pt>
                <c:pt idx="46">
                  <c:v>178.3</c:v>
                </c:pt>
                <c:pt idx="47">
                  <c:v>179.8</c:v>
                </c:pt>
                <c:pt idx="48">
                  <c:v>180.9</c:v>
                </c:pt>
                <c:pt idx="49">
                  <c:v>182.3</c:v>
                </c:pt>
                <c:pt idx="50">
                  <c:v>183.6</c:v>
                </c:pt>
                <c:pt idx="51">
                  <c:v>185.2</c:v>
                </c:pt>
                <c:pt idx="52">
                  <c:v>186.9</c:v>
                </c:pt>
                <c:pt idx="53">
                  <c:v>188.8</c:v>
                </c:pt>
                <c:pt idx="54">
                  <c:v>190.4</c:v>
                </c:pt>
                <c:pt idx="55">
                  <c:v>191.8</c:v>
                </c:pt>
                <c:pt idx="56">
                  <c:v>193.2</c:v>
                </c:pt>
                <c:pt idx="57">
                  <c:v>194.7</c:v>
                </c:pt>
                <c:pt idx="58">
                  <c:v>196.5</c:v>
                </c:pt>
                <c:pt idx="59">
                  <c:v>198.1</c:v>
                </c:pt>
                <c:pt idx="60">
                  <c:v>199.5</c:v>
                </c:pt>
                <c:pt idx="61">
                  <c:v>201.1</c:v>
                </c:pt>
                <c:pt idx="62">
                  <c:v>203.1</c:v>
                </c:pt>
                <c:pt idx="63">
                  <c:v>204.8</c:v>
                </c:pt>
                <c:pt idx="64">
                  <c:v>206.5</c:v>
                </c:pt>
                <c:pt idx="65">
                  <c:v>208.3</c:v>
                </c:pt>
                <c:pt idx="66">
                  <c:v>210.4</c:v>
                </c:pt>
                <c:pt idx="67">
                  <c:v>211.9</c:v>
                </c:pt>
                <c:pt idx="68">
                  <c:v>213.9</c:v>
                </c:pt>
                <c:pt idx="69">
                  <c:v>215.1</c:v>
                </c:pt>
                <c:pt idx="70">
                  <c:v>216.5</c:v>
                </c:pt>
                <c:pt idx="71">
                  <c:v>217.8</c:v>
                </c:pt>
                <c:pt idx="72">
                  <c:v>219.1</c:v>
                </c:pt>
                <c:pt idx="73">
                  <c:v>219.6</c:v>
                </c:pt>
                <c:pt idx="74">
                  <c:v>220.4</c:v>
                </c:pt>
                <c:pt idx="75">
                  <c:v>220.8</c:v>
                </c:pt>
                <c:pt idx="76">
                  <c:v>221.4</c:v>
                </c:pt>
                <c:pt idx="77">
                  <c:v>221.3</c:v>
                </c:pt>
                <c:pt idx="78">
                  <c:v>221.2</c:v>
                </c:pt>
                <c:pt idx="79">
                  <c:v>221.8</c:v>
                </c:pt>
                <c:pt idx="80">
                  <c:v>221.7</c:v>
                </c:pt>
                <c:pt idx="81">
                  <c:v>222.0</c:v>
                </c:pt>
                <c:pt idx="82">
                  <c:v>222.7</c:v>
                </c:pt>
                <c:pt idx="83">
                  <c:v>222.7</c:v>
                </c:pt>
                <c:pt idx="84">
                  <c:v>223.5</c:v>
                </c:pt>
                <c:pt idx="85">
                  <c:v>223.6</c:v>
                </c:pt>
                <c:pt idx="86">
                  <c:v>224.4</c:v>
                </c:pt>
                <c:pt idx="87">
                  <c:v>224.5</c:v>
                </c:pt>
                <c:pt idx="88">
                  <c:v>223.3</c:v>
                </c:pt>
                <c:pt idx="89">
                  <c:v>222.5</c:v>
                </c:pt>
                <c:pt idx="90">
                  <c:v>221.3</c:v>
                </c:pt>
                <c:pt idx="91">
                  <c:v>220.3</c:v>
                </c:pt>
                <c:pt idx="92">
                  <c:v>219.4</c:v>
                </c:pt>
                <c:pt idx="93">
                  <c:v>217.6</c:v>
                </c:pt>
                <c:pt idx="94">
                  <c:v>216.2</c:v>
                </c:pt>
                <c:pt idx="95">
                  <c:v>215.1</c:v>
                </c:pt>
                <c:pt idx="96">
                  <c:v>213.3</c:v>
                </c:pt>
                <c:pt idx="97">
                  <c:v>211.9</c:v>
                </c:pt>
                <c:pt idx="98">
                  <c:v>210.1</c:v>
                </c:pt>
                <c:pt idx="99">
                  <c:v>207.8</c:v>
                </c:pt>
                <c:pt idx="100">
                  <c:v>205.4</c:v>
                </c:pt>
                <c:pt idx="101">
                  <c:v>204.1</c:v>
                </c:pt>
                <c:pt idx="102">
                  <c:v>202.2</c:v>
                </c:pt>
                <c:pt idx="103">
                  <c:v>200.2</c:v>
                </c:pt>
                <c:pt idx="104">
                  <c:v>198.3</c:v>
                </c:pt>
                <c:pt idx="105">
                  <c:v>196.6</c:v>
                </c:pt>
                <c:pt idx="106">
                  <c:v>193.1</c:v>
                </c:pt>
                <c:pt idx="107">
                  <c:v>192.6</c:v>
                </c:pt>
                <c:pt idx="108">
                  <c:v>194.2</c:v>
                </c:pt>
                <c:pt idx="109">
                  <c:v>194.4</c:v>
                </c:pt>
                <c:pt idx="110">
                  <c:v>192.0</c:v>
                </c:pt>
                <c:pt idx="111">
                  <c:v>190.8</c:v>
                </c:pt>
                <c:pt idx="112">
                  <c:v>190.8</c:v>
                </c:pt>
                <c:pt idx="113">
                  <c:v>190.7</c:v>
                </c:pt>
                <c:pt idx="114">
                  <c:v>190.1</c:v>
                </c:pt>
                <c:pt idx="115">
                  <c:v>189.8</c:v>
                </c:pt>
                <c:pt idx="116">
                  <c:v>189.6</c:v>
                </c:pt>
                <c:pt idx="117">
                  <c:v>189.9</c:v>
                </c:pt>
                <c:pt idx="118">
                  <c:v>190.5</c:v>
                </c:pt>
                <c:pt idx="119">
                  <c:v>188.8</c:v>
                </c:pt>
                <c:pt idx="120">
                  <c:v>188.9</c:v>
                </c:pt>
                <c:pt idx="121">
                  <c:v>188.1</c:v>
                </c:pt>
                <c:pt idx="122">
                  <c:v>187.8</c:v>
                </c:pt>
                <c:pt idx="123">
                  <c:v>188.1</c:v>
                </c:pt>
                <c:pt idx="124">
                  <c:v>188.0</c:v>
                </c:pt>
                <c:pt idx="125">
                  <c:v>186.1</c:v>
                </c:pt>
                <c:pt idx="126">
                  <c:v>184.9</c:v>
                </c:pt>
                <c:pt idx="127">
                  <c:v>184.8</c:v>
                </c:pt>
                <c:pt idx="128">
                  <c:v>183.1</c:v>
                </c:pt>
                <c:pt idx="129">
                  <c:v>183.3</c:v>
                </c:pt>
                <c:pt idx="130">
                  <c:v>182.6</c:v>
                </c:pt>
                <c:pt idx="131">
                  <c:v>181.3</c:v>
                </c:pt>
                <c:pt idx="132">
                  <c:v>180.2</c:v>
                </c:pt>
                <c:pt idx="133">
                  <c:v>178.6</c:v>
                </c:pt>
                <c:pt idx="134">
                  <c:v>176.7</c:v>
                </c:pt>
                <c:pt idx="135">
                  <c:v>177.2</c:v>
                </c:pt>
                <c:pt idx="136">
                  <c:v>176.7</c:v>
                </c:pt>
                <c:pt idx="137">
                  <c:v>177.1</c:v>
                </c:pt>
                <c:pt idx="138">
                  <c:v>177.4</c:v>
                </c:pt>
                <c:pt idx="139">
                  <c:v>177.1</c:v>
                </c:pt>
                <c:pt idx="140">
                  <c:v>178.0</c:v>
                </c:pt>
                <c:pt idx="141">
                  <c:v>177.2</c:v>
                </c:pt>
                <c:pt idx="142">
                  <c:v>177.8</c:v>
                </c:pt>
                <c:pt idx="143">
                  <c:v>178.2</c:v>
                </c:pt>
                <c:pt idx="144">
                  <c:v>177.6</c:v>
                </c:pt>
                <c:pt idx="145">
                  <c:v>178.2</c:v>
                </c:pt>
                <c:pt idx="146">
                  <c:v>179.6</c:v>
                </c:pt>
                <c:pt idx="147">
                  <c:v>180.5</c:v>
                </c:pt>
                <c:pt idx="148">
                  <c:v>181.6</c:v>
                </c:pt>
                <c:pt idx="149">
                  <c:v>182.3</c:v>
                </c:pt>
                <c:pt idx="150">
                  <c:v>182.6</c:v>
                </c:pt>
                <c:pt idx="151">
                  <c:v>183.9</c:v>
                </c:pt>
                <c:pt idx="152">
                  <c:v>184.5</c:v>
                </c:pt>
                <c:pt idx="153">
                  <c:v>185.5</c:v>
                </c:pt>
                <c:pt idx="154">
                  <c:v>186.4</c:v>
                </c:pt>
                <c:pt idx="155">
                  <c:v>187.3</c:v>
                </c:pt>
                <c:pt idx="156">
                  <c:v>188.8</c:v>
                </c:pt>
                <c:pt idx="157">
                  <c:v>189.9</c:v>
                </c:pt>
                <c:pt idx="158">
                  <c:v>191.8</c:v>
                </c:pt>
                <c:pt idx="159">
                  <c:v>192.7</c:v>
                </c:pt>
                <c:pt idx="160">
                  <c:v>194.2</c:v>
                </c:pt>
                <c:pt idx="161">
                  <c:v>195.4</c:v>
                </c:pt>
                <c:pt idx="162">
                  <c:v>196.4</c:v>
                </c:pt>
                <c:pt idx="163">
                  <c:v>197.0</c:v>
                </c:pt>
                <c:pt idx="164">
                  <c:v>198.0</c:v>
                </c:pt>
                <c:pt idx="165">
                  <c:v>198.6</c:v>
                </c:pt>
                <c:pt idx="166">
                  <c:v>198.7</c:v>
                </c:pt>
                <c:pt idx="167">
                  <c:v>199.9</c:v>
                </c:pt>
                <c:pt idx="168">
                  <c:v>200.8</c:v>
                </c:pt>
                <c:pt idx="169">
                  <c:v>201.5</c:v>
                </c:pt>
                <c:pt idx="170">
                  <c:v>202.0</c:v>
                </c:pt>
                <c:pt idx="171">
                  <c:v>202.7</c:v>
                </c:pt>
                <c:pt idx="172">
                  <c:v>203.1</c:v>
                </c:pt>
                <c:pt idx="173">
                  <c:v>204.1</c:v>
                </c:pt>
                <c:pt idx="174">
                  <c:v>204.9</c:v>
                </c:pt>
                <c:pt idx="175">
                  <c:v>205.7</c:v>
                </c:pt>
                <c:pt idx="176">
                  <c:v>205.9</c:v>
                </c:pt>
                <c:pt idx="177">
                  <c:v>207.0</c:v>
                </c:pt>
                <c:pt idx="178">
                  <c:v>208.1</c:v>
                </c:pt>
                <c:pt idx="179">
                  <c:v>209.3</c:v>
                </c:pt>
                <c:pt idx="180">
                  <c:v>209.8</c:v>
                </c:pt>
                <c:pt idx="181">
                  <c:v>211.2</c:v>
                </c:pt>
                <c:pt idx="182">
                  <c:v>211.8</c:v>
                </c:pt>
                <c:pt idx="183">
                  <c:v>212.7</c:v>
                </c:pt>
                <c:pt idx="184">
                  <c:v>213.8</c:v>
                </c:pt>
                <c:pt idx="185">
                  <c:v>214.7</c:v>
                </c:pt>
                <c:pt idx="186">
                  <c:v>215.7</c:v>
                </c:pt>
                <c:pt idx="187">
                  <c:v>216.2</c:v>
                </c:pt>
                <c:pt idx="188">
                  <c:v>217.2</c:v>
                </c:pt>
                <c:pt idx="189">
                  <c:v>218.4</c:v>
                </c:pt>
                <c:pt idx="190">
                  <c:v>219.5</c:v>
                </c:pt>
                <c:pt idx="191">
                  <c:v>220.4</c:v>
                </c:pt>
                <c:pt idx="192">
                  <c:v>221.6</c:v>
                </c:pt>
                <c:pt idx="193">
                  <c:v>221.6</c:v>
                </c:pt>
                <c:pt idx="194">
                  <c:v>223.2</c:v>
                </c:pt>
                <c:pt idx="195">
                  <c:v>224.3</c:v>
                </c:pt>
                <c:pt idx="196">
                  <c:v>225.3</c:v>
                </c:pt>
                <c:pt idx="197">
                  <c:v>226.5</c:v>
                </c:pt>
                <c:pt idx="198">
                  <c:v>227.7</c:v>
                </c:pt>
                <c:pt idx="199">
                  <c:v>228.8</c:v>
                </c:pt>
                <c:pt idx="200">
                  <c:v>230.1</c:v>
                </c:pt>
                <c:pt idx="201">
                  <c:v>231.3</c:v>
                </c:pt>
                <c:pt idx="202">
                  <c:v>232.2</c:v>
                </c:pt>
                <c:pt idx="203">
                  <c:v>233.7</c:v>
                </c:pt>
                <c:pt idx="204">
                  <c:v>234.0</c:v>
                </c:pt>
                <c:pt idx="205">
                  <c:v>235.2</c:v>
                </c:pt>
                <c:pt idx="206">
                  <c:v>236.6</c:v>
                </c:pt>
                <c:pt idx="207">
                  <c:v>238.3</c:v>
                </c:pt>
                <c:pt idx="208">
                  <c:v>239.5</c:v>
                </c:pt>
                <c:pt idx="209">
                  <c:v>240.4</c:v>
                </c:pt>
                <c:pt idx="210">
                  <c:v>241.6</c:v>
                </c:pt>
                <c:pt idx="211">
                  <c:v>243.2</c:v>
                </c:pt>
                <c:pt idx="212">
                  <c:v>244.3</c:v>
                </c:pt>
                <c:pt idx="213">
                  <c:v>245.3</c:v>
                </c:pt>
                <c:pt idx="214">
                  <c:v>247.0</c:v>
                </c:pt>
                <c:pt idx="215">
                  <c:v>248.1</c:v>
                </c:pt>
                <c:pt idx="216">
                  <c:v>250.0</c:v>
                </c:pt>
                <c:pt idx="217">
                  <c:v>251.6</c:v>
                </c:pt>
                <c:pt idx="218">
                  <c:v>252.4</c:v>
                </c:pt>
                <c:pt idx="219">
                  <c:v>253.2</c:v>
                </c:pt>
                <c:pt idx="220">
                  <c:v>254.3</c:v>
                </c:pt>
                <c:pt idx="221">
                  <c:v>255.4</c:v>
                </c:pt>
                <c:pt idx="222">
                  <c:v>256.4</c:v>
                </c:pt>
                <c:pt idx="223">
                  <c:v>257.7</c:v>
                </c:pt>
                <c:pt idx="224">
                  <c:v>258.2</c:v>
                </c:pt>
                <c:pt idx="225">
                  <c:v>259.0</c:v>
                </c:pt>
                <c:pt idx="226">
                  <c:v>260.5</c:v>
                </c:pt>
                <c:pt idx="227">
                  <c:v>261.3</c:v>
                </c:pt>
                <c:pt idx="228">
                  <c:v>262.8</c:v>
                </c:pt>
                <c:pt idx="229">
                  <c:v>263.4</c:v>
                </c:pt>
                <c:pt idx="230">
                  <c:v>264.4</c:v>
                </c:pt>
                <c:pt idx="231">
                  <c:v>265.6</c:v>
                </c:pt>
                <c:pt idx="232">
                  <c:v>266.8</c:v>
                </c:pt>
                <c:pt idx="233">
                  <c:v>267.8</c:v>
                </c:pt>
                <c:pt idx="234">
                  <c:v>268.8</c:v>
                </c:pt>
                <c:pt idx="235">
                  <c:v>269.9</c:v>
                </c:pt>
                <c:pt idx="236">
                  <c:v>271.4</c:v>
                </c:pt>
                <c:pt idx="237">
                  <c:v>272.9</c:v>
                </c:pt>
                <c:pt idx="238">
                  <c:v>274.4</c:v>
                </c:pt>
                <c:pt idx="239">
                  <c:v>276.8</c:v>
                </c:pt>
                <c:pt idx="240">
                  <c:v>278.4</c:v>
                </c:pt>
                <c:pt idx="241">
                  <c:v>280.4</c:v>
                </c:pt>
                <c:pt idx="242">
                  <c:v>280.8</c:v>
                </c:pt>
                <c:pt idx="243">
                  <c:v>281.2</c:v>
                </c:pt>
                <c:pt idx="244">
                  <c:v>280.2</c:v>
                </c:pt>
                <c:pt idx="245">
                  <c:v>283.2</c:v>
                </c:pt>
                <c:pt idx="246">
                  <c:v>287.3</c:v>
                </c:pt>
                <c:pt idx="247">
                  <c:v>292.3</c:v>
                </c:pt>
                <c:pt idx="248">
                  <c:v>297.1</c:v>
                </c:pt>
                <c:pt idx="249">
                  <c:v>301.6</c:v>
                </c:pt>
                <c:pt idx="250">
                  <c:v>305.2</c:v>
                </c:pt>
                <c:pt idx="251">
                  <c:v>309.2</c:v>
                </c:pt>
                <c:pt idx="252">
                  <c:v>312.9</c:v>
                </c:pt>
                <c:pt idx="253">
                  <c:v>315.6</c:v>
                </c:pt>
                <c:pt idx="254">
                  <c:v>320.2</c:v>
                </c:pt>
                <c:pt idx="255">
                  <c:v>325.0</c:v>
                </c:pt>
                <c:pt idx="256">
                  <c:v>330.4</c:v>
                </c:pt>
                <c:pt idx="257">
                  <c:v>336.4</c:v>
                </c:pt>
                <c:pt idx="258">
                  <c:v>341.5</c:v>
                </c:pt>
                <c:pt idx="259">
                  <c:v>345.5</c:v>
                </c:pt>
                <c:pt idx="260">
                  <c:v>349.1</c:v>
                </c:pt>
                <c:pt idx="261">
                  <c:v>353.4</c:v>
                </c:pt>
                <c:pt idx="262">
                  <c:v>358.3</c:v>
                </c:pt>
                <c:pt idx="263">
                  <c:v>363.3</c:v>
                </c:pt>
                <c:pt idx="264">
                  <c:v>368.7</c:v>
                </c:pt>
                <c:pt idx="265">
                  <c:v>373.8</c:v>
                </c:pt>
                <c:pt idx="266">
                  <c:v>378.4</c:v>
                </c:pt>
                <c:pt idx="267">
                  <c:v>383.1</c:v>
                </c:pt>
                <c:pt idx="268">
                  <c:v>386.6</c:v>
                </c:pt>
                <c:pt idx="269">
                  <c:v>387.4</c:v>
                </c:pt>
                <c:pt idx="270">
                  <c:v>385.7</c:v>
                </c:pt>
                <c:pt idx="271">
                  <c:v>384.1</c:v>
                </c:pt>
                <c:pt idx="272">
                  <c:v>385.0</c:v>
                </c:pt>
                <c:pt idx="273">
                  <c:v>385.4</c:v>
                </c:pt>
                <c:pt idx="274">
                  <c:v>385.4</c:v>
                </c:pt>
                <c:pt idx="275">
                  <c:v>385.5</c:v>
                </c:pt>
                <c:pt idx="276">
                  <c:v>386.8</c:v>
                </c:pt>
                <c:pt idx="277">
                  <c:v>389.0</c:v>
                </c:pt>
                <c:pt idx="278">
                  <c:v>391.0</c:v>
                </c:pt>
                <c:pt idx="279">
                  <c:v>393.6</c:v>
                </c:pt>
                <c:pt idx="280">
                  <c:v>396.4</c:v>
                </c:pt>
                <c:pt idx="281">
                  <c:v>398.9</c:v>
                </c:pt>
                <c:pt idx="282">
                  <c:v>402.4</c:v>
                </c:pt>
                <c:pt idx="283">
                  <c:v>404.9</c:v>
                </c:pt>
                <c:pt idx="284">
                  <c:v>407.1</c:v>
                </c:pt>
                <c:pt idx="285">
                  <c:v>408.5</c:v>
                </c:pt>
                <c:pt idx="286">
                  <c:v>409.6</c:v>
                </c:pt>
                <c:pt idx="287">
                  <c:v>410.6</c:v>
                </c:pt>
                <c:pt idx="288">
                  <c:v>411.3</c:v>
                </c:pt>
                <c:pt idx="289">
                  <c:v>415.5</c:v>
                </c:pt>
                <c:pt idx="290">
                  <c:v>416.2</c:v>
                </c:pt>
                <c:pt idx="291">
                  <c:v>418.5</c:v>
                </c:pt>
                <c:pt idx="292">
                  <c:v>418.9</c:v>
                </c:pt>
                <c:pt idx="293">
                  <c:v>420.0</c:v>
                </c:pt>
                <c:pt idx="294">
                  <c:v>421.3</c:v>
                </c:pt>
                <c:pt idx="295">
                  <c:v>422.8</c:v>
                </c:pt>
                <c:pt idx="296">
                  <c:v>425.4</c:v>
                </c:pt>
                <c:pt idx="297">
                  <c:v>427.2</c:v>
                </c:pt>
                <c:pt idx="298">
                  <c:v>428.7</c:v>
                </c:pt>
                <c:pt idx="299">
                  <c:v>430.6</c:v>
                </c:pt>
                <c:pt idx="300">
                  <c:v>432.4</c:v>
                </c:pt>
                <c:pt idx="301">
                  <c:v>432.3</c:v>
                </c:pt>
                <c:pt idx="302">
                  <c:v>432.9</c:v>
                </c:pt>
                <c:pt idx="303">
                  <c:v>432.0</c:v>
                </c:pt>
                <c:pt idx="304">
                  <c:v>432.0</c:v>
                </c:pt>
                <c:pt idx="305">
                  <c:v>432.2</c:v>
                </c:pt>
                <c:pt idx="306">
                  <c:v>432.4</c:v>
                </c:pt>
                <c:pt idx="307">
                  <c:v>434.0</c:v>
                </c:pt>
                <c:pt idx="308">
                  <c:v>433.8</c:v>
                </c:pt>
                <c:pt idx="309">
                  <c:v>435.6</c:v>
                </c:pt>
                <c:pt idx="310">
                  <c:v>438.4</c:v>
                </c:pt>
                <c:pt idx="311">
                  <c:v>439.6</c:v>
                </c:pt>
                <c:pt idx="312">
                  <c:v>440.9</c:v>
                </c:pt>
                <c:pt idx="313">
                  <c:v>440.6</c:v>
                </c:pt>
                <c:pt idx="314">
                  <c:v>441.5</c:v>
                </c:pt>
                <c:pt idx="315">
                  <c:v>440.9</c:v>
                </c:pt>
                <c:pt idx="316">
                  <c:v>442.3</c:v>
                </c:pt>
                <c:pt idx="317">
                  <c:v>442.3</c:v>
                </c:pt>
                <c:pt idx="318">
                  <c:v>443.5</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8B949E"/>
                    </a:solidFill>
                    <a:latin typeface="Arial"/>
                  </a:rPr>
                  <a:t>Month</a:t>
                </a:r>
              </a:p>
            </c:rich>
          </c:tx>
          <c:layout/>
          <c:overlay val="0"/>
        </c:title>
        <c:majorTickMark val="none"/>
        <c:minorTickMark val="none"/>
        <c:tickLblPos val="nextTo"/>
        <c:spPr>
          <a:ln>
            <a:solidFill>
              <a:srgbClr val="30363D"/>
            </a:solidFill>
          </a:ln>
        </c:spPr>
        <c:txPr>
          <a:bodyPr/>
          <a:lstStyle/>
          <a:p>
            <a:pPr>
              <a:defRPr sz="1000">
                <a:solidFill>
                  <a:srgbClr val="B1BAC4"/>
                </a:solidFill>
              </a:defRPr>
            </a:pPr>
          </a:p>
        </c:txPr>
        <c:crossAx val="2140495176"/>
        <c:crosses val="autoZero"/>
        <c:auto val="1"/>
        <c:lblAlgn val="ctr"/>
        <c:lblOffset val="100"/>
        <c:tickLblSkip val="36"/>
        <c:tickMarkSkip val="36"/>
        <c:noMultiLvlLbl val="0"/>
      </c:catAx>
      <c:valAx>
        <c:axId val="2140495176"/>
        <c:scaling/>
        <c:delete val="0"/>
        <c:axPos val="l"/>
        <c:majorGridlines>
          <c:spPr>
            <a:ln w="9525">
              <a:solidFill>
                <a:srgbClr val="30363D"/>
              </a:solidFill>
            </a:ln>
          </c:spPr>
        </c:majorGridlines>
        <c:title>
          <c:tx>
            <c:rich>
              <a:bodyPr/>
              <a:lstStyle/>
              <a:p>
                <a:r>
                  <a:rPr sz="1000" b="0">
                    <a:solidFill>
                      <a:srgbClr val="8B949E"/>
                    </a:solidFill>
                    <a:latin typeface="Arial"/>
                  </a:rPr>
                  <a:t>Index (1991 Q1 = 100)</a:t>
                </a:r>
              </a:p>
            </c:rich>
          </c:tx>
          <c:layout/>
          <c:overlay val="0"/>
        </c:title>
        <c:numFmt formatCode="0" sourceLinked="0"/>
        <c:majorTickMark val="none"/>
        <c:minorTickMark val="none"/>
        <c:tickLblPos val="nextTo"/>
        <c:spPr>
          <a:ln>
            <a:noFill/>
          </a:ln>
        </c:spPr>
        <c:txPr>
          <a:bodyPr/>
          <a:lstStyle/>
          <a:p>
            <a:pPr>
              <a:defRPr sz="1000">
                <a:solidFill>
                  <a:srgbClr val="B1BAC4"/>
                </a:solidFill>
              </a:defRPr>
            </a:pPr>
          </a:p>
        </c:txPr>
        <c:crossAx val="2118791784"/>
        <c:crosses val="autoZero"/>
      </c:valAx>
      <c:spPr>
        <a:noFill/>
        <a:ln>
          <a:noFill/>
        </a:ln>
      </c:spPr>
    </c:plotArea>
    <c:plotVisOnly val="1"/>
    <c:dispBlanksAs val="gap"/>
    <c:showDLblsOverMax val="0"/>
  </c:chart>
  <c:spPr>
    <a:noFill/>
    <a:ln>
      <a:noFill/>
    </a:ln>
  </c:spPr>
  <c:txPr>
    <a:bodyPr/>
    <a:lstStyle/>
    <a:p>
      <a:pPr>
        <a:defRPr sz="1000">
          <a:solidFill>
            <a:srgbClr val="B1BAC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0F6FC"/>
                </a:solidFill>
                <a:latin typeface="Arial"/>
              </a:rPr>
              <a:t>U.S. home prices: change from the same month one year earlier</a:t>
            </a:r>
          </a:p>
        </c:rich>
      </c:tx>
      <c:layout/>
      <c:overlay val="0"/>
    </c:title>
    <c:autoTitleDeleted val="0"/>
    <c:plotArea>
      <c:barChart>
        <c:barDir val="col"/>
        <c:grouping val="clustered"/>
        <c:ser>
          <c:idx val="0"/>
          <c:order val="0"/>
          <c:tx>
            <c:strRef>
              <c:f>Sheet1!$B$1</c:f>
              <c:strCache>
                <c:ptCount val="1"/>
                <c:pt idx="0">
                  <c:v>Year-over-year change</c:v>
                </c:pt>
              </c:strCache>
            </c:strRef>
          </c:tx>
          <c:spPr>
            <a:solidFill>
              <a:srgbClr val="58A6FF"/>
            </a:solidFill>
          </c:spPr>
          <c:invertIfNegative val="0"/>
          <c:dPt>
            <c:idx val="66"/>
            <c:spPr>
              <a:solidFill>
                <a:srgbClr val="D29922"/>
              </a:solidFill>
            </c:spPr>
          </c:dPt>
          <c:dPt>
            <c:idx val="126"/>
            <c:spPr>
              <a:solidFill>
                <a:srgbClr val="D29922"/>
              </a:solidFill>
            </c:spPr>
          </c:dPt>
          <c:dLbls>
            <c:dLbl>
              <c:idx val="66"/>
              <c:tx>
                <c:rich>
                  <a:bodyPr/>
                  <a:lstStyle/>
                  <a:p>
                    <a:r>
                      <a:rPr sz="1000" b="1">
                        <a:solidFill>
                          <a:srgbClr val="F0F6FC"/>
                        </a:solidFill>
                        <a:latin typeface="Arial"/>
                      </a:rPr>
                      <a:t>+18.9%</a:t>
                    </a:r>
                  </a:p>
                </c:rich>
              </c:tx>
              <c:dLblPos val="outEnd"/>
              <c:showLegendKey val="0"/>
              <c:showVal val="1"/>
              <c:showCatName val="0"/>
              <c:showSerName val="0"/>
              <c:showPercent val="0"/>
              <c:showBubbleSize val="0"/>
            </c:dLbl>
            <c:dLbl>
              <c:idx val="126"/>
              <c:tx>
                <c:rich>
                  <a:bodyPr/>
                  <a:lstStyle/>
                  <a:p>
                    <a:r>
                      <a:rPr sz="1000" b="1">
                        <a:solidFill>
                          <a:srgbClr val="F0F6FC"/>
                        </a:solidFill>
                        <a:latin typeface="Arial"/>
                      </a:rPr>
                      <a:t>+2.6%</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Sheet1!$A$2:$A$128</c:f>
              <c:strCache>
                <c:ptCount val="127"/>
                <c:pt idx="0">
                  <c:v>Jan 2016</c:v>
                </c:pt>
                <c:pt idx="1">
                  <c:v>Feb 2016</c:v>
                </c:pt>
                <c:pt idx="2">
                  <c:v>Mar 2016</c:v>
                </c:pt>
                <c:pt idx="3">
                  <c:v>Apr 2016</c:v>
                </c:pt>
                <c:pt idx="4">
                  <c:v>May 2016</c:v>
                </c:pt>
                <c:pt idx="5">
                  <c:v>Jun 2016</c:v>
                </c:pt>
                <c:pt idx="6">
                  <c:v>Jul 2016</c:v>
                </c:pt>
                <c:pt idx="7">
                  <c:v>Aug 2016</c:v>
                </c:pt>
                <c:pt idx="8">
                  <c:v>Sep 2016</c:v>
                </c:pt>
                <c:pt idx="9">
                  <c:v>Oct 2016</c:v>
                </c:pt>
                <c:pt idx="10">
                  <c:v>Nov 2016</c:v>
                </c:pt>
                <c:pt idx="11">
                  <c:v>Dec 2016</c:v>
                </c:pt>
                <c:pt idx="12">
                  <c:v>Jan 2017</c:v>
                </c:pt>
                <c:pt idx="13">
                  <c:v>Feb 2017</c:v>
                </c:pt>
                <c:pt idx="14">
                  <c:v>Mar 2017</c:v>
                </c:pt>
                <c:pt idx="15">
                  <c:v>Apr 2017</c:v>
                </c:pt>
                <c:pt idx="16">
                  <c:v>May 2017</c:v>
                </c:pt>
                <c:pt idx="17">
                  <c:v>Jun 2017</c:v>
                </c:pt>
                <c:pt idx="18">
                  <c:v>Jul 2017</c:v>
                </c:pt>
                <c:pt idx="19">
                  <c:v>Aug 2017</c:v>
                </c:pt>
                <c:pt idx="20">
                  <c:v>Sep 2017</c:v>
                </c:pt>
                <c:pt idx="21">
                  <c:v>Oct 2017</c:v>
                </c:pt>
                <c:pt idx="22">
                  <c:v>Nov 2017</c:v>
                </c:pt>
                <c:pt idx="23">
                  <c:v>Dec 2017</c:v>
                </c:pt>
                <c:pt idx="24">
                  <c:v>Jan 2018</c:v>
                </c:pt>
                <c:pt idx="25">
                  <c:v>Feb 2018</c:v>
                </c:pt>
                <c:pt idx="26">
                  <c:v>Mar 2018</c:v>
                </c:pt>
                <c:pt idx="27">
                  <c:v>Apr 2018</c:v>
                </c:pt>
                <c:pt idx="28">
                  <c:v>May 2018</c:v>
                </c:pt>
                <c:pt idx="29">
                  <c:v>Jun 2018</c:v>
                </c:pt>
                <c:pt idx="30">
                  <c:v>Jul 2018</c:v>
                </c:pt>
                <c:pt idx="31">
                  <c:v>Aug 2018</c:v>
                </c:pt>
                <c:pt idx="32">
                  <c:v>Sep 2018</c:v>
                </c:pt>
                <c:pt idx="33">
                  <c:v>Oct 2018</c:v>
                </c:pt>
                <c:pt idx="34">
                  <c:v>Nov 2018</c:v>
                </c:pt>
                <c:pt idx="35">
                  <c:v>Dec 2018</c:v>
                </c:pt>
                <c:pt idx="36">
                  <c:v>Jan 2019</c:v>
                </c:pt>
                <c:pt idx="37">
                  <c:v>Feb 2019</c:v>
                </c:pt>
                <c:pt idx="38">
                  <c:v>Mar 2019</c:v>
                </c:pt>
                <c:pt idx="39">
                  <c:v>Apr 2019</c:v>
                </c:pt>
                <c:pt idx="40">
                  <c:v>May 2019</c:v>
                </c:pt>
                <c:pt idx="41">
                  <c:v>Jun 2019</c:v>
                </c:pt>
                <c:pt idx="42">
                  <c:v>Jul 2019</c:v>
                </c:pt>
                <c:pt idx="43">
                  <c:v>Aug 2019</c:v>
                </c:pt>
                <c:pt idx="44">
                  <c:v>Sep 2019</c:v>
                </c:pt>
                <c:pt idx="45">
                  <c:v>Oct 2019</c:v>
                </c:pt>
                <c:pt idx="46">
                  <c:v>Nov 2019</c:v>
                </c:pt>
                <c:pt idx="47">
                  <c:v>Dec 2019</c:v>
                </c:pt>
                <c:pt idx="48">
                  <c:v>Jan 2020</c:v>
                </c:pt>
                <c:pt idx="49">
                  <c:v>Feb 2020</c:v>
                </c:pt>
                <c:pt idx="50">
                  <c:v>Mar 2020</c:v>
                </c:pt>
                <c:pt idx="51">
                  <c:v>Apr 2020</c:v>
                </c:pt>
                <c:pt idx="52">
                  <c:v>May 2020</c:v>
                </c:pt>
                <c:pt idx="53">
                  <c:v>Jun 2020</c:v>
                </c:pt>
                <c:pt idx="54">
                  <c:v>Jul 2020</c:v>
                </c:pt>
                <c:pt idx="55">
                  <c:v>Aug 2020</c:v>
                </c:pt>
                <c:pt idx="56">
                  <c:v>Sep 2020</c:v>
                </c:pt>
                <c:pt idx="57">
                  <c:v>Oct 2020</c:v>
                </c:pt>
                <c:pt idx="58">
                  <c:v>Nov 2020</c:v>
                </c:pt>
                <c:pt idx="59">
                  <c:v>Dec 2020</c:v>
                </c:pt>
                <c:pt idx="60">
                  <c:v>Jan 2021</c:v>
                </c:pt>
                <c:pt idx="61">
                  <c:v>Feb 2021</c:v>
                </c:pt>
                <c:pt idx="62">
                  <c:v>Mar 2021</c:v>
                </c:pt>
                <c:pt idx="63">
                  <c:v>Apr 2021</c:v>
                </c:pt>
                <c:pt idx="64">
                  <c:v>May 2021</c:v>
                </c:pt>
                <c:pt idx="65">
                  <c:v>Jun 2021</c:v>
                </c:pt>
                <c:pt idx="66">
                  <c:v>Jul 2021</c:v>
                </c:pt>
                <c:pt idx="67">
                  <c:v>Aug 2021</c:v>
                </c:pt>
                <c:pt idx="68">
                  <c:v>Sep 2021</c:v>
                </c:pt>
                <c:pt idx="69">
                  <c:v>Oct 2021</c:v>
                </c:pt>
                <c:pt idx="70">
                  <c:v>Nov 2021</c:v>
                </c:pt>
                <c:pt idx="71">
                  <c:v>Dec 2021</c:v>
                </c:pt>
                <c:pt idx="72">
                  <c:v>Jan 2022</c:v>
                </c:pt>
                <c:pt idx="73">
                  <c:v>Feb 2022</c:v>
                </c:pt>
                <c:pt idx="74">
                  <c:v>Mar 2022</c:v>
                </c:pt>
                <c:pt idx="75">
                  <c:v>Apr 2022</c:v>
                </c:pt>
                <c:pt idx="76">
                  <c:v>May 2022</c:v>
                </c:pt>
                <c:pt idx="77">
                  <c:v>Jun 2022</c:v>
                </c:pt>
                <c:pt idx="78">
                  <c:v>Jul 2022</c:v>
                </c:pt>
                <c:pt idx="79">
                  <c:v>Aug 2022</c:v>
                </c:pt>
                <c:pt idx="80">
                  <c:v>Sep 2022</c:v>
                </c:pt>
                <c:pt idx="81">
                  <c:v>Oct 2022</c:v>
                </c:pt>
                <c:pt idx="82">
                  <c:v>Nov 2022</c:v>
                </c:pt>
                <c:pt idx="83">
                  <c:v>Dec 2022</c:v>
                </c:pt>
                <c:pt idx="84">
                  <c:v>Jan 2023</c:v>
                </c:pt>
                <c:pt idx="85">
                  <c:v>Feb 2023</c:v>
                </c:pt>
                <c:pt idx="86">
                  <c:v>Mar 2023</c:v>
                </c:pt>
                <c:pt idx="87">
                  <c:v>Apr 2023</c:v>
                </c:pt>
                <c:pt idx="88">
                  <c:v>May 2023</c:v>
                </c:pt>
                <c:pt idx="89">
                  <c:v>Jun 2023</c:v>
                </c:pt>
                <c:pt idx="90">
                  <c:v>Jul 2023</c:v>
                </c:pt>
                <c:pt idx="91">
                  <c:v>Aug 2023</c:v>
                </c:pt>
                <c:pt idx="92">
                  <c:v>Sep 2023</c:v>
                </c:pt>
                <c:pt idx="93">
                  <c:v>Oct 2023</c:v>
                </c:pt>
                <c:pt idx="94">
                  <c:v>Nov 2023</c:v>
                </c:pt>
                <c:pt idx="95">
                  <c:v>Dec 2023</c:v>
                </c:pt>
                <c:pt idx="96">
                  <c:v>Jan 2024</c:v>
                </c:pt>
                <c:pt idx="97">
                  <c:v>Feb 2024</c:v>
                </c:pt>
                <c:pt idx="98">
                  <c:v>Mar 2024</c:v>
                </c:pt>
                <c:pt idx="99">
                  <c:v>Apr 2024</c:v>
                </c:pt>
                <c:pt idx="100">
                  <c:v>May 2024</c:v>
                </c:pt>
                <c:pt idx="101">
                  <c:v>Jun 2024</c:v>
                </c:pt>
                <c:pt idx="102">
                  <c:v>Jul 2024</c:v>
                </c:pt>
                <c:pt idx="103">
                  <c:v>Aug 2024</c:v>
                </c:pt>
                <c:pt idx="104">
                  <c:v>Sep 2024</c:v>
                </c:pt>
                <c:pt idx="105">
                  <c:v>Oct 2024</c:v>
                </c:pt>
                <c:pt idx="106">
                  <c:v>Nov 2024</c:v>
                </c:pt>
                <c:pt idx="107">
                  <c:v>Dec 2024</c:v>
                </c:pt>
                <c:pt idx="108">
                  <c:v>Jan 2025</c:v>
                </c:pt>
                <c:pt idx="109">
                  <c:v>Feb 2025</c:v>
                </c:pt>
                <c:pt idx="110">
                  <c:v>Mar 2025</c:v>
                </c:pt>
                <c:pt idx="111">
                  <c:v>Apr 2025</c:v>
                </c:pt>
                <c:pt idx="112">
                  <c:v>May 2025</c:v>
                </c:pt>
                <c:pt idx="113">
                  <c:v>Jun 2025</c:v>
                </c:pt>
                <c:pt idx="114">
                  <c:v>Jul 2025</c:v>
                </c:pt>
                <c:pt idx="115">
                  <c:v>Aug 2025</c:v>
                </c:pt>
                <c:pt idx="116">
                  <c:v>Sep 2025</c:v>
                </c:pt>
                <c:pt idx="117">
                  <c:v>Oct 2025</c:v>
                </c:pt>
                <c:pt idx="118">
                  <c:v>Nov 2025</c:v>
                </c:pt>
                <c:pt idx="119">
                  <c:v>Dec 2025</c:v>
                </c:pt>
                <c:pt idx="120">
                  <c:v>Jan 2026</c:v>
                </c:pt>
                <c:pt idx="121">
                  <c:v>Feb 2026</c:v>
                </c:pt>
                <c:pt idx="122">
                  <c:v>Mar 2026</c:v>
                </c:pt>
                <c:pt idx="123">
                  <c:v>Apr 2026</c:v>
                </c:pt>
                <c:pt idx="124">
                  <c:v>May 2026</c:v>
                </c:pt>
                <c:pt idx="125">
                  <c:v>Jun 2026</c:v>
                </c:pt>
                <c:pt idx="126">
                  <c:v>Jul 2026</c:v>
                </c:pt>
              </c:strCache>
            </c:strRef>
          </c:cat>
          <c:val>
            <c:numRef>
              <c:f>Sheet1!$B$2:$B$128</c:f>
              <c:numCache>
                <c:formatCode>General</c:formatCode>
                <c:ptCount val="127"/>
                <c:pt idx="0">
                  <c:v>0.057104</c:v>
                </c:pt>
                <c:pt idx="1">
                  <c:v>0.05083</c:v>
                </c:pt>
                <c:pt idx="2">
                  <c:v>0.054985</c:v>
                </c:pt>
                <c:pt idx="3">
                  <c:v>0.05555</c:v>
                </c:pt>
                <c:pt idx="4">
                  <c:v>0.054017</c:v>
                </c:pt>
                <c:pt idx="5">
                  <c:v>0.054087</c:v>
                </c:pt>
                <c:pt idx="6">
                  <c:v>0.054901</c:v>
                </c:pt>
                <c:pt idx="7">
                  <c:v>0.05789</c:v>
                </c:pt>
                <c:pt idx="8">
                  <c:v>0.058807</c:v>
                </c:pt>
                <c:pt idx="9">
                  <c:v>0.058671</c:v>
                </c:pt>
                <c:pt idx="10">
                  <c:v>0.058147</c:v>
                </c:pt>
                <c:pt idx="11">
                  <c:v>0.060058</c:v>
                </c:pt>
                <c:pt idx="12">
                  <c:v>0.056889</c:v>
                </c:pt>
                <c:pt idx="13">
                  <c:v>0.063088</c:v>
                </c:pt>
                <c:pt idx="14">
                  <c:v>0.061275</c:v>
                </c:pt>
                <c:pt idx="15">
                  <c:v>0.063179</c:v>
                </c:pt>
                <c:pt idx="16">
                  <c:v>0.06271</c:v>
                </c:pt>
                <c:pt idx="17">
                  <c:v>0.059943</c:v>
                </c:pt>
                <c:pt idx="18">
                  <c:v>0.059779</c:v>
                </c:pt>
                <c:pt idx="19">
                  <c:v>0.06246</c:v>
                </c:pt>
                <c:pt idx="20">
                  <c:v>0.061689</c:v>
                </c:pt>
                <c:pt idx="21">
                  <c:v>0.060751</c:v>
                </c:pt>
                <c:pt idx="22">
                  <c:v>0.063416</c:v>
                </c:pt>
                <c:pt idx="23">
                  <c:v>0.061853</c:v>
                </c:pt>
                <c:pt idx="24">
                  <c:v>0.069083</c:v>
                </c:pt>
                <c:pt idx="25">
                  <c:v>0.071307</c:v>
                </c:pt>
                <c:pt idx="26">
                  <c:v>0.067963</c:v>
                </c:pt>
                <c:pt idx="27">
                  <c:v>0.063079</c:v>
                </c:pt>
                <c:pt idx="28">
                  <c:v>0.061798</c:v>
                </c:pt>
                <c:pt idx="29">
                  <c:v>0.061398</c:v>
                </c:pt>
                <c:pt idx="30">
                  <c:v>0.06026</c:v>
                </c:pt>
                <c:pt idx="31">
                  <c:v>0.059031</c:v>
                </c:pt>
                <c:pt idx="32">
                  <c:v>0.056647</c:v>
                </c:pt>
                <c:pt idx="33">
                  <c:v>0.056137</c:v>
                </c:pt>
                <c:pt idx="34">
                  <c:v>0.054543</c:v>
                </c:pt>
                <c:pt idx="35">
                  <c:v>0.05287</c:v>
                </c:pt>
                <c:pt idx="36">
                  <c:v>0.051719</c:v>
                </c:pt>
                <c:pt idx="37">
                  <c:v>0.048056</c:v>
                </c:pt>
                <c:pt idx="38">
                  <c:v>0.047876</c:v>
                </c:pt>
                <c:pt idx="39">
                  <c:v>0.050273</c:v>
                </c:pt>
                <c:pt idx="40">
                  <c:v>0.04928</c:v>
                </c:pt>
                <c:pt idx="41">
                  <c:v>0.048257</c:v>
                </c:pt>
                <c:pt idx="42">
                  <c:v>0.047885</c:v>
                </c:pt>
                <c:pt idx="43">
                  <c:v>0.046877</c:v>
                </c:pt>
                <c:pt idx="44">
                  <c:v>0.051349</c:v>
                </c:pt>
                <c:pt idx="45">
                  <c:v>0.053728</c:v>
                </c:pt>
                <c:pt idx="46">
                  <c:v>0.05314</c:v>
                </c:pt>
                <c:pt idx="47">
                  <c:v>0.058399</c:v>
                </c:pt>
                <c:pt idx="48">
                  <c:v>0.059256</c:v>
                </c:pt>
                <c:pt idx="49">
                  <c:v>0.064992</c:v>
                </c:pt>
                <c:pt idx="50">
                  <c:v>0.062723</c:v>
                </c:pt>
                <c:pt idx="51">
                  <c:v>0.05988</c:v>
                </c:pt>
                <c:pt idx="52">
                  <c:v>0.051088</c:v>
                </c:pt>
                <c:pt idx="53">
                  <c:v>0.058257</c:v>
                </c:pt>
                <c:pt idx="54">
                  <c:v>0.06891</c:v>
                </c:pt>
                <c:pt idx="55">
                  <c:v>0.082585</c:v>
                </c:pt>
                <c:pt idx="56">
                  <c:v>0.094183</c:v>
                </c:pt>
                <c:pt idx="57">
                  <c:v>0.10511</c:v>
                </c:pt>
                <c:pt idx="58">
                  <c:v>0.111321</c:v>
                </c:pt>
                <c:pt idx="59">
                  <c:v>0.116379</c:v>
                </c:pt>
                <c:pt idx="60">
                  <c:v>0.123317</c:v>
                </c:pt>
                <c:pt idx="61">
                  <c:v>0.125911</c:v>
                </c:pt>
                <c:pt idx="62">
                  <c:v>0.140724</c:v>
                </c:pt>
                <c:pt idx="63">
                  <c:v>0.157069</c:v>
                </c:pt>
                <c:pt idx="64">
                  <c:v>0.180411</c:v>
                </c:pt>
                <c:pt idx="65">
                  <c:v>0.188457</c:v>
                </c:pt>
                <c:pt idx="66">
                  <c:v>0.188588</c:v>
                </c:pt>
                <c:pt idx="67">
                  <c:v>0.18119</c:v>
                </c:pt>
                <c:pt idx="68">
                  <c:v>0.174917</c:v>
                </c:pt>
                <c:pt idx="69">
                  <c:v>0.171736</c:v>
                </c:pt>
                <c:pt idx="70">
                  <c:v>0.173268</c:v>
                </c:pt>
                <c:pt idx="71">
                  <c:v>0.173994</c:v>
                </c:pt>
                <c:pt idx="72">
                  <c:v>0.177458</c:v>
                </c:pt>
                <c:pt idx="73">
                  <c:v>0.184565</c:v>
                </c:pt>
                <c:pt idx="74">
                  <c:v>0.181897</c:v>
                </c:pt>
                <c:pt idx="75">
                  <c:v>0.179935</c:v>
                </c:pt>
                <c:pt idx="76">
                  <c:v>0.171319</c:v>
                </c:pt>
                <c:pt idx="77">
                  <c:v>0.152638</c:v>
                </c:pt>
                <c:pt idx="78">
                  <c:v>0.129679</c:v>
                </c:pt>
                <c:pt idx="79">
                  <c:v>0.111416</c:v>
                </c:pt>
                <c:pt idx="80">
                  <c:v>0.102549</c:v>
                </c:pt>
                <c:pt idx="81">
                  <c:v>0.090257</c:v>
                </c:pt>
                <c:pt idx="82">
                  <c:v>0.075082</c:v>
                </c:pt>
                <c:pt idx="83">
                  <c:v>0.06074</c:v>
                </c:pt>
                <c:pt idx="84">
                  <c:v>0.048532</c:v>
                </c:pt>
                <c:pt idx="85">
                  <c:v>0.041176</c:v>
                </c:pt>
                <c:pt idx="86">
                  <c:v>0.033856</c:v>
                </c:pt>
                <c:pt idx="87">
                  <c:v>0.028016</c:v>
                </c:pt>
                <c:pt idx="88">
                  <c:v>0.026289</c:v>
                </c:pt>
                <c:pt idx="89">
                  <c:v>0.029938</c:v>
                </c:pt>
                <c:pt idx="90">
                  <c:v>0.042952</c:v>
                </c:pt>
                <c:pt idx="91">
                  <c:v>0.053487</c:v>
                </c:pt>
                <c:pt idx="92">
                  <c:v>0.057164</c:v>
                </c:pt>
                <c:pt idx="93">
                  <c:v>0.059696</c:v>
                </c:pt>
                <c:pt idx="94">
                  <c:v>0.062727</c:v>
                </c:pt>
                <c:pt idx="95">
                  <c:v>0.065356</c:v>
                </c:pt>
                <c:pt idx="96">
                  <c:v>0.063454</c:v>
                </c:pt>
                <c:pt idx="97">
                  <c:v>0.068571</c:v>
                </c:pt>
                <c:pt idx="98">
                  <c:v>0.065039</c:v>
                </c:pt>
                <c:pt idx="99">
                  <c:v>0.063481</c:v>
                </c:pt>
                <c:pt idx="100">
                  <c:v>0.057228</c:v>
                </c:pt>
                <c:pt idx="101">
                  <c:v>0.052719</c:v>
                </c:pt>
                <c:pt idx="102">
                  <c:v>0.046596</c:v>
                </c:pt>
                <c:pt idx="103">
                  <c:v>0.04402</c:v>
                </c:pt>
                <c:pt idx="104">
                  <c:v>0.045024</c:v>
                </c:pt>
                <c:pt idx="105">
                  <c:v>0.045622</c:v>
                </c:pt>
                <c:pt idx="106">
                  <c:v>0.04701</c:v>
                </c:pt>
                <c:pt idx="107">
                  <c:v>0.049116</c:v>
                </c:pt>
                <c:pt idx="108">
                  <c:v>0.051743</c:v>
                </c:pt>
                <c:pt idx="109">
                  <c:v>0.041464</c:v>
                </c:pt>
                <c:pt idx="110">
                  <c:v>0.040568</c:v>
                </c:pt>
                <c:pt idx="111">
                  <c:v>0.032303</c:v>
                </c:pt>
                <c:pt idx="112">
                  <c:v>0.031465</c:v>
                </c:pt>
                <c:pt idx="113">
                  <c:v>0.028823</c:v>
                </c:pt>
                <c:pt idx="114">
                  <c:v>0.02586</c:v>
                </c:pt>
                <c:pt idx="115">
                  <c:v>0.026872</c:v>
                </c:pt>
                <c:pt idx="116">
                  <c:v>0.020041</c:v>
                </c:pt>
                <c:pt idx="117">
                  <c:v>0.01986</c:v>
                </c:pt>
                <c:pt idx="118">
                  <c:v>0.022881</c:v>
                </c:pt>
                <c:pt idx="119">
                  <c:v>0.021469</c:v>
                </c:pt>
                <c:pt idx="120">
                  <c:v>0.019945</c:v>
                </c:pt>
                <c:pt idx="121">
                  <c:v>0.019652</c:v>
                </c:pt>
                <c:pt idx="122">
                  <c:v>0.020295</c:v>
                </c:pt>
                <c:pt idx="123">
                  <c:v>0.020702</c:v>
                </c:pt>
                <c:pt idx="124">
                  <c:v>0.023829</c:v>
                </c:pt>
                <c:pt idx="125">
                  <c:v>0.023308</c:v>
                </c:pt>
                <c:pt idx="126">
                  <c:v>0.025594</c:v>
                </c:pt>
              </c:numCache>
            </c:numRef>
          </c:val>
        </c:ser>
        <c:gapWidth val="40"/>
        <c:axId val="-2068027336"/>
        <c:axId val="-2113994440"/>
      </c:barChart>
      <c:catAx>
        <c:axId val="-2068027336"/>
        <c:scaling>
          <c:orientation val="minMax"/>
        </c:scaling>
        <c:delete val="0"/>
        <c:axPos val="b"/>
        <c:title>
          <c:tx>
            <c:rich>
              <a:bodyPr/>
              <a:lstStyle/>
              <a:p>
                <a:r>
                  <a:rPr sz="1000" b="0">
                    <a:solidFill>
                      <a:srgbClr val="8B949E"/>
                    </a:solidFill>
                    <a:latin typeface="Arial"/>
                  </a:rPr>
                  <a:t>Month</a:t>
                </a:r>
              </a:p>
            </c:rich>
          </c:tx>
          <c:layout/>
          <c:overlay val="0"/>
        </c:title>
        <c:majorTickMark val="none"/>
        <c:minorTickMark val="none"/>
        <c:tickLblPos val="low"/>
        <c:spPr>
          <a:ln>
            <a:solidFill>
              <a:srgbClr val="30363D"/>
            </a:solidFill>
          </a:ln>
        </c:spPr>
        <c:txPr>
          <a:bodyPr/>
          <a:lstStyle/>
          <a:p>
            <a:pPr>
              <a:defRPr sz="1000">
                <a:solidFill>
                  <a:srgbClr val="B1BAC4"/>
                </a:solidFill>
              </a:defRPr>
            </a:pPr>
          </a:p>
        </c:txPr>
        <c:crossAx val="-2113994440"/>
        <c:crosses val="autoZero"/>
        <c:auto val="1"/>
        <c:lblAlgn val="ctr"/>
        <c:lblOffset val="100"/>
        <c:tickLblSkip val="12"/>
        <c:tickMarkSkip val="12"/>
        <c:noMultiLvlLbl val="0"/>
      </c:catAx>
      <c:valAx>
        <c:axId val="-2113994440"/>
        <c:scaling>
          <c:max val="0.24"/>
          <c:min val="0.0"/>
        </c:scaling>
        <c:delete val="0"/>
        <c:axPos val="l"/>
        <c:majorGridlines>
          <c:spPr>
            <a:ln w="9525">
              <a:solidFill>
                <a:srgbClr val="30363D"/>
              </a:solidFill>
            </a:ln>
          </c:spPr>
        </c:majorGridlines>
        <c:title>
          <c:tx>
            <c:rich>
              <a:bodyPr/>
              <a:lstStyle/>
              <a:p>
                <a:r>
                  <a:rPr sz="1000" b="0">
                    <a:solidFill>
                      <a:srgbClr val="8B949E"/>
                    </a:solidFill>
                    <a:latin typeface="Arial"/>
                  </a:rPr>
                  <a:t>Year-over-year change</a:t>
                </a:r>
              </a:p>
            </c:rich>
          </c:tx>
          <c:layout/>
          <c:overlay val="0"/>
        </c:title>
        <c:numFmt formatCode="0%" sourceLinked="0"/>
        <c:majorTickMark val="none"/>
        <c:minorTickMark val="none"/>
        <c:tickLblPos val="nextTo"/>
        <c:spPr>
          <a:ln>
            <a:noFill/>
          </a:ln>
        </c:spPr>
        <c:txPr>
          <a:bodyPr/>
          <a:lstStyle/>
          <a:p>
            <a:pPr>
              <a:defRPr sz="1000">
                <a:solidFill>
                  <a:srgbClr val="B1BAC4"/>
                </a:solidFill>
              </a:defRPr>
            </a:pPr>
          </a:p>
        </c:txPr>
        <c:crossAx val="-2068027336"/>
        <c:crosses val="autoZero"/>
        <c:majorUnit val="0.04"/>
      </c:valAx>
      <c:spPr>
        <a:noFill/>
        <a:ln>
          <a:noFill/>
        </a:ln>
      </c:spPr>
    </c:plotArea>
    <c:dispBlanksAs val="gap"/>
  </c:chart>
  <c:spPr>
    <a:noFill/>
    <a:ln>
      <a:noFill/>
    </a:ln>
  </c:spPr>
  <c:txPr>
    <a:bodyPr/>
    <a:lstStyle/>
    <a:p>
      <a:pPr>
        <a:defRPr sz="1000">
          <a:solidFill>
            <a:srgbClr val="B1BAC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0F6FC"/>
                </a:solidFill>
                <a:latin typeface="Arial"/>
              </a:rPr>
              <a:t>States: 5 fastest and 5 slowest annual price change, Q2 2026</a:t>
            </a:r>
          </a:p>
        </c:rich>
      </c:tx>
      <c:layout/>
      <c:overlay val="0"/>
    </c:title>
    <c:autoTitleDeleted val="0"/>
    <c:plotArea>
      <c:barChart>
        <c:barDir val="bar"/>
        <c:grouping val="clustered"/>
        <c:ser>
          <c:idx val="0"/>
          <c:order val="0"/>
          <c:tx>
            <c:strRef>
              <c:f>Sheet1!$B$1</c:f>
              <c:strCache>
                <c:ptCount val="1"/>
                <c:pt idx="0">
                  <c:v>5 fastest</c:v>
                </c:pt>
              </c:strCache>
            </c:strRef>
          </c:tx>
          <c:spPr>
            <a:solidFill>
              <a:srgbClr val="58A6FF"/>
            </a:solidFill>
          </c:spPr>
          <c:invertIfNegative val="0"/>
          <c:cat>
            <c:strRef>
              <c:f>Sheet1!$A$2:$A$11</c:f>
              <c:strCache>
                <c:ptCount val="10"/>
                <c:pt idx="0">
                  <c:v>New Mexico</c:v>
                </c:pt>
                <c:pt idx="1">
                  <c:v>Washington</c:v>
                </c:pt>
                <c:pt idx="2">
                  <c:v>Colorado</c:v>
                </c:pt>
                <c:pt idx="3">
                  <c:v>California</c:v>
                </c:pt>
                <c:pt idx="4">
                  <c:v>Oregon</c:v>
                </c:pt>
                <c:pt idx="5">
                  <c:v>Illinois</c:v>
                </c:pt>
                <c:pt idx="6">
                  <c:v>West Virginia</c:v>
                </c:pt>
                <c:pt idx="7">
                  <c:v>Hawaii</c:v>
                </c:pt>
                <c:pt idx="8">
                  <c:v>Vermont</c:v>
                </c:pt>
                <c:pt idx="9">
                  <c:v>Alaska</c:v>
                </c:pt>
              </c:strCache>
            </c:strRef>
          </c:cat>
          <c:val>
            <c:numRef>
              <c:f>Sheet1!$B$2:$B$11</c:f>
              <c:numCache>
                <c:formatCode>General</c:formatCode>
                <c:ptCount val="10"/>
                <c:pt idx="5">
                  <c:v>0.055425</c:v>
                </c:pt>
                <c:pt idx="6">
                  <c:v>0.056915</c:v>
                </c:pt>
                <c:pt idx="7">
                  <c:v>0.05935</c:v>
                </c:pt>
                <c:pt idx="8">
                  <c:v>0.071611</c:v>
                </c:pt>
                <c:pt idx="9">
                  <c:v>0.08276</c:v>
                </c:pt>
              </c:numCache>
            </c:numRef>
          </c:val>
        </c:ser>
        <c:ser>
          <c:idx val="1"/>
          <c:order val="1"/>
          <c:tx>
            <c:strRef>
              <c:f>Sheet1!$C$1</c:f>
              <c:strCache>
                <c:ptCount val="1"/>
                <c:pt idx="0">
                  <c:v>5 slowest</c:v>
                </c:pt>
              </c:strCache>
            </c:strRef>
          </c:tx>
          <c:spPr>
            <a:solidFill>
              <a:srgbClr val="D29922"/>
            </a:solidFill>
          </c:spPr>
          <c:invertIfNegative val="0"/>
          <c:cat>
            <c:strRef>
              <c:f>Sheet1!$A$2:$A$11</c:f>
              <c:strCache>
                <c:ptCount val="10"/>
                <c:pt idx="0">
                  <c:v>New Mexico</c:v>
                </c:pt>
                <c:pt idx="1">
                  <c:v>Washington</c:v>
                </c:pt>
                <c:pt idx="2">
                  <c:v>Colorado</c:v>
                </c:pt>
                <c:pt idx="3">
                  <c:v>California</c:v>
                </c:pt>
                <c:pt idx="4">
                  <c:v>Oregon</c:v>
                </c:pt>
                <c:pt idx="5">
                  <c:v>Illinois</c:v>
                </c:pt>
                <c:pt idx="6">
                  <c:v>West Virginia</c:v>
                </c:pt>
                <c:pt idx="7">
                  <c:v>Hawaii</c:v>
                </c:pt>
                <c:pt idx="8">
                  <c:v>Vermont</c:v>
                </c:pt>
                <c:pt idx="9">
                  <c:v>Alaska</c:v>
                </c:pt>
              </c:strCache>
            </c:strRef>
          </c:cat>
          <c:val>
            <c:numRef>
              <c:f>Sheet1!$C$2:$C$11</c:f>
              <c:numCache>
                <c:formatCode>General</c:formatCode>
                <c:ptCount val="10"/>
                <c:pt idx="0">
                  <c:v>-0.011704</c:v>
                </c:pt>
                <c:pt idx="1">
                  <c:v>-0.009998</c:v>
                </c:pt>
                <c:pt idx="2">
                  <c:v>-0.006073</c:v>
                </c:pt>
                <c:pt idx="3">
                  <c:v>-0.002896</c:v>
                </c:pt>
                <c:pt idx="4">
                  <c:v>0.002396</c:v>
                </c:pt>
              </c:numCache>
            </c:numRef>
          </c:val>
        </c:ser>
        <c:dLbls>
          <c:numFmt formatCode="+0.0%;-0.0%;0.0%" sourceLinked="0"/>
          <c:txPr>
            <a:bodyPr/>
            <a:lstStyle/>
            <a:p>
              <a:pPr>
                <a:defRPr sz="900">
                  <a:solidFill>
                    <a:srgbClr val="B1BAC4"/>
                  </a:solidFill>
                </a:defRPr>
              </a:pPr>
            </a:p>
          </c:txPr>
          <c:dLblPos val="outEnd"/>
          <c:showLegendKey val="0"/>
          <c:showVal val="1"/>
          <c:showCatName val="0"/>
          <c:showSerName val="0"/>
          <c:showPercent val="0"/>
          <c:showBubbleSize val="0"/>
          <c:showLeaderLines val="1"/>
        </c:dLbls>
        <c:gapWidth val="40"/>
        <c:overlap val="100"/>
        <c:axId val="-2068027336"/>
        <c:axId val="-2113994440"/>
      </c:barChart>
      <c:catAx>
        <c:axId val="-2068027336"/>
        <c:scaling>
          <c:orientation val="minMax"/>
        </c:scaling>
        <c:delete val="0"/>
        <c:axPos val="l"/>
        <c:title>
          <c:tx>
            <c:rich>
              <a:bodyPr/>
              <a:lstStyle/>
              <a:p>
                <a:r>
                  <a:rPr sz="1000" b="0">
                    <a:solidFill>
                      <a:srgbClr val="8B949E"/>
                    </a:solidFill>
                    <a:latin typeface="Arial"/>
                  </a:rPr>
                  <a:t>State</a:t>
                </a:r>
              </a:p>
            </c:rich>
          </c:tx>
          <c:layout/>
          <c:overlay val="0"/>
        </c:title>
        <c:majorTickMark val="none"/>
        <c:minorTickMark val="none"/>
        <c:tickLblPos val="low"/>
        <c:spPr>
          <a:ln>
            <a:solidFill>
              <a:srgbClr val="30363D"/>
            </a:solidFill>
          </a:ln>
        </c:spPr>
        <c:txPr>
          <a:bodyPr/>
          <a:lstStyle/>
          <a:p>
            <a:pPr>
              <a:defRPr sz="1000">
                <a:solidFill>
                  <a:srgbClr val="B1BAC4"/>
                </a:solidFill>
              </a:defRPr>
            </a:pPr>
          </a:p>
        </c:txPr>
        <c:crossAx val="-2113994440"/>
        <c:crosses val="autoZero"/>
        <c:auto val="1"/>
        <c:lblAlgn val="ctr"/>
        <c:lblOffset val="100"/>
        <c:noMultiLvlLbl val="0"/>
      </c:catAx>
      <c:valAx>
        <c:axId val="-2113994440"/>
        <c:scaling/>
        <c:delete val="0"/>
        <c:axPos val="b"/>
        <c:majorGridlines>
          <c:spPr>
            <a:ln w="9525">
              <a:solidFill>
                <a:srgbClr val="30363D"/>
              </a:solidFill>
            </a:ln>
          </c:spPr>
        </c:majorGridlines>
        <c:title>
          <c:tx>
            <c:rich>
              <a:bodyPr/>
              <a:lstStyle/>
              <a:p>
                <a:r>
                  <a:rPr sz="1000" b="0">
                    <a:solidFill>
                      <a:srgbClr val="8B949E"/>
                    </a:solidFill>
                    <a:latin typeface="Arial"/>
                  </a:rPr>
                  <a:t>Year-over-year change</a:t>
                </a:r>
              </a:p>
            </c:rich>
          </c:tx>
          <c:layout/>
          <c:overlay val="0"/>
        </c:title>
        <c:numFmt formatCode="0%" sourceLinked="0"/>
        <c:majorTickMark val="none"/>
        <c:minorTickMark val="none"/>
        <c:tickLblPos val="nextTo"/>
        <c:spPr>
          <a:ln>
            <a:noFill/>
          </a:ln>
        </c:spPr>
        <c:txPr>
          <a:bodyPr/>
          <a:lstStyle/>
          <a:p>
            <a:pPr>
              <a:defRPr sz="1000">
                <a:solidFill>
                  <a:srgbClr val="B1BAC4"/>
                </a:solidFill>
              </a:defRPr>
            </a:pPr>
          </a:p>
        </c:txPr>
        <c:crossAx val="-2068027336"/>
        <c:crosses val="autoZero"/>
      </c:valAx>
      <c:spPr>
        <a:noFill/>
        <a:ln>
          <a:noFill/>
        </a:ln>
      </c:spPr>
    </c:plotArea>
    <c:legend>
      <c:legendPos val="t"/>
      <c:overlay val="0"/>
      <c:txPr>
        <a:bodyPr/>
        <a:lstStyle/>
        <a:p>
          <a:pPr>
            <a:defRPr sz="1000">
              <a:solidFill>
                <a:srgbClr val="B1BAC4"/>
              </a:solidFill>
            </a:defRPr>
          </a:pPr>
        </a:p>
      </c:txPr>
    </c:legend>
    <c:dispBlanksAs val="gap"/>
  </c:chart>
  <c:spPr>
    <a:noFill/>
    <a:ln>
      <a:noFill/>
    </a:ln>
  </c:spPr>
  <c:txPr>
    <a:bodyPr/>
    <a:lstStyle/>
    <a:p>
      <a:pPr>
        <a:defRPr sz="1000">
          <a:solidFill>
            <a:srgbClr val="B1BAC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0F6FC"/>
                </a:solidFill>
                <a:latin typeface="Arial"/>
              </a:rPr>
              <a:t>Metros: 5 fastest and 5 slowest annual price change, Q2 2026</a:t>
            </a:r>
          </a:p>
        </c:rich>
      </c:tx>
      <c:layout/>
      <c:overlay val="0"/>
    </c:title>
    <c:autoTitleDeleted val="0"/>
    <c:plotArea>
      <c:barChart>
        <c:barDir val="bar"/>
        <c:grouping val="clustered"/>
        <c:ser>
          <c:idx val="0"/>
          <c:order val="0"/>
          <c:tx>
            <c:strRef>
              <c:f>Sheet1!$B$1</c:f>
              <c:strCache>
                <c:ptCount val="1"/>
                <c:pt idx="0">
                  <c:v>5 fastest</c:v>
                </c:pt>
              </c:strCache>
            </c:strRef>
          </c:tx>
          <c:spPr>
            <a:solidFill>
              <a:srgbClr val="58A6FF"/>
            </a:solidFill>
          </c:spPr>
          <c:invertIfNegative val="0"/>
          <c:cat>
            <c:strRef>
              <c:f>Sheet1!$A$2:$A$11</c:f>
              <c:strCache>
                <c:ptCount val="10"/>
                <c:pt idx="0">
                  <c:v>Everett, WA</c:v>
                </c:pt>
                <c:pt idx="1">
                  <c:v>San Antonio, TX</c:v>
                </c:pt>
                <c:pt idx="2">
                  <c:v>Bakersfield, CA</c:v>
                </c:pt>
                <c:pt idx="3">
                  <c:v>Seattle, WA</c:v>
                </c:pt>
                <c:pt idx="4">
                  <c:v>Tucson, AZ</c:v>
                </c:pt>
                <c:pt idx="5">
                  <c:v>El Paso, TX</c:v>
                </c:pt>
                <c:pt idx="6">
                  <c:v>Charleston, SC</c:v>
                </c:pt>
                <c:pt idx="7">
                  <c:v>Bridgeport, CT</c:v>
                </c:pt>
                <c:pt idx="8">
                  <c:v>Allentown, PA</c:v>
                </c:pt>
                <c:pt idx="9">
                  <c:v>Elgin, IL</c:v>
                </c:pt>
              </c:strCache>
            </c:strRef>
          </c:cat>
          <c:val>
            <c:numRef>
              <c:f>Sheet1!$B$2:$B$11</c:f>
              <c:numCache>
                <c:formatCode>General</c:formatCode>
                <c:ptCount val="10"/>
                <c:pt idx="5">
                  <c:v>0.062255</c:v>
                </c:pt>
                <c:pt idx="6">
                  <c:v>0.063554</c:v>
                </c:pt>
                <c:pt idx="7">
                  <c:v>0.065008</c:v>
                </c:pt>
                <c:pt idx="8">
                  <c:v>0.069307</c:v>
                </c:pt>
                <c:pt idx="9">
                  <c:v>0.075467</c:v>
                </c:pt>
              </c:numCache>
            </c:numRef>
          </c:val>
        </c:ser>
        <c:ser>
          <c:idx val="1"/>
          <c:order val="1"/>
          <c:tx>
            <c:strRef>
              <c:f>Sheet1!$C$1</c:f>
              <c:strCache>
                <c:ptCount val="1"/>
                <c:pt idx="0">
                  <c:v>5 slowest</c:v>
                </c:pt>
              </c:strCache>
            </c:strRef>
          </c:tx>
          <c:spPr>
            <a:solidFill>
              <a:srgbClr val="D29922"/>
            </a:solidFill>
          </c:spPr>
          <c:invertIfNegative val="0"/>
          <c:cat>
            <c:strRef>
              <c:f>Sheet1!$A$2:$A$11</c:f>
              <c:strCache>
                <c:ptCount val="10"/>
                <c:pt idx="0">
                  <c:v>Everett, WA</c:v>
                </c:pt>
                <c:pt idx="1">
                  <c:v>San Antonio, TX</c:v>
                </c:pt>
                <c:pt idx="2">
                  <c:v>Bakersfield, CA</c:v>
                </c:pt>
                <c:pt idx="3">
                  <c:v>Seattle, WA</c:v>
                </c:pt>
                <c:pt idx="4">
                  <c:v>Tucson, AZ</c:v>
                </c:pt>
                <c:pt idx="5">
                  <c:v>El Paso, TX</c:v>
                </c:pt>
                <c:pt idx="6">
                  <c:v>Charleston, SC</c:v>
                </c:pt>
                <c:pt idx="7">
                  <c:v>Bridgeport, CT</c:v>
                </c:pt>
                <c:pt idx="8">
                  <c:v>Allentown, PA</c:v>
                </c:pt>
                <c:pt idx="9">
                  <c:v>Elgin, IL</c:v>
                </c:pt>
              </c:strCache>
            </c:strRef>
          </c:cat>
          <c:val>
            <c:numRef>
              <c:f>Sheet1!$C$2:$C$11</c:f>
              <c:numCache>
                <c:formatCode>General</c:formatCode>
                <c:ptCount val="10"/>
                <c:pt idx="0">
                  <c:v>-0.03878</c:v>
                </c:pt>
                <c:pt idx="1">
                  <c:v>-0.029601</c:v>
                </c:pt>
                <c:pt idx="2">
                  <c:v>-0.025402</c:v>
                </c:pt>
                <c:pt idx="3">
                  <c:v>-0.025222</c:v>
                </c:pt>
                <c:pt idx="4">
                  <c:v>-0.024443</c:v>
                </c:pt>
              </c:numCache>
            </c:numRef>
          </c:val>
        </c:ser>
        <c:dLbls>
          <c:numFmt formatCode="+0.0%;-0.0%;0.0%" sourceLinked="0"/>
          <c:txPr>
            <a:bodyPr/>
            <a:lstStyle/>
            <a:p>
              <a:pPr>
                <a:defRPr sz="900">
                  <a:solidFill>
                    <a:srgbClr val="B1BAC4"/>
                  </a:solidFill>
                </a:defRPr>
              </a:pPr>
            </a:p>
          </c:txPr>
          <c:dLblPos val="outEnd"/>
          <c:showLegendKey val="0"/>
          <c:showVal val="1"/>
          <c:showCatName val="0"/>
          <c:showSerName val="0"/>
          <c:showPercent val="0"/>
          <c:showBubbleSize val="0"/>
          <c:showLeaderLines val="1"/>
        </c:dLbls>
        <c:gapWidth val="40"/>
        <c:overlap val="100"/>
        <c:axId val="-2068027336"/>
        <c:axId val="-2113994440"/>
      </c:barChart>
      <c:catAx>
        <c:axId val="-2068027336"/>
        <c:scaling>
          <c:orientation val="minMax"/>
        </c:scaling>
        <c:delete val="0"/>
        <c:axPos val="l"/>
        <c:title>
          <c:tx>
            <c:rich>
              <a:bodyPr/>
              <a:lstStyle/>
              <a:p>
                <a:r>
                  <a:rPr sz="1000" b="0">
                    <a:solidFill>
                      <a:srgbClr val="8B949E"/>
                    </a:solidFill>
                    <a:latin typeface="Arial"/>
                  </a:rPr>
                  <a:t>Metro</a:t>
                </a:r>
              </a:p>
            </c:rich>
          </c:tx>
          <c:layout/>
          <c:overlay val="0"/>
        </c:title>
        <c:majorTickMark val="none"/>
        <c:minorTickMark val="none"/>
        <c:tickLblPos val="low"/>
        <c:spPr>
          <a:ln>
            <a:solidFill>
              <a:srgbClr val="30363D"/>
            </a:solidFill>
          </a:ln>
        </c:spPr>
        <c:txPr>
          <a:bodyPr/>
          <a:lstStyle/>
          <a:p>
            <a:pPr>
              <a:defRPr sz="1000">
                <a:solidFill>
                  <a:srgbClr val="B1BAC4"/>
                </a:solidFill>
              </a:defRPr>
            </a:pPr>
          </a:p>
        </c:txPr>
        <c:crossAx val="-2113994440"/>
        <c:crosses val="autoZero"/>
        <c:auto val="1"/>
        <c:lblAlgn val="ctr"/>
        <c:lblOffset val="100"/>
        <c:noMultiLvlLbl val="0"/>
      </c:catAx>
      <c:valAx>
        <c:axId val="-2113994440"/>
        <c:scaling/>
        <c:delete val="0"/>
        <c:axPos val="b"/>
        <c:majorGridlines>
          <c:spPr>
            <a:ln w="9525">
              <a:solidFill>
                <a:srgbClr val="30363D"/>
              </a:solidFill>
            </a:ln>
          </c:spPr>
        </c:majorGridlines>
        <c:title>
          <c:tx>
            <c:rich>
              <a:bodyPr/>
              <a:lstStyle/>
              <a:p>
                <a:r>
                  <a:rPr sz="1000" b="0">
                    <a:solidFill>
                      <a:srgbClr val="8B949E"/>
                    </a:solidFill>
                    <a:latin typeface="Arial"/>
                  </a:rPr>
                  <a:t>Year-over-year change</a:t>
                </a:r>
              </a:p>
            </c:rich>
          </c:tx>
          <c:layout/>
          <c:overlay val="0"/>
        </c:title>
        <c:numFmt formatCode="0%" sourceLinked="0"/>
        <c:majorTickMark val="none"/>
        <c:minorTickMark val="none"/>
        <c:tickLblPos val="nextTo"/>
        <c:spPr>
          <a:ln>
            <a:noFill/>
          </a:ln>
        </c:spPr>
        <c:txPr>
          <a:bodyPr/>
          <a:lstStyle/>
          <a:p>
            <a:pPr>
              <a:defRPr sz="1000">
                <a:solidFill>
                  <a:srgbClr val="B1BAC4"/>
                </a:solidFill>
              </a:defRPr>
            </a:pPr>
          </a:p>
        </c:txPr>
        <c:crossAx val="-2068027336"/>
        <c:crosses val="autoZero"/>
      </c:valAx>
      <c:spPr>
        <a:noFill/>
        <a:ln>
          <a:noFill/>
        </a:ln>
      </c:spPr>
    </c:plotArea>
    <c:legend>
      <c:legendPos val="t"/>
      <c:overlay val="0"/>
      <c:txPr>
        <a:bodyPr/>
        <a:lstStyle/>
        <a:p>
          <a:pPr>
            <a:defRPr sz="1000">
              <a:solidFill>
                <a:srgbClr val="B1BAC4"/>
              </a:solidFill>
            </a:defRPr>
          </a:pPr>
        </a:p>
      </c:txPr>
    </c:legend>
    <c:dispBlanksAs val="gap"/>
  </c:chart>
  <c:spPr>
    <a:noFill/>
    <a:ln>
      <a:noFill/>
    </a:ln>
  </c:spPr>
  <c:txPr>
    <a:bodyPr/>
    <a:lstStyle/>
    <a:p>
      <a:pPr>
        <a:defRPr sz="1000">
          <a:solidFill>
            <a:srgbClr val="B1BAC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F0F6FC"/>
                </a:solidFill>
                <a:latin typeface="Arial"/>
              </a:rPr>
              <a:t>Originated mortgage loans by purpose, 2018 to 2025</a:t>
            </a:r>
          </a:p>
        </c:rich>
      </c:tx>
      <c:layout/>
      <c:overlay val="0"/>
    </c:title>
    <c:autoTitleDeleted val="0"/>
    <c:plotArea>
      <c:barChart>
        <c:barDir val="col"/>
        <c:grouping val="clustered"/>
        <c:ser>
          <c:idx val="0"/>
          <c:order val="0"/>
          <c:tx>
            <c:strRef>
              <c:f>Sheet1!$B$1</c:f>
              <c:strCache>
                <c:ptCount val="1"/>
                <c:pt idx="0">
                  <c:v>Home purchase</c:v>
                </c:pt>
              </c:strCache>
            </c:strRef>
          </c:tx>
          <c:spPr>
            <a:solidFill>
              <a:srgbClr val="58A6FF"/>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Sheet1!$B$2:$B$9</c:f>
              <c:numCache>
                <c:formatCode>General</c:formatCode>
                <c:ptCount val="8"/>
                <c:pt idx="0">
                  <c:v>4.336811</c:v>
                </c:pt>
                <c:pt idx="1">
                  <c:v>4.505104</c:v>
                </c:pt>
                <c:pt idx="2">
                  <c:v>4.910899</c:v>
                </c:pt>
                <c:pt idx="3">
                  <c:v>5.384274</c:v>
                </c:pt>
                <c:pt idx="4">
                  <c:v>4.365592</c:v>
                </c:pt>
                <c:pt idx="5">
                  <c:v>3.437711</c:v>
                </c:pt>
                <c:pt idx="6">
                  <c:v>3.519385</c:v>
                </c:pt>
                <c:pt idx="7">
                  <c:v>3.576617</c:v>
                </c:pt>
              </c:numCache>
            </c:numRef>
          </c:val>
        </c:ser>
        <c:ser>
          <c:idx val="1"/>
          <c:order val="1"/>
          <c:tx>
            <c:strRef>
              <c:f>Sheet1!$C$1</c:f>
              <c:strCache>
                <c:ptCount val="1"/>
                <c:pt idx="0">
                  <c:v>Refinance (incl. cash-out)</c:v>
                </c:pt>
              </c:strCache>
            </c:strRef>
          </c:tx>
          <c:spPr>
            <a:solidFill>
              <a:srgbClr val="D29922"/>
            </a:solidFill>
          </c:spPr>
          <c:cat>
            <c:strRef>
              <c:f>Sheet1!$A$2:$A$9</c:f>
              <c:strCache>
                <c:ptCount val="8"/>
                <c:pt idx="0">
                  <c:v>2018</c:v>
                </c:pt>
                <c:pt idx="1">
                  <c:v>2019</c:v>
                </c:pt>
                <c:pt idx="2">
                  <c:v>2020</c:v>
                </c:pt>
                <c:pt idx="3">
                  <c:v>2021</c:v>
                </c:pt>
                <c:pt idx="4">
                  <c:v>2022</c:v>
                </c:pt>
                <c:pt idx="5">
                  <c:v>2023</c:v>
                </c:pt>
                <c:pt idx="6">
                  <c:v>2024</c:v>
                </c:pt>
                <c:pt idx="7">
                  <c:v>2025</c:v>
                </c:pt>
              </c:strCache>
            </c:strRef>
          </c:cat>
          <c:val>
            <c:numRef>
              <c:f>Sheet1!$C$2:$C$9</c:f>
              <c:numCache>
                <c:formatCode>General</c:formatCode>
                <c:ptCount val="8"/>
                <c:pt idx="0">
                  <c:v>2.295767</c:v>
                </c:pt>
                <c:pt idx="1">
                  <c:v>3.779609</c:v>
                </c:pt>
                <c:pt idx="2">
                  <c:v>8.858603</c:v>
                </c:pt>
                <c:pt idx="3">
                  <c:v>8.70001</c:v>
                </c:pt>
                <c:pt idx="4">
                  <c:v>2.628887</c:v>
                </c:pt>
                <c:pt idx="5">
                  <c:v>1.082477</c:v>
                </c:pt>
                <c:pt idx="6">
                  <c:v>1.46632</c:v>
                </c:pt>
                <c:pt idx="7">
                  <c:v>1.992093</c:v>
                </c:pt>
              </c:numCache>
            </c:numRef>
          </c:val>
        </c:ser>
        <c:dLbls>
          <c:numFmt formatCode="0.0" sourceLinked="0"/>
          <c:txPr>
            <a:bodyPr/>
            <a:lstStyle/>
            <a:p>
              <a:pPr>
                <a:defRPr sz="900">
                  <a:solidFill>
                    <a:srgbClr val="B1BAC4"/>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title>
          <c:tx>
            <c:rich>
              <a:bodyPr/>
              <a:lstStyle/>
              <a:p>
                <a:r>
                  <a:rPr sz="1000" b="0">
                    <a:solidFill>
                      <a:srgbClr val="8B949E"/>
                    </a:solidFill>
                    <a:latin typeface="Arial"/>
                  </a:rPr>
                  <a:t>Year</a:t>
                </a:r>
              </a:p>
            </c:rich>
          </c:tx>
          <c:layout/>
          <c:overlay val="0"/>
        </c:title>
        <c:majorTickMark val="none"/>
        <c:minorTickMark val="none"/>
        <c:tickLblPos val="nextTo"/>
        <c:spPr>
          <a:ln>
            <a:solidFill>
              <a:srgbClr val="30363D"/>
            </a:solidFill>
          </a:ln>
        </c:spPr>
        <c:txPr>
          <a:bodyPr/>
          <a:lstStyle/>
          <a:p>
            <a:pPr>
              <a:defRPr sz="1000">
                <a:solidFill>
                  <a:srgbClr val="B1BAC4"/>
                </a:solidFill>
              </a:defRPr>
            </a:pPr>
          </a:p>
        </c:txPr>
        <c:crossAx val="-2113994440"/>
        <c:crosses val="autoZero"/>
        <c:auto val="1"/>
        <c:lblAlgn val="ctr"/>
        <c:lblOffset val="100"/>
        <c:noMultiLvlLbl val="0"/>
      </c:catAx>
      <c:valAx>
        <c:axId val="-2113994440"/>
        <c:scaling/>
        <c:delete val="0"/>
        <c:axPos val="l"/>
        <c:majorGridlines>
          <c:spPr>
            <a:ln w="9525">
              <a:solidFill>
                <a:srgbClr val="30363D"/>
              </a:solidFill>
            </a:ln>
          </c:spPr>
        </c:majorGridlines>
        <c:title>
          <c:tx>
            <c:rich>
              <a:bodyPr/>
              <a:lstStyle/>
              <a:p>
                <a:r>
                  <a:rPr sz="1000" b="0">
                    <a:solidFill>
                      <a:srgbClr val="8B949E"/>
                    </a:solidFill>
                    <a:latin typeface="Arial"/>
                  </a:rPr>
                  <a:t>Loans (millions)</a:t>
                </a:r>
              </a:p>
            </c:rich>
          </c:tx>
          <c:layout/>
          <c:overlay val="0"/>
        </c:title>
        <c:numFmt formatCode="0.0" sourceLinked="0"/>
        <c:majorTickMark val="none"/>
        <c:minorTickMark val="none"/>
        <c:tickLblPos val="nextTo"/>
        <c:spPr>
          <a:ln>
            <a:noFill/>
          </a:ln>
        </c:spPr>
        <c:txPr>
          <a:bodyPr/>
          <a:lstStyle/>
          <a:p>
            <a:pPr>
              <a:defRPr sz="1000">
                <a:solidFill>
                  <a:srgbClr val="B1BAC4"/>
                </a:solidFill>
              </a:defRPr>
            </a:pPr>
          </a:p>
        </c:txPr>
        <c:crossAx val="-2068027336"/>
        <c:crosses val="autoZero"/>
      </c:valAx>
      <c:spPr>
        <a:noFill/>
        <a:ln>
          <a:noFill/>
        </a:ln>
      </c:spPr>
    </c:plotArea>
    <c:legend>
      <c:legendPos val="t"/>
      <c:overlay val="0"/>
      <c:txPr>
        <a:bodyPr/>
        <a:lstStyle/>
        <a:p>
          <a:pPr>
            <a:defRPr sz="1000">
              <a:solidFill>
                <a:srgbClr val="B1BAC4"/>
              </a:solidFill>
            </a:defRPr>
          </a:pPr>
        </a:p>
      </c:txPr>
    </c:legend>
    <c:dispBlanksAs val="gap"/>
  </c:chart>
  <c:spPr>
    <a:noFill/>
    <a:ln>
      <a:noFill/>
    </a:ln>
  </c:spPr>
  <c:txPr>
    <a:bodyPr/>
    <a:lstStyle/>
    <a:p>
      <a:pPr>
        <a:defRPr sz="1000">
          <a:solidFill>
            <a:srgbClr val="B1BAC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briefing uses public FHFA house price data through Jul 2026 and CFPB HMDA mortgage data for 2018 to 2025. The short story: U.S. home prices are at a record high and +59.3% above January 2020. But annual price growth slowed to +2.6%, down from +18.9% in Jul 2021. Refinance loans fell 77.5% from their 2020 peak. The next slides show the price level, the speed of change, the states and metros that lead and lag, mortgage originations, and three takeaways. All numbers are facts from the data, not forecasts.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FHFA index measures repeat sales of the same homes, so it tracks price change, not a dollar price. In Jul 2026 the seasonally adjusted U.S. index was 444, where 1991 Q1 equals 100. That is +59.3% above January 2020 and +97.6% above the Apr 2007 peak before the housing crash. For context, the index fell 21.3% from that peak to its May 2011 low. Today, prices are at a record high.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shows the change in prices from the same month one year earlier, using the non-seasonally adjusted index. From 2015 to 2019, annual growth averaged about +5.6%. Growth peaked at +18.9% in Jul 2021. In Jul 2026 it was +2.6%. A positive but smaller number means prices still rose, only more slowly. The data does not tell us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ranks 51 states by the change in prices from Q2 2025 to Q2 2026. The five fastest were Alaska (+8.3%), Vermont (+7.2%), Hawaii (+5.9%), West Virginia (+5.7%), Illinois (+5.5%). The five slowest were New Mexico (-1.2%), Washington (-1.0%), Colorado (-0.6%), California (-0.3%), Oregon (+0.2%). 4 of 51 states had a price decline over the year. These are index changes for each area, not dollar prices.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ranks 100 metros by the change in prices from Q2 2025 to Q2 2026. The five fastest were Elgin, IL (+7.5%), Allentown, PA (+6.9%), Bridgeport, CT (+6.5%), Charleston, SC (+6.4%), El Paso, TX (+6.2%). The five slowest were Everett, WA (-3.9%), San Antonio, TX (-3.0%), Bakersfield, CA (-2.5%), Seattle, WA (-2.5%), Tucson, AZ (-2.4%). 26 of 100 metros had a price decline over the year. These are index changes for each area, not dollar prices.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counts of originated loans reported under HMDA, summed across all states. Refinance combines rate-and-term refinance and cash-out refinance. Refinance loans peaked at 8.9 million in 2020 and were 2.0 million in 2025, a change of -77.5%. Home purchase loans went from 4.3 million in 2018 to 3.6 million in 2025 (-17.5%). Purchase loans were 35.7% of originations in 2020 and 64.2% in 2025. The average home purchase loan grew from $284K to $405K.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facts to remember. One: prices are at a record high and +59.3% above January 2020. Two: annual growth slowed to +2.6%, and in Q2 2026 4 states and 26 large metros had price declines. Three: refinance loans are 77.5% below their 2020 peak, so home purchase loans were 64.2% of 2025 originations. These are facts from the data, not forecasts.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411480" y="502920"/>
            <a:ext cx="548640" cy="5486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8321040" cy="228600"/>
          </a:xfrm>
          <a:prstGeom prst="rect">
            <a:avLst/>
          </a:prstGeom>
          <a:noFill/>
        </p:spPr>
        <p:txBody>
          <a:bodyPr wrap="square" anchor="t" lIns="0" rIns="0" tIns="0" bIns="0">
            <a:spAutoFit/>
          </a:bodyPr>
          <a:lstStyle/>
          <a:p>
            <a:r>
              <a:rPr sz="1050" b="1">
                <a:solidFill>
                  <a:srgbClr val="3FB950"/>
                </a:solidFill>
                <a:latin typeface="Arial"/>
              </a:rPr>
              <a:t>EXECUTIVE BRIEFING  |  U.S. HOUSING MARKET</a:t>
            </a:r>
          </a:p>
        </p:txBody>
      </p:sp>
      <p:sp>
        <p:nvSpPr>
          <p:cNvPr id="4" name="TextBox 3"/>
          <p:cNvSpPr txBox="1"/>
          <p:nvPr/>
        </p:nvSpPr>
        <p:spPr>
          <a:xfrm>
            <a:off x="411480" y="731520"/>
            <a:ext cx="8321040" cy="1143000"/>
          </a:xfrm>
          <a:prstGeom prst="rect">
            <a:avLst/>
          </a:prstGeom>
          <a:noFill/>
        </p:spPr>
        <p:txBody>
          <a:bodyPr wrap="square" anchor="t" lIns="0" rIns="0" tIns="0" bIns="0">
            <a:spAutoFit/>
          </a:bodyPr>
          <a:lstStyle/>
          <a:p>
            <a:r>
              <a:rPr sz="3000" b="1">
                <a:solidFill>
                  <a:srgbClr val="F0F6FC"/>
                </a:solidFill>
                <a:latin typeface="Arial"/>
              </a:rPr>
              <a:t>U.S. home prices are at a record high, but annual growth slowed to +2.6%</a:t>
            </a:r>
          </a:p>
        </p:txBody>
      </p:sp>
      <p:sp>
        <p:nvSpPr>
          <p:cNvPr id="5" name="TextBox 4"/>
          <p:cNvSpPr txBox="1"/>
          <p:nvPr/>
        </p:nvSpPr>
        <p:spPr>
          <a:xfrm>
            <a:off x="411480" y="1965960"/>
            <a:ext cx="8321040" cy="274320"/>
          </a:xfrm>
          <a:prstGeom prst="rect">
            <a:avLst/>
          </a:prstGeom>
          <a:noFill/>
        </p:spPr>
        <p:txBody>
          <a:bodyPr wrap="square" anchor="t" lIns="0" rIns="0" tIns="0" bIns="0">
            <a:spAutoFit/>
          </a:bodyPr>
          <a:lstStyle/>
          <a:p>
            <a:r>
              <a:rPr sz="1400" b="0">
                <a:solidFill>
                  <a:srgbClr val="B1BAC4"/>
                </a:solidFill>
                <a:latin typeface="Arial"/>
              </a:rPr>
              <a:t>Home prices through Jul 2026 (FHFA HPI)  |  Mortgage originations 2018 to 2025 (CFPB HMDA)</a:t>
            </a:r>
          </a:p>
        </p:txBody>
      </p:sp>
      <p:sp>
        <p:nvSpPr>
          <p:cNvPr id="6" name="Rounded Rectangle 5"/>
          <p:cNvSpPr/>
          <p:nvPr/>
        </p:nvSpPr>
        <p:spPr>
          <a:xfrm>
            <a:off x="411480" y="2560320"/>
            <a:ext cx="2651760" cy="178308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2560320"/>
            <a:ext cx="265176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788920"/>
            <a:ext cx="2249424" cy="548640"/>
          </a:xfrm>
          <a:prstGeom prst="rect">
            <a:avLst/>
          </a:prstGeom>
          <a:noFill/>
        </p:spPr>
        <p:txBody>
          <a:bodyPr wrap="square" anchor="t" lIns="0" rIns="0" tIns="0" bIns="0">
            <a:spAutoFit/>
          </a:bodyPr>
          <a:lstStyle/>
          <a:p>
            <a:r>
              <a:rPr sz="3600" b="1">
                <a:solidFill>
                  <a:srgbClr val="58A6FF"/>
                </a:solidFill>
                <a:latin typeface="Arial"/>
              </a:rPr>
              <a:t>+59.3%</a:t>
            </a:r>
          </a:p>
        </p:txBody>
      </p:sp>
      <p:sp>
        <p:nvSpPr>
          <p:cNvPr id="9" name="TextBox 8"/>
          <p:cNvSpPr txBox="1"/>
          <p:nvPr/>
        </p:nvSpPr>
        <p:spPr>
          <a:xfrm>
            <a:off x="612648" y="3429000"/>
            <a:ext cx="2249424" cy="777240"/>
          </a:xfrm>
          <a:prstGeom prst="rect">
            <a:avLst/>
          </a:prstGeom>
          <a:noFill/>
        </p:spPr>
        <p:txBody>
          <a:bodyPr wrap="square" anchor="t" lIns="0" rIns="0" tIns="0" bIns="0">
            <a:spAutoFit/>
          </a:bodyPr>
          <a:lstStyle/>
          <a:p>
            <a:r>
              <a:rPr sz="1400" b="0">
                <a:solidFill>
                  <a:srgbClr val="B1BAC4"/>
                </a:solidFill>
                <a:latin typeface="Arial"/>
              </a:rPr>
              <a:t>Change in U.S. home prices, Jan 2020 to Jul 2026</a:t>
            </a:r>
          </a:p>
        </p:txBody>
      </p:sp>
      <p:sp>
        <p:nvSpPr>
          <p:cNvPr id="10" name="Rounded Rectangle 9"/>
          <p:cNvSpPr/>
          <p:nvPr/>
        </p:nvSpPr>
        <p:spPr>
          <a:xfrm>
            <a:off x="3246120" y="2560320"/>
            <a:ext cx="2651760" cy="178308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6120" y="2560320"/>
            <a:ext cx="2651760" cy="54864"/>
          </a:xfrm>
          <a:prstGeom prst="rect">
            <a:avLst/>
          </a:prstGeom>
          <a:solidFill>
            <a:srgbClr val="D29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788920"/>
            <a:ext cx="2249424" cy="548640"/>
          </a:xfrm>
          <a:prstGeom prst="rect">
            <a:avLst/>
          </a:prstGeom>
          <a:noFill/>
        </p:spPr>
        <p:txBody>
          <a:bodyPr wrap="square" anchor="t" lIns="0" rIns="0" tIns="0" bIns="0">
            <a:spAutoFit/>
          </a:bodyPr>
          <a:lstStyle/>
          <a:p>
            <a:r>
              <a:rPr sz="3600" b="1">
                <a:solidFill>
                  <a:srgbClr val="D29922"/>
                </a:solidFill>
                <a:latin typeface="Arial"/>
              </a:rPr>
              <a:t>+2.6%</a:t>
            </a:r>
          </a:p>
        </p:txBody>
      </p:sp>
      <p:sp>
        <p:nvSpPr>
          <p:cNvPr id="13" name="TextBox 12"/>
          <p:cNvSpPr txBox="1"/>
          <p:nvPr/>
        </p:nvSpPr>
        <p:spPr>
          <a:xfrm>
            <a:off x="3447288" y="3429000"/>
            <a:ext cx="2249424" cy="777240"/>
          </a:xfrm>
          <a:prstGeom prst="rect">
            <a:avLst/>
          </a:prstGeom>
          <a:noFill/>
        </p:spPr>
        <p:txBody>
          <a:bodyPr wrap="square" anchor="t" lIns="0" rIns="0" tIns="0" bIns="0">
            <a:spAutoFit/>
          </a:bodyPr>
          <a:lstStyle/>
          <a:p>
            <a:r>
              <a:rPr sz="1400" b="0">
                <a:solidFill>
                  <a:srgbClr val="B1BAC4"/>
                </a:solidFill>
                <a:latin typeface="Arial"/>
              </a:rPr>
              <a:t>Annual price change in Jul 2026, down from +18.9% in Jul 2021</a:t>
            </a:r>
          </a:p>
        </p:txBody>
      </p:sp>
      <p:sp>
        <p:nvSpPr>
          <p:cNvPr id="14" name="Rounded Rectangle 13"/>
          <p:cNvSpPr/>
          <p:nvPr/>
        </p:nvSpPr>
        <p:spPr>
          <a:xfrm>
            <a:off x="6080760" y="2560320"/>
            <a:ext cx="2651760" cy="178308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80760" y="2560320"/>
            <a:ext cx="2651760" cy="5486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2788920"/>
            <a:ext cx="2249424" cy="548640"/>
          </a:xfrm>
          <a:prstGeom prst="rect">
            <a:avLst/>
          </a:prstGeom>
          <a:noFill/>
        </p:spPr>
        <p:txBody>
          <a:bodyPr wrap="square" anchor="t" lIns="0" rIns="0" tIns="0" bIns="0">
            <a:spAutoFit/>
          </a:bodyPr>
          <a:lstStyle/>
          <a:p>
            <a:r>
              <a:rPr sz="3600" b="1">
                <a:solidFill>
                  <a:srgbClr val="3FB950"/>
                </a:solidFill>
                <a:latin typeface="Arial"/>
              </a:rPr>
              <a:t>-77.5%</a:t>
            </a:r>
          </a:p>
        </p:txBody>
      </p:sp>
      <p:sp>
        <p:nvSpPr>
          <p:cNvPr id="17" name="TextBox 16"/>
          <p:cNvSpPr txBox="1"/>
          <p:nvPr/>
        </p:nvSpPr>
        <p:spPr>
          <a:xfrm>
            <a:off x="6281928" y="3429000"/>
            <a:ext cx="2249424" cy="777240"/>
          </a:xfrm>
          <a:prstGeom prst="rect">
            <a:avLst/>
          </a:prstGeom>
          <a:noFill/>
        </p:spPr>
        <p:txBody>
          <a:bodyPr wrap="square" anchor="t" lIns="0" rIns="0" tIns="0" bIns="0">
            <a:spAutoFit/>
          </a:bodyPr>
          <a:lstStyle/>
          <a:p>
            <a:r>
              <a:rPr sz="1400" b="0">
                <a:solidFill>
                  <a:srgbClr val="B1BAC4"/>
                </a:solidFill>
                <a:latin typeface="Arial"/>
              </a:rPr>
              <a:t>Change in refinance loans, 2020 peak to 2025</a:t>
            </a:r>
          </a:p>
        </p:txBody>
      </p:sp>
      <p:sp>
        <p:nvSpPr>
          <p:cNvPr id="18" name="TextBox 17"/>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Sources: FHFA House Price Index, purchase-only (latest Jul 2026); CFPB HMDA originations (latest 2025).</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01  WHERE PRICES ARE NOW</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U.S. home prices are at a record high and 59.3% above January 2020</a:t>
            </a:r>
          </a:p>
        </p:txBody>
      </p:sp>
      <p:sp>
        <p:nvSpPr>
          <p:cNvPr id="4" name="Rounded Rectangle 3"/>
          <p:cNvSpPr/>
          <p:nvPr/>
        </p:nvSpPr>
        <p:spPr>
          <a:xfrm>
            <a:off x="411480" y="1325880"/>
            <a:ext cx="832104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502920" y="1399032"/>
          <a:ext cx="8138160" cy="3054096"/>
        </p:xfrm>
        <a:graphic>
          <a:graphicData uri="http://schemas.openxmlformats.org/drawingml/2006/chart">
            <c:chart xmlns:c="http://schemas.openxmlformats.org/drawingml/2006/chart" r:id="rId3"/>
          </a:graphicData>
        </a:graphic>
      </p:graphicFrame>
      <p:sp>
        <p:nvSpPr>
          <p:cNvPr id="6" name="TextBox 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 FHFA House Price Index, purchase-only. Latest period: Jul 2026. Seasonally adjusted index, 1991 Q1 = 100.</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02  HOW FAST PRICES CHANGED</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Annual price growth slowed from +18.9% in Jul 2021 to +2.6% in Jul 2026</a:t>
            </a:r>
          </a:p>
        </p:txBody>
      </p:sp>
      <p:sp>
        <p:nvSpPr>
          <p:cNvPr id="4" name="Rounded Rectangle 3"/>
          <p:cNvSpPr/>
          <p:nvPr/>
        </p:nvSpPr>
        <p:spPr>
          <a:xfrm>
            <a:off x="411480" y="1325880"/>
            <a:ext cx="832104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502920" y="1399032"/>
          <a:ext cx="8138160" cy="3054096"/>
        </p:xfrm>
        <a:graphic>
          <a:graphicData uri="http://schemas.openxmlformats.org/drawingml/2006/chart">
            <c:chart xmlns:c="http://schemas.openxmlformats.org/drawingml/2006/chart" r:id="rId3"/>
          </a:graphicData>
        </a:graphic>
      </p:graphicFrame>
      <p:sp>
        <p:nvSpPr>
          <p:cNvPr id="6" name="TextBox 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 FHFA House Price Index, purchase-only. Latest period: Jul 2026. Year-over-year change uses the non-seasonally adjusted index.</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03  STATES THAT LEAD AND LAG</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Alaska leads with +8.3% a year; New Mexico lags with -1.2%</a:t>
            </a:r>
          </a:p>
        </p:txBody>
      </p:sp>
      <p:sp>
        <p:nvSpPr>
          <p:cNvPr id="4" name="Rounded Rectangle 3"/>
          <p:cNvSpPr/>
          <p:nvPr/>
        </p:nvSpPr>
        <p:spPr>
          <a:xfrm>
            <a:off x="411480" y="1325880"/>
            <a:ext cx="832104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502920" y="1399032"/>
          <a:ext cx="8138160" cy="3054096"/>
        </p:xfrm>
        <a:graphic>
          <a:graphicData uri="http://schemas.openxmlformats.org/drawingml/2006/chart">
            <c:chart xmlns:c="http://schemas.openxmlformats.org/drawingml/2006/chart" r:id="rId3"/>
          </a:graphicData>
        </a:graphic>
      </p:graphicFrame>
      <p:sp>
        <p:nvSpPr>
          <p:cNvPr id="6" name="TextBox 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 FHFA House Price Index, purchase-only, 50 states and DC. Latest period: Q2 2026. Change vs. Q2 2025, non-seasonally adjusted.</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04  METROS THAT LEAD AND LAG</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Elgin, IL leads at +7.5%; prices fell in 26 of 100 metros</a:t>
            </a:r>
          </a:p>
        </p:txBody>
      </p:sp>
      <p:sp>
        <p:nvSpPr>
          <p:cNvPr id="4" name="Rounded Rectangle 3"/>
          <p:cNvSpPr/>
          <p:nvPr/>
        </p:nvSpPr>
        <p:spPr>
          <a:xfrm>
            <a:off x="411480" y="1325880"/>
            <a:ext cx="832104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502920" y="1399032"/>
          <a:ext cx="8138160" cy="3054096"/>
        </p:xfrm>
        <a:graphic>
          <a:graphicData uri="http://schemas.openxmlformats.org/drawingml/2006/chart">
            <c:chart xmlns:c="http://schemas.openxmlformats.org/drawingml/2006/chart" r:id="rId3"/>
          </a:graphicData>
        </a:graphic>
      </p:graphicFrame>
      <p:sp>
        <p:nvSpPr>
          <p:cNvPr id="6" name="TextBox 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 FHFA House Price Index, purchase-only, 100 largest metros. Latest period: Q2 2026. Change vs. Q2 2025, non-seasonally adjusted.</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05  MORTGAGE ORIGINATIONS</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Refinance loans fell 77.5% from their 2020 peak; home purchase loans were 64.2% of 2025 originations</a:t>
            </a:r>
          </a:p>
        </p:txBody>
      </p:sp>
      <p:sp>
        <p:nvSpPr>
          <p:cNvPr id="4" name="Rounded Rectangle 3"/>
          <p:cNvSpPr/>
          <p:nvPr/>
        </p:nvSpPr>
        <p:spPr>
          <a:xfrm>
            <a:off x="411480" y="1325880"/>
            <a:ext cx="832104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Chart 4"/>
          <p:cNvGraphicFramePr>
            <a:graphicFrameLocks noGrp="1"/>
          </p:cNvGraphicFramePr>
          <p:nvPr/>
        </p:nvGraphicFramePr>
        <p:xfrm>
          <a:off x="502920" y="1399032"/>
          <a:ext cx="8138160" cy="3054096"/>
        </p:xfrm>
        <a:graphic>
          <a:graphicData uri="http://schemas.openxmlformats.org/drawingml/2006/chart">
            <c:chart xmlns:c="http://schemas.openxmlformats.org/drawingml/2006/chart" r:id="rId3"/>
          </a:graphicData>
        </a:graphic>
      </p:graphicFrame>
      <p:sp>
        <p:nvSpPr>
          <p:cNvPr id="6" name="TextBox 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 CFPB HMDA Data Browser, originated loans (action taken = 1), all states. Latest period: 2025.</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411480" y="274320"/>
            <a:ext cx="8321040" cy="228600"/>
          </a:xfrm>
          <a:prstGeom prst="rect">
            <a:avLst/>
          </a:prstGeom>
          <a:noFill/>
        </p:spPr>
        <p:txBody>
          <a:bodyPr wrap="square" anchor="t" lIns="0" rIns="0" tIns="0" bIns="0">
            <a:spAutoFit/>
          </a:bodyPr>
          <a:lstStyle/>
          <a:p>
            <a:r>
              <a:rPr sz="1050" b="1">
                <a:solidFill>
                  <a:srgbClr val="58A6FF"/>
                </a:solidFill>
                <a:latin typeface="Arial"/>
              </a:rPr>
              <a:t>06  THREE TAKEAWAYS</a:t>
            </a:r>
          </a:p>
        </p:txBody>
      </p:sp>
      <p:sp>
        <p:nvSpPr>
          <p:cNvPr id="3" name="TextBox 2"/>
          <p:cNvSpPr txBox="1"/>
          <p:nvPr/>
        </p:nvSpPr>
        <p:spPr>
          <a:xfrm>
            <a:off x="411480" y="512064"/>
            <a:ext cx="8321040" cy="731520"/>
          </a:xfrm>
          <a:prstGeom prst="rect">
            <a:avLst/>
          </a:prstGeom>
          <a:noFill/>
        </p:spPr>
        <p:txBody>
          <a:bodyPr wrap="square" anchor="t" lIns="0" rIns="0" tIns="0" bIns="0">
            <a:spAutoFit/>
          </a:bodyPr>
          <a:lstStyle/>
          <a:p>
            <a:r>
              <a:rPr sz="2200" b="1">
                <a:solidFill>
                  <a:srgbClr val="F0F6FC"/>
                </a:solidFill>
                <a:latin typeface="Arial"/>
              </a:rPr>
              <a:t>Prices are high, growth has slowed, and refinancing fell</a:t>
            </a:r>
          </a:p>
        </p:txBody>
      </p:sp>
      <p:sp>
        <p:nvSpPr>
          <p:cNvPr id="4" name="Rounded Rectangle 3"/>
          <p:cNvSpPr/>
          <p:nvPr/>
        </p:nvSpPr>
        <p:spPr>
          <a:xfrm>
            <a:off x="411480" y="1325880"/>
            <a:ext cx="265176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 y="1325880"/>
            <a:ext cx="2651760" cy="54864"/>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554480"/>
            <a:ext cx="2249424" cy="670560"/>
          </a:xfrm>
          <a:prstGeom prst="rect">
            <a:avLst/>
          </a:prstGeom>
          <a:noFill/>
        </p:spPr>
        <p:txBody>
          <a:bodyPr wrap="square" anchor="t" lIns="0" rIns="0" tIns="0" bIns="0">
            <a:spAutoFit/>
          </a:bodyPr>
          <a:lstStyle/>
          <a:p>
            <a:r>
              <a:rPr sz="4400" b="1">
                <a:solidFill>
                  <a:srgbClr val="58A6FF"/>
                </a:solidFill>
                <a:latin typeface="Arial"/>
              </a:rPr>
              <a:t>+59.3%</a:t>
            </a:r>
          </a:p>
        </p:txBody>
      </p:sp>
      <p:sp>
        <p:nvSpPr>
          <p:cNvPr id="7" name="TextBox 6"/>
          <p:cNvSpPr txBox="1"/>
          <p:nvPr/>
        </p:nvSpPr>
        <p:spPr>
          <a:xfrm>
            <a:off x="612648" y="2316480"/>
            <a:ext cx="2249424" cy="2072640"/>
          </a:xfrm>
          <a:prstGeom prst="rect">
            <a:avLst/>
          </a:prstGeom>
          <a:noFill/>
        </p:spPr>
        <p:txBody>
          <a:bodyPr wrap="square" anchor="t" lIns="0" rIns="0" tIns="0" bIns="0">
            <a:spAutoFit/>
          </a:bodyPr>
          <a:lstStyle/>
          <a:p>
            <a:r>
              <a:rPr sz="1800" b="1">
                <a:solidFill>
                  <a:srgbClr val="F0F6FC"/>
                </a:solidFill>
                <a:latin typeface="Arial"/>
              </a:rPr>
              <a:t>Prices are high</a:t>
            </a:r>
          </a:p>
          <a:p>
            <a:pPr>
              <a:spcBef>
                <a:spcPts val="600"/>
              </a:spcBef>
            </a:pPr>
            <a:r>
              <a:rPr sz="1500" b="0">
                <a:solidFill>
                  <a:srgbClr val="B1BAC4"/>
                </a:solidFill>
                <a:latin typeface="Arial"/>
              </a:rPr>
              <a:t>The U.S. index is 59.3% above January 2020 and at a record high in Jul 2026.</a:t>
            </a:r>
          </a:p>
        </p:txBody>
      </p:sp>
      <p:sp>
        <p:nvSpPr>
          <p:cNvPr id="8" name="Rounded Rectangle 7"/>
          <p:cNvSpPr/>
          <p:nvPr/>
        </p:nvSpPr>
        <p:spPr>
          <a:xfrm>
            <a:off x="3246120" y="1325880"/>
            <a:ext cx="265176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46120" y="1325880"/>
            <a:ext cx="2651760" cy="54864"/>
          </a:xfrm>
          <a:prstGeom prst="rect">
            <a:avLst/>
          </a:prstGeom>
          <a:solidFill>
            <a:srgbClr val="D29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7288" y="1554480"/>
            <a:ext cx="2249424" cy="670560"/>
          </a:xfrm>
          <a:prstGeom prst="rect">
            <a:avLst/>
          </a:prstGeom>
          <a:noFill/>
        </p:spPr>
        <p:txBody>
          <a:bodyPr wrap="square" anchor="t" lIns="0" rIns="0" tIns="0" bIns="0">
            <a:spAutoFit/>
          </a:bodyPr>
          <a:lstStyle/>
          <a:p>
            <a:r>
              <a:rPr sz="4400" b="1">
                <a:solidFill>
                  <a:srgbClr val="D29922"/>
                </a:solidFill>
                <a:latin typeface="Arial"/>
              </a:rPr>
              <a:t>+2.6%</a:t>
            </a:r>
          </a:p>
        </p:txBody>
      </p:sp>
      <p:sp>
        <p:nvSpPr>
          <p:cNvPr id="11" name="TextBox 10"/>
          <p:cNvSpPr txBox="1"/>
          <p:nvPr/>
        </p:nvSpPr>
        <p:spPr>
          <a:xfrm>
            <a:off x="3447288" y="2316480"/>
            <a:ext cx="2249424" cy="2072640"/>
          </a:xfrm>
          <a:prstGeom prst="rect">
            <a:avLst/>
          </a:prstGeom>
          <a:noFill/>
        </p:spPr>
        <p:txBody>
          <a:bodyPr wrap="square" anchor="t" lIns="0" rIns="0" tIns="0" bIns="0">
            <a:spAutoFit/>
          </a:bodyPr>
          <a:lstStyle/>
          <a:p>
            <a:r>
              <a:rPr sz="1800" b="1">
                <a:solidFill>
                  <a:srgbClr val="F0F6FC"/>
                </a:solidFill>
                <a:latin typeface="Arial"/>
              </a:rPr>
              <a:t>Growth has slowed</a:t>
            </a:r>
          </a:p>
          <a:p>
            <a:pPr>
              <a:spcBef>
                <a:spcPts val="600"/>
              </a:spcBef>
            </a:pPr>
            <a:r>
              <a:rPr sz="1500" b="0">
                <a:solidFill>
                  <a:srgbClr val="B1BAC4"/>
                </a:solidFill>
                <a:latin typeface="Arial"/>
              </a:rPr>
              <a:t>Annual growth fell from +18.9% in Jul 2021. In Q2 2026, 4 states and 26 of 100 large metros had price declines.</a:t>
            </a:r>
          </a:p>
        </p:txBody>
      </p:sp>
      <p:sp>
        <p:nvSpPr>
          <p:cNvPr id="12" name="Rounded Rectangle 11"/>
          <p:cNvSpPr/>
          <p:nvPr/>
        </p:nvSpPr>
        <p:spPr>
          <a:xfrm>
            <a:off x="6080760" y="1325880"/>
            <a:ext cx="2651760" cy="3200400"/>
          </a:xfrm>
          <a:prstGeom prst="roundRect">
            <a:avLst>
              <a:gd name="adj" fmla="val 4000"/>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80760" y="1325880"/>
            <a:ext cx="2651760" cy="5486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81928" y="1554480"/>
            <a:ext cx="2249424" cy="670560"/>
          </a:xfrm>
          <a:prstGeom prst="rect">
            <a:avLst/>
          </a:prstGeom>
          <a:noFill/>
        </p:spPr>
        <p:txBody>
          <a:bodyPr wrap="square" anchor="t" lIns="0" rIns="0" tIns="0" bIns="0">
            <a:spAutoFit/>
          </a:bodyPr>
          <a:lstStyle/>
          <a:p>
            <a:r>
              <a:rPr sz="4400" b="1">
                <a:solidFill>
                  <a:srgbClr val="3FB950"/>
                </a:solidFill>
                <a:latin typeface="Arial"/>
              </a:rPr>
              <a:t>-77.5%</a:t>
            </a:r>
          </a:p>
        </p:txBody>
      </p:sp>
      <p:sp>
        <p:nvSpPr>
          <p:cNvPr id="15" name="TextBox 14"/>
          <p:cNvSpPr txBox="1"/>
          <p:nvPr/>
        </p:nvSpPr>
        <p:spPr>
          <a:xfrm>
            <a:off x="6281928" y="2316480"/>
            <a:ext cx="2249424" cy="2072640"/>
          </a:xfrm>
          <a:prstGeom prst="rect">
            <a:avLst/>
          </a:prstGeom>
          <a:noFill/>
        </p:spPr>
        <p:txBody>
          <a:bodyPr wrap="square" anchor="t" lIns="0" rIns="0" tIns="0" bIns="0">
            <a:spAutoFit/>
          </a:bodyPr>
          <a:lstStyle/>
          <a:p>
            <a:r>
              <a:rPr sz="1800" b="1">
                <a:solidFill>
                  <a:srgbClr val="F0F6FC"/>
                </a:solidFill>
                <a:latin typeface="Arial"/>
              </a:rPr>
              <a:t>Refinancing fell</a:t>
            </a:r>
          </a:p>
          <a:p>
            <a:pPr>
              <a:spcBef>
                <a:spcPts val="600"/>
              </a:spcBef>
            </a:pPr>
            <a:r>
              <a:rPr sz="1500" b="0">
                <a:solidFill>
                  <a:srgbClr val="B1BAC4"/>
                </a:solidFill>
                <a:latin typeface="Arial"/>
              </a:rPr>
              <a:t>Refinance loans fell from 8.9M in 2020 to 2.0M in 2025. Purchase loans were 64.2% of 2025 originations.</a:t>
            </a:r>
          </a:p>
        </p:txBody>
      </p:sp>
      <p:sp>
        <p:nvSpPr>
          <p:cNvPr id="16" name="TextBox 15"/>
          <p:cNvSpPr txBox="1"/>
          <p:nvPr/>
        </p:nvSpPr>
        <p:spPr>
          <a:xfrm>
            <a:off x="411480" y="4663440"/>
            <a:ext cx="8321040" cy="365760"/>
          </a:xfrm>
          <a:prstGeom prst="rect">
            <a:avLst/>
          </a:prstGeom>
          <a:noFill/>
        </p:spPr>
        <p:txBody>
          <a:bodyPr wrap="square" anchor="t" lIns="0" rIns="0" tIns="0" bIns="0">
            <a:spAutoFit/>
          </a:bodyPr>
          <a:lstStyle/>
          <a:p>
            <a:r>
              <a:rPr sz="800" b="0">
                <a:solidFill>
                  <a:srgbClr val="8B949E"/>
                </a:solidFill>
                <a:latin typeface="Arial"/>
              </a:rPr>
              <a:t>Sources: FHFA House Price Index, purchase-only (latest Jul 2026; Q2 2026 for states and metros); CFPB HMDA originations (latest 2025).</a:t>
            </a:r>
          </a:p>
          <a:p>
            <a:pPr>
              <a:spcBef>
                <a:spcPts val="320"/>
              </a:spcBef>
            </a:pPr>
            <a:r>
              <a:rPr sz="800" b="0">
                <a:solidFill>
                  <a:srgbClr val="8B949E"/>
                </a:solidFill>
                <a:latin typeface="Arial"/>
              </a:rPr>
              <a:t>Built from public FHFA and CFPB data. Not an official Fannie Mae, FHFA, or CFPB product.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37</TotalTime>
  <Words>802</Words>
  <Application>Microsoft Macintosh PowerPoint</Application>
  <PresentationFormat>On-screen Show (16:9)</PresentationFormat>
  <Paragraphs>146</Paragraphs>
  <Slides>7</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Code with 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Stacked PRs: Smaller Reviews Without Serial Development</dc:title>
  <dc:subject>GitHub Stacked PRs</dc:subject>
  <dc:creator>Dan Wahlin</dc:creator>
  <cp:lastModifiedBy>Dan Wahlin</cp:lastModifiedBy>
  <cp:revision>36</cp:revision>
  <dcterms:created xsi:type="dcterms:W3CDTF">2026-07-30T16:46:04Z</dcterms:created>
  <dcterms:modified xsi:type="dcterms:W3CDTF">2026-08-03T23:45:16Z</dcterms:modified>
</cp:coreProperties>
</file>